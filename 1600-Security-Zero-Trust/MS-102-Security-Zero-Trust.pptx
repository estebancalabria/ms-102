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B73A6-FDA3-8C8A-1485-2FD89411D289}" v="3" dt="2026-08-26T21:33:42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1BE0F-E708-497B-998C-22DFAAC35277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85C0B-1AB2-4BF5-96FA-A8E34E5CAD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7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8F770E-E609-44E8-AD1C-B4FCC9284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0F77942-0471-4DB2-909D-CBFF26816C4F}"/>
              </a:ext>
            </a:extLst>
          </p:cNvPr>
          <p:cNvSpPr>
            <a:spLocks noGrp="1"/>
          </p:cNvSpPr>
          <p:nvPr/>
        </p:nvSpPr>
        <p:spPr>
          <a:xfrm>
            <a:off x="8048625" y="1000125"/>
            <a:ext cx="2762250" cy="2762250"/>
          </a:xfrm>
          <a:prstGeom prst="ellipse">
            <a:avLst/>
          </a:prstGeom>
          <a:noFill/>
          <a:ln w="95250">
            <a:solidFill>
              <a:srgbClr val="00A4EF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44D84E-83BD-40F1-B354-8C6F12B30922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1714500" cy="1714500"/>
          </a:xfrm>
          <a:prstGeom prst="ellipse">
            <a:avLst/>
          </a:prstGeom>
          <a:noFill/>
          <a:ln w="28575">
            <a:solidFill>
              <a:srgbClr val="20B48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67FAF-8A62-4080-AD17-1551C1B5F1B3}"/>
              </a:ext>
            </a:extLst>
          </p:cNvPr>
          <p:cNvSpPr>
            <a:spLocks noGrp="1"/>
          </p:cNvSpPr>
          <p:nvPr/>
        </p:nvSpPr>
        <p:spPr>
          <a:xfrm>
            <a:off x="8953500" y="2343150"/>
            <a:ext cx="952500" cy="7620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F33A8-76E8-4C04-B594-70177FBD32FC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666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ZERO TRUST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8F6A2-9844-4F5A-9A4D-653E0DEDC21B}"/>
              </a:ext>
            </a:extLst>
          </p:cNvPr>
          <p:cNvSpPr>
            <a:spLocks noGrp="1"/>
          </p:cNvSpPr>
          <p:nvPr/>
        </p:nvSpPr>
        <p:spPr>
          <a:xfrm>
            <a:off x="914400" y="2619375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Nunca confiar. Siempre verificar.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73432-F41E-436A-AD1F-D86208E11CE8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C7D8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7D8E4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8DC38B-2E5B-4D3B-AF36-8F90833AC1EE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8FA8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FA8B8"/>
                </a:solidFill>
                <a:latin typeface="Aptos"/>
                <a:ea typeface="Aptos"/>
                <a:cs typeface="Aptos"/>
              </a:rPr>
              <a:t>Identidad · Seguridad · Cumplimiento · Redes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F069B-D492-4309-9032-A8171A3E2168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8FA8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FA8B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563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3D02E40-D818-43B6-B365-DA170D513B8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CONTEXTO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8D6F89-78FB-419B-8171-C42B02E070AA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3927D-3FEE-4806-A4DA-D7DCF864BBE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0E2804-109C-44BA-A340-363D0BA73DC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El perímetro dejó de ser una frontera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F35FD-4E3F-4CAE-B23A-3D3D34A5A60A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Cloud, movilidad y BYOD convierten cada acceso en un evento que debe evaluarse.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00E99-2609-4932-8C23-2D465E8350A8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MODELO TRADICIONAL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E2687-F843-437A-94CF-34661FE6633E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4286250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94F4EF-8430-46E4-8ABE-D984F1EC6C94}"/>
              </a:ext>
            </a:extLst>
          </p:cNvPr>
          <p:cNvSpPr>
            <a:spLocks noGrp="1"/>
          </p:cNvSpPr>
          <p:nvPr/>
        </p:nvSpPr>
        <p:spPr>
          <a:xfrm>
            <a:off x="2095500" y="2905125"/>
            <a:ext cx="1905000" cy="1905000"/>
          </a:xfrm>
          <a:prstGeom prst="ellipse">
            <a:avLst/>
          </a:prstGeom>
          <a:noFill/>
          <a:ln w="47625">
            <a:solidFill>
              <a:srgbClr val="E85D5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983982-8E6A-4C9C-A016-E7A3996D2902}"/>
              </a:ext>
            </a:extLst>
          </p:cNvPr>
          <p:cNvSpPr>
            <a:spLocks noGrp="1"/>
          </p:cNvSpPr>
          <p:nvPr/>
        </p:nvSpPr>
        <p:spPr>
          <a:xfrm>
            <a:off x="2428875" y="3476625"/>
            <a:ext cx="123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RED</a:t>
            </a:r>
          </a:p>
          <a:p>
            <a:pPr algn="ctr">
              <a:defRPr sz="18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CONFIABLE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C24A5A-26A5-499D-9794-1B5F22B73737}"/>
              </a:ext>
            </a:extLst>
          </p:cNvPr>
          <p:cNvSpPr>
            <a:spLocks noGrp="1"/>
          </p:cNvSpPr>
          <p:nvPr/>
        </p:nvSpPr>
        <p:spPr>
          <a:xfrm>
            <a:off x="1571625" y="50482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Dentro = confianza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1F0BE-C5C1-4C9C-BF97-02BCFA4ABA4F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ENTORNO MODERNO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1C862-51BA-4399-B4AD-B2C4D5CF9CC8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4286250" cy="381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5AD84-5B7E-4780-A2E1-9563868A78CE}"/>
              </a:ext>
            </a:extLst>
          </p:cNvPr>
          <p:cNvSpPr>
            <a:spLocks noGrp="1"/>
          </p:cNvSpPr>
          <p:nvPr/>
        </p:nvSpPr>
        <p:spPr>
          <a:xfrm>
            <a:off x="6953250" y="3067050"/>
            <a:ext cx="1047750" cy="1047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A4E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50B41-5CBC-4BC8-A9E7-827B886AC9EE}"/>
              </a:ext>
            </a:extLst>
          </p:cNvPr>
          <p:cNvSpPr>
            <a:spLocks noGrp="1"/>
          </p:cNvSpPr>
          <p:nvPr/>
        </p:nvSpPr>
        <p:spPr>
          <a:xfrm>
            <a:off x="6953250" y="34766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USUARIO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CC7342-22C4-41DE-89D0-EEB1299CD47C}"/>
              </a:ext>
            </a:extLst>
          </p:cNvPr>
          <p:cNvSpPr>
            <a:spLocks noGrp="1"/>
          </p:cNvSpPr>
          <p:nvPr/>
        </p:nvSpPr>
        <p:spPr>
          <a:xfrm>
            <a:off x="9286875" y="2857500"/>
            <a:ext cx="1047750" cy="1047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878B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41BF4F-F805-4DC1-B835-96638968EF4F}"/>
              </a:ext>
            </a:extLst>
          </p:cNvPr>
          <p:cNvSpPr>
            <a:spLocks noGrp="1"/>
          </p:cNvSpPr>
          <p:nvPr/>
        </p:nvSpPr>
        <p:spPr>
          <a:xfrm>
            <a:off x="9286875" y="32670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CLOUD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90BF9E-FBE0-4E06-9DBB-22106F2F48CD}"/>
              </a:ext>
            </a:extLst>
          </p:cNvPr>
          <p:cNvSpPr>
            <a:spLocks noGrp="1"/>
          </p:cNvSpPr>
          <p:nvPr/>
        </p:nvSpPr>
        <p:spPr>
          <a:xfrm>
            <a:off x="9810750" y="4476750"/>
            <a:ext cx="1047750" cy="1047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3A71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35A40D-3848-4A4D-AD5E-8D05E5272DD9}"/>
              </a:ext>
            </a:extLst>
          </p:cNvPr>
          <p:cNvSpPr>
            <a:spLocks noGrp="1"/>
          </p:cNvSpPr>
          <p:nvPr/>
        </p:nvSpPr>
        <p:spPr>
          <a:xfrm>
            <a:off x="9810750" y="48863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DATOS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B09D2AA-D5C9-44B1-A7D0-DD0C814DD7F1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1047750" cy="1047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357D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2171D9-1D50-4555-A9D8-4D6FE7C3FA1A}"/>
              </a:ext>
            </a:extLst>
          </p:cNvPr>
          <p:cNvSpPr>
            <a:spLocks noGrp="1"/>
          </p:cNvSpPr>
          <p:nvPr/>
        </p:nvSpPr>
        <p:spPr>
          <a:xfrm>
            <a:off x="7239000" y="51720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BYOD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1BE3C5-0681-4DB9-A1A1-9D401415B2DE}"/>
              </a:ext>
            </a:extLst>
          </p:cNvPr>
          <p:cNvSpPr>
            <a:spLocks noGrp="1"/>
          </p:cNvSpPr>
          <p:nvPr/>
        </p:nvSpPr>
        <p:spPr>
          <a:xfrm>
            <a:off x="8334375" y="3667125"/>
            <a:ext cx="1143000" cy="1143000"/>
          </a:xfrm>
          <a:prstGeom prst="ellipse">
            <a:avLst/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325AA3-5D1C-4CBF-9DF9-6F460573475F}"/>
              </a:ext>
            </a:extLst>
          </p:cNvPr>
          <p:cNvSpPr>
            <a:spLocks noGrp="1"/>
          </p:cNvSpPr>
          <p:nvPr/>
        </p:nvSpPr>
        <p:spPr>
          <a:xfrm>
            <a:off x="8429625" y="40957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POLÍTICA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C865A1-4CB2-41CB-BE49-90281C3E5FA3}"/>
              </a:ext>
            </a:extLst>
          </p:cNvPr>
          <p:cNvSpPr>
            <a:spLocks noGrp="1"/>
          </p:cNvSpPr>
          <p:nvPr/>
        </p:nvSpPr>
        <p:spPr>
          <a:xfrm>
            <a:off x="7191375" y="58102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Cada solicitud se verifica</a:t>
            </a:r>
          </a:p>
        </p:txBody>
      </p:sp>
    </p:spTree>
    <p:extLst>
      <p:ext uri="{BB962C8B-B14F-4D97-AF65-F5344CB8AC3E}">
        <p14:creationId xmlns:p14="http://schemas.microsoft.com/office/powerpoint/2010/main" val="29136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0FF6E8E-F053-401D-8C96-95E0B4590A6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MODELO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C298B7-8203-44A1-B4C9-D4E6F034CBA6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F1A50C-0130-443C-9CDE-F6511835C7C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05183-03FC-40D7-8082-A6BCD6520EA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 confianza implícita a decisión continua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8038B8-0865-49A5-98B3-67C9AE4C1A07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ANTES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94C43C-93C2-40E3-A674-C3B79BA965D9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ubicación concede acceso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0377B0-E36D-4DAE-B73C-C59082B44E75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Una validación inicial abre una sesión amplia.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4CF20D-1F0C-4425-A065-173FA5495511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3714750" cy="66675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CC4FA-948B-47BF-9973-917CDA4C1646}"/>
              </a:ext>
            </a:extLst>
          </p:cNvPr>
          <p:cNvSpPr>
            <a:spLocks noGrp="1"/>
          </p:cNvSpPr>
          <p:nvPr/>
        </p:nvSpPr>
        <p:spPr>
          <a:xfrm>
            <a:off x="7239000" y="22383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AHORA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D1D37-F201-44D3-918A-87ACBD45EE19}"/>
              </a:ext>
            </a:extLst>
          </p:cNvPr>
          <p:cNvSpPr>
            <a:spLocks noGrp="1"/>
          </p:cNvSpPr>
          <p:nvPr/>
        </p:nvSpPr>
        <p:spPr>
          <a:xfrm>
            <a:off x="7239000" y="2667000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El contexto decide el acceso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1482B-BF9E-4285-84C3-101FDD7EF17E}"/>
              </a:ext>
            </a:extLst>
          </p:cNvPr>
          <p:cNvSpPr>
            <a:spLocks noGrp="1"/>
          </p:cNvSpPr>
          <p:nvPr/>
        </p:nvSpPr>
        <p:spPr>
          <a:xfrm>
            <a:off x="7239000" y="3476625"/>
            <a:ext cx="3905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Identidad, dispositivo, aplicación, datos y riesgo se reevalúan.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54B27-114A-4DB1-8154-FE293F13A0CE}"/>
              </a:ext>
            </a:extLst>
          </p:cNvPr>
          <p:cNvSpPr>
            <a:spLocks noGrp="1"/>
          </p:cNvSpPr>
          <p:nvPr/>
        </p:nvSpPr>
        <p:spPr>
          <a:xfrm>
            <a:off x="7239000" y="4457700"/>
            <a:ext cx="3905250" cy="66675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A18999-D0E2-417B-82F6-1079BAE533A1}"/>
              </a:ext>
            </a:extLst>
          </p:cNvPr>
          <p:cNvSpPr>
            <a:spLocks noGrp="1"/>
          </p:cNvSpPr>
          <p:nvPr/>
        </p:nvSpPr>
        <p:spPr>
          <a:xfrm>
            <a:off x="5524500" y="2571750"/>
            <a:ext cx="38100" cy="209550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8C2918-9A66-4497-B498-317F8FB835F3}"/>
              </a:ext>
            </a:extLst>
          </p:cNvPr>
          <p:cNvSpPr>
            <a:spLocks noGrp="1"/>
          </p:cNvSpPr>
          <p:nvPr/>
        </p:nvSpPr>
        <p:spPr>
          <a:xfrm>
            <a:off x="5381625" y="3381375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972B76-D78C-4475-889A-FBA270D54CBA}"/>
              </a:ext>
            </a:extLst>
          </p:cNvPr>
          <p:cNvSpPr>
            <a:spLocks noGrp="1"/>
          </p:cNvSpPr>
          <p:nvPr/>
        </p:nvSpPr>
        <p:spPr>
          <a:xfrm>
            <a:off x="2476500" y="55721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Zero Trust reemplaza la confianza predeterminada por confianza basada en excepciones.</a:t>
            </a:r>
          </a:p>
        </p:txBody>
      </p:sp>
    </p:spTree>
    <p:extLst>
      <p:ext uri="{BB962C8B-B14F-4D97-AF65-F5344CB8AC3E}">
        <p14:creationId xmlns:p14="http://schemas.microsoft.com/office/powerpoint/2010/main" val="158975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8043C0-7D2D-49E6-B117-D6010153638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PRINCIPIOS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4BBDA-7DB4-4B90-966C-7903335B950C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E53038-C7D3-4C0C-8B15-6B95D262F56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C6DFD-D48A-4EF1-B43E-E93C9B10893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Tres principios gobiernan cada acceso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53105-A457-4712-876F-EA0BA5FC8C98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ED831-D41A-4BF2-9BBA-798CD92251AC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667000" cy="381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105EE3-D417-4F4D-9518-30320BD61699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Verificar explícitamente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8B30F-D8F9-4AB8-9E43-A5349D149ADD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762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Autenticar y autorizar con todas las señales disponibles.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501AA-5EFE-4D64-94FA-F1479B7FFBBF}"/>
              </a:ext>
            </a:extLst>
          </p:cNvPr>
          <p:cNvSpPr>
            <a:spLocks noGrp="1"/>
          </p:cNvSpPr>
          <p:nvPr/>
        </p:nvSpPr>
        <p:spPr>
          <a:xfrm>
            <a:off x="4333875" y="219075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1C1B9-7D27-4624-95E4-C1081C4E1F26}"/>
              </a:ext>
            </a:extLst>
          </p:cNvPr>
          <p:cNvSpPr>
            <a:spLocks noGrp="1"/>
          </p:cNvSpPr>
          <p:nvPr/>
        </p:nvSpPr>
        <p:spPr>
          <a:xfrm>
            <a:off x="4333875" y="2952750"/>
            <a:ext cx="2667000" cy="381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0E8D7-C8B6-4471-A545-87ACA08A87A0}"/>
              </a:ext>
            </a:extLst>
          </p:cNvPr>
          <p:cNvSpPr>
            <a:spLocks noGrp="1"/>
          </p:cNvSpPr>
          <p:nvPr/>
        </p:nvSpPr>
        <p:spPr>
          <a:xfrm>
            <a:off x="4333875" y="323850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Mínimo privilegio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5B8B24-B1C5-4FC4-BB6B-9E3839D1F01E}"/>
              </a:ext>
            </a:extLst>
          </p:cNvPr>
          <p:cNvSpPr>
            <a:spLocks noGrp="1"/>
          </p:cNvSpPr>
          <p:nvPr/>
        </p:nvSpPr>
        <p:spPr>
          <a:xfrm>
            <a:off x="4333875" y="4095750"/>
            <a:ext cx="2762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Limitar alcance y duración con JIT, JEA y políticas adaptativas.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9EAE7-F544-4E33-94BA-6C496B01DA4D}"/>
              </a:ext>
            </a:extLst>
          </p:cNvPr>
          <p:cNvSpPr>
            <a:spLocks noGrp="1"/>
          </p:cNvSpPr>
          <p:nvPr/>
        </p:nvSpPr>
        <p:spPr>
          <a:xfrm>
            <a:off x="7810500" y="219075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564144-72A1-4728-8139-2D08BD57391E}"/>
              </a:ext>
            </a:extLst>
          </p:cNvPr>
          <p:cNvSpPr>
            <a:spLocks noGrp="1"/>
          </p:cNvSpPr>
          <p:nvPr/>
        </p:nvSpPr>
        <p:spPr>
          <a:xfrm>
            <a:off x="7810500" y="2952750"/>
            <a:ext cx="2667000" cy="3810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214EC-ECCA-4B7D-B90B-AC7FE231D1E0}"/>
              </a:ext>
            </a:extLst>
          </p:cNvPr>
          <p:cNvSpPr>
            <a:spLocks noGrp="1"/>
          </p:cNvSpPr>
          <p:nvPr/>
        </p:nvSpPr>
        <p:spPr>
          <a:xfrm>
            <a:off x="7810500" y="323850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Asumir una brecha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4F0E68-1ADB-4685-B763-7E707165C1AD}"/>
              </a:ext>
            </a:extLst>
          </p:cNvPr>
          <p:cNvSpPr>
            <a:spLocks noGrp="1"/>
          </p:cNvSpPr>
          <p:nvPr/>
        </p:nvSpPr>
        <p:spPr>
          <a:xfrm>
            <a:off x="7810500" y="4095750"/>
            <a:ext cx="2762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Segmentar, cifrar y analizar para contener el impacto.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159EF6-99E4-4C91-B6D7-93518D2B785F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AUTENTICAR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6402B4-EDA6-4A2C-AA03-8265E266BC40}"/>
              </a:ext>
            </a:extLst>
          </p:cNvPr>
          <p:cNvSpPr>
            <a:spLocks noGrp="1"/>
          </p:cNvSpPr>
          <p:nvPr/>
        </p:nvSpPr>
        <p:spPr>
          <a:xfrm>
            <a:off x="4762500" y="5810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LIMITAR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5D5973-60CB-4A1E-9D4B-43C8BAD68637}"/>
              </a:ext>
            </a:extLst>
          </p:cNvPr>
          <p:cNvSpPr>
            <a:spLocks noGrp="1"/>
          </p:cNvSpPr>
          <p:nvPr/>
        </p:nvSpPr>
        <p:spPr>
          <a:xfrm>
            <a:off x="8572500" y="5810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CONTENER</a:t>
            </a:r>
          </a:p>
        </p:txBody>
      </p:sp>
    </p:spTree>
    <p:extLst>
      <p:ext uri="{BB962C8B-B14F-4D97-AF65-F5344CB8AC3E}">
        <p14:creationId xmlns:p14="http://schemas.microsoft.com/office/powerpoint/2010/main" val="119265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6D67B05-C311-4A80-BF5A-4AA31D57897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ARQUITECTURA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A78A8-0747-4BD9-9DBB-B858C85C28C7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4CCA07-9245-4ACB-ACCF-08D7D557272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95FBC-E60C-40F0-A23D-6FABDAB9A87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Seis componentes, una única estrategia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2D3798-49E0-4D27-B70B-B9DD8D350453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La política conecta señales y controles a través de todo el entorno.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F04A99-98BE-44CD-9F45-08E0DBD987EF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704850" cy="704850"/>
          </a:xfrm>
          <a:prstGeom prst="ellipse">
            <a:avLst/>
          </a:prstGeom>
          <a:noFill/>
          <a:ln w="47625">
            <a:solidFill>
              <a:srgbClr val="00A4E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0B942-4BFA-4851-9BB4-2DC25A2ACC1E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70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2A33E-2298-41A2-8342-0F0C99064F46}"/>
              </a:ext>
            </a:extLst>
          </p:cNvPr>
          <p:cNvSpPr>
            <a:spLocks noGrp="1"/>
          </p:cNvSpPr>
          <p:nvPr/>
        </p:nvSpPr>
        <p:spPr>
          <a:xfrm>
            <a:off x="1857375" y="23717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IDENTIDADES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2E0BE9-BA25-4595-8E5B-9F28774F37ED}"/>
              </a:ext>
            </a:extLst>
          </p:cNvPr>
          <p:cNvSpPr>
            <a:spLocks noGrp="1"/>
          </p:cNvSpPr>
          <p:nvPr/>
        </p:nvSpPr>
        <p:spPr>
          <a:xfrm>
            <a:off x="1857375" y="269557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Autenticación fuerte y privilegio mínimo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E83250-044B-4B2F-84C0-83F5779D450C}"/>
              </a:ext>
            </a:extLst>
          </p:cNvPr>
          <p:cNvSpPr>
            <a:spLocks noGrp="1"/>
          </p:cNvSpPr>
          <p:nvPr/>
        </p:nvSpPr>
        <p:spPr>
          <a:xfrm>
            <a:off x="4333875" y="2143125"/>
            <a:ext cx="704850" cy="704850"/>
          </a:xfrm>
          <a:prstGeom prst="ellipse">
            <a:avLst/>
          </a:prstGeom>
          <a:noFill/>
          <a:ln w="47625">
            <a:solidFill>
              <a:srgbClr val="20B48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02A28B-6DF0-48BA-8071-31614E96115F}"/>
              </a:ext>
            </a:extLst>
          </p:cNvPr>
          <p:cNvSpPr>
            <a:spLocks noGrp="1"/>
          </p:cNvSpPr>
          <p:nvPr/>
        </p:nvSpPr>
        <p:spPr>
          <a:xfrm>
            <a:off x="4333875" y="2305050"/>
            <a:ext cx="70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CA60A9-2E6E-4630-A17E-54A859A44F9B}"/>
              </a:ext>
            </a:extLst>
          </p:cNvPr>
          <p:cNvSpPr>
            <a:spLocks noGrp="1"/>
          </p:cNvSpPr>
          <p:nvPr/>
        </p:nvSpPr>
        <p:spPr>
          <a:xfrm>
            <a:off x="5238750" y="21812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ENDPOINTS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06AD99-C479-4660-9CDA-B744669D49F8}"/>
              </a:ext>
            </a:extLst>
          </p:cNvPr>
          <p:cNvSpPr>
            <a:spLocks noGrp="1"/>
          </p:cNvSpPr>
          <p:nvPr/>
        </p:nvSpPr>
        <p:spPr>
          <a:xfrm>
            <a:off x="5238750" y="250507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Estado, cumplimiento y telemetría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A24205-B7A6-430D-AE01-5089A529F876}"/>
              </a:ext>
            </a:extLst>
          </p:cNvPr>
          <p:cNvSpPr>
            <a:spLocks noGrp="1"/>
          </p:cNvSpPr>
          <p:nvPr/>
        </p:nvSpPr>
        <p:spPr>
          <a:xfrm>
            <a:off x="7762875" y="2333625"/>
            <a:ext cx="704850" cy="704850"/>
          </a:xfrm>
          <a:prstGeom prst="ellipse">
            <a:avLst/>
          </a:prstGeom>
          <a:noFill/>
          <a:ln w="47625">
            <a:solidFill>
              <a:srgbClr val="7357D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4FCA29-55ED-40CD-B09B-4976A3E2E95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70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EAFFD-9F86-4820-B61E-82DF638C7128}"/>
              </a:ext>
            </a:extLst>
          </p:cNvPr>
          <p:cNvSpPr>
            <a:spLocks noGrp="1"/>
          </p:cNvSpPr>
          <p:nvPr/>
        </p:nvSpPr>
        <p:spPr>
          <a:xfrm>
            <a:off x="8667750" y="23717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APLICACIONES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39CD5A-E090-4F4A-A8D0-4388E34DD962}"/>
              </a:ext>
            </a:extLst>
          </p:cNvPr>
          <p:cNvSpPr>
            <a:spLocks noGrp="1"/>
          </p:cNvSpPr>
          <p:nvPr/>
        </p:nvSpPr>
        <p:spPr>
          <a:xfrm>
            <a:off x="8667750" y="269557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Permisos, shadow IT y anomalías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56D304-5C6E-40D9-8940-850B1B0FC33E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704850" cy="704850"/>
          </a:xfrm>
          <a:prstGeom prst="ellipse">
            <a:avLst/>
          </a:prstGeom>
          <a:noFill/>
          <a:ln w="47625">
            <a:solidFill>
              <a:srgbClr val="F3A71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FE8E4A-DCFE-49F9-A399-F027197AC48E}"/>
              </a:ext>
            </a:extLst>
          </p:cNvPr>
          <p:cNvSpPr>
            <a:spLocks noGrp="1"/>
          </p:cNvSpPr>
          <p:nvPr/>
        </p:nvSpPr>
        <p:spPr>
          <a:xfrm>
            <a:off x="952500" y="4448175"/>
            <a:ext cx="70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529153-8BF0-4F4E-AD7E-7A9CDF2E384C}"/>
              </a:ext>
            </a:extLst>
          </p:cNvPr>
          <p:cNvSpPr>
            <a:spLocks noGrp="1"/>
          </p:cNvSpPr>
          <p:nvPr/>
        </p:nvSpPr>
        <p:spPr>
          <a:xfrm>
            <a:off x="1857375" y="4324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DATOS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4469B-783A-45EC-B2C7-337C1725DC61}"/>
              </a:ext>
            </a:extLst>
          </p:cNvPr>
          <p:cNvSpPr>
            <a:spLocks noGrp="1"/>
          </p:cNvSpPr>
          <p:nvPr/>
        </p:nvSpPr>
        <p:spPr>
          <a:xfrm>
            <a:off x="1857375" y="4648200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Clasificación, etiquetas y cifrado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C39D83-8C91-4079-9DC0-60FC9FA5227F}"/>
              </a:ext>
            </a:extLst>
          </p:cNvPr>
          <p:cNvSpPr>
            <a:spLocks noGrp="1"/>
          </p:cNvSpPr>
          <p:nvPr/>
        </p:nvSpPr>
        <p:spPr>
          <a:xfrm>
            <a:off x="4333875" y="4524375"/>
            <a:ext cx="704850" cy="704850"/>
          </a:xfrm>
          <a:prstGeom prst="ellipse">
            <a:avLst/>
          </a:prstGeom>
          <a:noFill/>
          <a:ln w="47625">
            <a:solidFill>
              <a:srgbClr val="2878BD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02804A-0F2A-4533-9260-F11AD38E9D44}"/>
              </a:ext>
            </a:extLst>
          </p:cNvPr>
          <p:cNvSpPr>
            <a:spLocks noGrp="1"/>
          </p:cNvSpPr>
          <p:nvPr/>
        </p:nvSpPr>
        <p:spPr>
          <a:xfrm>
            <a:off x="4333875" y="4686300"/>
            <a:ext cx="70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7032B-F201-41BE-8790-D0D5D165DAF0}"/>
              </a:ext>
            </a:extLst>
          </p:cNvPr>
          <p:cNvSpPr>
            <a:spLocks noGrp="1"/>
          </p:cNvSpPr>
          <p:nvPr/>
        </p:nvSpPr>
        <p:spPr>
          <a:xfrm>
            <a:off x="5238750" y="45624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INFRAESTRUCTURA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31F5CD-FE5C-49E6-897A-3581230254A1}"/>
              </a:ext>
            </a:extLst>
          </p:cNvPr>
          <p:cNvSpPr>
            <a:spLocks noGrp="1"/>
          </p:cNvSpPr>
          <p:nvPr/>
        </p:nvSpPr>
        <p:spPr>
          <a:xfrm>
            <a:off x="5238750" y="488632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Configuración, JIT y telemetría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84BF4B-830F-4ECF-8BD1-6265C5393181}"/>
              </a:ext>
            </a:extLst>
          </p:cNvPr>
          <p:cNvSpPr>
            <a:spLocks noGrp="1"/>
          </p:cNvSpPr>
          <p:nvPr/>
        </p:nvSpPr>
        <p:spPr>
          <a:xfrm>
            <a:off x="7762875" y="4286250"/>
            <a:ext cx="704850" cy="704850"/>
          </a:xfrm>
          <a:prstGeom prst="ellipse">
            <a:avLst/>
          </a:prstGeom>
          <a:noFill/>
          <a:ln w="47625">
            <a:solidFill>
              <a:srgbClr val="E85D5D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375C21-B5D4-410C-BD8E-FF05F055A3CE}"/>
              </a:ext>
            </a:extLst>
          </p:cNvPr>
          <p:cNvSpPr>
            <a:spLocks noGrp="1"/>
          </p:cNvSpPr>
          <p:nvPr/>
        </p:nvSpPr>
        <p:spPr>
          <a:xfrm>
            <a:off x="7762875" y="4448175"/>
            <a:ext cx="70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58D37D-F6D9-446C-9581-E767A30D0D1E}"/>
              </a:ext>
            </a:extLst>
          </p:cNvPr>
          <p:cNvSpPr>
            <a:spLocks noGrp="1"/>
          </p:cNvSpPr>
          <p:nvPr/>
        </p:nvSpPr>
        <p:spPr>
          <a:xfrm>
            <a:off x="8667750" y="4324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9F9D46-593F-4CD2-AD54-CC4B31B5BE78}"/>
              </a:ext>
            </a:extLst>
          </p:cNvPr>
          <p:cNvSpPr>
            <a:spLocks noGrp="1"/>
          </p:cNvSpPr>
          <p:nvPr/>
        </p:nvSpPr>
        <p:spPr>
          <a:xfrm>
            <a:off x="8667750" y="4648200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Segmentación, cifrado y análisis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CCC1C1-BEE0-4CAB-A632-10664C028DDC}"/>
              </a:ext>
            </a:extLst>
          </p:cNvPr>
          <p:cNvSpPr>
            <a:spLocks noGrp="1"/>
          </p:cNvSpPr>
          <p:nvPr/>
        </p:nvSpPr>
        <p:spPr>
          <a:xfrm>
            <a:off x="4143375" y="3705225"/>
            <a:ext cx="3905250" cy="28575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945AEC-D7E9-4B41-8AB6-D7A766EF10A8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UNA POLÍTICA COMÚN</a:t>
            </a:r>
          </a:p>
        </p:txBody>
      </p:sp>
    </p:spTree>
    <p:extLst>
      <p:ext uri="{BB962C8B-B14F-4D97-AF65-F5344CB8AC3E}">
        <p14:creationId xmlns:p14="http://schemas.microsoft.com/office/powerpoint/2010/main" val="213473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71C974F-192C-4996-A4AC-D0452BC4CF6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DECISIÓN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0C751-1571-4C9E-A424-773B20ED6BF9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72B342-03DF-4B94-83F7-DA7E7F98A26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B53FF7-B765-4AE5-9455-E2F139C917F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Cada acceso es una decisión de política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060D9-9115-429B-8981-F000C6201426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SEÑALES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7716C-5FBF-4B21-BFAC-C1BB06A308BC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38383-7FB5-49D0-96F7-02B93234B3ED}"/>
              </a:ext>
            </a:extLst>
          </p:cNvPr>
          <p:cNvSpPr>
            <a:spLocks noGrp="1"/>
          </p:cNvSpPr>
          <p:nvPr/>
        </p:nvSpPr>
        <p:spPr>
          <a:xfrm>
            <a:off x="3000375" y="2657475"/>
            <a:ext cx="523875" cy="2857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BDE53-F663-4D3F-8D27-3CA86416DD23}"/>
              </a:ext>
            </a:extLst>
          </p:cNvPr>
          <p:cNvSpPr>
            <a:spLocks noGrp="1"/>
          </p:cNvSpPr>
          <p:nvPr/>
        </p:nvSpPr>
        <p:spPr>
          <a:xfrm>
            <a:off x="857250" y="30765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Dispositivo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9AD13-466C-4036-932B-D4E12F84E6AB}"/>
              </a:ext>
            </a:extLst>
          </p:cNvPr>
          <p:cNvSpPr>
            <a:spLocks noGrp="1"/>
          </p:cNvSpPr>
          <p:nvPr/>
        </p:nvSpPr>
        <p:spPr>
          <a:xfrm>
            <a:off x="3000375" y="3162300"/>
            <a:ext cx="523875" cy="2857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60D63-F5C8-47EA-8778-6B32777DFFA2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Ubicación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6669CB-1423-4A6F-806B-F52CA3301AB6}"/>
              </a:ext>
            </a:extLst>
          </p:cNvPr>
          <p:cNvSpPr>
            <a:spLocks noGrp="1"/>
          </p:cNvSpPr>
          <p:nvPr/>
        </p:nvSpPr>
        <p:spPr>
          <a:xfrm>
            <a:off x="3000375" y="3667125"/>
            <a:ext cx="523875" cy="2857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D249D6-1875-4CD6-B370-002DCBAD962E}"/>
              </a:ext>
            </a:extLst>
          </p:cNvPr>
          <p:cNvSpPr>
            <a:spLocks noGrp="1"/>
          </p:cNvSpPr>
          <p:nvPr/>
        </p:nvSpPr>
        <p:spPr>
          <a:xfrm>
            <a:off x="857250" y="40862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Aplicación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CDA2F8-3681-40E5-98DD-96A40ED4F45F}"/>
              </a:ext>
            </a:extLst>
          </p:cNvPr>
          <p:cNvSpPr>
            <a:spLocks noGrp="1"/>
          </p:cNvSpPr>
          <p:nvPr/>
        </p:nvSpPr>
        <p:spPr>
          <a:xfrm>
            <a:off x="3000375" y="4171950"/>
            <a:ext cx="523875" cy="2857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B48EA-C5B0-4D30-BB6B-8EABA764E670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98201B-B78F-4CF8-8A56-83F5ED3428FE}"/>
              </a:ext>
            </a:extLst>
          </p:cNvPr>
          <p:cNvSpPr>
            <a:spLocks noGrp="1"/>
          </p:cNvSpPr>
          <p:nvPr/>
        </p:nvSpPr>
        <p:spPr>
          <a:xfrm>
            <a:off x="3000375" y="4676775"/>
            <a:ext cx="523875" cy="2857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74E4C1-016F-4A67-867C-1A390D65AA0F}"/>
              </a:ext>
            </a:extLst>
          </p:cNvPr>
          <p:cNvSpPr>
            <a:spLocks noGrp="1"/>
          </p:cNvSpPr>
          <p:nvPr/>
        </p:nvSpPr>
        <p:spPr>
          <a:xfrm>
            <a:off x="857250" y="50958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Riesgo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42A086-7DC8-49A0-A0A6-EC8B5B7B4B10}"/>
              </a:ext>
            </a:extLst>
          </p:cNvPr>
          <p:cNvSpPr>
            <a:spLocks noGrp="1"/>
          </p:cNvSpPr>
          <p:nvPr/>
        </p:nvSpPr>
        <p:spPr>
          <a:xfrm>
            <a:off x="3000375" y="5181600"/>
            <a:ext cx="523875" cy="28575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18" name="motor-politica">
            <a:extLst>
              <a:ext uri="{FF2B5EF4-FFF2-40B4-BE49-F238E27FC236}">
                <a16:creationId xmlns:a16="http://schemas.microsoft.com/office/drawing/2014/main" id="{6812AFD4-4FCF-48B2-8E18-380029F520E9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2381250" cy="2286000"/>
          </a:xfrm>
          <a:prstGeom prst="rect">
            <a:avLst/>
          </a:prstGeom>
          <a:solidFill>
            <a:srgbClr val="0B1F33"/>
          </a:solidFill>
          <a:ln w="0">
            <a:solidFill>
              <a:srgbClr val="0B1F33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88BE49-AB87-4889-B012-2E6E7BD6F6EB}"/>
              </a:ext>
            </a:extLst>
          </p:cNvPr>
          <p:cNvSpPr>
            <a:spLocks noGrp="1"/>
          </p:cNvSpPr>
          <p:nvPr/>
        </p:nvSpPr>
        <p:spPr>
          <a:xfrm>
            <a:off x="5048250" y="2905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EVALUACIÓN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A1A00C-75D5-433C-B042-88A5292E7B22}"/>
              </a:ext>
            </a:extLst>
          </p:cNvPr>
          <p:cNvSpPr>
            <a:spLocks noGrp="1"/>
          </p:cNvSpPr>
          <p:nvPr/>
        </p:nvSpPr>
        <p:spPr>
          <a:xfrm>
            <a:off x="5095875" y="3333750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Motor de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políticas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2979CE-64D4-48BD-82F5-4B1AD3DC01F8}"/>
              </a:ext>
            </a:extLst>
          </p:cNvPr>
          <p:cNvSpPr>
            <a:spLocks noGrp="1"/>
          </p:cNvSpPr>
          <p:nvPr/>
        </p:nvSpPr>
        <p:spPr>
          <a:xfrm>
            <a:off x="5095875" y="4333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FC3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3D1"/>
                </a:solidFill>
                <a:latin typeface="Aptos"/>
                <a:ea typeface="Aptos"/>
                <a:cs typeface="Aptos"/>
              </a:rPr>
              <a:t>contexto + riesgo</a:t>
            </a:r>
          </a:p>
        </p:txBody>
      </p:sp>
      <p:sp>
        <p:nvSpPr>
          <p:cNvPr id="22" name="permitir">
            <a:extLst>
              <a:ext uri="{FF2B5EF4-FFF2-40B4-BE49-F238E27FC236}">
                <a16:creationId xmlns:a16="http://schemas.microsoft.com/office/drawing/2014/main" id="{6B2D184F-6E20-4CCC-BE40-F5643C89E2E9}"/>
              </a:ext>
            </a:extLst>
          </p:cNvPr>
          <p:cNvSpPr>
            <a:spLocks noGrp="1"/>
          </p:cNvSpPr>
          <p:nvPr/>
        </p:nvSpPr>
        <p:spPr>
          <a:xfrm>
            <a:off x="8477250" y="2428875"/>
            <a:ext cx="2381250" cy="904875"/>
          </a:xfrm>
          <a:prstGeom prst="rect">
            <a:avLst/>
          </a:prstGeom>
          <a:solidFill>
            <a:srgbClr val="DDF5EC"/>
          </a:solidFill>
          <a:ln w="19050">
            <a:solidFill>
              <a:srgbClr val="20B486"/>
            </a:solidFill>
            <a:prstDash val="solid"/>
          </a:ln>
        </p:spPr>
      </p:sp>
      <p:sp>
        <p:nvSpPr>
          <p:cNvPr id="23" name="restringir">
            <a:extLst>
              <a:ext uri="{FF2B5EF4-FFF2-40B4-BE49-F238E27FC236}">
                <a16:creationId xmlns:a16="http://schemas.microsoft.com/office/drawing/2014/main" id="{1BBC935D-4105-41D0-A801-D44BA2ECDC63}"/>
              </a:ext>
            </a:extLst>
          </p:cNvPr>
          <p:cNvSpPr>
            <a:spLocks noGrp="1"/>
          </p:cNvSpPr>
          <p:nvPr/>
        </p:nvSpPr>
        <p:spPr>
          <a:xfrm>
            <a:off x="8477250" y="3667125"/>
            <a:ext cx="2381250" cy="904875"/>
          </a:xfrm>
          <a:prstGeom prst="rect">
            <a:avLst/>
          </a:prstGeom>
          <a:solidFill>
            <a:srgbClr val="FFF1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bloquear">
            <a:extLst>
              <a:ext uri="{FF2B5EF4-FFF2-40B4-BE49-F238E27FC236}">
                <a16:creationId xmlns:a16="http://schemas.microsoft.com/office/drawing/2014/main" id="{5A9E593D-D135-4A13-A516-CAE879145DBE}"/>
              </a:ext>
            </a:extLst>
          </p:cNvPr>
          <p:cNvSpPr>
            <a:spLocks noGrp="1"/>
          </p:cNvSpPr>
          <p:nvPr/>
        </p:nvSpPr>
        <p:spPr>
          <a:xfrm>
            <a:off x="8477250" y="4905375"/>
            <a:ext cx="2381250" cy="904875"/>
          </a:xfrm>
          <a:prstGeom prst="rect">
            <a:avLst/>
          </a:prstGeom>
          <a:solidFill>
            <a:srgbClr val="FCE3E3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1D4DB0-575D-4BA6-AAA4-4CBBA25033C7}"/>
              </a:ext>
            </a:extLst>
          </p:cNvPr>
          <p:cNvSpPr>
            <a:spLocks noGrp="1"/>
          </p:cNvSpPr>
          <p:nvPr/>
        </p:nvSpPr>
        <p:spPr>
          <a:xfrm>
            <a:off x="8715375" y="26955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PERMITIR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B57D63-327E-4AD7-BD36-DD08D513AF72}"/>
              </a:ext>
            </a:extLst>
          </p:cNvPr>
          <p:cNvSpPr>
            <a:spLocks noGrp="1"/>
          </p:cNvSpPr>
          <p:nvPr/>
        </p:nvSpPr>
        <p:spPr>
          <a:xfrm>
            <a:off x="8715375" y="39338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B06B0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06B00"/>
                </a:solidFill>
                <a:latin typeface="Aptos Display"/>
                <a:ea typeface="Aptos Display"/>
                <a:cs typeface="Aptos Display"/>
              </a:rPr>
              <a:t>RESTRINGIR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146397-6CF4-4B97-B0D0-B71CF3D239DF}"/>
              </a:ext>
            </a:extLst>
          </p:cNvPr>
          <p:cNvSpPr>
            <a:spLocks noGrp="1"/>
          </p:cNvSpPr>
          <p:nvPr/>
        </p:nvSpPr>
        <p:spPr>
          <a:xfrm>
            <a:off x="8715375" y="51720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BLOQUEAR</a:t>
            </a:r>
          </a:p>
        </p:txBody>
      </p:sp>
      <p:sp>
        <p:nvSpPr>
          <p:cNvPr id="28" name="senales">
            <a:extLst>
              <a:ext uri="{FF2B5EF4-FFF2-40B4-BE49-F238E27FC236}">
                <a16:creationId xmlns:a16="http://schemas.microsoft.com/office/drawing/2014/main" id="{3914727E-301A-4D6A-955C-A1DCF52BBA33}"/>
              </a:ext>
            </a:extLst>
          </p:cNvPr>
          <p:cNvSpPr>
            <a:spLocks noGrp="1"/>
          </p:cNvSpPr>
          <p:nvPr/>
        </p:nvSpPr>
        <p:spPr>
          <a:xfrm>
            <a:off x="3333750" y="36480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9" name="Straight Arrow Connector 28"/>
          <p:cNvCxnSpPr>
            <a:stCxn id="28" idx="3"/>
            <a:endCxn id="18" idx="1"/>
          </p:cNvCxnSpPr>
          <p:nvPr/>
        </p:nvCxnSpPr>
        <p:spPr>
          <a:xfrm flipV="1">
            <a:off x="3714750" y="3714750"/>
            <a:ext cx="1047750" cy="123825"/>
          </a:xfrm>
          <a:prstGeom prst="straightConnector1">
            <a:avLst/>
          </a:prstGeom>
          <a:ln w="38100">
            <a:solidFill>
              <a:srgbClr val="00A4EF"/>
            </a:solidFill>
            <a:prstDash val="solid"/>
            <a:tailEnd type="arrow" w="med" len="med"/>
          </a:ln>
        </p:spPr>
      </p:cxnSp>
      <p:cxnSp>
        <p:nvCxnSpPr>
          <p:cNvPr id="30" name="Connector: Elbow 29"/>
          <p:cNvCxnSpPr>
            <a:stCxn id="18" idx="3"/>
            <a:endCxn id="22" idx="1"/>
          </p:cNvCxnSpPr>
          <p:nvPr/>
        </p:nvCxnSpPr>
        <p:spPr>
          <a:xfrm flipV="1">
            <a:off x="7143750" y="2881313"/>
            <a:ext cx="1333500" cy="833438"/>
          </a:xfrm>
          <a:prstGeom prst="bentConnector3">
            <a:avLst>
              <a:gd name="adj1" fmla="val 50000"/>
            </a:avLst>
          </a:prstGeom>
          <a:ln w="28575">
            <a:solidFill>
              <a:srgbClr val="C9D6DE"/>
            </a:solidFill>
            <a:prstDash val="solid"/>
            <a:tailEnd type="arrow" w="sm" len="sm"/>
          </a:ln>
        </p:spPr>
      </p:cxnSp>
      <p:cxnSp>
        <p:nvCxnSpPr>
          <p:cNvPr id="31" name="Connector: Elbow 30"/>
          <p:cNvCxnSpPr>
            <a:stCxn id="18" idx="3"/>
            <a:endCxn id="23" idx="1"/>
          </p:cNvCxnSpPr>
          <p:nvPr/>
        </p:nvCxnSpPr>
        <p:spPr>
          <a:xfrm>
            <a:off x="7143750" y="3714750"/>
            <a:ext cx="1333500" cy="404813"/>
          </a:xfrm>
          <a:prstGeom prst="bentConnector3">
            <a:avLst>
              <a:gd name="adj1" fmla="val 50000"/>
            </a:avLst>
          </a:prstGeom>
          <a:ln w="28575">
            <a:solidFill>
              <a:srgbClr val="C9D6DE"/>
            </a:solidFill>
            <a:prstDash val="solid"/>
            <a:tailEnd type="arrow" w="sm" len="sm"/>
          </a:ln>
        </p:spPr>
      </p:cxnSp>
      <p:cxnSp>
        <p:nvCxnSpPr>
          <p:cNvPr id="32" name="Connector: Elbow 31"/>
          <p:cNvCxnSpPr>
            <a:stCxn id="18" idx="3"/>
            <a:endCxn id="24" idx="1"/>
          </p:cNvCxnSpPr>
          <p:nvPr/>
        </p:nvCxnSpPr>
        <p:spPr>
          <a:xfrm>
            <a:off x="7143750" y="3714750"/>
            <a:ext cx="1333500" cy="1643063"/>
          </a:xfrm>
          <a:prstGeom prst="bentConnector3">
            <a:avLst>
              <a:gd name="adj1" fmla="val 50000"/>
            </a:avLst>
          </a:prstGeom>
          <a:ln w="28575">
            <a:solidFill>
              <a:srgbClr val="C9D6DE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4386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BBCFCEB-C9F6-4036-9CAD-6B3EDCC7D4D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VERIFICACIÓN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C8422-D0F1-4D14-BE0A-92FC518C63EA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1DEA-16A2-48C0-99F6-A0045700F1F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71B0C-92D6-4E8F-BC6A-A4713FCE37D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Verificar explícitamente exige contexto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F0E3C9-25AC-4354-9AF9-C2FD66990BE8}"/>
              </a:ext>
            </a:extLst>
          </p:cNvPr>
          <p:cNvSpPr>
            <a:spLocks noGrp="1"/>
          </p:cNvSpPr>
          <p:nvPr/>
        </p:nvSpPr>
        <p:spPr>
          <a:xfrm>
            <a:off x="4762500" y="2381250"/>
            <a:ext cx="2667000" cy="2667000"/>
          </a:xfrm>
          <a:prstGeom prst="ellipse">
            <a:avLst/>
          </a:prstGeom>
          <a:noFill/>
          <a:ln w="66675">
            <a:solidFill>
              <a:srgbClr val="00A4EF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1FD90D-FCE5-4293-87F1-85C9DDC6C55A}"/>
              </a:ext>
            </a:extLst>
          </p:cNvPr>
          <p:cNvSpPr>
            <a:spLocks noGrp="1"/>
          </p:cNvSpPr>
          <p:nvPr/>
        </p:nvSpPr>
        <p:spPr>
          <a:xfrm>
            <a:off x="5286375" y="2905125"/>
            <a:ext cx="1619250" cy="1619250"/>
          </a:xfrm>
          <a:prstGeom prst="ellipse">
            <a:avLst/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D8827-3056-404A-8F02-F8AC1175D745}"/>
              </a:ext>
            </a:extLst>
          </p:cNvPr>
          <p:cNvSpPr>
            <a:spLocks noGrp="1"/>
          </p:cNvSpPr>
          <p:nvPr/>
        </p:nvSpPr>
        <p:spPr>
          <a:xfrm>
            <a:off x="5381625" y="34290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RIESGO</a:t>
            </a:r>
          </a:p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 SESIÓN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CD6476-2C66-4B28-9F60-26F0E448F2B1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2381250" cy="4762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C2B667-48C3-4DBD-8446-A5C0E7192A8E}"/>
              </a:ext>
            </a:extLst>
          </p:cNvPr>
          <p:cNvSpPr>
            <a:spLocks noGrp="1"/>
          </p:cNvSpPr>
          <p:nvPr/>
        </p:nvSpPr>
        <p:spPr>
          <a:xfrm>
            <a:off x="857250" y="25812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IDENTIDAD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99FB0D-E37B-4B16-829B-D957E283CBDC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Quién solicita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C405A-B48B-41B3-9874-A8374D441780}"/>
              </a:ext>
            </a:extLst>
          </p:cNvPr>
          <p:cNvSpPr>
            <a:spLocks noGrp="1"/>
          </p:cNvSpPr>
          <p:nvPr/>
        </p:nvSpPr>
        <p:spPr>
          <a:xfrm>
            <a:off x="8239125" y="2333625"/>
            <a:ext cx="2381250" cy="47625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F8F465-1DF3-4BB4-A520-1DDD9253BD69}"/>
              </a:ext>
            </a:extLst>
          </p:cNvPr>
          <p:cNvSpPr>
            <a:spLocks noGrp="1"/>
          </p:cNvSpPr>
          <p:nvPr/>
        </p:nvSpPr>
        <p:spPr>
          <a:xfrm>
            <a:off x="8239125" y="25812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DISPOSITIVO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F0C14-5FBD-4F7D-8A01-D8230B89B97F}"/>
              </a:ext>
            </a:extLst>
          </p:cNvPr>
          <p:cNvSpPr>
            <a:spLocks noGrp="1"/>
          </p:cNvSpPr>
          <p:nvPr/>
        </p:nvSpPr>
        <p:spPr>
          <a:xfrm>
            <a:off x="8239125" y="29527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Desde qué estado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136DD0-3C6B-43B5-8AA0-7ED2E3545312}"/>
              </a:ext>
            </a:extLst>
          </p:cNvPr>
          <p:cNvSpPr>
            <a:spLocks noGrp="1"/>
          </p:cNvSpPr>
          <p:nvPr/>
        </p:nvSpPr>
        <p:spPr>
          <a:xfrm>
            <a:off x="857250" y="4619625"/>
            <a:ext cx="2381250" cy="47625"/>
          </a:xfrm>
          <a:prstGeom prst="rect">
            <a:avLst/>
          </a:prstGeom>
          <a:solidFill>
            <a:srgbClr val="7357D3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369C3C-F1D0-47D4-8D9B-C3EBD72F824E}"/>
              </a:ext>
            </a:extLst>
          </p:cNvPr>
          <p:cNvSpPr>
            <a:spLocks noGrp="1"/>
          </p:cNvSpPr>
          <p:nvPr/>
        </p:nvSpPr>
        <p:spPr>
          <a:xfrm>
            <a:off x="857250" y="48672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APLICACIÓN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0ED5B-E158-4F46-AA55-7675DAAC8B1F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través de qué servicio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1D10D3-FAF1-4FDB-8948-35EA486A0D75}"/>
              </a:ext>
            </a:extLst>
          </p:cNvPr>
          <p:cNvSpPr>
            <a:spLocks noGrp="1"/>
          </p:cNvSpPr>
          <p:nvPr/>
        </p:nvSpPr>
        <p:spPr>
          <a:xfrm>
            <a:off x="8239125" y="4619625"/>
            <a:ext cx="2381250" cy="47625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79565C-C37A-4324-89C9-5F57D9722ECD}"/>
              </a:ext>
            </a:extLst>
          </p:cNvPr>
          <p:cNvSpPr>
            <a:spLocks noGrp="1"/>
          </p:cNvSpPr>
          <p:nvPr/>
        </p:nvSpPr>
        <p:spPr>
          <a:xfrm>
            <a:off x="8239125" y="48672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DATOS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C96F63-3D50-4071-BCC3-1D4F1F116756}"/>
              </a:ext>
            </a:extLst>
          </p:cNvPr>
          <p:cNvSpPr>
            <a:spLocks noGrp="1"/>
          </p:cNvSpPr>
          <p:nvPr/>
        </p:nvSpPr>
        <p:spPr>
          <a:xfrm>
            <a:off x="8239125" y="52387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 qué sensibilidad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0C481D-C127-47D2-A7CE-B3FDD9AA6BA1}"/>
              </a:ext>
            </a:extLst>
          </p:cNvPr>
          <p:cNvSpPr>
            <a:spLocks noGrp="1"/>
          </p:cNvSpPr>
          <p:nvPr/>
        </p:nvSpPr>
        <p:spPr>
          <a:xfrm>
            <a:off x="2286000" y="5810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Las políticas pueden exigir MFA, limitar descargas o imponer términos de uso.</a:t>
            </a:r>
          </a:p>
        </p:txBody>
      </p:sp>
    </p:spTree>
    <p:extLst>
      <p:ext uri="{BB962C8B-B14F-4D97-AF65-F5344CB8AC3E}">
        <p14:creationId xmlns:p14="http://schemas.microsoft.com/office/powerpoint/2010/main" val="151282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988DB50-1045-47AC-A067-0DA3BFF23CD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IDENTIDAD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51FE47-8185-458C-854A-354964E36454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48BDD-E52D-417E-8CD8-FC8C84EDCB1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ECB2C-6B61-4701-9DF8-37E5B5F60B6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identidad se fortalece en cinco movimientos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1EAE7-833A-4934-A1B6-3A39816918F7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52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4C2B8-EEBF-4664-A472-F524817351FB}"/>
              </a:ext>
            </a:extLst>
          </p:cNvPr>
          <p:cNvSpPr>
            <a:spLocks noGrp="1"/>
          </p:cNvSpPr>
          <p:nvPr/>
        </p:nvSpPr>
        <p:spPr>
          <a:xfrm>
            <a:off x="1476375" y="2266950"/>
            <a:ext cx="666750" cy="381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56A13-AD0B-4C45-ACF1-80C28AF5BA3A}"/>
              </a:ext>
            </a:extLst>
          </p:cNvPr>
          <p:cNvSpPr>
            <a:spLocks noGrp="1"/>
          </p:cNvSpPr>
          <p:nvPr/>
        </p:nvSpPr>
        <p:spPr>
          <a:xfrm>
            <a:off x="2381250" y="2095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Fortalecer credenciales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65DFE-B558-4AA9-9658-A81BD60885A5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Contraseñas robustas, MFA y passwordless.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64A2F5-34B6-4B76-9A11-8F6A3DE1C8A2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52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22E97B-868E-4059-BDA2-7F4D8EF508BC}"/>
              </a:ext>
            </a:extLst>
          </p:cNvPr>
          <p:cNvSpPr>
            <a:spLocks noGrp="1"/>
          </p:cNvSpPr>
          <p:nvPr/>
        </p:nvSpPr>
        <p:spPr>
          <a:xfrm>
            <a:off x="1476375" y="3048000"/>
            <a:ext cx="666750" cy="38100"/>
          </a:xfrm>
          <a:prstGeom prst="rect">
            <a:avLst/>
          </a:prstGeom>
          <a:solidFill>
            <a:srgbClr val="2878B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B54E9-2A1F-4845-BBC5-E2B350D5F455}"/>
              </a:ext>
            </a:extLst>
          </p:cNvPr>
          <p:cNvSpPr>
            <a:spLocks noGrp="1"/>
          </p:cNvSpPr>
          <p:nvPr/>
        </p:nvSpPr>
        <p:spPr>
          <a:xfrm>
            <a:off x="2381250" y="2876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Reducir superficie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DB82D-6DC1-4FBB-AEB0-A29E7F0D514C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Eliminar protocolos inseguros y limitar administración.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7755C-B5BF-4E9B-8AA6-4DCABD0395DF}"/>
              </a:ext>
            </a:extLst>
          </p:cNvPr>
          <p:cNvSpPr>
            <a:spLocks noGrp="1"/>
          </p:cNvSpPr>
          <p:nvPr/>
        </p:nvSpPr>
        <p:spPr>
          <a:xfrm>
            <a:off x="857250" y="3657600"/>
            <a:ext cx="52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4A0AA-1F22-437C-A553-C1581CF497E7}"/>
              </a:ext>
            </a:extLst>
          </p:cNvPr>
          <p:cNvSpPr>
            <a:spLocks noGrp="1"/>
          </p:cNvSpPr>
          <p:nvPr/>
        </p:nvSpPr>
        <p:spPr>
          <a:xfrm>
            <a:off x="1476375" y="3829050"/>
            <a:ext cx="666750" cy="38100"/>
          </a:xfrm>
          <a:prstGeom prst="rect">
            <a:avLst/>
          </a:prstGeom>
          <a:solidFill>
            <a:srgbClr val="7357D3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EC32DB-BBF5-45B8-B9BE-DAA68E4113B5}"/>
              </a:ext>
            </a:extLst>
          </p:cNvPr>
          <p:cNvSpPr>
            <a:spLocks noGrp="1"/>
          </p:cNvSpPr>
          <p:nvPr/>
        </p:nvSpPr>
        <p:spPr>
          <a:xfrm>
            <a:off x="2381250" y="36576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Automatizar respuesta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61768-1AFD-41ED-9B5A-C7E128D58A58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Acortar el tiempo de permanencia del atacante.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0D88B8-0994-419E-B9C7-67C19D0BF638}"/>
              </a:ext>
            </a:extLst>
          </p:cNvPr>
          <p:cNvSpPr>
            <a:spLocks noGrp="1"/>
          </p:cNvSpPr>
          <p:nvPr/>
        </p:nvSpPr>
        <p:spPr>
          <a:xfrm>
            <a:off x="857250" y="4438650"/>
            <a:ext cx="52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86B3B-30F2-4C4E-A05C-45802B459B24}"/>
              </a:ext>
            </a:extLst>
          </p:cNvPr>
          <p:cNvSpPr>
            <a:spLocks noGrp="1"/>
          </p:cNvSpPr>
          <p:nvPr/>
        </p:nvSpPr>
        <p:spPr>
          <a:xfrm>
            <a:off x="1476375" y="4610100"/>
            <a:ext cx="666750" cy="3810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6F90DC-133D-4458-8EA9-74714DC4B235}"/>
              </a:ext>
            </a:extLst>
          </p:cNvPr>
          <p:cNvSpPr>
            <a:spLocks noGrp="1"/>
          </p:cNvSpPr>
          <p:nvPr/>
        </p:nvSpPr>
        <p:spPr>
          <a:xfrm>
            <a:off x="2381250" y="4438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Aumentar visibilidad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7180B1-DBAE-4B41-9173-D464225D30CC}"/>
              </a:ext>
            </a:extLst>
          </p:cNvPr>
          <p:cNvSpPr>
            <a:spLocks noGrp="1"/>
          </p:cNvSpPr>
          <p:nvPr/>
        </p:nvSpPr>
        <p:spPr>
          <a:xfrm>
            <a:off x="6191250" y="44386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Auditoría, registros y alertas accionables.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4F6D7-19C8-42D4-9B8B-F761524F772A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52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A86854-9FBA-4C27-9D40-F572F17A7B43}"/>
              </a:ext>
            </a:extLst>
          </p:cNvPr>
          <p:cNvSpPr>
            <a:spLocks noGrp="1"/>
          </p:cNvSpPr>
          <p:nvPr/>
        </p:nvSpPr>
        <p:spPr>
          <a:xfrm>
            <a:off x="1476375" y="5391150"/>
            <a:ext cx="666750" cy="381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E9E1E2-317B-4547-A97E-8EFAE5E32ABA}"/>
              </a:ext>
            </a:extLst>
          </p:cNvPr>
          <p:cNvSpPr>
            <a:spLocks noGrp="1"/>
          </p:cNvSpPr>
          <p:nvPr/>
        </p:nvSpPr>
        <p:spPr>
          <a:xfrm>
            <a:off x="2381250" y="5219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Habilitar autoservicio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FF1AFF-7AA3-4C5A-9247-7B4FAB15353E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Menos fricción sin perder control.</a:t>
            </a:r>
          </a:p>
        </p:txBody>
      </p:sp>
    </p:spTree>
    <p:extLst>
      <p:ext uri="{BB962C8B-B14F-4D97-AF65-F5344CB8AC3E}">
        <p14:creationId xmlns:p14="http://schemas.microsoft.com/office/powerpoint/2010/main" val="90312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65807E5-F6CC-4455-9B36-BD10C8B7F97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CONDITIONAL ACCESS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53DCE7-AFFD-40C6-98D5-5070E2BA560B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4F33D-4E3F-4E43-897B-32D35461617F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71AB06-80FF-46B1-85BB-A44CABB124D8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Conditional Access convierte señales en decisiones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DF7EC-FA3C-4EEB-B364-872FAA5E4F8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SI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E8865-4CFC-4BEC-9596-058187141E5C}"/>
              </a:ext>
            </a:extLst>
          </p:cNvPr>
          <p:cNvSpPr>
            <a:spLocks noGrp="1"/>
          </p:cNvSpPr>
          <p:nvPr/>
        </p:nvSpPr>
        <p:spPr>
          <a:xfrm>
            <a:off x="4238625" y="21431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ENTONCES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3E4E1-26C9-463A-9641-03D2938BF035}"/>
              </a:ext>
            </a:extLst>
          </p:cNvPr>
          <p:cNvSpPr>
            <a:spLocks noGrp="1"/>
          </p:cNvSpPr>
          <p:nvPr/>
        </p:nvSpPr>
        <p:spPr>
          <a:xfrm>
            <a:off x="7810500" y="21431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APLICAR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47C050-6CF9-45EF-A056-1F42FD88DBBA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2571750" cy="381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ABC2A8-C7C1-472A-9CEF-EB388EEB9009}"/>
              </a:ext>
            </a:extLst>
          </p:cNvPr>
          <p:cNvSpPr>
            <a:spLocks noGrp="1"/>
          </p:cNvSpPr>
          <p:nvPr/>
        </p:nvSpPr>
        <p:spPr>
          <a:xfrm>
            <a:off x="4238625" y="2428875"/>
            <a:ext cx="2571750" cy="38100"/>
          </a:xfrm>
          <a:prstGeom prst="rect">
            <a:avLst/>
          </a:prstGeom>
          <a:solidFill>
            <a:srgbClr val="7357D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A9F5D2-426E-4E56-AE9E-506D10AB83C3}"/>
              </a:ext>
            </a:extLst>
          </p:cNvPr>
          <p:cNvSpPr>
            <a:spLocks noGrp="1"/>
          </p:cNvSpPr>
          <p:nvPr/>
        </p:nvSpPr>
        <p:spPr>
          <a:xfrm>
            <a:off x="7810500" y="2428875"/>
            <a:ext cx="2571750" cy="381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74094-8851-40C2-A688-F02942159D6C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Rol y grupo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1158D5-ADB1-4196-BD80-916552AC6ED8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Estado del dispositivo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1C1026-1A3B-477C-9988-0E6A31786457}"/>
              </a:ext>
            </a:extLst>
          </p:cNvPr>
          <p:cNvSpPr>
            <a:spLocks noGrp="1"/>
          </p:cNvSpPr>
          <p:nvPr/>
        </p:nvSpPr>
        <p:spPr>
          <a:xfrm>
            <a:off x="857250" y="401002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Ubicación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6B84EA-752F-4D99-8EA9-C48DDD8C3618}"/>
              </a:ext>
            </a:extLst>
          </p:cNvPr>
          <p:cNvSpPr>
            <a:spLocks noGrp="1"/>
          </p:cNvSpPr>
          <p:nvPr/>
        </p:nvSpPr>
        <p:spPr>
          <a:xfrm>
            <a:off x="857250" y="46101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Riesgo de inicio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6D2497-2725-4BD0-9A79-E7D695441ECF}"/>
              </a:ext>
            </a:extLst>
          </p:cNvPr>
          <p:cNvSpPr>
            <a:spLocks noGrp="1"/>
          </p:cNvSpPr>
          <p:nvPr/>
        </p:nvSpPr>
        <p:spPr>
          <a:xfrm>
            <a:off x="4238625" y="31432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Evaluar contexto</a:t>
            </a:r>
          </a:p>
          <a:p>
            <a:pPr algn="ctr">
              <a:defRPr sz="20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del inicio de sesión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8815F8-CF01-4AFC-868A-19A72EF85504}"/>
              </a:ext>
            </a:extLst>
          </p:cNvPr>
          <p:cNvSpPr>
            <a:spLocks noGrp="1"/>
          </p:cNvSpPr>
          <p:nvPr/>
        </p:nvSpPr>
        <p:spPr>
          <a:xfrm>
            <a:off x="5095875" y="4524375"/>
            <a:ext cx="857250" cy="38100"/>
          </a:xfrm>
          <a:prstGeom prst="rect">
            <a:avLst/>
          </a:prstGeom>
          <a:solidFill>
            <a:srgbClr val="7357D3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795E-782E-439A-BA31-D56294F3B267}"/>
              </a:ext>
            </a:extLst>
          </p:cNvPr>
          <p:cNvSpPr>
            <a:spLocks noGrp="1"/>
          </p:cNvSpPr>
          <p:nvPr/>
        </p:nvSpPr>
        <p:spPr>
          <a:xfrm>
            <a:off x="4905375" y="46863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POLÍTICA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4DAE2B-E88B-4609-8936-8D15D4860E56}"/>
              </a:ext>
            </a:extLst>
          </p:cNvPr>
          <p:cNvSpPr>
            <a:spLocks noGrp="1"/>
          </p:cNvSpPr>
          <p:nvPr/>
        </p:nvSpPr>
        <p:spPr>
          <a:xfrm>
            <a:off x="7810500" y="280987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Permitir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3A6875-4F39-4BF5-8DCA-DBE1A2EB2FFB}"/>
              </a:ext>
            </a:extLst>
          </p:cNvPr>
          <p:cNvSpPr>
            <a:spLocks noGrp="1"/>
          </p:cNvSpPr>
          <p:nvPr/>
        </p:nvSpPr>
        <p:spPr>
          <a:xfrm>
            <a:off x="9810750" y="2914650"/>
            <a:ext cx="428625" cy="381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5B65A1-0EA5-4D74-9928-D65B500B87DA}"/>
              </a:ext>
            </a:extLst>
          </p:cNvPr>
          <p:cNvSpPr>
            <a:spLocks noGrp="1"/>
          </p:cNvSpPr>
          <p:nvPr/>
        </p:nvSpPr>
        <p:spPr>
          <a:xfrm>
            <a:off x="7810500" y="34099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Solicitar MFA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BA3379-B82E-4F8C-B122-81A847E080A8}"/>
              </a:ext>
            </a:extLst>
          </p:cNvPr>
          <p:cNvSpPr>
            <a:spLocks noGrp="1"/>
          </p:cNvSpPr>
          <p:nvPr/>
        </p:nvSpPr>
        <p:spPr>
          <a:xfrm>
            <a:off x="9810750" y="3514725"/>
            <a:ext cx="428625" cy="381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CD983A-B1B6-4C30-A81E-43FC5C744289}"/>
              </a:ext>
            </a:extLst>
          </p:cNvPr>
          <p:cNvSpPr>
            <a:spLocks noGrp="1"/>
          </p:cNvSpPr>
          <p:nvPr/>
        </p:nvSpPr>
        <p:spPr>
          <a:xfrm>
            <a:off x="7810500" y="40100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Restringir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EBB02-D02C-495F-9CE2-AACDADBE32BE}"/>
              </a:ext>
            </a:extLst>
          </p:cNvPr>
          <p:cNvSpPr>
            <a:spLocks noGrp="1"/>
          </p:cNvSpPr>
          <p:nvPr/>
        </p:nvSpPr>
        <p:spPr>
          <a:xfrm>
            <a:off x="9810750" y="4114800"/>
            <a:ext cx="428625" cy="3810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16C99C-181E-4B62-A275-2AFEFEA94F61}"/>
              </a:ext>
            </a:extLst>
          </p:cNvPr>
          <p:cNvSpPr>
            <a:spLocks noGrp="1"/>
          </p:cNvSpPr>
          <p:nvPr/>
        </p:nvSpPr>
        <p:spPr>
          <a:xfrm>
            <a:off x="7810500" y="46101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Denegar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15A215-2BC6-41B7-8674-A4AED315582D}"/>
              </a:ext>
            </a:extLst>
          </p:cNvPr>
          <p:cNvSpPr>
            <a:spLocks noGrp="1"/>
          </p:cNvSpPr>
          <p:nvPr/>
        </p:nvSpPr>
        <p:spPr>
          <a:xfrm>
            <a:off x="9810750" y="4714875"/>
            <a:ext cx="428625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8CC541-16BA-430C-84C9-C6F84C45ADFF}"/>
              </a:ext>
            </a:extLst>
          </p:cNvPr>
          <p:cNvSpPr>
            <a:spLocks noGrp="1"/>
          </p:cNvSpPr>
          <p:nvPr/>
        </p:nvSpPr>
        <p:spPr>
          <a:xfrm>
            <a:off x="2381250" y="58102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Microsoft Entra ID Protection aporta señales de riesgo para decisiones dinámicas.</a:t>
            </a:r>
          </a:p>
        </p:txBody>
      </p:sp>
    </p:spTree>
    <p:extLst>
      <p:ext uri="{BB962C8B-B14F-4D97-AF65-F5344CB8AC3E}">
        <p14:creationId xmlns:p14="http://schemas.microsoft.com/office/powerpoint/2010/main" val="139688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0F9F1B8-FFF4-4CAC-AAFE-824CEFD86F4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CONDITIONAL ACCESS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1B1F34-9E41-478B-9278-A2D91FF66B46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8E53E-27AD-4B94-A89F-4FCC608F55C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0FC3A-9573-4AB1-BE92-9A9FB361DC1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El control cambia según el riesgo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475194-658D-4FD6-A8E9-203F8F1362CB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Ejemplos de políticas que consideran quién accede y cómo lo hace.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E4778-B770-4F7F-B3E1-E31932255C2E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CONDICIÓN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16C483-7938-45C4-9EBF-603D6D78653A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RESPUESTA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D3A38-8ECF-4ADF-B9E3-C396956906FF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1000125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4676BC-C69B-464E-B03B-B54F7FD2093D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Ubicación no confiable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CC528-7AD8-4E52-AEEF-80D1D2648EA6}"/>
              </a:ext>
            </a:extLst>
          </p:cNvPr>
          <p:cNvSpPr>
            <a:spLocks noGrp="1"/>
          </p:cNvSpPr>
          <p:nvPr/>
        </p:nvSpPr>
        <p:spPr>
          <a:xfrm>
            <a:off x="6572250" y="27622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Exigir MFA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4A6CE2-F1CF-4ECB-A045-AF9066FE33B0}"/>
              </a:ext>
            </a:extLst>
          </p:cNvPr>
          <p:cNvSpPr>
            <a:spLocks noGrp="1"/>
          </p:cNvSpPr>
          <p:nvPr/>
        </p:nvSpPr>
        <p:spPr>
          <a:xfrm>
            <a:off x="952500" y="3286125"/>
            <a:ext cx="10001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5604D0-53F4-4C03-A630-266D2908C0CA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Dispositivo no administrado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CE7480-D5FC-477F-9A33-EE022877FC03}"/>
              </a:ext>
            </a:extLst>
          </p:cNvPr>
          <p:cNvSpPr>
            <a:spLocks noGrp="1"/>
          </p:cNvSpPr>
          <p:nvPr/>
        </p:nvSpPr>
        <p:spPr>
          <a:xfrm>
            <a:off x="6572250" y="35242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Exigir MFA o restringir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D07C5-1068-45E2-8092-A54C9F7D5D42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10001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4C2B08-B77E-42EF-BD8E-E23A1026B550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Nación bloqueada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52DB20-226D-47A3-BB8D-9C2F8598F3B7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Denegar acceso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488C9-F83E-44E8-A0C0-7D5E1529A654}"/>
              </a:ext>
            </a:extLst>
          </p:cNvPr>
          <p:cNvSpPr>
            <a:spLocks noGrp="1"/>
          </p:cNvSpPr>
          <p:nvPr/>
        </p:nvSpPr>
        <p:spPr>
          <a:xfrm>
            <a:off x="952500" y="4810125"/>
            <a:ext cx="10001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4AE15-9277-4056-94A7-CD0AC6033840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Aplicación o dato sensible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67B54F-5A5E-4B05-8CE6-917395241253}"/>
              </a:ext>
            </a:extLst>
          </p:cNvPr>
          <p:cNvSpPr>
            <a:spLocks noGrp="1"/>
          </p:cNvSpPr>
          <p:nvPr/>
        </p:nvSpPr>
        <p:spPr>
          <a:xfrm>
            <a:off x="6572250" y="50482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Aplicar controles adicionales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890062-CFEC-4996-9762-80629EF86524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001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056AB5-E727-4B1D-AD82-3BE9B2C615F0}"/>
              </a:ext>
            </a:extLst>
          </p:cNvPr>
          <p:cNvSpPr>
            <a:spLocks noGrp="1"/>
          </p:cNvSpPr>
          <p:nvPr/>
        </p:nvSpPr>
        <p:spPr>
          <a:xfrm>
            <a:off x="1476375" y="5905500"/>
            <a:ext cx="923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La política base no es estática: cambia con el riesgo del usuario y del inicio de sesión.</a:t>
            </a:r>
          </a:p>
        </p:txBody>
      </p:sp>
    </p:spTree>
    <p:extLst>
      <p:ext uri="{BB962C8B-B14F-4D97-AF65-F5344CB8AC3E}">
        <p14:creationId xmlns:p14="http://schemas.microsoft.com/office/powerpoint/2010/main" val="210129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06AC3A-300E-41F8-AB79-8F3F51A1E78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REDES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277C7B-885E-4017-B24F-023BAF12A484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3B9AF-FA89-46C1-92E6-DDA651DEE35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56D75-96F5-4B34-8AAB-9EE9A61D07A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En red, la ubicación ya no concede confianza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830AD-0767-484A-88BC-61497C5E7961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NO 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11E699-5C62-4D29-9195-E2F7879DFEF8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4286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“Está dentro de la red”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42DFF-E1A4-4940-8CFA-196B990F7B51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4286250" cy="762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BEFE5F-DA32-42A4-B2C0-4D87537921DE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428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Una red plana permite que un endpoint comprometido se expanda con rapidez.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5937B-58B3-46AD-9048-3AE05115ADEE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1CA19-DE69-4A53-AD86-8EF0C5068FAE}"/>
              </a:ext>
            </a:extLst>
          </p:cNvPr>
          <p:cNvSpPr>
            <a:spLocks noGrp="1"/>
          </p:cNvSpPr>
          <p:nvPr/>
        </p:nvSpPr>
        <p:spPr>
          <a:xfrm>
            <a:off x="6858000" y="2762250"/>
            <a:ext cx="4476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“Cumple las afirmaciones”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A07FC-C8BD-416F-84E8-AFBFF1380B9D}"/>
              </a:ext>
            </a:extLst>
          </p:cNvPr>
          <p:cNvSpPr>
            <a:spLocks noGrp="1"/>
          </p:cNvSpPr>
          <p:nvPr/>
        </p:nvSpPr>
        <p:spPr>
          <a:xfrm>
            <a:off x="6858000" y="3619500"/>
            <a:ext cx="4476750" cy="762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09C5E6-DD11-4290-B6E7-67175921FCCF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447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Usuario, dispositivo, sesión y recurso satisfacen la política en ese momento.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105F6-96B6-43AE-966C-D499B57B262E}"/>
              </a:ext>
            </a:extLst>
          </p:cNvPr>
          <p:cNvSpPr>
            <a:spLocks noGrp="1"/>
          </p:cNvSpPr>
          <p:nvPr/>
        </p:nvSpPr>
        <p:spPr>
          <a:xfrm>
            <a:off x="3429000" y="576262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El acceso se basa en claims, no en la dirección de red.</a:t>
            </a:r>
          </a:p>
        </p:txBody>
      </p:sp>
    </p:spTree>
    <p:extLst>
      <p:ext uri="{BB962C8B-B14F-4D97-AF65-F5344CB8AC3E}">
        <p14:creationId xmlns:p14="http://schemas.microsoft.com/office/powerpoint/2010/main" val="138949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A49D254-3E6C-467B-BD74-64125FB3091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REDES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20DAF-0B30-466C-8BEA-EF9395377172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2277C6-5888-4201-B75A-8EF385A7A36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204F05-A2A9-41B9-A8E2-6B59E1D20778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Una red Zero Trust separa señales, decisión y acceso</a:t>
            </a:r>
          </a:p>
        </p:txBody>
      </p:sp>
      <p:sp>
        <p:nvSpPr>
          <p:cNvPr id="5" name="idp">
            <a:extLst>
              <a:ext uri="{FF2B5EF4-FFF2-40B4-BE49-F238E27FC236}">
                <a16:creationId xmlns:a16="http://schemas.microsoft.com/office/drawing/2014/main" id="{BFC8AEB0-CC2C-4C35-910E-240AF25F8AA6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1952625" cy="13335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A4EF"/>
            </a:solidFill>
            <a:prstDash val="solid"/>
          </a:ln>
        </p:spPr>
      </p:sp>
      <p:sp>
        <p:nvSpPr>
          <p:cNvPr id="6" name="devices">
            <a:extLst>
              <a:ext uri="{FF2B5EF4-FFF2-40B4-BE49-F238E27FC236}">
                <a16:creationId xmlns:a16="http://schemas.microsoft.com/office/drawing/2014/main" id="{A81EEDB3-4A65-46DC-B0D6-027624262436}"/>
              </a:ext>
            </a:extLst>
          </p:cNvPr>
          <p:cNvSpPr>
            <a:spLocks noGrp="1"/>
          </p:cNvSpPr>
          <p:nvPr/>
        </p:nvSpPr>
        <p:spPr>
          <a:xfrm>
            <a:off x="3190875" y="2714625"/>
            <a:ext cx="1952625" cy="1333500"/>
          </a:xfrm>
          <a:prstGeom prst="rect">
            <a:avLst/>
          </a:prstGeom>
          <a:solidFill>
            <a:srgbClr val="FFFFFF"/>
          </a:solidFill>
          <a:ln w="28575">
            <a:solidFill>
              <a:srgbClr val="2878BD"/>
            </a:solidFill>
            <a:prstDash val="solid"/>
          </a:ln>
        </p:spPr>
      </p:sp>
      <p:sp>
        <p:nvSpPr>
          <p:cNvPr id="7" name="policy">
            <a:extLst>
              <a:ext uri="{FF2B5EF4-FFF2-40B4-BE49-F238E27FC236}">
                <a16:creationId xmlns:a16="http://schemas.microsoft.com/office/drawing/2014/main" id="{3243DF4E-E9AA-4E0D-92D9-F92F88AD708E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2190750" cy="180975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8" name="proxy">
            <a:extLst>
              <a:ext uri="{FF2B5EF4-FFF2-40B4-BE49-F238E27FC236}">
                <a16:creationId xmlns:a16="http://schemas.microsoft.com/office/drawing/2014/main" id="{D417B60B-E300-4E0D-86DA-45964D7EC5AA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1952625" cy="1333500"/>
          </a:xfrm>
          <a:prstGeom prst="rect">
            <a:avLst/>
          </a:prstGeom>
          <a:solidFill>
            <a:srgbClr val="FFFFFF"/>
          </a:solidFill>
          <a:ln w="28575">
            <a:solidFill>
              <a:srgbClr val="20B486"/>
            </a:solidFill>
            <a:prstDash val="solid"/>
          </a:ln>
        </p:spPr>
      </p:sp>
      <p:sp>
        <p:nvSpPr>
          <p:cNvPr id="9" name="resource">
            <a:extLst>
              <a:ext uri="{FF2B5EF4-FFF2-40B4-BE49-F238E27FC236}">
                <a16:creationId xmlns:a16="http://schemas.microsoft.com/office/drawing/2014/main" id="{6F44F5D7-8F4A-43ED-81B4-57888AEDBA7B}"/>
              </a:ext>
            </a:extLst>
          </p:cNvPr>
          <p:cNvSpPr>
            <a:spLocks noGrp="1"/>
          </p:cNvSpPr>
          <p:nvPr/>
        </p:nvSpPr>
        <p:spPr>
          <a:xfrm>
            <a:off x="10572750" y="3048000"/>
            <a:ext cx="952500" cy="666750"/>
          </a:xfrm>
          <a:prstGeom prst="rect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BB60E6-EDA5-40D3-B44F-DE01511C8BFC}"/>
              </a:ext>
            </a:extLst>
          </p:cNvPr>
          <p:cNvSpPr>
            <a:spLocks noGrp="1"/>
          </p:cNvSpPr>
          <p:nvPr/>
        </p:nvSpPr>
        <p:spPr>
          <a:xfrm>
            <a:off x="1000125" y="3095625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PROVEEDOR</a:t>
            </a:r>
          </a:p>
          <a:p>
            <a:pPr algn="ctr">
              <a:def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DE IDENTIDAD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EECE8-C4F4-4EBB-ADB9-11FE34025C35}"/>
              </a:ext>
            </a:extLst>
          </p:cNvPr>
          <p:cNvSpPr>
            <a:spLocks noGrp="1"/>
          </p:cNvSpPr>
          <p:nvPr/>
        </p:nvSpPr>
        <p:spPr>
          <a:xfrm>
            <a:off x="3286125" y="3095625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DIRECTORIO</a:t>
            </a:r>
          </a:p>
          <a:p>
            <a:pPr algn="ctr">
              <a:defRPr sz="12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DE DISPOSITIVOS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23096E-1DFE-4E30-94DB-A266D5A93A13}"/>
              </a:ext>
            </a:extLst>
          </p:cNvPr>
          <p:cNvSpPr>
            <a:spLocks noGrp="1"/>
          </p:cNvSpPr>
          <p:nvPr/>
        </p:nvSpPr>
        <p:spPr>
          <a:xfrm>
            <a:off x="5905500" y="3000375"/>
            <a:ext cx="161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EVALUACIÓN</a:t>
            </a:r>
          </a:p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 POLÍTICA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64F2D4-D772-4597-BAF7-3A88299AE975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¿Cumple?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B9815A-CBC4-4614-B143-1DA0FBE5250B}"/>
              </a:ext>
            </a:extLst>
          </p:cNvPr>
          <p:cNvSpPr>
            <a:spLocks noGrp="1"/>
          </p:cNvSpPr>
          <p:nvPr/>
        </p:nvSpPr>
        <p:spPr>
          <a:xfrm>
            <a:off x="8524875" y="3095625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PROXY DE</a:t>
            </a:r>
          </a:p>
          <a:p>
            <a:pPr algn="ctr">
              <a:defRPr sz="14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ACCESO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57516F-66B7-45AF-B77F-73EE31D3E63E}"/>
              </a:ext>
            </a:extLst>
          </p:cNvPr>
          <p:cNvSpPr>
            <a:spLocks noGrp="1"/>
          </p:cNvSpPr>
          <p:nvPr/>
        </p:nvSpPr>
        <p:spPr>
          <a:xfrm>
            <a:off x="10620375" y="32861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RECURSO</a:t>
            </a:r>
          </a:p>
        </p:txBody>
      </p:sp>
      <p:cxnSp>
        <p:nvCxnSpPr>
          <p:cNvPr id="16" name="Straight Arrow Connector 15"/>
          <p:cNvCxnSpPr>
            <a:stCxn id="5" idx="3"/>
            <a:endCxn id="7" idx="1"/>
          </p:cNvCxnSpPr>
          <p:nvPr/>
        </p:nvCxnSpPr>
        <p:spPr>
          <a:xfrm>
            <a:off x="2714625" y="3381375"/>
            <a:ext cx="2905125" cy="0"/>
          </a:xfrm>
          <a:prstGeom prst="straightConnector1">
            <a:avLst/>
          </a:prstGeom>
          <a:ln w="28575">
            <a:solidFill>
              <a:srgbClr val="00A4EF"/>
            </a:solidFill>
            <a:prstDash val="solid"/>
            <a:tailEnd type="arrow" w="sm" len="sm"/>
          </a:ln>
        </p:spPr>
      </p:cxnSp>
      <p:cxnSp>
        <p:nvCxnSpPr>
          <p:cNvPr id="17" name="Straight Arrow Connector 16"/>
          <p:cNvCxnSpPr>
            <a:stCxn id="6" idx="3"/>
            <a:endCxn id="7" idx="1"/>
          </p:cNvCxnSpPr>
          <p:nvPr/>
        </p:nvCxnSpPr>
        <p:spPr>
          <a:xfrm>
            <a:off x="5143500" y="3381375"/>
            <a:ext cx="476250" cy="0"/>
          </a:xfrm>
          <a:prstGeom prst="straightConnector1">
            <a:avLst/>
          </a:prstGeom>
          <a:ln w="28575">
            <a:solidFill>
              <a:srgbClr val="2878BD"/>
            </a:solidFill>
            <a:prstDash val="solid"/>
            <a:tailEnd type="arrow" w="sm" len="sm"/>
          </a:ln>
        </p:spPr>
      </p:cxnSp>
      <p:cxnSp>
        <p:nvCxnSpPr>
          <p:cNvPr id="18" name="Straight Arrow Connector 17"/>
          <p:cNvCxnSpPr>
            <a:stCxn id="7" idx="3"/>
            <a:endCxn id="8" idx="1"/>
          </p:cNvCxnSpPr>
          <p:nvPr/>
        </p:nvCxnSpPr>
        <p:spPr>
          <a:xfrm>
            <a:off x="7810500" y="3381375"/>
            <a:ext cx="476250" cy="0"/>
          </a:xfrm>
          <a:prstGeom prst="straightConnector1">
            <a:avLst/>
          </a:prstGeom>
          <a:ln w="38100">
            <a:solidFill>
              <a:srgbClr val="20B486"/>
            </a:solidFill>
            <a:prstDash val="solid"/>
            <a:tailEnd type="arrow" w="med" len="med"/>
          </a:ln>
        </p:spPr>
      </p:cxnSp>
      <p:cxnSp>
        <p:nvCxnSpPr>
          <p:cNvPr id="19" name="Straight Arrow Connector 18"/>
          <p:cNvCxnSpPr>
            <a:stCxn id="8" idx="3"/>
            <a:endCxn id="9" idx="1"/>
          </p:cNvCxnSpPr>
          <p:nvPr/>
        </p:nvCxnSpPr>
        <p:spPr>
          <a:xfrm>
            <a:off x="10239375" y="3381375"/>
            <a:ext cx="333375" cy="0"/>
          </a:xfrm>
          <a:prstGeom prst="straightConnector1">
            <a:avLst/>
          </a:prstGeom>
          <a:ln w="28575">
            <a:solidFill>
              <a:srgbClr val="20B486"/>
            </a:solidFill>
            <a:prstDash val="solid"/>
            <a:tailEnd type="arrow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F6DC6B9-01F6-4FF9-A001-1978489BA265}"/>
              </a:ext>
            </a:extLst>
          </p:cNvPr>
          <p:cNvSpPr>
            <a:spLocks noGrp="1"/>
          </p:cNvSpPr>
          <p:nvPr/>
        </p:nvSpPr>
        <p:spPr>
          <a:xfrm>
            <a:off x="2476500" y="54292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Las señales se evalúan antes de que el proxy conceda acceso al recurso.</a:t>
            </a:r>
          </a:p>
        </p:txBody>
      </p:sp>
    </p:spTree>
    <p:extLst>
      <p:ext uri="{BB962C8B-B14F-4D97-AF65-F5344CB8AC3E}">
        <p14:creationId xmlns:p14="http://schemas.microsoft.com/office/powerpoint/2010/main" val="31969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C4C6832-643A-4BAF-9050-A8C72B67BFB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MADUREZ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92879-80B1-46B7-AB62-48CFFD0AE208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84F56A-1158-404C-AE5A-08C33C2DB71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82930-BB1E-4A39-9108-E7609FB4AB6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madurez avanza de Traditional a Optimal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2B4C8-4F5E-4A8F-A7E9-5EF1D07DCCB8}"/>
              </a:ext>
            </a:extLst>
          </p:cNvPr>
          <p:cNvSpPr>
            <a:spLocks noGrp="1"/>
          </p:cNvSpPr>
          <p:nvPr/>
        </p:nvSpPr>
        <p:spPr>
          <a:xfrm>
            <a:off x="1428750" y="4095750"/>
            <a:ext cx="2381250" cy="142875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448C6F-CEC1-4B05-AF6F-DF075BEB3D7A}"/>
              </a:ext>
            </a:extLst>
          </p:cNvPr>
          <p:cNvSpPr>
            <a:spLocks noGrp="1"/>
          </p:cNvSpPr>
          <p:nvPr/>
        </p:nvSpPr>
        <p:spPr>
          <a:xfrm>
            <a:off x="1666875" y="43243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TRADITIONAL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9C4EE-6739-43E4-B061-652D74B47691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Confianza implícita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8C5C1-E206-4941-97C8-4B7E5D13141E}"/>
              </a:ext>
            </a:extLst>
          </p:cNvPr>
          <p:cNvSpPr>
            <a:spLocks noGrp="1"/>
          </p:cNvSpPr>
          <p:nvPr/>
        </p:nvSpPr>
        <p:spPr>
          <a:xfrm>
            <a:off x="1666875" y="5095875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Redes planas y controles estáticos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E08470-191A-48F9-A9AF-1029FC23CD4F}"/>
              </a:ext>
            </a:extLst>
          </p:cNvPr>
          <p:cNvSpPr>
            <a:spLocks noGrp="1"/>
          </p:cNvSpPr>
          <p:nvPr/>
        </p:nvSpPr>
        <p:spPr>
          <a:xfrm>
            <a:off x="4619625" y="3429000"/>
            <a:ext cx="2381250" cy="142875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2B416B-111E-4180-8D02-26E59BEAB996}"/>
              </a:ext>
            </a:extLst>
          </p:cNvPr>
          <p:cNvSpPr>
            <a:spLocks noGrp="1"/>
          </p:cNvSpPr>
          <p:nvPr/>
        </p:nvSpPr>
        <p:spPr>
          <a:xfrm>
            <a:off x="4857750" y="3657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ADVANCED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D2FDEA-35F2-42EF-BB1C-290E9F9A5620}"/>
              </a:ext>
            </a:extLst>
          </p:cNvPr>
          <p:cNvSpPr>
            <a:spLocks noGrp="1"/>
          </p:cNvSpPr>
          <p:nvPr/>
        </p:nvSpPr>
        <p:spPr>
          <a:xfrm>
            <a:off x="4810125" y="40195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Confianza contextual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220C91-82E0-4E45-BFE3-131BF72E73E1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Segmentación y políticas adaptativas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1EC69-2DA4-43E9-BEBA-89280F24E3D1}"/>
              </a:ext>
            </a:extLst>
          </p:cNvPr>
          <p:cNvSpPr>
            <a:spLocks noGrp="1"/>
          </p:cNvSpPr>
          <p:nvPr/>
        </p:nvSpPr>
        <p:spPr>
          <a:xfrm>
            <a:off x="7810500" y="2762250"/>
            <a:ext cx="2381250" cy="142875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382104-F9A1-4457-B40A-ECBD60A85DA3}"/>
              </a:ext>
            </a:extLst>
          </p:cNvPr>
          <p:cNvSpPr>
            <a:spLocks noGrp="1"/>
          </p:cNvSpPr>
          <p:nvPr/>
        </p:nvSpPr>
        <p:spPr>
          <a:xfrm>
            <a:off x="8048625" y="29908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45801-17F0-47FF-A5E5-1917030D1C36}"/>
              </a:ext>
            </a:extLst>
          </p:cNvPr>
          <p:cNvSpPr>
            <a:spLocks noGrp="1"/>
          </p:cNvSpPr>
          <p:nvPr/>
        </p:nvSpPr>
        <p:spPr>
          <a:xfrm>
            <a:off x="8001000" y="33528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Verificación continua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E2159-F4FA-461F-8843-174D119E127E}"/>
              </a:ext>
            </a:extLst>
          </p:cNvPr>
          <p:cNvSpPr>
            <a:spLocks noGrp="1"/>
          </p:cNvSpPr>
          <p:nvPr/>
        </p:nvSpPr>
        <p:spPr>
          <a:xfrm>
            <a:off x="8048625" y="3762375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Telemetría integrada y automatización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027750-8397-4723-84C6-276DC54B8611}"/>
              </a:ext>
            </a:extLst>
          </p:cNvPr>
          <p:cNvSpPr>
            <a:spLocks noGrp="1"/>
          </p:cNvSpPr>
          <p:nvPr/>
        </p:nvSpPr>
        <p:spPr>
          <a:xfrm>
            <a:off x="8286750" y="2381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Mayor automatización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8D3ECF-4899-4029-9118-5CA332E38861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Mayor contexto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9C1069-9A91-4018-8B96-EE0788406AFF}"/>
              </a:ext>
            </a:extLst>
          </p:cNvPr>
          <p:cNvSpPr>
            <a:spLocks noGrp="1"/>
          </p:cNvSpPr>
          <p:nvPr/>
        </p:nvSpPr>
        <p:spPr>
          <a:xfrm>
            <a:off x="1857375" y="3714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Punto de partida</a:t>
            </a:r>
          </a:p>
        </p:txBody>
      </p:sp>
    </p:spTree>
    <p:extLst>
      <p:ext uri="{BB962C8B-B14F-4D97-AF65-F5344CB8AC3E}">
        <p14:creationId xmlns:p14="http://schemas.microsoft.com/office/powerpoint/2010/main" val="1723978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D4EE6A3-3EB9-49F8-A011-7769290393B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REDES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C89BC-1FCB-48B4-8D11-3B1E3B6E0925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AA19A4-5913-47AA-AE86-DC909BBEC9F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6F705-19C0-4C70-83C2-0D0EDE56400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Tres objetivos transforman la red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0C477-0B31-4745-89FE-4C8106D4449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OBJETIVO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FFE39-1625-4A93-8F32-1615A48C26B3}"/>
              </a:ext>
            </a:extLst>
          </p:cNvPr>
          <p:cNvSpPr>
            <a:spLocks noGrp="1"/>
          </p:cNvSpPr>
          <p:nvPr/>
        </p:nvSpPr>
        <p:spPr>
          <a:xfrm>
            <a:off x="3667125" y="20955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PRIMEROS PASOS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055F5A-A805-4FFA-A393-7B6F1B0B1CB9}"/>
              </a:ext>
            </a:extLst>
          </p:cNvPr>
          <p:cNvSpPr>
            <a:spLocks noGrp="1"/>
          </p:cNvSpPr>
          <p:nvPr/>
        </p:nvSpPr>
        <p:spPr>
          <a:xfrm>
            <a:off x="7667625" y="20955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ESTADO POSTERIOR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ABFBC-3212-42E5-B91E-93E43ABCEBAC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10287000" cy="28575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3A1B77-F2AC-4596-AF25-E801B50D4F50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76200" cy="714375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B8897-0B2C-45AA-8330-35781598FEE7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SEGMENTACIÓN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372389-09AD-46D5-9831-36DBB18D2F19}"/>
              </a:ext>
            </a:extLst>
          </p:cNvPr>
          <p:cNvSpPr>
            <a:spLocks noGrp="1"/>
          </p:cNvSpPr>
          <p:nvPr/>
        </p:nvSpPr>
        <p:spPr>
          <a:xfrm>
            <a:off x="3667125" y="271462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Microperímetros cloud y cierta microsegmentación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D6300B-E993-4182-BCB0-B439D2629A1D}"/>
              </a:ext>
            </a:extLst>
          </p:cNvPr>
          <p:cNvSpPr>
            <a:spLocks noGrp="1"/>
          </p:cNvSpPr>
          <p:nvPr/>
        </p:nvSpPr>
        <p:spPr>
          <a:xfrm>
            <a:off x="7667625" y="2714625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Microperímetros distribuidos y microsegmentación profunda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F4B67-3C29-48C6-9B1D-23B57B632763}"/>
              </a:ext>
            </a:extLst>
          </p:cNvPr>
          <p:cNvSpPr>
            <a:spLocks noGrp="1"/>
          </p:cNvSpPr>
          <p:nvPr/>
        </p:nvSpPr>
        <p:spPr>
          <a:xfrm>
            <a:off x="762000" y="3552825"/>
            <a:ext cx="1028700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E011DD-24E8-4E85-8023-7D1774011BD9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76200" cy="714375"/>
          </a:xfrm>
          <a:prstGeom prst="rect">
            <a:avLst/>
          </a:prstGeom>
          <a:solidFill>
            <a:srgbClr val="7357D3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B3684C-14D2-450D-AE53-A64560AE7248}"/>
              </a:ext>
            </a:extLst>
          </p:cNvPr>
          <p:cNvSpPr>
            <a:spLocks noGrp="1"/>
          </p:cNvSpPr>
          <p:nvPr/>
        </p:nvSpPr>
        <p:spPr>
          <a:xfrm>
            <a:off x="1000125" y="37623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PROTECCIÓN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BC4191-6E09-4D5B-8F32-9430DA0AEA4A}"/>
              </a:ext>
            </a:extLst>
          </p:cNvPr>
          <p:cNvSpPr>
            <a:spLocks noGrp="1"/>
          </p:cNvSpPr>
          <p:nvPr/>
        </p:nvSpPr>
        <p:spPr>
          <a:xfrm>
            <a:off x="3667125" y="37623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Filtrado cloud-native contra amenazas conocidas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1F072-8D66-460D-BED1-B42CB28A0AE6}"/>
              </a:ext>
            </a:extLst>
          </p:cNvPr>
          <p:cNvSpPr>
            <a:spLocks noGrp="1"/>
          </p:cNvSpPr>
          <p:nvPr/>
        </p:nvSpPr>
        <p:spPr>
          <a:xfrm>
            <a:off x="7667625" y="3762375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Machine learning y señales contextuales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F6DD59-8FD6-487F-9B17-1AA130C2A106}"/>
              </a:ext>
            </a:extLst>
          </p:cNvPr>
          <p:cNvSpPr>
            <a:spLocks noGrp="1"/>
          </p:cNvSpPr>
          <p:nvPr/>
        </p:nvSpPr>
        <p:spPr>
          <a:xfrm>
            <a:off x="762000" y="4600575"/>
            <a:ext cx="1028700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7EE210-5071-4B16-B114-012496522894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" cy="714375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DABD82-8AC2-4F7A-8935-95760F39419D}"/>
              </a:ext>
            </a:extLst>
          </p:cNvPr>
          <p:cNvSpPr>
            <a:spLocks noGrp="1"/>
          </p:cNvSpPr>
          <p:nvPr/>
        </p:nvSpPr>
        <p:spPr>
          <a:xfrm>
            <a:off x="1000125" y="48101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CIFRADO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FBDC91-87FE-4789-BC4A-84E06E97DACE}"/>
              </a:ext>
            </a:extLst>
          </p:cNvPr>
          <p:cNvSpPr>
            <a:spLocks noGrp="1"/>
          </p:cNvSpPr>
          <p:nvPr/>
        </p:nvSpPr>
        <p:spPr>
          <a:xfrm>
            <a:off x="3667125" y="481012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Tráfico entre usuario y aplicación cifrado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64D15D-9005-457C-A849-37890DAA1065}"/>
              </a:ext>
            </a:extLst>
          </p:cNvPr>
          <p:cNvSpPr>
            <a:spLocks noGrp="1"/>
          </p:cNvSpPr>
          <p:nvPr/>
        </p:nvSpPr>
        <p:spPr>
          <a:xfrm>
            <a:off x="7667625" y="4810125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Todo el tráfico cifrado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4A61AD-5717-4B1F-BDE8-834C6B02ED04}"/>
              </a:ext>
            </a:extLst>
          </p:cNvPr>
          <p:cNvSpPr>
            <a:spLocks noGrp="1"/>
          </p:cNvSpPr>
          <p:nvPr/>
        </p:nvSpPr>
        <p:spPr>
          <a:xfrm>
            <a:off x="762000" y="5648325"/>
            <a:ext cx="1028700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AC98A-4500-4052-B5A1-0BB59743D2DA}"/>
              </a:ext>
            </a:extLst>
          </p:cNvPr>
          <p:cNvSpPr>
            <a:spLocks noGrp="1"/>
          </p:cNvSpPr>
          <p:nvPr/>
        </p:nvSpPr>
        <p:spPr>
          <a:xfrm>
            <a:off x="2047875" y="600075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Objetivo transversal: reducir el alcance y la velocidad de propagación del daño.</a:t>
            </a:r>
          </a:p>
        </p:txBody>
      </p:sp>
    </p:spTree>
    <p:extLst>
      <p:ext uri="{BB962C8B-B14F-4D97-AF65-F5344CB8AC3E}">
        <p14:creationId xmlns:p14="http://schemas.microsoft.com/office/powerpoint/2010/main" val="681231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5255D3-EE35-4DD1-9383-70D93EAE6A1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058089-4541-47A0-847D-85519E05D4E7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B1D45-36AA-4761-8425-6390E5F0E2F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4BCCA-74EA-48C3-8463-43C5D2B1BAF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El assessment convierte madurez en acciones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EAD7F7-ED04-4014-A164-405B5BF6DA65}"/>
              </a:ext>
            </a:extLst>
          </p:cNvPr>
          <p:cNvSpPr>
            <a:spLocks noGrp="1"/>
          </p:cNvSpPr>
          <p:nvPr/>
        </p:nvSpPr>
        <p:spPr>
          <a:xfrm>
            <a:off x="5429250" y="1866900"/>
            <a:ext cx="133350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A4E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1BA3DD-B78B-4BD6-8A31-0A3B8C83DA0E}"/>
              </a:ext>
            </a:extLst>
          </p:cNvPr>
          <p:cNvSpPr>
            <a:spLocks noGrp="1"/>
          </p:cNvSpPr>
          <p:nvPr/>
        </p:nvSpPr>
        <p:spPr>
          <a:xfrm>
            <a:off x="5476875" y="21621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Identidades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98A7AA-E442-4A14-B681-57EA966C2DE5}"/>
              </a:ext>
            </a:extLst>
          </p:cNvPr>
          <p:cNvSpPr>
            <a:spLocks noGrp="1"/>
          </p:cNvSpPr>
          <p:nvPr/>
        </p:nvSpPr>
        <p:spPr>
          <a:xfrm>
            <a:off x="7450229" y="2676525"/>
            <a:ext cx="133350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878BD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EF526-6C92-414A-8E1B-EB399C977400}"/>
              </a:ext>
            </a:extLst>
          </p:cNvPr>
          <p:cNvSpPr>
            <a:spLocks noGrp="1"/>
          </p:cNvSpPr>
          <p:nvPr/>
        </p:nvSpPr>
        <p:spPr>
          <a:xfrm>
            <a:off x="7497854" y="29718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Dispositivos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0F167C-BC97-4FE9-BC4C-FBACE9DB65DD}"/>
              </a:ext>
            </a:extLst>
          </p:cNvPr>
          <p:cNvSpPr>
            <a:spLocks noGrp="1"/>
          </p:cNvSpPr>
          <p:nvPr/>
        </p:nvSpPr>
        <p:spPr>
          <a:xfrm>
            <a:off x="7450229" y="4295775"/>
            <a:ext cx="133350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357D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F630F9-5A92-4E69-AC12-1F142DA12A29}"/>
              </a:ext>
            </a:extLst>
          </p:cNvPr>
          <p:cNvSpPr>
            <a:spLocks noGrp="1"/>
          </p:cNvSpPr>
          <p:nvPr/>
        </p:nvSpPr>
        <p:spPr>
          <a:xfrm>
            <a:off x="7497854" y="45910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Aplicaciones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F1722C-376E-4BFF-A7D2-18C2D331F6A0}"/>
              </a:ext>
            </a:extLst>
          </p:cNvPr>
          <p:cNvSpPr>
            <a:spLocks noGrp="1"/>
          </p:cNvSpPr>
          <p:nvPr/>
        </p:nvSpPr>
        <p:spPr>
          <a:xfrm>
            <a:off x="5429250" y="5105400"/>
            <a:ext cx="133350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5D5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F3EE77-70C5-4AE1-BEFF-9F1EF8EB004D}"/>
              </a:ext>
            </a:extLst>
          </p:cNvPr>
          <p:cNvSpPr>
            <a:spLocks noGrp="1"/>
          </p:cNvSpPr>
          <p:nvPr/>
        </p:nvSpPr>
        <p:spPr>
          <a:xfrm>
            <a:off x="5476875" y="5400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Infra-</a:t>
            </a:r>
          </a:p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estructura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61494E-8610-44D7-BFCF-D3C412EDD88B}"/>
              </a:ext>
            </a:extLst>
          </p:cNvPr>
          <p:cNvSpPr>
            <a:spLocks noGrp="1"/>
          </p:cNvSpPr>
          <p:nvPr/>
        </p:nvSpPr>
        <p:spPr>
          <a:xfrm>
            <a:off x="3408271" y="4295775"/>
            <a:ext cx="133350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0B4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74ECA7-3416-4976-9668-2B82CD5FED29}"/>
              </a:ext>
            </a:extLst>
          </p:cNvPr>
          <p:cNvSpPr>
            <a:spLocks noGrp="1"/>
          </p:cNvSpPr>
          <p:nvPr/>
        </p:nvSpPr>
        <p:spPr>
          <a:xfrm>
            <a:off x="3455896" y="45910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Redes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B94EA3-255E-4A90-9DA3-948A6E20AE99}"/>
              </a:ext>
            </a:extLst>
          </p:cNvPr>
          <p:cNvSpPr>
            <a:spLocks noGrp="1"/>
          </p:cNvSpPr>
          <p:nvPr/>
        </p:nvSpPr>
        <p:spPr>
          <a:xfrm>
            <a:off x="3408271" y="2676525"/>
            <a:ext cx="133350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3A71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A256A-0649-4575-98E5-959934ED800A}"/>
              </a:ext>
            </a:extLst>
          </p:cNvPr>
          <p:cNvSpPr>
            <a:spLocks noGrp="1"/>
          </p:cNvSpPr>
          <p:nvPr/>
        </p:nvSpPr>
        <p:spPr>
          <a:xfrm>
            <a:off x="3455896" y="29718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Datos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4F2462-426D-4877-92BE-AC3FBCB15C20}"/>
              </a:ext>
            </a:extLst>
          </p:cNvPr>
          <p:cNvSpPr>
            <a:spLocks noGrp="1"/>
          </p:cNvSpPr>
          <p:nvPr/>
        </p:nvSpPr>
        <p:spPr>
          <a:xfrm>
            <a:off x="5048250" y="2809875"/>
            <a:ext cx="2095500" cy="2095500"/>
          </a:xfrm>
          <a:prstGeom prst="ellipse">
            <a:avLst/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9C113-36C2-4FC4-89FC-5AA25EC9073B}"/>
              </a:ext>
            </a:extLst>
          </p:cNvPr>
          <p:cNvSpPr>
            <a:spLocks noGrp="1"/>
          </p:cNvSpPr>
          <p:nvPr/>
        </p:nvSpPr>
        <p:spPr>
          <a:xfrm>
            <a:off x="5286375" y="3476625"/>
            <a:ext cx="1619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EVALUAR</a:t>
            </a:r>
          </a:p>
          <a:p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MADUREZ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D3D8F8-4EC4-4982-926E-9EE7A4464095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TRADITIONAL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C859F9-F66C-4F97-AFE9-4CCFD3E4569B}"/>
              </a:ext>
            </a:extLst>
          </p:cNvPr>
          <p:cNvSpPr>
            <a:spLocks noGrp="1"/>
          </p:cNvSpPr>
          <p:nvPr/>
        </p:nvSpPr>
        <p:spPr>
          <a:xfrm>
            <a:off x="3143250" y="5915025"/>
            <a:ext cx="1714500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2AC89-6F2F-406E-9CCD-060F509499B3}"/>
              </a:ext>
            </a:extLst>
          </p:cNvPr>
          <p:cNvSpPr>
            <a:spLocks noGrp="1"/>
          </p:cNvSpPr>
          <p:nvPr/>
        </p:nvSpPr>
        <p:spPr>
          <a:xfrm>
            <a:off x="4905375" y="58102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06B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06B00"/>
                </a:solidFill>
                <a:latin typeface="Aptos Display"/>
                <a:ea typeface="Aptos Display"/>
                <a:cs typeface="Aptos Display"/>
              </a:rPr>
              <a:t>ADVANCED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DF1140-AC17-4A2C-97CE-0B3179B206D6}"/>
              </a:ext>
            </a:extLst>
          </p:cNvPr>
          <p:cNvSpPr>
            <a:spLocks noGrp="1"/>
          </p:cNvSpPr>
          <p:nvPr/>
        </p:nvSpPr>
        <p:spPr>
          <a:xfrm>
            <a:off x="7096125" y="5915025"/>
            <a:ext cx="1714500" cy="3810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CAF15F-021E-4741-97A5-204A7408D4C0}"/>
              </a:ext>
            </a:extLst>
          </p:cNvPr>
          <p:cNvSpPr>
            <a:spLocks noGrp="1"/>
          </p:cNvSpPr>
          <p:nvPr/>
        </p:nvSpPr>
        <p:spPr>
          <a:xfrm>
            <a:off x="8858250" y="58102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OPTIMAL</a:t>
            </a:r>
          </a:p>
        </p:txBody>
      </p:sp>
    </p:spTree>
    <p:extLst>
      <p:ext uri="{BB962C8B-B14F-4D97-AF65-F5344CB8AC3E}">
        <p14:creationId xmlns:p14="http://schemas.microsoft.com/office/powerpoint/2010/main" val="574340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1DFF96-1771-48AC-A837-AD863890992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ADOPCIÓN · IDENTITY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CE14D-3CA9-4DC6-9B2A-5273091106E8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1270F-E367-4029-9C4A-EBF9D2D5442A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AFA0B-DC1B-4E47-BA1F-8F6ACCC00C8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Identity: eliminar la dependencia de contraseñas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F5F94-7F87-4FA1-AF40-DFF68832F960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171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29004F-588D-4ED1-BCC5-9DF2BA6CB017}"/>
              </a:ext>
            </a:extLst>
          </p:cNvPr>
          <p:cNvSpPr>
            <a:spLocks noGrp="1"/>
          </p:cNvSpPr>
          <p:nvPr/>
        </p:nvSpPr>
        <p:spPr>
          <a:xfrm>
            <a:off x="857250" y="2943225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Primera línea de defensa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43671-2C4D-4AE8-A877-66676AF15EE0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286000" cy="5715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6C3BA0-1D40-4141-9AFB-8BBCE7F03C41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952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Base sólida de identidad cloud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6246F-7E6B-41D8-BCAE-4EDE5B0F0794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171450" cy="66675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74C80D-FB4D-45C3-B2EA-4534A0F331E9}"/>
              </a:ext>
            </a:extLst>
          </p:cNvPr>
          <p:cNvSpPr>
            <a:spLocks noGrp="1"/>
          </p:cNvSpPr>
          <p:nvPr/>
        </p:nvSpPr>
        <p:spPr>
          <a:xfrm>
            <a:off x="4905375" y="219075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PASSWORDLESS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EB7D94-4DA0-4E3D-BDF6-AF1769265054}"/>
              </a:ext>
            </a:extLst>
          </p:cNvPr>
          <p:cNvSpPr>
            <a:spLocks noGrp="1"/>
          </p:cNvSpPr>
          <p:nvPr/>
        </p:nvSpPr>
        <p:spPr>
          <a:xfrm>
            <a:off x="4905375" y="2590800"/>
            <a:ext cx="590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Windows Hello for Business · Authenticator · FIDO2 · Temporary Access Pass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F9F396-2174-4068-A154-416DB07E4C1E}"/>
              </a:ext>
            </a:extLst>
          </p:cNvPr>
          <p:cNvSpPr>
            <a:spLocks noGrp="1"/>
          </p:cNvSpPr>
          <p:nvPr/>
        </p:nvSpPr>
        <p:spPr>
          <a:xfrm>
            <a:off x="4476750" y="3381375"/>
            <a:ext cx="171450" cy="66675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B94C7-97B3-4274-A220-7398C0AD93F7}"/>
              </a:ext>
            </a:extLst>
          </p:cNvPr>
          <p:cNvSpPr>
            <a:spLocks noGrp="1"/>
          </p:cNvSpPr>
          <p:nvPr/>
        </p:nvSpPr>
        <p:spPr>
          <a:xfrm>
            <a:off x="4905375" y="3381375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CONDITIONAL ACCESS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C860F6-D8FF-4A41-831A-DE9EA32FDF90}"/>
              </a:ext>
            </a:extLst>
          </p:cNvPr>
          <p:cNvSpPr>
            <a:spLocks noGrp="1"/>
          </p:cNvSpPr>
          <p:nvPr/>
        </p:nvSpPr>
        <p:spPr>
          <a:xfrm>
            <a:off x="4905375" y="3781425"/>
            <a:ext cx="590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Motor de políticas según acciones, contexto y sensibilidad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796F7-24DC-4557-B799-4ED18E199CB7}"/>
              </a:ext>
            </a:extLst>
          </p:cNvPr>
          <p:cNvSpPr>
            <a:spLocks noGrp="1"/>
          </p:cNvSpPr>
          <p:nvPr/>
        </p:nvSpPr>
        <p:spPr>
          <a:xfrm>
            <a:off x="4476750" y="4572000"/>
            <a:ext cx="171450" cy="666750"/>
          </a:xfrm>
          <a:prstGeom prst="rect">
            <a:avLst/>
          </a:prstGeom>
          <a:solidFill>
            <a:srgbClr val="7357D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B6C285-F4F7-4E00-BD02-A93076ADF444}"/>
              </a:ext>
            </a:extLst>
          </p:cNvPr>
          <p:cNvSpPr>
            <a:spLocks noGrp="1"/>
          </p:cNvSpPr>
          <p:nvPr/>
        </p:nvSpPr>
        <p:spPr>
          <a:xfrm>
            <a:off x="4905375" y="45720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CREDENCIALES VERIFICABLES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CB145-26D6-406C-9097-D2A3EB185208}"/>
              </a:ext>
            </a:extLst>
          </p:cNvPr>
          <p:cNvSpPr>
            <a:spLocks noGrp="1"/>
          </p:cNvSpPr>
          <p:nvPr/>
        </p:nvSpPr>
        <p:spPr>
          <a:xfrm>
            <a:off x="4905375" y="4972050"/>
            <a:ext cx="590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Verificar educación o certificaciones sin almacenar datos personales</a:t>
            </a:r>
          </a:p>
        </p:txBody>
      </p:sp>
    </p:spTree>
    <p:extLst>
      <p:ext uri="{BB962C8B-B14F-4D97-AF65-F5344CB8AC3E}">
        <p14:creationId xmlns:p14="http://schemas.microsoft.com/office/powerpoint/2010/main" val="2105218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9A9BC2B-1557-49E1-B838-AC2CDAB7BF4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ADOPCIÓN · SECURITY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3BBD7E-EBE2-4BDA-ABED-5022DD0B32F8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7442D-9A3F-4568-99E1-5A30CA5B0FB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B3DA44-A029-4196-B751-C34E69BAB5C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Security: XDR y SIEM cierran el ciclo</a:t>
            </a:r>
          </a:p>
        </p:txBody>
      </p:sp>
      <p:sp>
        <p:nvSpPr>
          <p:cNvPr id="5" name="xdr">
            <a:extLst>
              <a:ext uri="{FF2B5EF4-FFF2-40B4-BE49-F238E27FC236}">
                <a16:creationId xmlns:a16="http://schemas.microsoft.com/office/drawing/2014/main" id="{67EBC4F0-D72B-4612-8D0C-D800B6CB2CB2}"/>
              </a:ext>
            </a:extLst>
          </p:cNvPr>
          <p:cNvSpPr>
            <a:spLocks noGrp="1"/>
          </p:cNvSpPr>
          <p:nvPr/>
        </p:nvSpPr>
        <p:spPr>
          <a:xfrm>
            <a:off x="1524000" y="2333625"/>
            <a:ext cx="2857500" cy="2857500"/>
          </a:xfrm>
          <a:prstGeom prst="ellipse">
            <a:avLst/>
          </a:prstGeom>
          <a:noFill/>
          <a:ln w="66675">
            <a:solidFill>
              <a:srgbClr val="00A4EF"/>
            </a:solidFill>
            <a:prstDash val="solid"/>
          </a:ln>
        </p:spPr>
      </p:sp>
      <p:sp>
        <p:nvSpPr>
          <p:cNvPr id="6" name="siem">
            <a:extLst>
              <a:ext uri="{FF2B5EF4-FFF2-40B4-BE49-F238E27FC236}">
                <a16:creationId xmlns:a16="http://schemas.microsoft.com/office/drawing/2014/main" id="{037BB676-B21D-4B0A-BD58-C3D1AFAF809A}"/>
              </a:ext>
            </a:extLst>
          </p:cNvPr>
          <p:cNvSpPr>
            <a:spLocks noGrp="1"/>
          </p:cNvSpPr>
          <p:nvPr/>
        </p:nvSpPr>
        <p:spPr>
          <a:xfrm>
            <a:off x="7810500" y="2333625"/>
            <a:ext cx="2857500" cy="2857500"/>
          </a:xfrm>
          <a:prstGeom prst="ellipse">
            <a:avLst/>
          </a:prstGeom>
          <a:noFill/>
          <a:ln w="66675">
            <a:solidFill>
              <a:srgbClr val="7357D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3E7DD-8696-4B6A-A273-F1CBAD57A20D}"/>
              </a:ext>
            </a:extLst>
          </p:cNvPr>
          <p:cNvSpPr>
            <a:spLocks noGrp="1"/>
          </p:cNvSpPr>
          <p:nvPr/>
        </p:nvSpPr>
        <p:spPr>
          <a:xfrm>
            <a:off x="1952625" y="3190875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XDR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BDCF4A-60D3-4D79-AF1B-54CF245A9A5D}"/>
              </a:ext>
            </a:extLst>
          </p:cNvPr>
          <p:cNvSpPr>
            <a:spLocks noGrp="1"/>
          </p:cNvSpPr>
          <p:nvPr/>
        </p:nvSpPr>
        <p:spPr>
          <a:xfrm>
            <a:off x="2143125" y="3905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Defender XDR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29E45-A655-41B0-BC6D-516C293E6DFD}"/>
              </a:ext>
            </a:extLst>
          </p:cNvPr>
          <p:cNvSpPr>
            <a:spLocks noGrp="1"/>
          </p:cNvSpPr>
          <p:nvPr/>
        </p:nvSpPr>
        <p:spPr>
          <a:xfrm>
            <a:off x="8239125" y="3190875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SIEM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A412B-62DA-45C9-BA00-3EC013ADC7E2}"/>
              </a:ext>
            </a:extLst>
          </p:cNvPr>
          <p:cNvSpPr>
            <a:spLocks noGrp="1"/>
          </p:cNvSpPr>
          <p:nvPr/>
        </p:nvSpPr>
        <p:spPr>
          <a:xfrm>
            <a:off x="8239125" y="39052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Microsoft Sentinel</a:t>
            </a:r>
          </a:p>
        </p:txBody>
      </p:sp>
      <p:sp>
        <p:nvSpPr>
          <p:cNvPr id="11" name="core">
            <a:extLst>
              <a:ext uri="{FF2B5EF4-FFF2-40B4-BE49-F238E27FC236}">
                <a16:creationId xmlns:a16="http://schemas.microsoft.com/office/drawing/2014/main" id="{CA2A61AD-344F-4E25-AEE7-9DA4C50FE7A4}"/>
              </a:ext>
            </a:extLst>
          </p:cNvPr>
          <p:cNvSpPr>
            <a:spLocks noGrp="1"/>
          </p:cNvSpPr>
          <p:nvPr/>
        </p:nvSpPr>
        <p:spPr>
          <a:xfrm>
            <a:off x="4905375" y="2857500"/>
            <a:ext cx="2381250" cy="1809750"/>
          </a:xfrm>
          <a:prstGeom prst="ellipse">
            <a:avLst/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99B330-8B8A-4738-8F20-205652A596AA}"/>
              </a:ext>
            </a:extLst>
          </p:cNvPr>
          <p:cNvSpPr>
            <a:spLocks noGrp="1"/>
          </p:cNvSpPr>
          <p:nvPr/>
        </p:nvSpPr>
        <p:spPr>
          <a:xfrm>
            <a:off x="5191125" y="3286125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DETECTAR</a:t>
            </a:r>
          </a:p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INVESTIGAR</a:t>
            </a:r>
          </a:p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RESPONDER</a:t>
            </a:r>
          </a:p>
        </p:txBody>
      </p:sp>
      <p:cxnSp>
        <p:nvCxnSpPr>
          <p:cNvPr id="13" name="Straight Arrow Connector 12"/>
          <p:cNvCxnSpPr>
            <a:stCxn id="5" idx="6"/>
            <a:endCxn id="11" idx="2"/>
          </p:cNvCxnSpPr>
          <p:nvPr/>
        </p:nvCxnSpPr>
        <p:spPr>
          <a:xfrm>
            <a:off x="4381500" y="3762375"/>
            <a:ext cx="523875" cy="0"/>
          </a:xfrm>
          <a:prstGeom prst="straightConnector1">
            <a:avLst/>
          </a:prstGeom>
          <a:ln w="38100">
            <a:solidFill>
              <a:srgbClr val="00A4EF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4" name="Straight Arrow Connector 13"/>
          <p:cNvCxnSpPr>
            <a:stCxn id="6" idx="2"/>
            <a:endCxn id="11" idx="6"/>
          </p:cNvCxnSpPr>
          <p:nvPr/>
        </p:nvCxnSpPr>
        <p:spPr>
          <a:xfrm flipH="1">
            <a:off x="7286625" y="3762375"/>
            <a:ext cx="523875" cy="0"/>
          </a:xfrm>
          <a:prstGeom prst="straightConnector1">
            <a:avLst/>
          </a:prstGeom>
          <a:ln w="38100">
            <a:solidFill>
              <a:srgbClr val="7357D3"/>
            </a:solidFill>
            <a:prstDash val="solid"/>
            <a:headEnd type="arrow" w="sm" len="sm"/>
            <a:tailEnd type="arrow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DB114-9726-42F5-B29F-243F8A566803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Threat Analytics · Remediación automatizada · Conectores multicloud · Secured-core</a:t>
            </a:r>
          </a:p>
        </p:txBody>
      </p:sp>
    </p:spTree>
    <p:extLst>
      <p:ext uri="{BB962C8B-B14F-4D97-AF65-F5344CB8AC3E}">
        <p14:creationId xmlns:p14="http://schemas.microsoft.com/office/powerpoint/2010/main" val="613537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6C5585-57B6-4BFD-8026-3CED8C2FDDD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ADOPCIÓN · COMPLIANCE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70D9E-813F-4F39-8FAC-092C4C219AFE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C8A9D1-01CD-4561-B75B-AE98E44039E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350166-D2F4-4AF2-BB36-775ADBFA742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Compliance: proteger los datos donde estén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E48B8-ED0B-46D6-9045-37E957FD750B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DATOS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A59B6-7059-497C-9FB5-D97C16B832BC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Microsoft Purview aplica gobierno, protección y controles desde dentro hacia fuera.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B07FE-33E5-42C3-AF6C-66C8CD4ADF97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4095750" cy="57150"/>
          </a:xfrm>
          <a:prstGeom prst="rect">
            <a:avLst/>
          </a:prstGeom>
          <a:solidFill>
            <a:srgbClr val="F3A712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FFB196-CC7F-4805-B99B-FAC2CF70507B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ETIQUETAR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7AA075-8D6C-41BB-B3D2-960F8B073DF0}"/>
              </a:ext>
            </a:extLst>
          </p:cNvPr>
          <p:cNvSpPr>
            <a:spLocks noGrp="1"/>
          </p:cNvSpPr>
          <p:nvPr/>
        </p:nvSpPr>
        <p:spPr>
          <a:xfrm>
            <a:off x="7953375" y="2238375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Information Protection y coautoría protegida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22752-00A8-430F-ACD7-CA799EEBF9EF}"/>
              </a:ext>
            </a:extLst>
          </p:cNvPr>
          <p:cNvSpPr>
            <a:spLocks noGrp="1"/>
          </p:cNvSpPr>
          <p:nvPr/>
        </p:nvSpPr>
        <p:spPr>
          <a:xfrm>
            <a:off x="6191250" y="2867025"/>
            <a:ext cx="4905375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99DC6E-B38C-4BA4-8888-92B7F7CC139E}"/>
              </a:ext>
            </a:extLst>
          </p:cNvPr>
          <p:cNvSpPr>
            <a:spLocks noGrp="1"/>
          </p:cNvSpPr>
          <p:nvPr/>
        </p:nvSpPr>
        <p:spPr>
          <a:xfrm>
            <a:off x="6191250" y="31146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DETECTAR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B76E0E-6115-4DCC-A1CD-A49B14F17C90}"/>
              </a:ext>
            </a:extLst>
          </p:cNvPr>
          <p:cNvSpPr>
            <a:spLocks noGrp="1"/>
          </p:cNvSpPr>
          <p:nvPr/>
        </p:nvSpPr>
        <p:spPr>
          <a:xfrm>
            <a:off x="7953375" y="3114675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Insider Risk Management con actividad histórica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D20FA0-F3D0-4B37-9DDF-B1AE368E279F}"/>
              </a:ext>
            </a:extLst>
          </p:cNvPr>
          <p:cNvSpPr>
            <a:spLocks noGrp="1"/>
          </p:cNvSpPr>
          <p:nvPr/>
        </p:nvSpPr>
        <p:spPr>
          <a:xfrm>
            <a:off x="6191250" y="3743325"/>
            <a:ext cx="4905375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D039BC-1B3D-4741-A38D-A1685CEF4D75}"/>
              </a:ext>
            </a:extLst>
          </p:cNvPr>
          <p:cNvSpPr>
            <a:spLocks noGrp="1"/>
          </p:cNvSpPr>
          <p:nvPr/>
        </p:nvSpPr>
        <p:spPr>
          <a:xfrm>
            <a:off x="6191250" y="39909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PREVENIR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29ACEA-19EA-4544-8D16-D9CD6F4EE658}"/>
              </a:ext>
            </a:extLst>
          </p:cNvPr>
          <p:cNvSpPr>
            <a:spLocks noGrp="1"/>
          </p:cNvSpPr>
          <p:nvPr/>
        </p:nvSpPr>
        <p:spPr>
          <a:xfrm>
            <a:off x="7953375" y="3990975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DLP en cloud, navegadores y entornos locales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A5EF87-A632-4E3C-A41D-778DF51D5A80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4905375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922BA-9FFE-4509-B23B-A5D9C891564E}"/>
              </a:ext>
            </a:extLst>
          </p:cNvPr>
          <p:cNvSpPr>
            <a:spLocks noGrp="1"/>
          </p:cNvSpPr>
          <p:nvPr/>
        </p:nvSpPr>
        <p:spPr>
          <a:xfrm>
            <a:off x="6191250" y="48672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GOBERNAR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C54129-C369-4F14-AB91-A15ECD69CE80}"/>
              </a:ext>
            </a:extLst>
          </p:cNvPr>
          <p:cNvSpPr>
            <a:spLocks noGrp="1"/>
          </p:cNvSpPr>
          <p:nvPr/>
        </p:nvSpPr>
        <p:spPr>
          <a:xfrm>
            <a:off x="7953375" y="4867275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Clasificación en Microsoft, multicloud y SaaS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A2AC66-BF21-4094-82FB-F0BB6C433AF6}"/>
              </a:ext>
            </a:extLst>
          </p:cNvPr>
          <p:cNvSpPr>
            <a:spLocks noGrp="1"/>
          </p:cNvSpPr>
          <p:nvPr/>
        </p:nvSpPr>
        <p:spPr>
          <a:xfrm>
            <a:off x="6191250" y="5495925"/>
            <a:ext cx="4905375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D30BC0-8801-4149-B5CA-2B6ECABB70E5}"/>
              </a:ext>
            </a:extLst>
          </p:cNvPr>
          <p:cNvSpPr>
            <a:spLocks noGrp="1"/>
          </p:cNvSpPr>
          <p:nvPr/>
        </p:nvSpPr>
        <p:spPr>
          <a:xfrm>
            <a:off x="1143000" y="585787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Alcance: Microsoft cloud · otras nubes · plataformas locales</a:t>
            </a:r>
          </a:p>
        </p:txBody>
      </p:sp>
    </p:spTree>
    <p:extLst>
      <p:ext uri="{BB962C8B-B14F-4D97-AF65-F5344CB8AC3E}">
        <p14:creationId xmlns:p14="http://schemas.microsoft.com/office/powerpoint/2010/main" val="623560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A17D62D-AA7A-4D65-839F-331B95A4814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878BD"/>
                </a:solidFill>
                <a:latin typeface="Aptos Display"/>
                <a:ea typeface="Aptos Display"/>
                <a:cs typeface="Aptos Display"/>
              </a:rPr>
              <a:t>ADOPCIÓN · SKILLING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BDE2CA-F349-4AE8-9B5B-E26EE9CDB57C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36878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E2F65-D516-4CF9-B37E-E339636C5A9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19050"/>
          </a:xfrm>
          <a:prstGeom prst="rect">
            <a:avLst/>
          </a:prstGeom>
          <a:solidFill>
            <a:srgbClr val="C9D6D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5E982-0059-41CD-B9FA-C68B2FEC5578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Skilling: operar Zero Trust requiere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71135-4DC4-4E49-AFFD-2ECFC3FA4201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5449A-B268-43BA-B8AA-84590E724439}"/>
              </a:ext>
            </a:extLst>
          </p:cNvPr>
          <p:cNvSpPr>
            <a:spLocks noGrp="1"/>
          </p:cNvSpPr>
          <p:nvPr/>
        </p:nvSpPr>
        <p:spPr>
          <a:xfrm>
            <a:off x="1857375" y="2190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FUNDAMENTALS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53348-18F7-4944-9983-DA5BD86E3E7E}"/>
              </a:ext>
            </a:extLst>
          </p:cNvPr>
          <p:cNvSpPr>
            <a:spLocks noGrp="1"/>
          </p:cNvSpPr>
          <p:nvPr/>
        </p:nvSpPr>
        <p:spPr>
          <a:xfrm>
            <a:off x="4143375" y="21907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Security, Compliance, and Identity Fundamentals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3A375-3878-4DD4-9CE0-1DFCF9D02E8E}"/>
              </a:ext>
            </a:extLst>
          </p:cNvPr>
          <p:cNvSpPr>
            <a:spLocks noGrp="1"/>
          </p:cNvSpPr>
          <p:nvPr/>
        </p:nvSpPr>
        <p:spPr>
          <a:xfrm>
            <a:off x="1857375" y="2781300"/>
            <a:ext cx="8858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CBE55-6F47-42F2-8BEC-8C5665A1A4AF}"/>
              </a:ext>
            </a:extLst>
          </p:cNvPr>
          <p:cNvSpPr>
            <a:spLocks noGrp="1"/>
          </p:cNvSpPr>
          <p:nvPr/>
        </p:nvSpPr>
        <p:spPr>
          <a:xfrm>
            <a:off x="904875" y="30670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195691-7B6C-430D-87CE-C8259CD4E0F9}"/>
              </a:ext>
            </a:extLst>
          </p:cNvPr>
          <p:cNvSpPr>
            <a:spLocks noGrp="1"/>
          </p:cNvSpPr>
          <p:nvPr/>
        </p:nvSpPr>
        <p:spPr>
          <a:xfrm>
            <a:off x="1857375" y="30670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PROTECCIÓN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119384-2E37-4960-945D-14E1EF919C75}"/>
              </a:ext>
            </a:extLst>
          </p:cNvPr>
          <p:cNvSpPr>
            <a:spLocks noGrp="1"/>
          </p:cNvSpPr>
          <p:nvPr/>
        </p:nvSpPr>
        <p:spPr>
          <a:xfrm>
            <a:off x="4143375" y="30670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Information Protection Administrator Associate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A2D793-83AB-482E-BBD2-C11651A9BF43}"/>
              </a:ext>
            </a:extLst>
          </p:cNvPr>
          <p:cNvSpPr>
            <a:spLocks noGrp="1"/>
          </p:cNvSpPr>
          <p:nvPr/>
        </p:nvSpPr>
        <p:spPr>
          <a:xfrm>
            <a:off x="1857375" y="3657600"/>
            <a:ext cx="8858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57F12B-22A5-41A0-AD0A-7E331F459A99}"/>
              </a:ext>
            </a:extLst>
          </p:cNvPr>
          <p:cNvSpPr>
            <a:spLocks noGrp="1"/>
          </p:cNvSpPr>
          <p:nvPr/>
        </p:nvSpPr>
        <p:spPr>
          <a:xfrm>
            <a:off x="904875" y="39433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C550-0A66-402F-92BE-5B0F029D6286}"/>
              </a:ext>
            </a:extLst>
          </p:cNvPr>
          <p:cNvSpPr>
            <a:spLocks noGrp="1"/>
          </p:cNvSpPr>
          <p:nvPr/>
        </p:nvSpPr>
        <p:spPr>
          <a:xfrm>
            <a:off x="1857375" y="3943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85D5D"/>
                </a:solidFill>
                <a:latin typeface="Aptos Display"/>
                <a:ea typeface="Aptos Display"/>
                <a:cs typeface="Aptos Display"/>
              </a:rPr>
              <a:t>OPERACIONES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AFC2B-E921-4B00-A2B5-D9B72273DB50}"/>
              </a:ext>
            </a:extLst>
          </p:cNvPr>
          <p:cNvSpPr>
            <a:spLocks noGrp="1"/>
          </p:cNvSpPr>
          <p:nvPr/>
        </p:nvSpPr>
        <p:spPr>
          <a:xfrm>
            <a:off x="4143375" y="39433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Security Operations Analyst Associate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184E10-C3E6-41B0-B94A-B49893414390}"/>
              </a:ext>
            </a:extLst>
          </p:cNvPr>
          <p:cNvSpPr>
            <a:spLocks noGrp="1"/>
          </p:cNvSpPr>
          <p:nvPr/>
        </p:nvSpPr>
        <p:spPr>
          <a:xfrm>
            <a:off x="1857375" y="4533900"/>
            <a:ext cx="8858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D03F28-FE64-44F9-BE97-3238CD412068}"/>
              </a:ext>
            </a:extLst>
          </p:cNvPr>
          <p:cNvSpPr>
            <a:spLocks noGrp="1"/>
          </p:cNvSpPr>
          <p:nvPr/>
        </p:nvSpPr>
        <p:spPr>
          <a:xfrm>
            <a:off x="904875" y="48196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9CB91-9CF8-40F6-885B-31624BF4386E}"/>
              </a:ext>
            </a:extLst>
          </p:cNvPr>
          <p:cNvSpPr>
            <a:spLocks noGrp="1"/>
          </p:cNvSpPr>
          <p:nvPr/>
        </p:nvSpPr>
        <p:spPr>
          <a:xfrm>
            <a:off x="1857375" y="48196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IDENTIDAD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F708-9A70-4093-BC55-02A65AABED3C}"/>
              </a:ext>
            </a:extLst>
          </p:cNvPr>
          <p:cNvSpPr>
            <a:spLocks noGrp="1"/>
          </p:cNvSpPr>
          <p:nvPr/>
        </p:nvSpPr>
        <p:spPr>
          <a:xfrm>
            <a:off x="4143375" y="48196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Identity and Access Administrator Associate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DB94E0-2280-4A09-A988-EB69AA05A54F}"/>
              </a:ext>
            </a:extLst>
          </p:cNvPr>
          <p:cNvSpPr>
            <a:spLocks noGrp="1"/>
          </p:cNvSpPr>
          <p:nvPr/>
        </p:nvSpPr>
        <p:spPr>
          <a:xfrm>
            <a:off x="1857375" y="5410200"/>
            <a:ext cx="8858250" cy="19050"/>
          </a:xfrm>
          <a:prstGeom prst="rect">
            <a:avLst/>
          </a:prstGeom>
          <a:solidFill>
            <a:srgbClr val="E7EEF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F450C2-4C77-4D7E-9EB0-129ABCEABCF2}"/>
              </a:ext>
            </a:extLst>
          </p:cNvPr>
          <p:cNvSpPr>
            <a:spLocks noGrp="1"/>
          </p:cNvSpPr>
          <p:nvPr/>
        </p:nvSpPr>
        <p:spPr>
          <a:xfrm>
            <a:off x="2571750" y="59055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368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8"/>
                </a:solidFill>
                <a:latin typeface="Aptos"/>
                <a:ea typeface="Aptos"/>
                <a:cs typeface="Aptos"/>
              </a:rPr>
              <a:t>Recurso transversal: Microsoft Security Technical Content Library</a:t>
            </a:r>
          </a:p>
        </p:txBody>
      </p:sp>
    </p:spTree>
    <p:extLst>
      <p:ext uri="{BB962C8B-B14F-4D97-AF65-F5344CB8AC3E}">
        <p14:creationId xmlns:p14="http://schemas.microsoft.com/office/powerpoint/2010/main" val="2070189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7EBE500-4E4A-49FE-AADF-DC839F37C8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0B4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331B5-CB38-4F68-A602-BC52D8DE15A7}"/>
              </a:ext>
            </a:extLst>
          </p:cNvPr>
          <p:cNvSpPr>
            <a:spLocks noGrp="1"/>
          </p:cNvSpPr>
          <p:nvPr/>
        </p:nvSpPr>
        <p:spPr>
          <a:xfrm>
            <a:off x="857250" y="6286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ADOPTAR ZERO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6622F6-03C2-4D7D-B7A5-C46331E72FAB}"/>
              </a:ext>
            </a:extLst>
          </p:cNvPr>
          <p:cNvSpPr>
            <a:spLocks noGrp="1"/>
          </p:cNvSpPr>
          <p:nvPr/>
        </p:nvSpPr>
        <p:spPr>
          <a:xfrm>
            <a:off x="857250" y="1238250"/>
            <a:ext cx="666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 es un destino.</a:t>
            </a:r>
          </a:p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 un ciclo de decisión.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270C7-6432-45F7-8FDC-22A3AD926D27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782E0-910C-4429-970B-22EEB322357C}"/>
              </a:ext>
            </a:extLst>
          </p:cNvPr>
          <p:cNvSpPr>
            <a:spLocks noGrp="1"/>
          </p:cNvSpPr>
          <p:nvPr/>
        </p:nvSpPr>
        <p:spPr>
          <a:xfrm>
            <a:off x="1619250" y="3486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Empezar por identidad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4422B-D80D-498B-9A22-F9174A4A9FFE}"/>
              </a:ext>
            </a:extLst>
          </p:cNvPr>
          <p:cNvSpPr>
            <a:spLocks noGrp="1"/>
          </p:cNvSpPr>
          <p:nvPr/>
        </p:nvSpPr>
        <p:spPr>
          <a:xfrm>
            <a:off x="4238625" y="34290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B48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141D3-CB7A-4E89-B302-6CDE3229113A}"/>
              </a:ext>
            </a:extLst>
          </p:cNvPr>
          <p:cNvSpPr>
            <a:spLocks noGrp="1"/>
          </p:cNvSpPr>
          <p:nvPr/>
        </p:nvSpPr>
        <p:spPr>
          <a:xfrm>
            <a:off x="4810125" y="339090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Ampliar a dispositivos, aplicaciones y datos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1651F-34B0-4A8B-A453-1811A1D85968}"/>
              </a:ext>
            </a:extLst>
          </p:cNvPr>
          <p:cNvSpPr>
            <a:spLocks noGrp="1"/>
          </p:cNvSpPr>
          <p:nvPr/>
        </p:nvSpPr>
        <p:spPr>
          <a:xfrm>
            <a:off x="7762875" y="34290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3A712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ADC89-2DC4-4A04-ACAE-0AC73D14B055}"/>
              </a:ext>
            </a:extLst>
          </p:cNvPr>
          <p:cNvSpPr>
            <a:spLocks noGrp="1"/>
          </p:cNvSpPr>
          <p:nvPr/>
        </p:nvSpPr>
        <p:spPr>
          <a:xfrm>
            <a:off x="8334375" y="339090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Integrar seguridad y cumplimiento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7B6F3-DD7B-4D6F-B7E7-A456410478AF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9906000" cy="28575"/>
          </a:xfrm>
          <a:prstGeom prst="rect">
            <a:avLst/>
          </a:prstGeom>
          <a:solidFill>
            <a:srgbClr val="35506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4AC78-3D9A-452A-BB6E-E3FBED8C0E75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7357D3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995A-3895-4E43-A3CE-0075CD79FAB7}"/>
              </a:ext>
            </a:extLst>
          </p:cNvPr>
          <p:cNvSpPr>
            <a:spLocks noGrp="1"/>
          </p:cNvSpPr>
          <p:nvPr/>
        </p:nvSpPr>
        <p:spPr>
          <a:xfrm>
            <a:off x="1619250" y="476250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Medir madurez y ajustar políticas continuamente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6678D7-BA9B-4F23-965C-110B24190637}"/>
              </a:ext>
            </a:extLst>
          </p:cNvPr>
          <p:cNvSpPr>
            <a:spLocks noGrp="1"/>
          </p:cNvSpPr>
          <p:nvPr/>
        </p:nvSpPr>
        <p:spPr>
          <a:xfrm>
            <a:off x="857250" y="5953125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AFC3D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AFC3D1"/>
                </a:solidFill>
                <a:latin typeface="Aptos Display"/>
                <a:ea typeface="Aptos Display"/>
                <a:cs typeface="Aptos Display"/>
              </a:rPr>
              <a:t>VERIFICAR  ·  LIMITAR  ·  CONTENER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EA8118-6319-4D80-A2C3-C25E03239FE4}"/>
              </a:ext>
            </a:extLst>
          </p:cNvPr>
          <p:cNvSpPr>
            <a:spLocks noGrp="1"/>
          </p:cNvSpPr>
          <p:nvPr/>
        </p:nvSpPr>
        <p:spPr>
          <a:xfrm>
            <a:off x="9382125" y="4762500"/>
            <a:ext cx="1428750" cy="1428750"/>
          </a:xfrm>
          <a:prstGeom prst="ellipse">
            <a:avLst/>
          </a:prstGeom>
          <a:noFill/>
          <a:ln w="57150">
            <a:solidFill>
              <a:srgbClr val="00A4EF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0D0C2E-B65D-4069-888F-646BFE781821}"/>
              </a:ext>
            </a:extLst>
          </p:cNvPr>
          <p:cNvSpPr>
            <a:spLocks noGrp="1"/>
          </p:cNvSpPr>
          <p:nvPr/>
        </p:nvSpPr>
        <p:spPr>
          <a:xfrm>
            <a:off x="9763125" y="5143500"/>
            <a:ext cx="666750" cy="666750"/>
          </a:xfrm>
          <a:prstGeom prst="ellipse">
            <a:avLst/>
          </a:prstGeom>
          <a:noFill/>
          <a:ln w="28575">
            <a:solidFill>
              <a:srgbClr val="20B48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064221-463D-4AB2-8C1F-84D7C3253B90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8FA8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FA8B8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574917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2026-08-27T02:01:30Z</dcterms:modified>
</cp:coreProperties>
</file>
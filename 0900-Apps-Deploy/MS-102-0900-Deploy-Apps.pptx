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0" r:id="rId22"/>
    <p:sldId id="281" r:id="rId23"/>
    <p:sldId id="282" r:id="rId24"/>
    <p:sldId id="283" r:id="rId25"/>
    <p:sldId id="276" r:id="rId26"/>
    <p:sldId id="277" r:id="rId27"/>
    <p:sldId id="278" r:id="rId28"/>
    <p:sldId id="279" r:id="rId2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" dt="2026-08-25T19:32:00.1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5B5E91-1F1A-4A26-95E7-98EEAEE1E5D5}" type="datetimeFigureOut"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87164-3550-4AB5-8570-083016E3BC3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672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2D6B6DD7-CFFA-46F1-8D42-AA7E312157AC}"/>
              </a:ext>
            </a:extLst>
          </p:cNvPr>
          <p:cNvSpPr>
            <a:spLocks noGrp="1"/>
          </p:cNvSpPr>
          <p:nvPr/>
        </p:nvSpPr>
        <p:spPr>
          <a:xfrm>
            <a:off x="952500" y="857250"/>
            <a:ext cx="10287000" cy="0"/>
          </a:xfrm>
          <a:prstGeom prst="line">
            <a:avLst/>
          </a:prstGeom>
          <a:noFill/>
          <a:ln w="47625">
            <a:solidFill>
              <a:srgbClr val="155EEF"/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3774410-2836-4974-9F8F-E82D9ED9078B}"/>
              </a:ext>
            </a:extLst>
          </p:cNvPr>
          <p:cNvSpPr>
            <a:spLocks noGrp="1"/>
          </p:cNvSpPr>
          <p:nvPr/>
        </p:nvSpPr>
        <p:spPr>
          <a:xfrm>
            <a:off x="9810750" y="1104900"/>
            <a:ext cx="1143000" cy="1143000"/>
          </a:xfrm>
          <a:prstGeom prst="ellipse">
            <a:avLst/>
          </a:prstGeom>
          <a:solidFill>
            <a:srgbClr val="EAF1FF"/>
          </a:solidFill>
          <a:ln w="0">
            <a:noFill/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EDEF9F4-448B-4153-AF7A-91DFEAABF905}"/>
              </a:ext>
            </a:extLst>
          </p:cNvPr>
          <p:cNvSpPr>
            <a:spLocks noGrp="1"/>
          </p:cNvSpPr>
          <p:nvPr/>
        </p:nvSpPr>
        <p:spPr>
          <a:xfrm>
            <a:off x="10401300" y="1695450"/>
            <a:ext cx="266700" cy="266700"/>
          </a:xfrm>
          <a:prstGeom prst="ellipse">
            <a:avLst/>
          </a:prstGeom>
          <a:solidFill>
            <a:srgbClr val="00A86B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E1A82A-B104-4845-8FBF-9E1193F229A0}"/>
              </a:ext>
            </a:extLst>
          </p:cNvPr>
          <p:cNvSpPr>
            <a:spLocks noGrp="1"/>
          </p:cNvSpPr>
          <p:nvPr/>
        </p:nvSpPr>
        <p:spPr>
          <a:xfrm>
            <a:off x="952500" y="1543050"/>
            <a:ext cx="88582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5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Desplegar</a:t>
            </a:r>
          </a:p>
          <a:p>
            <a:pPr algn="l">
              <a:defRPr sz="5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Microsoft 365 Apps</a:t>
            </a:r>
          </a:p>
          <a:p>
            <a:pPr algn="l">
              <a:defRPr sz="5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for enterprise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834107-8ED5-4575-BC0E-FA55C91DC4E0}"/>
              </a:ext>
            </a:extLst>
          </p:cNvPr>
          <p:cNvSpPr>
            <a:spLocks noGrp="1"/>
          </p:cNvSpPr>
          <p:nvPr/>
        </p:nvSpPr>
        <p:spPr>
          <a:xfrm>
            <a:off x="990600" y="4362450"/>
            <a:ext cx="809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56"/>
          </a:bodyPr>
          <a:lstStyle/>
          <a:p>
            <a:pPr algn="l">
              <a:defRPr sz="19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Decisiones, herramientas y prácticas para un despliegue controlado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A62835-A590-482E-A3C8-59551BAEC57F}"/>
              </a:ext>
            </a:extLst>
          </p:cNvPr>
          <p:cNvSpPr>
            <a:spLocks noGrp="1"/>
          </p:cNvSpPr>
          <p:nvPr/>
        </p:nvSpPr>
        <p:spPr>
          <a:xfrm>
            <a:off x="990600" y="586740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Módulo para administradores de Microsoft 365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2D9918-04FA-441F-9DD9-98CBE07687F8}"/>
              </a:ext>
            </a:extLst>
          </p:cNvPr>
          <p:cNvSpPr>
            <a:spLocks noGrp="1"/>
          </p:cNvSpPr>
          <p:nvPr/>
        </p:nvSpPr>
        <p:spPr>
          <a:xfrm>
            <a:off x="10382250" y="586740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793558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641F569-BF8F-479B-93A7-80D269A6E4E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RECORRIDO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D7F999-296E-4856-B881-8185AF48D173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D97088A5-13F0-4D3A-A1ED-6AC9B16549F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F7652D-8D2F-46AA-BB42-6E930D8B4C3D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35BC5C-36B0-4B8B-8F20-058ABBEC821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4707"/>
          </a:bodyPr>
          <a:lstStyle/>
          <a:p>
            <a:pPr algn="l">
              <a:def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El módulo convierte opciones en una decisión operativa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F9C40C-E31D-43BE-AB42-5FBB04659B5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Cuatro capacidades para pasar de la teoría a un despliegue gobernado.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AC6BC5-57D4-4D74-AA01-3ACD687D697A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114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3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8A8BA110-7BBA-42C7-81CC-9E6A64F58829}"/>
              </a:ext>
            </a:extLst>
          </p:cNvPr>
          <p:cNvSpPr>
            <a:spLocks noGrp="1"/>
          </p:cNvSpPr>
          <p:nvPr/>
        </p:nvSpPr>
        <p:spPr>
          <a:xfrm>
            <a:off x="762000" y="3124200"/>
            <a:ext cx="2095500" cy="0"/>
          </a:xfrm>
          <a:prstGeom prst="line">
            <a:avLst/>
          </a:prstGeom>
          <a:noFill/>
          <a:ln w="38100">
            <a:solidFill>
              <a:srgbClr val="155EE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005641-070E-4178-97CB-CD13E6E56C7C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Elegir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E4FACC-14D5-44A4-AB3A-CE594005DFFC}"/>
              </a:ext>
            </a:extLst>
          </p:cNvPr>
          <p:cNvSpPr>
            <a:spLocks noGrp="1"/>
          </p:cNvSpPr>
          <p:nvPr/>
        </p:nvSpPr>
        <p:spPr>
          <a:xfrm>
            <a:off x="762000" y="3886200"/>
            <a:ext cx="2095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Self-service o centralizado según control, escala y red.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B5BD90-CBEF-4B5E-AFC3-96D2358B1C54}"/>
              </a:ext>
            </a:extLst>
          </p:cNvPr>
          <p:cNvSpPr>
            <a:spLocks noGrp="1"/>
          </p:cNvSpPr>
          <p:nvPr/>
        </p:nvSpPr>
        <p:spPr>
          <a:xfrm>
            <a:off x="3524250" y="2333625"/>
            <a:ext cx="114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3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9CE3CACF-3E91-43C6-B351-F38429FBAF83}"/>
              </a:ext>
            </a:extLst>
          </p:cNvPr>
          <p:cNvSpPr>
            <a:spLocks noGrp="1"/>
          </p:cNvSpPr>
          <p:nvPr/>
        </p:nvSpPr>
        <p:spPr>
          <a:xfrm>
            <a:off x="3524250" y="3124200"/>
            <a:ext cx="2095500" cy="0"/>
          </a:xfrm>
          <a:prstGeom prst="line">
            <a:avLst/>
          </a:prstGeom>
          <a:noFill/>
          <a:ln w="38100">
            <a:solidFill>
              <a:srgbClr val="155EE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7BF499-052B-42C5-B38E-9F008BE229CD}"/>
              </a:ext>
            </a:extLst>
          </p:cNvPr>
          <p:cNvSpPr>
            <a:spLocks noGrp="1"/>
          </p:cNvSpPr>
          <p:nvPr/>
        </p:nvSpPr>
        <p:spPr>
          <a:xfrm>
            <a:off x="3524250" y="335280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Preparar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23E61F-9F72-46F1-BD2F-BFBF8C356EDE}"/>
              </a:ext>
            </a:extLst>
          </p:cNvPr>
          <p:cNvSpPr>
            <a:spLocks noGrp="1"/>
          </p:cNvSpPr>
          <p:nvPr/>
        </p:nvSpPr>
        <p:spPr>
          <a:xfrm>
            <a:off x="3524250" y="3886200"/>
            <a:ext cx="2095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Infraestructura, colecciones, canales y archivos XML.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C516F6-B8F1-4B74-9AB7-2A98309C278D}"/>
              </a:ext>
            </a:extLst>
          </p:cNvPr>
          <p:cNvSpPr>
            <a:spLocks noGrp="1"/>
          </p:cNvSpPr>
          <p:nvPr/>
        </p:nvSpPr>
        <p:spPr>
          <a:xfrm>
            <a:off x="6286500" y="2333625"/>
            <a:ext cx="114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3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0EAE352B-919E-4246-A7CF-2E0017FC97E8}"/>
              </a:ext>
            </a:extLst>
          </p:cNvPr>
          <p:cNvSpPr>
            <a:spLocks noGrp="1"/>
          </p:cNvSpPr>
          <p:nvPr/>
        </p:nvSpPr>
        <p:spPr>
          <a:xfrm>
            <a:off x="6286500" y="3124200"/>
            <a:ext cx="2095500" cy="0"/>
          </a:xfrm>
          <a:prstGeom prst="line">
            <a:avLst/>
          </a:prstGeom>
          <a:noFill/>
          <a:ln w="38100">
            <a:solidFill>
              <a:srgbClr val="155EEF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E5DA74-5221-4966-ABDF-89F696E71482}"/>
              </a:ext>
            </a:extLst>
          </p:cNvPr>
          <p:cNvSpPr>
            <a:spLocks noGrp="1"/>
          </p:cNvSpPr>
          <p:nvPr/>
        </p:nvSpPr>
        <p:spPr>
          <a:xfrm>
            <a:off x="6286500" y="335280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Desplegar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5BFABA-401C-4E28-837C-8AC619AD69DB}"/>
              </a:ext>
            </a:extLst>
          </p:cNvPr>
          <p:cNvSpPr>
            <a:spLocks noGrp="1"/>
          </p:cNvSpPr>
          <p:nvPr/>
        </p:nvSpPr>
        <p:spPr>
          <a:xfrm>
            <a:off x="6286500" y="3886200"/>
            <a:ext cx="2095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Configuration Manager, ODT cloud/local e Intune.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EAFEF6-0B8F-4DF5-A8BA-D38413339728}"/>
              </a:ext>
            </a:extLst>
          </p:cNvPr>
          <p:cNvSpPr>
            <a:spLocks noGrp="1"/>
          </p:cNvSpPr>
          <p:nvPr/>
        </p:nvSpPr>
        <p:spPr>
          <a:xfrm>
            <a:off x="9048750" y="2333625"/>
            <a:ext cx="114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350" b="1">
                <a:solidFill>
                  <a:srgbClr val="00A86B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00A86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5A28DE12-2E25-4EF4-B165-82E621D9F0E7}"/>
              </a:ext>
            </a:extLst>
          </p:cNvPr>
          <p:cNvSpPr>
            <a:spLocks noGrp="1"/>
          </p:cNvSpPr>
          <p:nvPr/>
        </p:nvSpPr>
        <p:spPr>
          <a:xfrm>
            <a:off x="9048750" y="3124200"/>
            <a:ext cx="2095500" cy="0"/>
          </a:xfrm>
          <a:prstGeom prst="line">
            <a:avLst/>
          </a:prstGeom>
          <a:noFill/>
          <a:ln w="38100">
            <a:solidFill>
              <a:srgbClr val="00A86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D24ACE-1FFB-4CDC-AC3D-AF869B0BBCE3}"/>
              </a:ext>
            </a:extLst>
          </p:cNvPr>
          <p:cNvSpPr>
            <a:spLocks noGrp="1"/>
          </p:cNvSpPr>
          <p:nvPr/>
        </p:nvSpPr>
        <p:spPr>
          <a:xfrm>
            <a:off x="9048750" y="335280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Actualizar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36B58-3862-41C6-AB05-3C48DBAA02B2}"/>
              </a:ext>
            </a:extLst>
          </p:cNvPr>
          <p:cNvSpPr>
            <a:spLocks noGrp="1"/>
          </p:cNvSpPr>
          <p:nvPr/>
        </p:nvSpPr>
        <p:spPr>
          <a:xfrm>
            <a:off x="9048750" y="3886200"/>
            <a:ext cx="2095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Builds, deltas, fuentes y versiones objetivo.</a:t>
            </a:r>
          </a:p>
        </p:txBody>
      </p:sp>
    </p:spTree>
    <p:extLst>
      <p:ext uri="{BB962C8B-B14F-4D97-AF65-F5344CB8AC3E}">
        <p14:creationId xmlns:p14="http://schemas.microsoft.com/office/powerpoint/2010/main" val="1607197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9974A32-B7F2-4B9C-8C70-1D567FC999D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DECISIÓN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FBDD7B-6DEE-439D-B9A1-3AB77428B5F4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D4C5108-FE3E-496E-9C04-4EDC23F22B1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548D19-07B4-4DD7-BA50-3BF10CA11DFC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4A477D-2F26-457E-8CB7-7705F20232F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963"/>
          </a:bodyPr>
          <a:lstStyle/>
          <a:p>
            <a:pPr algn="l">
              <a:def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Control, escala y red determinan el método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2C1AEE-7114-4BB8-BDD2-52CD37316DA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No existe un método universal: la restricción dominante define el camino.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3B02F9-1C91-46A8-BD65-C66420B9B152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MENOR CONTROL / MENOR ESFUERZO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55BFA5F4-6754-477E-9099-AA048D163EAE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762500" cy="0"/>
          </a:xfrm>
          <a:prstGeom prst="line">
            <a:avLst/>
          </a:prstGeom>
          <a:noFill/>
          <a:ln w="57150">
            <a:solidFill>
              <a:srgbClr val="155EE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5FF1FF-C247-40C9-8C53-FECF2D52A02C}"/>
              </a:ext>
            </a:extLst>
          </p:cNvPr>
          <p:cNvSpPr>
            <a:spLocks noGrp="1"/>
          </p:cNvSpPr>
          <p:nvPr/>
        </p:nvSpPr>
        <p:spPr>
          <a:xfrm>
            <a:off x="762000" y="263842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Self-service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A0C59F-F9B4-41D0-A628-8D280BAC830C}"/>
              </a:ext>
            </a:extLst>
          </p:cNvPr>
          <p:cNvSpPr>
            <a:spLocks noGrp="1"/>
          </p:cNvSpPr>
          <p:nvPr/>
        </p:nvSpPr>
        <p:spPr>
          <a:xfrm>
            <a:off x="762000" y="3171825"/>
            <a:ext cx="4762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El usuario descarga desde el portal. Ideal cuando se prioriza rapidez y la administración local no es una barrera.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C922CD-78BE-440E-ABF3-AF0A4C6A4496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MAYOR CONTROL / MAYOR OPERACIÓN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49CE1F6C-7F02-4E63-A6B6-4046ADEE7D1C}"/>
              </a:ext>
            </a:extLst>
          </p:cNvPr>
          <p:cNvSpPr>
            <a:spLocks noGrp="1"/>
          </p:cNvSpPr>
          <p:nvPr/>
        </p:nvSpPr>
        <p:spPr>
          <a:xfrm>
            <a:off x="6667500" y="2428875"/>
            <a:ext cx="4762500" cy="0"/>
          </a:xfrm>
          <a:prstGeom prst="line">
            <a:avLst/>
          </a:prstGeom>
          <a:noFill/>
          <a:ln w="57150">
            <a:solidFill>
              <a:srgbClr val="00A86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6638CD-2D47-4BA1-9D58-FFF914CF7A55}"/>
              </a:ext>
            </a:extLst>
          </p:cNvPr>
          <p:cNvSpPr>
            <a:spLocks noGrp="1"/>
          </p:cNvSpPr>
          <p:nvPr/>
        </p:nvSpPr>
        <p:spPr>
          <a:xfrm>
            <a:off x="6667500" y="263842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Despliegue centralizado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D27DCD-BCCE-47B9-A31D-109AA92FA0E0}"/>
              </a:ext>
            </a:extLst>
          </p:cNvPr>
          <p:cNvSpPr>
            <a:spLocks noGrp="1"/>
          </p:cNvSpPr>
          <p:nvPr/>
        </p:nvSpPr>
        <p:spPr>
          <a:xfrm>
            <a:off x="6667500" y="3171825"/>
            <a:ext cx="4762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IT controla paquetes, canales, configuraciones, fases y fuentes mediante herramientas de administración.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88E0CA-3EDE-48BE-9187-7E14B9D39A32}"/>
              </a:ext>
            </a:extLst>
          </p:cNvPr>
          <p:cNvSpPr>
            <a:spLocks noGrp="1"/>
          </p:cNvSpPr>
          <p:nvPr/>
        </p:nvSpPr>
        <p:spPr>
          <a:xfrm>
            <a:off x="762000" y="52197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Use self-service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1FA4FD-A68C-4BF9-9D4E-FE12F1146107}"/>
              </a:ext>
            </a:extLst>
          </p:cNvPr>
          <p:cNvSpPr>
            <a:spLocks noGrp="1"/>
          </p:cNvSpPr>
          <p:nvPr/>
        </p:nvSpPr>
        <p:spPr>
          <a:xfrm>
            <a:off x="762000" y="5543550"/>
            <a:ext cx="447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equipos pequeños · buena conectividad · usuarios con privilegios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EF4F46-6BE2-4CA3-B098-96584633A97A}"/>
              </a:ext>
            </a:extLst>
          </p:cNvPr>
          <p:cNvSpPr>
            <a:spLocks noGrp="1"/>
          </p:cNvSpPr>
          <p:nvPr/>
        </p:nvSpPr>
        <p:spPr>
          <a:xfrm>
            <a:off x="6667500" y="52197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00A86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A86B"/>
                </a:solidFill>
                <a:latin typeface="Aptos"/>
                <a:ea typeface="Aptos"/>
                <a:cs typeface="Aptos"/>
              </a:rPr>
              <a:t>Centralice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F57BA8-7ADE-4B9E-81A1-0F4B3F4EEBB5}"/>
              </a:ext>
            </a:extLst>
          </p:cNvPr>
          <p:cNvSpPr>
            <a:spLocks noGrp="1"/>
          </p:cNvSpPr>
          <p:nvPr/>
        </p:nvSpPr>
        <p:spPr>
          <a:xfrm>
            <a:off x="6667500" y="5543550"/>
            <a:ext cx="457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gran escala · red limitada · estándares estrictos · mínimo privilegio</a:t>
            </a:r>
          </a:p>
        </p:txBody>
      </p:sp>
    </p:spTree>
    <p:extLst>
      <p:ext uri="{BB962C8B-B14F-4D97-AF65-F5344CB8AC3E}">
        <p14:creationId xmlns:p14="http://schemas.microsoft.com/office/powerpoint/2010/main" val="1731164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CC82CC9-847C-4029-A756-73785CC1455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FUNDAMENTOS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521302-9983-46BC-8CD5-0D29FCD6C2A9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2934DA8-4F31-4D51-BE94-FD7254A504E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76CE8D-963A-49AE-8E8B-CC6C7973806C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CDCBCD-D20A-4F87-90A9-591F68AEB27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5234"/>
          </a:bodyPr>
          <a:lstStyle/>
          <a:p>
            <a:pPr algn="l">
              <a:def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Click-to-Run combina ejecución local con entrega por streaming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F4B71D-2FD9-4827-83D2-9138AA09577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La aplicación puede utilizarse mientras la instalación continúa en segundo plano.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3EA9BD-A42B-4A31-962A-4A89AFB1460B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323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086"/>
          </a:bodyPr>
          <a:lstStyle/>
          <a:p>
            <a:pPr algn="l">
              <a:defRPr sz="46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30 días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B66425-B5B3-4E39-8414-05DD43939E55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124"/>
          </a:bodyPr>
          <a:lstStyle/>
          <a:p>
            <a:pPr algn="l">
              <a:defRPr sz="142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Frecuencia mínima de conexión para validar automáticamente la licencia.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F2D3287-1276-4BE6-9776-98448B387C62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0" cy="3429000"/>
          </a:xfrm>
          <a:prstGeom prst="line">
            <a:avLst/>
          </a:prstGeom>
          <a:noFill/>
          <a:ln w="19050">
            <a:solidFill>
              <a:srgbClr val="DCE6F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6E50E8-7D62-47A0-AF7A-847B3B6A8E80}"/>
              </a:ext>
            </a:extLst>
          </p:cNvPr>
          <p:cNvSpPr>
            <a:spLocks noGrp="1"/>
          </p:cNvSpPr>
          <p:nvPr/>
        </p:nvSpPr>
        <p:spPr>
          <a:xfrm>
            <a:off x="4953000" y="20955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INCLUYE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DF8160-0E87-4531-8CA9-199544D65F6B}"/>
              </a:ext>
            </a:extLst>
          </p:cNvPr>
          <p:cNvSpPr>
            <a:spLocks noGrp="1"/>
          </p:cNvSpPr>
          <p:nvPr/>
        </p:nvSpPr>
        <p:spPr>
          <a:xfrm>
            <a:off x="4953000" y="2476500"/>
            <a:ext cx="6191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Word · Excel · PowerPoint · Outlook</a:t>
            </a:r>
          </a:p>
          <a:p>
            <a:pPr algn="l">
              <a:defRPr sz="187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Access · Publisher · OneNote · Teams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D577CD-D160-48C9-B4F3-2CFF09419256}"/>
              </a:ext>
            </a:extLst>
          </p:cNvPr>
          <p:cNvSpPr>
            <a:spLocks noGrp="1"/>
          </p:cNvSpPr>
          <p:nvPr/>
        </p:nvSpPr>
        <p:spPr>
          <a:xfrm>
            <a:off x="4953000" y="37147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00A86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A86B"/>
                </a:solidFill>
                <a:latin typeface="Aptos"/>
                <a:ea typeface="Aptos"/>
                <a:cs typeface="Aptos"/>
              </a:rPr>
              <a:t>MATICES QUE CAMBIAN EL PLAN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827AB89-B675-4FBC-810B-509AC8AA058C}"/>
              </a:ext>
            </a:extLst>
          </p:cNvPr>
          <p:cNvSpPr>
            <a:spLocks noGrp="1"/>
          </p:cNvSpPr>
          <p:nvPr/>
        </p:nvSpPr>
        <p:spPr>
          <a:xfrm>
            <a:off x="4953000" y="4162425"/>
            <a:ext cx="95250" cy="95250"/>
          </a:xfrm>
          <a:prstGeom prst="ellipse">
            <a:avLst/>
          </a:prstGeom>
          <a:solidFill>
            <a:srgbClr val="00A86B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1455E5-DD15-4E2A-B5B0-562857433913}"/>
              </a:ext>
            </a:extLst>
          </p:cNvPr>
          <p:cNvSpPr>
            <a:spLocks noGrp="1"/>
          </p:cNvSpPr>
          <p:nvPr/>
        </p:nvSpPr>
        <p:spPr>
          <a:xfrm>
            <a:off x="5181600" y="4095750"/>
            <a:ext cx="59626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Access y Publisher no se incluyen en Mac.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96FDFE5-1924-4655-9CBA-54136D9758D3}"/>
              </a:ext>
            </a:extLst>
          </p:cNvPr>
          <p:cNvSpPr>
            <a:spLocks noGrp="1"/>
          </p:cNvSpPr>
          <p:nvPr/>
        </p:nvSpPr>
        <p:spPr>
          <a:xfrm>
            <a:off x="4953000" y="4686300"/>
            <a:ext cx="95250" cy="95250"/>
          </a:xfrm>
          <a:prstGeom prst="ellipse">
            <a:avLst/>
          </a:prstGeom>
          <a:solidFill>
            <a:srgbClr val="00A86B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8D60A8-423E-44A4-8009-769ADF87A0C1}"/>
              </a:ext>
            </a:extLst>
          </p:cNvPr>
          <p:cNvSpPr>
            <a:spLocks noGrp="1"/>
          </p:cNvSpPr>
          <p:nvPr/>
        </p:nvSpPr>
        <p:spPr>
          <a:xfrm>
            <a:off x="5181600" y="4619625"/>
            <a:ext cx="59626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Visio y Project requieren planes y descargas separadas.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78BDFBE-8485-4E46-B63E-6725C4C99845}"/>
              </a:ext>
            </a:extLst>
          </p:cNvPr>
          <p:cNvSpPr>
            <a:spLocks noGrp="1"/>
          </p:cNvSpPr>
          <p:nvPr/>
        </p:nvSpPr>
        <p:spPr>
          <a:xfrm>
            <a:off x="4953000" y="5210175"/>
            <a:ext cx="95250" cy="95250"/>
          </a:xfrm>
          <a:prstGeom prst="ellipse">
            <a:avLst/>
          </a:prstGeom>
          <a:solidFill>
            <a:srgbClr val="00A86B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94CF42-9326-4406-8E8C-887D21666C3E}"/>
              </a:ext>
            </a:extLst>
          </p:cNvPr>
          <p:cNvSpPr>
            <a:spLocks noGrp="1"/>
          </p:cNvSpPr>
          <p:nvPr/>
        </p:nvSpPr>
        <p:spPr>
          <a:xfrm>
            <a:off x="5181600" y="5143500"/>
            <a:ext cx="59626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Sin licencia, las apps pasan a modo de funcionalidad restringida.</a:t>
            </a:r>
          </a:p>
        </p:txBody>
      </p:sp>
    </p:spTree>
    <p:extLst>
      <p:ext uri="{BB962C8B-B14F-4D97-AF65-F5344CB8AC3E}">
        <p14:creationId xmlns:p14="http://schemas.microsoft.com/office/powerpoint/2010/main" val="577982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B1324E9-460F-4D00-AB68-70ACEE38031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SELF-SERVICE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C23CC6-6D2D-4D1B-9329-59528218E9E4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858781C-0061-4080-8194-11E5F9780E49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69F556-DE76-438C-A2B7-6774FBA2C38D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9B78ED-9C3C-49D9-9AD3-C7267DF5590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686"/>
          </a:bodyPr>
          <a:lstStyle/>
          <a:p>
            <a:pPr algn="l">
              <a:def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Self-service gana simplicidad, pero cede control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23259-9E8E-4F30-8B80-D45C24275C7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El portal reduce la preparación administrativa; la red y el endpoint asumen el costo.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168FBBAC-3F2B-4125-AB80-3B408A5D840C}"/>
              </a:ext>
            </a:extLst>
          </p:cNvPr>
          <p:cNvSpPr>
            <a:spLocks noGrp="1"/>
          </p:cNvSpPr>
          <p:nvPr/>
        </p:nvSpPr>
        <p:spPr>
          <a:xfrm>
            <a:off x="762000" y="2209800"/>
            <a:ext cx="4762500" cy="0"/>
          </a:xfrm>
          <a:prstGeom prst="line">
            <a:avLst/>
          </a:prstGeom>
          <a:noFill/>
          <a:ln w="57150">
            <a:solidFill>
              <a:srgbClr val="155EE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4B5197-23F9-41F8-9548-1BF7E56C4C8A}"/>
              </a:ext>
            </a:extLst>
          </p:cNvPr>
          <p:cNvSpPr>
            <a:spLocks noGrp="1"/>
          </p:cNvSpPr>
          <p:nvPr/>
        </p:nvSpPr>
        <p:spPr>
          <a:xfrm>
            <a:off x="762000" y="24193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Lo que simplifica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E94634-9422-47CB-BBCB-C6EC8CBE9BFE}"/>
              </a:ext>
            </a:extLst>
          </p:cNvPr>
          <p:cNvSpPr>
            <a:spLocks noGrp="1"/>
          </p:cNvSpPr>
          <p:nvPr/>
        </p:nvSpPr>
        <p:spPr>
          <a:xfrm>
            <a:off x="762000" y="2952750"/>
            <a:ext cx="4762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• Poca configuración administrativa</a:t>
            </a:r>
          </a:p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• Descarga directa desde Internet</a:t>
            </a:r>
          </a:p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• Actualización automática en segundo plano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E15B1F7-093D-4560-93C5-EFA190AD1B71}"/>
              </a:ext>
            </a:extLst>
          </p:cNvPr>
          <p:cNvSpPr>
            <a:spLocks noGrp="1"/>
          </p:cNvSpPr>
          <p:nvPr/>
        </p:nvSpPr>
        <p:spPr>
          <a:xfrm>
            <a:off x="6667500" y="2209800"/>
            <a:ext cx="4762500" cy="0"/>
          </a:xfrm>
          <a:prstGeom prst="line">
            <a:avLst/>
          </a:prstGeom>
          <a:noFill/>
          <a:ln w="57150">
            <a:solidFill>
              <a:srgbClr val="00A86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00514F-8BA1-4ED1-9F93-D61C6567BBCB}"/>
              </a:ext>
            </a:extLst>
          </p:cNvPr>
          <p:cNvSpPr>
            <a:spLocks noGrp="1"/>
          </p:cNvSpPr>
          <p:nvPr/>
        </p:nvSpPr>
        <p:spPr>
          <a:xfrm>
            <a:off x="6667500" y="24193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Lo que exige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CFFCBF-95C5-441E-8657-DD8897DE60C1}"/>
              </a:ext>
            </a:extLst>
          </p:cNvPr>
          <p:cNvSpPr>
            <a:spLocks noGrp="1"/>
          </p:cNvSpPr>
          <p:nvPr/>
        </p:nvSpPr>
        <p:spPr>
          <a:xfrm>
            <a:off x="6667500" y="2952750"/>
            <a:ext cx="4762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• Licencia de Microsoft 365 Apps</a:t>
            </a:r>
          </a:p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• Derechos de administrador local</a:t>
            </a:r>
          </a:p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• Capacidad para descargar varios GB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0BE43AE3-44AE-4799-B675-DE29E06C7D1D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0"/>
          </a:xfrm>
          <a:prstGeom prst="line">
            <a:avLst/>
          </a:prstGeom>
          <a:noFill/>
          <a:ln w="19050">
            <a:solidFill>
              <a:srgbClr val="DCE6F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2FDB20-0784-4B09-A462-84DE41CA9E45}"/>
              </a:ext>
            </a:extLst>
          </p:cNvPr>
          <p:cNvSpPr>
            <a:spLocks noGrp="1"/>
          </p:cNvSpPr>
          <p:nvPr/>
        </p:nvSpPr>
        <p:spPr>
          <a:xfrm>
            <a:off x="762000" y="53911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406"/>
          </a:bodyPr>
          <a:lstStyle/>
          <a:p>
            <a:pPr algn="l">
              <a:defRPr sz="180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No admite origen local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C12705-F2BD-4C60-8197-4816962B2F62}"/>
              </a:ext>
            </a:extLst>
          </p:cNvPr>
          <p:cNvSpPr>
            <a:spLocks noGrp="1"/>
          </p:cNvSpPr>
          <p:nvPr/>
        </p:nvSpPr>
        <p:spPr>
          <a:xfrm>
            <a:off x="3667125" y="5391150"/>
            <a:ext cx="762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739"/>
          </a:bodyPr>
          <a:lstStyle/>
          <a:p>
            <a:pPr algn="l">
              <a:defRPr sz="165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y el comportamiento de actualización desde Internet no puede modificarse.</a:t>
            </a:r>
          </a:p>
        </p:txBody>
      </p:sp>
    </p:spTree>
    <p:extLst>
      <p:ext uri="{BB962C8B-B14F-4D97-AF65-F5344CB8AC3E}">
        <p14:creationId xmlns:p14="http://schemas.microsoft.com/office/powerpoint/2010/main" val="1190716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0EF901F-6F8C-456A-AF78-BEB8BC4A881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SELF-SERVICE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77BBAD-C218-40CF-9A00-9739505E851E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8CFA213-7885-4C88-A63A-AA9F529A730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455F54-3169-46B4-B96F-281711BB1E57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86B296-B655-4F1E-9995-C12A5400716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582"/>
          </a:bodyPr>
          <a:lstStyle/>
          <a:p>
            <a:pPr algn="l">
              <a:def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Tres fricciones pueden bloquear el self-service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A0679B-3B07-49F5-B824-2F5A22E417B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Antes de habilitarlo, pruebe la realidad operativa del usuario.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EA2241-CEA0-45B9-8FE1-B7540C54FAE8}"/>
              </a:ext>
            </a:extLst>
          </p:cNvPr>
          <p:cNvSpPr>
            <a:spLocks noGrp="1"/>
          </p:cNvSpPr>
          <p:nvPr/>
        </p:nvSpPr>
        <p:spPr>
          <a:xfrm>
            <a:off x="952500" y="2238375"/>
            <a:ext cx="95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defRPr sz="40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F24A54-A9C3-4D8D-9C6C-3C14C006B5C2}"/>
              </a:ext>
            </a:extLst>
          </p:cNvPr>
          <p:cNvSpPr>
            <a:spLocks noGrp="1"/>
          </p:cNvSpPr>
          <p:nvPr/>
        </p:nvSpPr>
        <p:spPr>
          <a:xfrm>
            <a:off x="952500" y="3048000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154"/>
          </a:bodyPr>
          <a:lstStyle/>
          <a:p>
            <a:pPr algn="l">
              <a:def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Complejidad técnica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66CE8E-CECC-4ADE-B08B-92EBD32351AE}"/>
              </a:ext>
            </a:extLst>
          </p:cNvPr>
          <p:cNvSpPr>
            <a:spLocks noGrp="1"/>
          </p:cNvSpPr>
          <p:nvPr/>
        </p:nvSpPr>
        <p:spPr>
          <a:xfrm>
            <a:off x="952500" y="3695700"/>
            <a:ext cx="2762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ODT y Configuration Manager requieren conocimientos y preparación.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549F9D-CCE4-412C-8263-DBBC9A49E48F}"/>
              </a:ext>
            </a:extLst>
          </p:cNvPr>
          <p:cNvSpPr>
            <a:spLocks noGrp="1"/>
          </p:cNvSpPr>
          <p:nvPr/>
        </p:nvSpPr>
        <p:spPr>
          <a:xfrm>
            <a:off x="4476750" y="2238375"/>
            <a:ext cx="95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defRPr sz="4050" b="1">
                <a:solidFill>
                  <a:srgbClr val="00A86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00A86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A919FD-91AC-4DEE-85AB-3ED56FA0214B}"/>
              </a:ext>
            </a:extLst>
          </p:cNvPr>
          <p:cNvSpPr>
            <a:spLocks noGrp="1"/>
          </p:cNvSpPr>
          <p:nvPr/>
        </p:nvSpPr>
        <p:spPr>
          <a:xfrm>
            <a:off x="4476750" y="3048000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Ancho de banda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33653D-BDAF-4249-999B-24B24CE86F32}"/>
              </a:ext>
            </a:extLst>
          </p:cNvPr>
          <p:cNvSpPr>
            <a:spLocks noGrp="1"/>
          </p:cNvSpPr>
          <p:nvPr/>
        </p:nvSpPr>
        <p:spPr>
          <a:xfrm>
            <a:off x="4476750" y="3695700"/>
            <a:ext cx="2762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Descargas simultáneas de varios GB pueden degradar la red.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481A0E-45B5-4362-B220-76E82C535E66}"/>
              </a:ext>
            </a:extLst>
          </p:cNvPr>
          <p:cNvSpPr>
            <a:spLocks noGrp="1"/>
          </p:cNvSpPr>
          <p:nvPr/>
        </p:nvSpPr>
        <p:spPr>
          <a:xfrm>
            <a:off x="8001000" y="2238375"/>
            <a:ext cx="95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l">
              <a:defRPr sz="40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E14CC7-3A9A-4383-9284-17D995F89D51}"/>
              </a:ext>
            </a:extLst>
          </p:cNvPr>
          <p:cNvSpPr>
            <a:spLocks noGrp="1"/>
          </p:cNvSpPr>
          <p:nvPr/>
        </p:nvSpPr>
        <p:spPr>
          <a:xfrm>
            <a:off x="8001000" y="3048000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Permisos locales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A0FC97-231A-48FA-80C4-3D6EBCCCA94C}"/>
              </a:ext>
            </a:extLst>
          </p:cNvPr>
          <p:cNvSpPr>
            <a:spLocks noGrp="1"/>
          </p:cNvSpPr>
          <p:nvPr/>
        </p:nvSpPr>
        <p:spPr>
          <a:xfrm>
            <a:off x="8001000" y="3695700"/>
            <a:ext cx="2762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Click-to-Run necesita privilegios para cambios a nivel del sistema.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55B27FA5-82BB-4DCF-A2F8-245E04C0EB56}"/>
              </a:ext>
            </a:extLst>
          </p:cNvPr>
          <p:cNvSpPr>
            <a:spLocks noGrp="1"/>
          </p:cNvSpPr>
          <p:nvPr/>
        </p:nvSpPr>
        <p:spPr>
          <a:xfrm>
            <a:off x="857250" y="5429250"/>
            <a:ext cx="10477500" cy="0"/>
          </a:xfrm>
          <a:prstGeom prst="line">
            <a:avLst/>
          </a:prstGeom>
          <a:noFill/>
          <a:ln w="19050">
            <a:solidFill>
              <a:srgbClr val="DCE6F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D8F25A-0EE2-4B96-97AB-E6981690BA71}"/>
              </a:ext>
            </a:extLst>
          </p:cNvPr>
          <p:cNvSpPr>
            <a:spLocks noGrp="1"/>
          </p:cNvSpPr>
          <p:nvPr/>
        </p:nvSpPr>
        <p:spPr>
          <a:xfrm>
            <a:off x="952500" y="563880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00A86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A86B"/>
                </a:solidFill>
                <a:latin typeface="Aptos"/>
                <a:ea typeface="Aptos"/>
                <a:cs typeface="Aptos"/>
              </a:rPr>
              <a:t>Regla práctica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4FB564-9445-42A4-A87D-7A546038F2AD}"/>
              </a:ext>
            </a:extLst>
          </p:cNvPr>
          <p:cNvSpPr>
            <a:spLocks noGrp="1"/>
          </p:cNvSpPr>
          <p:nvPr/>
        </p:nvSpPr>
        <p:spPr>
          <a:xfrm>
            <a:off x="2667000" y="5619750"/>
            <a:ext cx="847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277"/>
          </a:bodyPr>
          <a:lstStyle/>
          <a:p>
            <a:pPr algn="l">
              <a:defRPr sz="15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si IT quiere minimizar preparación y estas tres fricciones están resueltas, self-service es viable.</a:t>
            </a:r>
          </a:p>
        </p:txBody>
      </p:sp>
    </p:spTree>
    <p:extLst>
      <p:ext uri="{BB962C8B-B14F-4D97-AF65-F5344CB8AC3E}">
        <p14:creationId xmlns:p14="http://schemas.microsoft.com/office/powerpoint/2010/main" val="49972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64D50B9-CCC6-472B-89DC-C98154CC339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GOBIERNO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68E3A9-EA27-42C1-963C-15A1AFAAAC47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3A48DEB-EFA0-410C-9C84-20D641E69A1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726EB3-4037-4D55-A67C-2EA4A5FDF95A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445728-6758-4AB3-8C2A-809EB48E327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0209"/>
          </a:bodyPr>
          <a:lstStyle/>
          <a:p>
            <a:pPr algn="l">
              <a:def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Un único ajuste global corta la descarga del usuario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A402CA-96ED-4E29-95CC-DE7718EEC15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La prohibición se aplica desde Microsoft 365 admin center.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59186A1-2020-400B-8462-AEF2042B4ADE}"/>
              </a:ext>
            </a:extLst>
          </p:cNvPr>
          <p:cNvSpPr>
            <a:spLocks noGrp="1"/>
          </p:cNvSpPr>
          <p:nvPr/>
        </p:nvSpPr>
        <p:spPr>
          <a:xfrm>
            <a:off x="723900" y="2381250"/>
            <a:ext cx="400050" cy="400050"/>
          </a:xfrm>
          <a:prstGeom prst="ellipse">
            <a:avLst/>
          </a:prstGeom>
          <a:solidFill>
            <a:srgbClr val="155EEF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A9F9F8-17DE-40AD-8BF9-682BE21579EA}"/>
              </a:ext>
            </a:extLst>
          </p:cNvPr>
          <p:cNvSpPr>
            <a:spLocks noGrp="1"/>
          </p:cNvSpPr>
          <p:nvPr/>
        </p:nvSpPr>
        <p:spPr>
          <a:xfrm>
            <a:off x="723900" y="24479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2626310A-4CE8-4531-B737-317F4B4DF883}"/>
              </a:ext>
            </a:extLst>
          </p:cNvPr>
          <p:cNvSpPr>
            <a:spLocks noGrp="1"/>
          </p:cNvSpPr>
          <p:nvPr/>
        </p:nvSpPr>
        <p:spPr>
          <a:xfrm>
            <a:off x="1200150" y="2581275"/>
            <a:ext cx="1000125" cy="0"/>
          </a:xfrm>
          <a:prstGeom prst="line">
            <a:avLst/>
          </a:prstGeom>
          <a:noFill/>
          <a:ln w="28575">
            <a:solidFill>
              <a:srgbClr val="DCE6F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357330-E43B-4869-9FF4-B909EC5B791A}"/>
              </a:ext>
            </a:extLst>
          </p:cNvPr>
          <p:cNvSpPr>
            <a:spLocks noGrp="1"/>
          </p:cNvSpPr>
          <p:nvPr/>
        </p:nvSpPr>
        <p:spPr>
          <a:xfrm>
            <a:off x="495300" y="3000375"/>
            <a:ext cx="1143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Show all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EA8895-A65A-4364-A383-5D8685B99111}"/>
              </a:ext>
            </a:extLst>
          </p:cNvPr>
          <p:cNvSpPr>
            <a:spLocks noGrp="1"/>
          </p:cNvSpPr>
          <p:nvPr/>
        </p:nvSpPr>
        <p:spPr>
          <a:xfrm>
            <a:off x="2286000" y="2381250"/>
            <a:ext cx="400050" cy="400050"/>
          </a:xfrm>
          <a:prstGeom prst="ellipse">
            <a:avLst/>
          </a:prstGeom>
          <a:solidFill>
            <a:srgbClr val="155EEF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126E21-0C27-4862-A657-21C85B381283}"/>
              </a:ext>
            </a:extLst>
          </p:cNvPr>
          <p:cNvSpPr>
            <a:spLocks noGrp="1"/>
          </p:cNvSpPr>
          <p:nvPr/>
        </p:nvSpPr>
        <p:spPr>
          <a:xfrm>
            <a:off x="2286000" y="24479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E2C693C6-1FC4-4492-BA13-72066F07CB8F}"/>
              </a:ext>
            </a:extLst>
          </p:cNvPr>
          <p:cNvSpPr>
            <a:spLocks noGrp="1"/>
          </p:cNvSpPr>
          <p:nvPr/>
        </p:nvSpPr>
        <p:spPr>
          <a:xfrm>
            <a:off x="2762250" y="2581275"/>
            <a:ext cx="1000125" cy="0"/>
          </a:xfrm>
          <a:prstGeom prst="line">
            <a:avLst/>
          </a:prstGeom>
          <a:noFill/>
          <a:ln w="28575">
            <a:solidFill>
              <a:srgbClr val="DCE6F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C21003-F7FD-4BA7-B3C1-6B8CC9B0C9A4}"/>
              </a:ext>
            </a:extLst>
          </p:cNvPr>
          <p:cNvSpPr>
            <a:spLocks noGrp="1"/>
          </p:cNvSpPr>
          <p:nvPr/>
        </p:nvSpPr>
        <p:spPr>
          <a:xfrm>
            <a:off x="2057400" y="3000375"/>
            <a:ext cx="1143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7ED5360-AA30-4591-B624-DD026DFBE568}"/>
              </a:ext>
            </a:extLst>
          </p:cNvPr>
          <p:cNvSpPr>
            <a:spLocks noGrp="1"/>
          </p:cNvSpPr>
          <p:nvPr/>
        </p:nvSpPr>
        <p:spPr>
          <a:xfrm>
            <a:off x="3848100" y="2381250"/>
            <a:ext cx="400050" cy="400050"/>
          </a:xfrm>
          <a:prstGeom prst="ellipse">
            <a:avLst/>
          </a:prstGeom>
          <a:solidFill>
            <a:srgbClr val="155EEF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183A1B-EE2D-4913-8E3B-871FF38988FC}"/>
              </a:ext>
            </a:extLst>
          </p:cNvPr>
          <p:cNvSpPr>
            <a:spLocks noGrp="1"/>
          </p:cNvSpPr>
          <p:nvPr/>
        </p:nvSpPr>
        <p:spPr>
          <a:xfrm>
            <a:off x="3848100" y="24479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07CA800C-2C78-432F-9175-C5E4BA2E921D}"/>
              </a:ext>
            </a:extLst>
          </p:cNvPr>
          <p:cNvSpPr>
            <a:spLocks noGrp="1"/>
          </p:cNvSpPr>
          <p:nvPr/>
        </p:nvSpPr>
        <p:spPr>
          <a:xfrm>
            <a:off x="4324350" y="2581275"/>
            <a:ext cx="1000125" cy="0"/>
          </a:xfrm>
          <a:prstGeom prst="line">
            <a:avLst/>
          </a:prstGeom>
          <a:noFill/>
          <a:ln w="28575">
            <a:solidFill>
              <a:srgbClr val="DCE6F5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5ED78D-3E09-4FF6-B734-42D5B6183487}"/>
              </a:ext>
            </a:extLst>
          </p:cNvPr>
          <p:cNvSpPr>
            <a:spLocks noGrp="1"/>
          </p:cNvSpPr>
          <p:nvPr/>
        </p:nvSpPr>
        <p:spPr>
          <a:xfrm>
            <a:off x="3619500" y="3000375"/>
            <a:ext cx="1143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Org Settings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8FE7983-1D50-48F2-AB7B-2ED1D3319131}"/>
              </a:ext>
            </a:extLst>
          </p:cNvPr>
          <p:cNvSpPr>
            <a:spLocks noGrp="1"/>
          </p:cNvSpPr>
          <p:nvPr/>
        </p:nvSpPr>
        <p:spPr>
          <a:xfrm>
            <a:off x="5410200" y="2381250"/>
            <a:ext cx="400050" cy="400050"/>
          </a:xfrm>
          <a:prstGeom prst="ellipse">
            <a:avLst/>
          </a:prstGeom>
          <a:solidFill>
            <a:srgbClr val="155EEF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29FC6B-CD62-4C22-A516-4A928DA94D97}"/>
              </a:ext>
            </a:extLst>
          </p:cNvPr>
          <p:cNvSpPr>
            <a:spLocks noGrp="1"/>
          </p:cNvSpPr>
          <p:nvPr/>
        </p:nvSpPr>
        <p:spPr>
          <a:xfrm>
            <a:off x="5410200" y="24479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3936CCC2-755C-4044-BD84-16D42A4B89F6}"/>
              </a:ext>
            </a:extLst>
          </p:cNvPr>
          <p:cNvSpPr>
            <a:spLocks noGrp="1"/>
          </p:cNvSpPr>
          <p:nvPr/>
        </p:nvSpPr>
        <p:spPr>
          <a:xfrm>
            <a:off x="5886450" y="2581275"/>
            <a:ext cx="1000125" cy="0"/>
          </a:xfrm>
          <a:prstGeom prst="line">
            <a:avLst/>
          </a:prstGeom>
          <a:noFill/>
          <a:ln w="28575">
            <a:solidFill>
              <a:srgbClr val="DCE6F5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475E2E-81FC-4CD4-AB11-D3DFC8695DFA}"/>
              </a:ext>
            </a:extLst>
          </p:cNvPr>
          <p:cNvSpPr>
            <a:spLocks noGrp="1"/>
          </p:cNvSpPr>
          <p:nvPr/>
        </p:nvSpPr>
        <p:spPr>
          <a:xfrm>
            <a:off x="5181600" y="3000375"/>
            <a:ext cx="1143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A6B2FF4-2687-4071-9C60-C0CD3E2B19F5}"/>
              </a:ext>
            </a:extLst>
          </p:cNvPr>
          <p:cNvSpPr>
            <a:spLocks noGrp="1"/>
          </p:cNvSpPr>
          <p:nvPr/>
        </p:nvSpPr>
        <p:spPr>
          <a:xfrm>
            <a:off x="6972300" y="2381250"/>
            <a:ext cx="400050" cy="400050"/>
          </a:xfrm>
          <a:prstGeom prst="ellipse">
            <a:avLst/>
          </a:prstGeom>
          <a:solidFill>
            <a:srgbClr val="155EEF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50A5FD-F5FA-4A11-B6F0-AF6CAF9D8946}"/>
              </a:ext>
            </a:extLst>
          </p:cNvPr>
          <p:cNvSpPr>
            <a:spLocks noGrp="1"/>
          </p:cNvSpPr>
          <p:nvPr/>
        </p:nvSpPr>
        <p:spPr>
          <a:xfrm>
            <a:off x="6972300" y="24479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54C90523-9EC7-49A7-80E9-599F89542716}"/>
              </a:ext>
            </a:extLst>
          </p:cNvPr>
          <p:cNvSpPr>
            <a:spLocks noGrp="1"/>
          </p:cNvSpPr>
          <p:nvPr/>
        </p:nvSpPr>
        <p:spPr>
          <a:xfrm>
            <a:off x="7448550" y="2581275"/>
            <a:ext cx="1000125" cy="0"/>
          </a:xfrm>
          <a:prstGeom prst="line">
            <a:avLst/>
          </a:prstGeom>
          <a:noFill/>
          <a:ln w="28575">
            <a:solidFill>
              <a:srgbClr val="DCE6F5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A78F0F-78E1-4D05-805F-47E35CD3D915}"/>
              </a:ext>
            </a:extLst>
          </p:cNvPr>
          <p:cNvSpPr>
            <a:spLocks noGrp="1"/>
          </p:cNvSpPr>
          <p:nvPr/>
        </p:nvSpPr>
        <p:spPr>
          <a:xfrm>
            <a:off x="6743700" y="3000375"/>
            <a:ext cx="1143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255"/>
          </a:bodyPr>
          <a:lstStyle/>
          <a:p>
            <a:pPr algn="ctr">
              <a:defRPr sz="1425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Microsoft 365 installation options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9F1C88A-6431-44E7-A261-B99F0A5A6839}"/>
              </a:ext>
            </a:extLst>
          </p:cNvPr>
          <p:cNvSpPr>
            <a:spLocks noGrp="1"/>
          </p:cNvSpPr>
          <p:nvPr/>
        </p:nvSpPr>
        <p:spPr>
          <a:xfrm>
            <a:off x="8534400" y="2381250"/>
            <a:ext cx="400050" cy="400050"/>
          </a:xfrm>
          <a:prstGeom prst="ellipse">
            <a:avLst/>
          </a:prstGeom>
          <a:solidFill>
            <a:srgbClr val="155EEF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A289C2-6867-4CB8-A156-3B28404E32CF}"/>
              </a:ext>
            </a:extLst>
          </p:cNvPr>
          <p:cNvSpPr>
            <a:spLocks noGrp="1"/>
          </p:cNvSpPr>
          <p:nvPr/>
        </p:nvSpPr>
        <p:spPr>
          <a:xfrm>
            <a:off x="8534400" y="24479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24311BAB-4F35-48FE-90E8-34A93985C2CE}"/>
              </a:ext>
            </a:extLst>
          </p:cNvPr>
          <p:cNvSpPr>
            <a:spLocks noGrp="1"/>
          </p:cNvSpPr>
          <p:nvPr/>
        </p:nvSpPr>
        <p:spPr>
          <a:xfrm>
            <a:off x="9010650" y="2581275"/>
            <a:ext cx="1000125" cy="0"/>
          </a:xfrm>
          <a:prstGeom prst="line">
            <a:avLst/>
          </a:prstGeom>
          <a:noFill/>
          <a:ln w="28575">
            <a:solidFill>
              <a:srgbClr val="DCE6F5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2011D18-86BE-4A0E-89A5-A593629BBE35}"/>
              </a:ext>
            </a:extLst>
          </p:cNvPr>
          <p:cNvSpPr>
            <a:spLocks noGrp="1"/>
          </p:cNvSpPr>
          <p:nvPr/>
        </p:nvSpPr>
        <p:spPr>
          <a:xfrm>
            <a:off x="8305800" y="3000375"/>
            <a:ext cx="1143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Installation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3A70D9C-69A9-4936-9517-93B419C47C81}"/>
              </a:ext>
            </a:extLst>
          </p:cNvPr>
          <p:cNvSpPr>
            <a:spLocks noGrp="1"/>
          </p:cNvSpPr>
          <p:nvPr/>
        </p:nvSpPr>
        <p:spPr>
          <a:xfrm>
            <a:off x="10096500" y="2381250"/>
            <a:ext cx="400050" cy="400050"/>
          </a:xfrm>
          <a:prstGeom prst="ellipse">
            <a:avLst/>
          </a:prstGeom>
          <a:solidFill>
            <a:srgbClr val="00A86B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C78F3B-76CF-4E44-9329-BFC1664A44D0}"/>
              </a:ext>
            </a:extLst>
          </p:cNvPr>
          <p:cNvSpPr>
            <a:spLocks noGrp="1"/>
          </p:cNvSpPr>
          <p:nvPr/>
        </p:nvSpPr>
        <p:spPr>
          <a:xfrm>
            <a:off x="10096500" y="24479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B6A66E1-7C45-49E6-BAE5-DC065BDB1D4C}"/>
              </a:ext>
            </a:extLst>
          </p:cNvPr>
          <p:cNvSpPr>
            <a:spLocks noGrp="1"/>
          </p:cNvSpPr>
          <p:nvPr/>
        </p:nvSpPr>
        <p:spPr>
          <a:xfrm>
            <a:off x="9867900" y="3000375"/>
            <a:ext cx="1143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Desactivar Office y guardar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20184FF-3184-443D-9C3C-D4B2937CF63C}"/>
              </a:ext>
            </a:extLst>
          </p:cNvPr>
          <p:cNvSpPr>
            <a:spLocks noGrp="1"/>
          </p:cNvSpPr>
          <p:nvPr/>
        </p:nvSpPr>
        <p:spPr>
          <a:xfrm>
            <a:off x="762000" y="48577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00A8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A86B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5D1F7A-F11B-4BEE-8075-08EFBE9E90AB}"/>
              </a:ext>
            </a:extLst>
          </p:cNvPr>
          <p:cNvSpPr>
            <a:spLocks noGrp="1"/>
          </p:cNvSpPr>
          <p:nvPr/>
        </p:nvSpPr>
        <p:spPr>
          <a:xfrm>
            <a:off x="762000" y="5257800"/>
            <a:ext cx="981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737"/>
          </a:bodyPr>
          <a:lstStyle/>
          <a:p>
            <a:pPr algn="l">
              <a:defRPr sz="2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los usuarios ya no pueden descargar Microsoft 365 Apps for enterprise.</a:t>
            </a:r>
          </a:p>
        </p:txBody>
      </p:sp>
    </p:spTree>
    <p:extLst>
      <p:ext uri="{BB962C8B-B14F-4D97-AF65-F5344CB8AC3E}">
        <p14:creationId xmlns:p14="http://schemas.microsoft.com/office/powerpoint/2010/main" val="871280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CE35696-E2AB-49CE-AE86-29B4ECB834D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CENTRALIZADO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236878-957C-445F-A3B6-E15CF74DC6FB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5C48D13-2C6D-4C88-8AB4-5B7E7A81C4D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8ED12B-F805-411D-8358-85BAF3F22458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D23C98-7B2F-417C-8FD1-24434676777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4355"/>
          </a:bodyPr>
          <a:lstStyle/>
          <a:p>
            <a:pPr algn="l">
              <a:def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El despliegue centralizado separa política, contenido y ejecución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0E8D3D-A5AC-4141-BD23-4694E71988F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Cada herramienta resuelve una capa distinta del control.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0AC0D6-DF81-4009-9DE3-406C1B52463F}"/>
              </a:ext>
            </a:extLst>
          </p:cNvPr>
          <p:cNvSpPr>
            <a:spLocks noGrp="1"/>
          </p:cNvSpPr>
          <p:nvPr/>
        </p:nvSpPr>
        <p:spPr>
          <a:xfrm>
            <a:off x="781050" y="2266950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798CA2-7A5B-4DCD-9DF8-05D411780BF8}"/>
              </a:ext>
            </a:extLst>
          </p:cNvPr>
          <p:cNvSpPr>
            <a:spLocks noGrp="1"/>
          </p:cNvSpPr>
          <p:nvPr/>
        </p:nvSpPr>
        <p:spPr>
          <a:xfrm>
            <a:off x="1809750" y="226695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Group Policy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2D9BE3-C61E-4AE5-8DC3-13AADB7730FE}"/>
              </a:ext>
            </a:extLst>
          </p:cNvPr>
          <p:cNvSpPr>
            <a:spLocks noGrp="1"/>
          </p:cNvSpPr>
          <p:nvPr/>
        </p:nvSpPr>
        <p:spPr>
          <a:xfrm>
            <a:off x="5429250" y="2286000"/>
            <a:ext cx="561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Políticas y origen de actualización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D6C2F9E8-93F9-4FBB-9826-92BF3332E97F}"/>
              </a:ext>
            </a:extLst>
          </p:cNvPr>
          <p:cNvSpPr>
            <a:spLocks noGrp="1"/>
          </p:cNvSpPr>
          <p:nvPr/>
        </p:nvSpPr>
        <p:spPr>
          <a:xfrm>
            <a:off x="1809750" y="3009900"/>
            <a:ext cx="923925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825FF4-9F6F-4CAF-BBF2-E90125A5888F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FBF39C-2BA5-4BA4-9867-79FDB51400E2}"/>
              </a:ext>
            </a:extLst>
          </p:cNvPr>
          <p:cNvSpPr>
            <a:spLocks noGrp="1"/>
          </p:cNvSpPr>
          <p:nvPr/>
        </p:nvSpPr>
        <p:spPr>
          <a:xfrm>
            <a:off x="1809750" y="333375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Configuration Manager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939903-DE2E-4D47-9296-D7537A1E015F}"/>
              </a:ext>
            </a:extLst>
          </p:cNvPr>
          <p:cNvSpPr>
            <a:spLocks noGrp="1"/>
          </p:cNvSpPr>
          <p:nvPr/>
        </p:nvSpPr>
        <p:spPr>
          <a:xfrm>
            <a:off x="5429250" y="3352800"/>
            <a:ext cx="561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Paquetes, colecciones, implementación y telemetría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F151940A-5516-47C2-A3F4-924178C956BA}"/>
              </a:ext>
            </a:extLst>
          </p:cNvPr>
          <p:cNvSpPr>
            <a:spLocks noGrp="1"/>
          </p:cNvSpPr>
          <p:nvPr/>
        </p:nvSpPr>
        <p:spPr>
          <a:xfrm>
            <a:off x="1809750" y="4076700"/>
            <a:ext cx="923925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7A0311-0926-4C9C-8445-C588E64CB39B}"/>
              </a:ext>
            </a:extLst>
          </p:cNvPr>
          <p:cNvSpPr>
            <a:spLocks noGrp="1"/>
          </p:cNvSpPr>
          <p:nvPr/>
        </p:nvSpPr>
        <p:spPr>
          <a:xfrm>
            <a:off x="781050" y="4400550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00A86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0A86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485B47-5D24-4902-87B4-6AE5EC0608F7}"/>
              </a:ext>
            </a:extLst>
          </p:cNvPr>
          <p:cNvSpPr>
            <a:spLocks noGrp="1"/>
          </p:cNvSpPr>
          <p:nvPr/>
        </p:nvSpPr>
        <p:spPr>
          <a:xfrm>
            <a:off x="1809750" y="440055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Microsoft Intune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6053A7-6A88-44EF-A49F-B4790CC06A23}"/>
              </a:ext>
            </a:extLst>
          </p:cNvPr>
          <p:cNvSpPr>
            <a:spLocks noGrp="1"/>
          </p:cNvSpPr>
          <p:nvPr/>
        </p:nvSpPr>
        <p:spPr>
          <a:xfrm>
            <a:off x="5429250" y="4419600"/>
            <a:ext cx="561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Distribución moderna y security baseline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714E1ACB-0D4E-408E-84DC-AB76DA6AD7C6}"/>
              </a:ext>
            </a:extLst>
          </p:cNvPr>
          <p:cNvSpPr>
            <a:spLocks noGrp="1"/>
          </p:cNvSpPr>
          <p:nvPr/>
        </p:nvSpPr>
        <p:spPr>
          <a:xfrm>
            <a:off x="1809750" y="5143500"/>
            <a:ext cx="923925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FC531E-704D-4A75-A1E7-E82E3921A9F4}"/>
              </a:ext>
            </a:extLst>
          </p:cNvPr>
          <p:cNvSpPr>
            <a:spLocks noGrp="1"/>
          </p:cNvSpPr>
          <p:nvPr/>
        </p:nvSpPr>
        <p:spPr>
          <a:xfrm>
            <a:off x="762000" y="56959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Patrón común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0CF906-5090-4CCA-9931-6A656728DDF2}"/>
              </a:ext>
            </a:extLst>
          </p:cNvPr>
          <p:cNvSpPr>
            <a:spLocks noGrp="1"/>
          </p:cNvSpPr>
          <p:nvPr/>
        </p:nvSpPr>
        <p:spPr>
          <a:xfrm>
            <a:off x="2667000" y="5667375"/>
            <a:ext cx="847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55"/>
          </a:bodyPr>
          <a:lstStyle/>
          <a:p>
            <a:pPr algn="l">
              <a:defRPr sz="1575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IT descarga o referencia contenido, define configuración y ejecuta un push por fases.</a:t>
            </a:r>
          </a:p>
        </p:txBody>
      </p:sp>
    </p:spTree>
    <p:extLst>
      <p:ext uri="{BB962C8B-B14F-4D97-AF65-F5344CB8AC3E}">
        <p14:creationId xmlns:p14="http://schemas.microsoft.com/office/powerpoint/2010/main" val="1908145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0A2169D-5A7C-4362-B1A4-302B27640E9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CONFIGURATION MANAGER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5EA61D-B671-40B1-9CB8-D4D8651B0DBA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DB063EC-6DB9-4C66-B51B-97F6DEDD497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817AFA-6D81-429F-8907-C9CA2015E529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0390B0-4FDA-4C43-9EFD-32EB517FA39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Piloto y grupo amplio reducen el riesgo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7D2C0E-5C64-4FB7-91DE-522D8B8F50F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Dos aplicaciones de 64 bits y dos collections crean una promoción explícita.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1045FC-06A5-495D-97AE-192305719221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PILOTO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65DFF9-5ED1-42EF-998B-4C3898E743C7}"/>
              </a:ext>
            </a:extLst>
          </p:cNvPr>
          <p:cNvSpPr>
            <a:spLocks noGrp="1"/>
          </p:cNvSpPr>
          <p:nvPr/>
        </p:nvSpPr>
        <p:spPr>
          <a:xfrm>
            <a:off x="857250" y="2609850"/>
            <a:ext cx="4095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099"/>
          </a:bodyPr>
          <a:lstStyle/>
          <a:p>
            <a:pPr algn="l">
              <a:defRPr sz="26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Semi-Annual Enterprise</a:t>
            </a:r>
          </a:p>
          <a:p>
            <a:pPr algn="l">
              <a:defRPr sz="26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Channel (Preview)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D5E0ED-CD64-4701-8403-71AEFF5638DB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4000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Validar compatibilidad, hardware, drivers y configuración.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D1DDABA-AD6F-4F43-887C-B15CD0C2B182}"/>
              </a:ext>
            </a:extLst>
          </p:cNvPr>
          <p:cNvSpPr>
            <a:spLocks noGrp="1"/>
          </p:cNvSpPr>
          <p:nvPr/>
        </p:nvSpPr>
        <p:spPr>
          <a:xfrm>
            <a:off x="5219700" y="2914650"/>
            <a:ext cx="1428750" cy="685800"/>
          </a:xfrm>
          <a:prstGeom prst="rightArrow">
            <a:avLst/>
          </a:prstGeom>
          <a:solidFill>
            <a:srgbClr val="DCE6F5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D69EB9-D9E3-483F-94AF-05B3B1778A99}"/>
              </a:ext>
            </a:extLst>
          </p:cNvPr>
          <p:cNvSpPr>
            <a:spLocks noGrp="1"/>
          </p:cNvSpPr>
          <p:nvPr/>
        </p:nvSpPr>
        <p:spPr>
          <a:xfrm>
            <a:off x="5219700" y="31242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PROMOVER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EC8C6C-6C65-40A2-9F73-A33C924D000A}"/>
              </a:ext>
            </a:extLst>
          </p:cNvPr>
          <p:cNvSpPr>
            <a:spLocks noGrp="1"/>
          </p:cNvSpPr>
          <p:nvPr/>
        </p:nvSpPr>
        <p:spPr>
          <a:xfrm>
            <a:off x="7239000" y="2190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00A86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A86B"/>
                </a:solidFill>
                <a:latin typeface="Aptos"/>
                <a:ea typeface="Aptos"/>
                <a:cs typeface="Aptos"/>
              </a:rPr>
              <a:t>GRUPO AMPLIO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DD4DB7-840F-4E6A-A573-4239FB1DCE28}"/>
              </a:ext>
            </a:extLst>
          </p:cNvPr>
          <p:cNvSpPr>
            <a:spLocks noGrp="1"/>
          </p:cNvSpPr>
          <p:nvPr/>
        </p:nvSpPr>
        <p:spPr>
          <a:xfrm>
            <a:off x="7239000" y="2609850"/>
            <a:ext cx="4095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099"/>
          </a:bodyPr>
          <a:lstStyle/>
          <a:p>
            <a:pPr algn="l">
              <a:defRPr sz="26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Semi-Annual Enterprise</a:t>
            </a:r>
          </a:p>
          <a:p>
            <a:pPr algn="l">
              <a:defRPr sz="26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Channel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A7873A-585A-4477-8EC7-CB124E37CD21}"/>
              </a:ext>
            </a:extLst>
          </p:cNvPr>
          <p:cNvSpPr>
            <a:spLocks noGrp="1"/>
          </p:cNvSpPr>
          <p:nvPr/>
        </p:nvSpPr>
        <p:spPr>
          <a:xfrm>
            <a:off x="7239000" y="3714750"/>
            <a:ext cx="4000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Escalar solo después de que el piloto complete las pruebas.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3B77D254-C890-4EB3-BBCC-275B7F7A93B4}"/>
              </a:ext>
            </a:extLst>
          </p:cNvPr>
          <p:cNvSpPr>
            <a:spLocks noGrp="1"/>
          </p:cNvSpPr>
          <p:nvPr/>
        </p:nvSpPr>
        <p:spPr>
          <a:xfrm>
            <a:off x="857250" y="5086350"/>
            <a:ext cx="10477500" cy="0"/>
          </a:xfrm>
          <a:prstGeom prst="line">
            <a:avLst/>
          </a:prstGeom>
          <a:noFill/>
          <a:ln w="19050">
            <a:solidFill>
              <a:srgbClr val="DCE6F5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2126C5-3CE9-4EB6-A6BE-F91D8AA016F8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Current branch + peer cache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79A106-EB8D-4655-BD38-B4E5490B8E6A}"/>
              </a:ext>
            </a:extLst>
          </p:cNvPr>
          <p:cNvSpPr>
            <a:spLocks noGrp="1"/>
          </p:cNvSpPr>
          <p:nvPr/>
        </p:nvSpPr>
        <p:spPr>
          <a:xfrm>
            <a:off x="5715000" y="5334000"/>
            <a:ext cx="552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es la base recomendada para escala y redes limitadas.</a:t>
            </a:r>
          </a:p>
        </p:txBody>
      </p:sp>
    </p:spTree>
    <p:extLst>
      <p:ext uri="{BB962C8B-B14F-4D97-AF65-F5344CB8AC3E}">
        <p14:creationId xmlns:p14="http://schemas.microsoft.com/office/powerpoint/2010/main" val="215963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4F3A858-CE33-4670-9910-BC5D83B84FD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CONFIGURATION MANAGER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0DC5FA-FE78-4697-8D19-214C37E339D6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2AA4167-AA90-4F5B-AE40-A4F37BC0332E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3E6FF9-DA6F-41E3-A595-729158CE5734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86EE50-AC6B-4806-87CD-EE1EBA2BA077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051"/>
          </a:bodyPr>
          <a:lstStyle/>
          <a:p>
            <a:pPr algn="l">
              <a:def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La infraestructura debe estar lista antes del asistente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CB85A0-C51B-4413-927B-09CCE5C7B73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Cuatro comprobaciones evitan que el despliegue falle por conectividad.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D5B0BE-8982-4099-9F4B-6070A7860222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66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B10F1F-ED64-48C1-A7C4-26979F89C5AB}"/>
              </a:ext>
            </a:extLst>
          </p:cNvPr>
          <p:cNvSpPr>
            <a:spLocks noGrp="1"/>
          </p:cNvSpPr>
          <p:nvPr/>
        </p:nvSpPr>
        <p:spPr>
          <a:xfrm>
            <a:off x="1714500" y="223837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Current branch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D5AC7B-CD8F-41E7-9B61-1AA0AE30FD4C}"/>
              </a:ext>
            </a:extLst>
          </p:cNvPr>
          <p:cNvSpPr>
            <a:spLocks noGrp="1"/>
          </p:cNvSpPr>
          <p:nvPr/>
        </p:nvSpPr>
        <p:spPr>
          <a:xfrm>
            <a:off x="1714500" y="2695575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Use una versión compatible y actual.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E550B2-094B-4BD5-BC53-2E8E4E16A01B}"/>
              </a:ext>
            </a:extLst>
          </p:cNvPr>
          <p:cNvSpPr>
            <a:spLocks noGrp="1"/>
          </p:cNvSpPr>
          <p:nvPr/>
        </p:nvSpPr>
        <p:spPr>
          <a:xfrm>
            <a:off x="6286500" y="2238375"/>
            <a:ext cx="66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BD764C-7F29-4320-9085-D47409C42899}"/>
              </a:ext>
            </a:extLst>
          </p:cNvPr>
          <p:cNvSpPr>
            <a:spLocks noGrp="1"/>
          </p:cNvSpPr>
          <p:nvPr/>
        </p:nvSpPr>
        <p:spPr>
          <a:xfrm>
            <a:off x="7143750" y="223837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Activación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044848-45BD-4826-96DE-5BF993944F0C}"/>
              </a:ext>
            </a:extLst>
          </p:cNvPr>
          <p:cNvSpPr>
            <a:spLocks noGrp="1"/>
          </p:cNvSpPr>
          <p:nvPr/>
        </p:nvSpPr>
        <p:spPr>
          <a:xfrm>
            <a:off x="7143750" y="2695575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Clientes con acceso a Internet.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0CC575-8E74-4268-B942-A4780E25E083}"/>
              </a:ext>
            </a:extLst>
          </p:cNvPr>
          <p:cNvSpPr>
            <a:spLocks noGrp="1"/>
          </p:cNvSpPr>
          <p:nvPr/>
        </p:nvSpPr>
        <p:spPr>
          <a:xfrm>
            <a:off x="857250" y="4000500"/>
            <a:ext cx="66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C18540-C142-49D9-884C-1BE31885F814}"/>
              </a:ext>
            </a:extLst>
          </p:cNvPr>
          <p:cNvSpPr>
            <a:spLocks noGrp="1"/>
          </p:cNvSpPr>
          <p:nvPr/>
        </p:nvSpPr>
        <p:spPr>
          <a:xfrm>
            <a:off x="1714500" y="40005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Consola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87766D-93D6-4C34-9898-596F625B01E6}"/>
              </a:ext>
            </a:extLst>
          </p:cNvPr>
          <p:cNvSpPr>
            <a:spLocks noGrp="1"/>
          </p:cNvSpPr>
          <p:nvPr/>
        </p:nvSpPr>
        <p:spPr>
          <a:xfrm>
            <a:off x="1714500" y="4457700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IE 11+ y HTTPS por puerto 443.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A95FC2-F878-4C99-91FE-53974E75DBC9}"/>
              </a:ext>
            </a:extLst>
          </p:cNvPr>
          <p:cNvSpPr>
            <a:spLocks noGrp="1"/>
          </p:cNvSpPr>
          <p:nvPr/>
        </p:nvSpPr>
        <p:spPr>
          <a:xfrm>
            <a:off x="6286500" y="4000500"/>
            <a:ext cx="66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00A86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0A86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69C165-EBF6-4B80-A5F2-41A25D8B30F9}"/>
              </a:ext>
            </a:extLst>
          </p:cNvPr>
          <p:cNvSpPr>
            <a:spLocks noGrp="1"/>
          </p:cNvSpPr>
          <p:nvPr/>
        </p:nvSpPr>
        <p:spPr>
          <a:xfrm>
            <a:off x="7143750" y="40005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Proxy y sitios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86ABD9-7743-4A8D-B830-84F9A27C319B}"/>
              </a:ext>
            </a:extLst>
          </p:cNvPr>
          <p:cNvSpPr>
            <a:spLocks noGrp="1"/>
          </p:cNvSpPr>
          <p:nvPr/>
        </p:nvSpPr>
        <p:spPr>
          <a:xfrm>
            <a:off x="7143750" y="4457700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Acceso a config.office.com y dominios permitidos.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DF2693BA-645C-4D0C-B22A-8A7427365C3D}"/>
              </a:ext>
            </a:extLst>
          </p:cNvPr>
          <p:cNvSpPr>
            <a:spLocks noGrp="1"/>
          </p:cNvSpPr>
          <p:nvPr/>
        </p:nvSpPr>
        <p:spPr>
          <a:xfrm>
            <a:off x="5905500" y="2095500"/>
            <a:ext cx="0" cy="3429000"/>
          </a:xfrm>
          <a:prstGeom prst="line">
            <a:avLst/>
          </a:prstGeom>
          <a:noFill/>
          <a:ln w="19050">
            <a:solidFill>
              <a:srgbClr val="DCE6F5"/>
            </a:solidFill>
            <a:prstDash val="solid"/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900414D1-5A99-4CD5-845A-ED40D201B0C3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10477500" cy="0"/>
          </a:xfrm>
          <a:prstGeom prst="line">
            <a:avLst/>
          </a:prstGeom>
          <a:noFill/>
          <a:ln w="19050">
            <a:solidFill>
              <a:srgbClr val="DCE6F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9132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4B1E341-BFD4-4DBE-B06C-8E825AE6BC9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CONFIGURATION MANAGER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98EFCF-D89D-48BD-A257-D486A4C69F67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32742D8-9260-4D50-89E3-12492B5A365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98B0DC-2DA0-48C6-8D4A-EA60AE7A524F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53F5EA-5800-46EB-BB28-059AF69423D7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932"/>
          </a:bodyPr>
          <a:lstStyle/>
          <a:p>
            <a:pPr algn="l">
              <a:def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El piloto se define en Office Customization Tool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9BA88E-0732-41A5-896B-262AACFC980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Una configuración coherente evita sorpresas durante la promoción.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C67286-7F9C-4189-8750-D7B231125721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SOFTWARE Y CANAL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6E2B5B7-251B-4657-B872-5FFCE7FD65EF}"/>
              </a:ext>
            </a:extLst>
          </p:cNvPr>
          <p:cNvSpPr>
            <a:spLocks noGrp="1"/>
          </p:cNvSpPr>
          <p:nvPr/>
        </p:nvSpPr>
        <p:spPr>
          <a:xfrm>
            <a:off x="857250" y="2600325"/>
            <a:ext cx="95250" cy="95250"/>
          </a:xfrm>
          <a:prstGeom prst="ellipse">
            <a:avLst/>
          </a:prstGeom>
          <a:solidFill>
            <a:srgbClr val="155EE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CA9AA2-00F8-4BE9-B2CB-C7730538EBC1}"/>
              </a:ext>
            </a:extLst>
          </p:cNvPr>
          <p:cNvSpPr>
            <a:spLocks noGrp="1"/>
          </p:cNvSpPr>
          <p:nvPr/>
        </p:nvSpPr>
        <p:spPr>
          <a:xfrm>
            <a:off x="1085850" y="2533650"/>
            <a:ext cx="4343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Microsoft 365 Apps for enterprise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0C9A61-9EAE-4E63-98D4-7A6E532040DC}"/>
              </a:ext>
            </a:extLst>
          </p:cNvPr>
          <p:cNvSpPr>
            <a:spLocks noGrp="1"/>
          </p:cNvSpPr>
          <p:nvPr/>
        </p:nvSpPr>
        <p:spPr>
          <a:xfrm>
            <a:off x="857250" y="3152775"/>
            <a:ext cx="95250" cy="95250"/>
          </a:xfrm>
          <a:prstGeom prst="ellipse">
            <a:avLst/>
          </a:prstGeom>
          <a:solidFill>
            <a:srgbClr val="155EEF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03D5C4-DE97-4BF4-9AA9-102CFF0A21E1}"/>
              </a:ext>
            </a:extLst>
          </p:cNvPr>
          <p:cNvSpPr>
            <a:spLocks noGrp="1"/>
          </p:cNvSpPr>
          <p:nvPr/>
        </p:nvSpPr>
        <p:spPr>
          <a:xfrm>
            <a:off x="1085850" y="3086100"/>
            <a:ext cx="4343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Semi-Annual Enterprise Channel (Preview)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B071011-6E56-4F83-91C2-1B126E2847BA}"/>
              </a:ext>
            </a:extLst>
          </p:cNvPr>
          <p:cNvSpPr>
            <a:spLocks noGrp="1"/>
          </p:cNvSpPr>
          <p:nvPr/>
        </p:nvSpPr>
        <p:spPr>
          <a:xfrm>
            <a:off x="857250" y="3705225"/>
            <a:ext cx="95250" cy="95250"/>
          </a:xfrm>
          <a:prstGeom prst="ellipse">
            <a:avLst/>
          </a:prstGeom>
          <a:solidFill>
            <a:srgbClr val="155EEF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5B6D39-452C-460B-BEE3-D3204ABD796A}"/>
              </a:ext>
            </a:extLst>
          </p:cNvPr>
          <p:cNvSpPr>
            <a:spLocks noGrp="1"/>
          </p:cNvSpPr>
          <p:nvPr/>
        </p:nvSpPr>
        <p:spPr>
          <a:xfrm>
            <a:off x="1085850" y="3638550"/>
            <a:ext cx="4343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Idiomas requeridos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52A3301-6F73-4BD2-BA9B-E5171DE8CA12}"/>
              </a:ext>
            </a:extLst>
          </p:cNvPr>
          <p:cNvSpPr>
            <a:spLocks noGrp="1"/>
          </p:cNvSpPr>
          <p:nvPr/>
        </p:nvSpPr>
        <p:spPr>
          <a:xfrm>
            <a:off x="857250" y="4257675"/>
            <a:ext cx="95250" cy="95250"/>
          </a:xfrm>
          <a:prstGeom prst="ellipse">
            <a:avLst/>
          </a:prstGeom>
          <a:solidFill>
            <a:srgbClr val="155EEF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705D14-0B91-49A2-BF1C-9F4C26C97AC9}"/>
              </a:ext>
            </a:extLst>
          </p:cNvPr>
          <p:cNvSpPr>
            <a:spLocks noGrp="1"/>
          </p:cNvSpPr>
          <p:nvPr/>
        </p:nvSpPr>
        <p:spPr>
          <a:xfrm>
            <a:off x="1085850" y="4191000"/>
            <a:ext cx="4343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Eliminar versiones MSI anteriores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B1939F6F-49EE-4021-84D2-043FE0C2E3A7}"/>
              </a:ext>
            </a:extLst>
          </p:cNvPr>
          <p:cNvSpPr>
            <a:spLocks noGrp="1"/>
          </p:cNvSpPr>
          <p:nvPr/>
        </p:nvSpPr>
        <p:spPr>
          <a:xfrm>
            <a:off x="5953125" y="2095500"/>
            <a:ext cx="0" cy="3429000"/>
          </a:xfrm>
          <a:prstGeom prst="line">
            <a:avLst/>
          </a:prstGeom>
          <a:noFill/>
          <a:ln w="19050">
            <a:solidFill>
              <a:srgbClr val="DCE6F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4DB4DF-C72B-4269-8ED9-0EC8F74BA807}"/>
              </a:ext>
            </a:extLst>
          </p:cNvPr>
          <p:cNvSpPr>
            <a:spLocks noGrp="1"/>
          </p:cNvSpPr>
          <p:nvPr/>
        </p:nvSpPr>
        <p:spPr>
          <a:xfrm>
            <a:off x="6477000" y="20955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00A86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A86B"/>
                </a:solidFill>
                <a:latin typeface="Aptos"/>
                <a:ea typeface="Aptos"/>
                <a:cs typeface="Aptos"/>
              </a:rPr>
              <a:t>EXPERIENCIA Y CONFIGURACIÓN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057A9C1-8E08-4888-B4CE-59BA05E99C16}"/>
              </a:ext>
            </a:extLst>
          </p:cNvPr>
          <p:cNvSpPr>
            <a:spLocks noGrp="1"/>
          </p:cNvSpPr>
          <p:nvPr/>
        </p:nvSpPr>
        <p:spPr>
          <a:xfrm>
            <a:off x="6477000" y="2600325"/>
            <a:ext cx="95250" cy="95250"/>
          </a:xfrm>
          <a:prstGeom prst="ellipse">
            <a:avLst/>
          </a:prstGeom>
          <a:solidFill>
            <a:srgbClr val="00A86B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1B02DA-0E73-4869-816A-3267D2E625E3}"/>
              </a:ext>
            </a:extLst>
          </p:cNvPr>
          <p:cNvSpPr>
            <a:spLocks noGrp="1"/>
          </p:cNvSpPr>
          <p:nvPr/>
        </p:nvSpPr>
        <p:spPr>
          <a:xfrm>
            <a:off x="6705600" y="2533650"/>
            <a:ext cx="4343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Display level: Off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9FB207C-B3D9-4899-8322-39D6F7463FD7}"/>
              </a:ext>
            </a:extLst>
          </p:cNvPr>
          <p:cNvSpPr>
            <a:spLocks noGrp="1"/>
          </p:cNvSpPr>
          <p:nvPr/>
        </p:nvSpPr>
        <p:spPr>
          <a:xfrm>
            <a:off x="6477000" y="3152775"/>
            <a:ext cx="95250" cy="95250"/>
          </a:xfrm>
          <a:prstGeom prst="ellipse">
            <a:avLst/>
          </a:prstGeom>
          <a:solidFill>
            <a:srgbClr val="00A86B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C19FDC-4FB7-4BB1-888B-737C30228096}"/>
              </a:ext>
            </a:extLst>
          </p:cNvPr>
          <p:cNvSpPr>
            <a:spLocks noGrp="1"/>
          </p:cNvSpPr>
          <p:nvPr/>
        </p:nvSpPr>
        <p:spPr>
          <a:xfrm>
            <a:off x="6705600" y="3086100"/>
            <a:ext cx="4343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Aceptar EULA: 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A7AD77-86FA-43A7-A338-CB64A135B953}"/>
              </a:ext>
            </a:extLst>
          </p:cNvPr>
          <p:cNvSpPr>
            <a:spLocks noGrp="1"/>
          </p:cNvSpPr>
          <p:nvPr/>
        </p:nvSpPr>
        <p:spPr>
          <a:xfrm>
            <a:off x="6477000" y="3705225"/>
            <a:ext cx="95250" cy="95250"/>
          </a:xfrm>
          <a:prstGeom prst="ellipse">
            <a:avLst/>
          </a:prstGeom>
          <a:solidFill>
            <a:srgbClr val="00A86B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55C033-4952-4DF6-ADE7-7553E4A57CE6}"/>
              </a:ext>
            </a:extLst>
          </p:cNvPr>
          <p:cNvSpPr>
            <a:spLocks noGrp="1"/>
          </p:cNvSpPr>
          <p:nvPr/>
        </p:nvSpPr>
        <p:spPr>
          <a:xfrm>
            <a:off x="6705600" y="3638550"/>
            <a:ext cx="4343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Preferencias de aplicaciones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0C6C974-D7C3-4B03-A1B3-C6EFCF55FCA0}"/>
              </a:ext>
            </a:extLst>
          </p:cNvPr>
          <p:cNvSpPr>
            <a:spLocks noGrp="1"/>
          </p:cNvSpPr>
          <p:nvPr/>
        </p:nvSpPr>
        <p:spPr>
          <a:xfrm>
            <a:off x="6477000" y="4257675"/>
            <a:ext cx="95250" cy="95250"/>
          </a:xfrm>
          <a:prstGeom prst="ellipse">
            <a:avLst/>
          </a:prstGeom>
          <a:solidFill>
            <a:srgbClr val="00A86B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7C62FA-AA4A-4909-8676-CBE70595F267}"/>
              </a:ext>
            </a:extLst>
          </p:cNvPr>
          <p:cNvSpPr>
            <a:spLocks noGrp="1"/>
          </p:cNvSpPr>
          <p:nvPr/>
        </p:nvSpPr>
        <p:spPr>
          <a:xfrm>
            <a:off x="6705600" y="4191000"/>
            <a:ext cx="4343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Macros, ubicaciones y formatos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5C7223-21F6-4116-A519-ECFBB75A7366}"/>
              </a:ext>
            </a:extLst>
          </p:cNvPr>
          <p:cNvSpPr>
            <a:spLocks noGrp="1"/>
          </p:cNvSpPr>
          <p:nvPr/>
        </p:nvSpPr>
        <p:spPr>
          <a:xfrm>
            <a:off x="857250" y="54292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Después de Submit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6650F4-38DB-45DE-B281-D74C0673562C}"/>
              </a:ext>
            </a:extLst>
          </p:cNvPr>
          <p:cNvSpPr>
            <a:spLocks noGrp="1"/>
          </p:cNvSpPr>
          <p:nvPr/>
        </p:nvSpPr>
        <p:spPr>
          <a:xfrm>
            <a:off x="3476625" y="542925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seleccione Yes, asigne la collection piloto y complete el asistente.</a:t>
            </a:r>
          </a:p>
        </p:txBody>
      </p:sp>
    </p:spTree>
    <p:extLst>
      <p:ext uri="{BB962C8B-B14F-4D97-AF65-F5344CB8AC3E}">
        <p14:creationId xmlns:p14="http://schemas.microsoft.com/office/powerpoint/2010/main" val="248860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DE4127B-B903-4FC1-8D6E-DAF73339F29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CONFIGURATION MANAGER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E2661F-2D4E-49B8-BCF2-B53D7B039AAA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C4FB107-4D87-44A3-A893-F94BDDE8F1D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BEEA55-43B9-45A9-9439-626A6BCD7849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4F0A72-8FF2-46DC-A271-F8B4A334592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905"/>
          </a:bodyPr>
          <a:lstStyle/>
          <a:p>
            <a:pPr algn="l">
              <a:def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Escalar exige promoción controlada y telemetría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4EDFD6-25E1-431B-A090-D861CFE83A3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El dashboard confirma quién recibió qué canal, versión e idioma.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8D5F71D-0ADB-470B-B188-8F2B3D759C0A}"/>
              </a:ext>
            </a:extLst>
          </p:cNvPr>
          <p:cNvSpPr>
            <a:spLocks noGrp="1"/>
          </p:cNvSpPr>
          <p:nvPr/>
        </p:nvSpPr>
        <p:spPr>
          <a:xfrm>
            <a:off x="781050" y="2266950"/>
            <a:ext cx="457200" cy="457200"/>
          </a:xfrm>
          <a:prstGeom prst="ellipse">
            <a:avLst/>
          </a:prstGeom>
          <a:solidFill>
            <a:srgbClr val="155EEF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4626AD-BF8D-402B-A3E0-EF7C19FEF82A}"/>
              </a:ext>
            </a:extLst>
          </p:cNvPr>
          <p:cNvSpPr>
            <a:spLocks noGrp="1"/>
          </p:cNvSpPr>
          <p:nvPr/>
        </p:nvSpPr>
        <p:spPr>
          <a:xfrm>
            <a:off x="781050" y="2362200"/>
            <a:ext cx="457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00B69D-184B-4D44-8E46-9CE004E003EF}"/>
              </a:ext>
            </a:extLst>
          </p:cNvPr>
          <p:cNvSpPr>
            <a:spLocks noGrp="1"/>
          </p:cNvSpPr>
          <p:nvPr/>
        </p:nvSpPr>
        <p:spPr>
          <a:xfrm>
            <a:off x="781050" y="2952750"/>
            <a:ext cx="228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Probar piloto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BA9BE047-97CD-4532-A08C-4174F4A8B6BC}"/>
              </a:ext>
            </a:extLst>
          </p:cNvPr>
          <p:cNvSpPr>
            <a:spLocks noGrp="1"/>
          </p:cNvSpPr>
          <p:nvPr/>
        </p:nvSpPr>
        <p:spPr>
          <a:xfrm>
            <a:off x="1352550" y="2495550"/>
            <a:ext cx="2095500" cy="0"/>
          </a:xfrm>
          <a:prstGeom prst="line">
            <a:avLst/>
          </a:prstGeom>
          <a:noFill/>
          <a:ln w="28575">
            <a:solidFill>
              <a:srgbClr val="DCE6F5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637AB60-B416-44D4-83C9-B0F860288DF6}"/>
              </a:ext>
            </a:extLst>
          </p:cNvPr>
          <p:cNvSpPr>
            <a:spLocks noGrp="1"/>
          </p:cNvSpPr>
          <p:nvPr/>
        </p:nvSpPr>
        <p:spPr>
          <a:xfrm>
            <a:off x="3562350" y="2266950"/>
            <a:ext cx="457200" cy="457200"/>
          </a:xfrm>
          <a:prstGeom prst="ellipse">
            <a:avLst/>
          </a:prstGeom>
          <a:solidFill>
            <a:srgbClr val="155EEF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33AE90-FB2E-475F-8092-FC6C1B0E9189}"/>
              </a:ext>
            </a:extLst>
          </p:cNvPr>
          <p:cNvSpPr>
            <a:spLocks noGrp="1"/>
          </p:cNvSpPr>
          <p:nvPr/>
        </p:nvSpPr>
        <p:spPr>
          <a:xfrm>
            <a:off x="3562350" y="2362200"/>
            <a:ext cx="457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073EE2-522A-42CC-9C78-017DCCD23A05}"/>
              </a:ext>
            </a:extLst>
          </p:cNvPr>
          <p:cNvSpPr>
            <a:spLocks noGrp="1"/>
          </p:cNvSpPr>
          <p:nvPr/>
        </p:nvSpPr>
        <p:spPr>
          <a:xfrm>
            <a:off x="3562350" y="2952750"/>
            <a:ext cx="228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Cambiar a canal amplio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C74D875A-B254-4D48-BD0A-01818A45C23F}"/>
              </a:ext>
            </a:extLst>
          </p:cNvPr>
          <p:cNvSpPr>
            <a:spLocks noGrp="1"/>
          </p:cNvSpPr>
          <p:nvPr/>
        </p:nvSpPr>
        <p:spPr>
          <a:xfrm>
            <a:off x="4133850" y="2495550"/>
            <a:ext cx="2095500" cy="0"/>
          </a:xfrm>
          <a:prstGeom prst="line">
            <a:avLst/>
          </a:prstGeom>
          <a:noFill/>
          <a:ln w="28575">
            <a:solidFill>
              <a:srgbClr val="DCE6F5"/>
            </a:solidFill>
            <a:prstDash val="solid"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F6C03E9-0BF9-465D-999C-8B23BB8A4C92}"/>
              </a:ext>
            </a:extLst>
          </p:cNvPr>
          <p:cNvSpPr>
            <a:spLocks noGrp="1"/>
          </p:cNvSpPr>
          <p:nvPr/>
        </p:nvSpPr>
        <p:spPr>
          <a:xfrm>
            <a:off x="6343650" y="2266950"/>
            <a:ext cx="457200" cy="457200"/>
          </a:xfrm>
          <a:prstGeom prst="ellipse">
            <a:avLst/>
          </a:prstGeom>
          <a:solidFill>
            <a:srgbClr val="155EEF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25CB6B-6323-47D0-B99E-DC1CA81A0624}"/>
              </a:ext>
            </a:extLst>
          </p:cNvPr>
          <p:cNvSpPr>
            <a:spLocks noGrp="1"/>
          </p:cNvSpPr>
          <p:nvPr/>
        </p:nvSpPr>
        <p:spPr>
          <a:xfrm>
            <a:off x="6343650" y="2362200"/>
            <a:ext cx="457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9D658D-3406-4E95-B43E-86A9C6978FE7}"/>
              </a:ext>
            </a:extLst>
          </p:cNvPr>
          <p:cNvSpPr>
            <a:spLocks noGrp="1"/>
          </p:cNvSpPr>
          <p:nvPr/>
        </p:nvSpPr>
        <p:spPr>
          <a:xfrm>
            <a:off x="6343650" y="2952750"/>
            <a:ext cx="228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Desplegar a collection amplia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9B46707B-B80B-4113-A1C6-F58973D0538D}"/>
              </a:ext>
            </a:extLst>
          </p:cNvPr>
          <p:cNvSpPr>
            <a:spLocks noGrp="1"/>
          </p:cNvSpPr>
          <p:nvPr/>
        </p:nvSpPr>
        <p:spPr>
          <a:xfrm>
            <a:off x="6915150" y="2495550"/>
            <a:ext cx="2095500" cy="0"/>
          </a:xfrm>
          <a:prstGeom prst="line">
            <a:avLst/>
          </a:prstGeom>
          <a:noFill/>
          <a:ln w="28575">
            <a:solidFill>
              <a:srgbClr val="DCE6F5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E025738-EC53-4824-9DA8-713E58404151}"/>
              </a:ext>
            </a:extLst>
          </p:cNvPr>
          <p:cNvSpPr>
            <a:spLocks noGrp="1"/>
          </p:cNvSpPr>
          <p:nvPr/>
        </p:nvSpPr>
        <p:spPr>
          <a:xfrm>
            <a:off x="9124950" y="2266950"/>
            <a:ext cx="457200" cy="457200"/>
          </a:xfrm>
          <a:prstGeom prst="ellipse">
            <a:avLst/>
          </a:prstGeom>
          <a:solidFill>
            <a:srgbClr val="00A86B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6B62CE-B77A-462D-B684-F5A5CF076FA1}"/>
              </a:ext>
            </a:extLst>
          </p:cNvPr>
          <p:cNvSpPr>
            <a:spLocks noGrp="1"/>
          </p:cNvSpPr>
          <p:nvPr/>
        </p:nvSpPr>
        <p:spPr>
          <a:xfrm>
            <a:off x="9124950" y="2362200"/>
            <a:ext cx="457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3A1B2F-113F-4054-A19D-1236B09F14F6}"/>
              </a:ext>
            </a:extLst>
          </p:cNvPr>
          <p:cNvSpPr>
            <a:spLocks noGrp="1"/>
          </p:cNvSpPr>
          <p:nvPr/>
        </p:nvSpPr>
        <p:spPr>
          <a:xfrm>
            <a:off x="9124950" y="2952750"/>
            <a:ext cx="228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Revisar resultados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A9EB6BB9-6BBA-45BE-BAD0-2C2C48AF177B}"/>
              </a:ext>
            </a:extLst>
          </p:cNvPr>
          <p:cNvSpPr>
            <a:spLocks noGrp="1"/>
          </p:cNvSpPr>
          <p:nvPr/>
        </p:nvSpPr>
        <p:spPr>
          <a:xfrm>
            <a:off x="762000" y="3905250"/>
            <a:ext cx="10668000" cy="0"/>
          </a:xfrm>
          <a:prstGeom prst="line">
            <a:avLst/>
          </a:prstGeom>
          <a:noFill/>
          <a:ln w="19050">
            <a:solidFill>
              <a:srgbClr val="DCE6F5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14AA47-137B-4575-99DB-CCEE57C43E1B}"/>
              </a:ext>
            </a:extLst>
          </p:cNvPr>
          <p:cNvSpPr>
            <a:spLocks noGrp="1"/>
          </p:cNvSpPr>
          <p:nvPr/>
        </p:nvSpPr>
        <p:spPr>
          <a:xfrm>
            <a:off x="857250" y="4210050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086"/>
          </a:bodyPr>
          <a:lstStyle/>
          <a:p>
            <a:pPr algn="l">
              <a:defRPr sz="46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E2AEB8-B92C-4C0C-9598-1FF62D3BF68A}"/>
              </a:ext>
            </a:extLst>
          </p:cNvPr>
          <p:cNvSpPr>
            <a:spLocks noGrp="1"/>
          </p:cNvSpPr>
          <p:nvPr/>
        </p:nvSpPr>
        <p:spPr>
          <a:xfrm>
            <a:off x="857250" y="489585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Vistas clave: clientes, versiones, idiomas y canales.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07FA3C-A85E-41C7-BE27-239B376F233D}"/>
              </a:ext>
            </a:extLst>
          </p:cNvPr>
          <p:cNvSpPr>
            <a:spLocks noGrp="1"/>
          </p:cNvSpPr>
          <p:nvPr/>
        </p:nvSpPr>
        <p:spPr>
          <a:xfrm>
            <a:off x="5810250" y="44577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00A8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A86B"/>
                </a:solidFill>
                <a:latin typeface="Aptos"/>
                <a:ea typeface="Aptos"/>
                <a:cs typeface="Aptos"/>
              </a:rPr>
              <a:t>Si faltan datos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237828-7BB0-4A27-83C8-F8746CC9AE58}"/>
              </a:ext>
            </a:extLst>
          </p:cNvPr>
          <p:cNvSpPr>
            <a:spLocks noGrp="1"/>
          </p:cNvSpPr>
          <p:nvPr/>
        </p:nvSpPr>
        <p:spPr>
          <a:xfrm>
            <a:off x="5810250" y="4857750"/>
            <a:ext cx="5143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habilite hardware inventory y la clase Office 365 ProPlus Configurations.</a:t>
            </a:r>
          </a:p>
        </p:txBody>
      </p:sp>
    </p:spTree>
    <p:extLst>
      <p:ext uri="{BB962C8B-B14F-4D97-AF65-F5344CB8AC3E}">
        <p14:creationId xmlns:p14="http://schemas.microsoft.com/office/powerpoint/2010/main" val="494160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8DA7D1E-D3BD-4D47-A015-C1E669F5C96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OFFICE DEPLOYMENT TOOL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53006B-5059-4AC3-A32C-9F9A841459B0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B9A815B-6E12-48AE-9BBB-85244F69E56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6383A0-6C1B-4BB7-BC69-A6EF40E1D846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1D39C1-6646-4CEF-B092-F7B3B5ACD2E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786"/>
          </a:bodyPr>
          <a:lstStyle/>
          <a:p>
            <a:pPr algn="l">
              <a:def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ODT convierte XML en contrato de despliegue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D11431-9302-4FFA-B041-B7378440E5D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La línea de comandos separa producto, idioma, instalación y actualización.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825CC0-F25A-4CDD-A8CE-EC1C3C8A9091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0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setup.exe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C6C493-D34F-478D-B7A3-D6F31B929EF3}"/>
              </a:ext>
            </a:extLst>
          </p:cNvPr>
          <p:cNvSpPr>
            <a:spLocks noGrp="1"/>
          </p:cNvSpPr>
          <p:nvPr/>
        </p:nvSpPr>
        <p:spPr>
          <a:xfrm>
            <a:off x="857250" y="29718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ejecuta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0757023-B179-430C-9535-6E6AAB88F713}"/>
              </a:ext>
            </a:extLst>
          </p:cNvPr>
          <p:cNvSpPr>
            <a:spLocks noGrp="1"/>
          </p:cNvSpPr>
          <p:nvPr/>
        </p:nvSpPr>
        <p:spPr>
          <a:xfrm>
            <a:off x="2667000" y="2876550"/>
            <a:ext cx="2000250" cy="533400"/>
          </a:xfrm>
          <a:prstGeom prst="rightArrow">
            <a:avLst/>
          </a:prstGeom>
          <a:solidFill>
            <a:srgbClr val="DCE6F5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5D85A4-FB95-43AB-9758-5C572F6E69C7}"/>
              </a:ext>
            </a:extLst>
          </p:cNvPr>
          <p:cNvSpPr>
            <a:spLocks noGrp="1"/>
          </p:cNvSpPr>
          <p:nvPr/>
        </p:nvSpPr>
        <p:spPr>
          <a:xfrm>
            <a:off x="5095875" y="2238375"/>
            <a:ext cx="5429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050" b="1">
                <a:solidFill>
                  <a:srgbClr val="00A86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00A86B"/>
                </a:solidFill>
                <a:latin typeface="Aptos Display"/>
                <a:ea typeface="Aptos Display"/>
                <a:cs typeface="Aptos Display"/>
              </a:rPr>
              <a:t>configuration.xml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D5AF13-8E51-4483-BF77-36E51702D662}"/>
              </a:ext>
            </a:extLst>
          </p:cNvPr>
          <p:cNvSpPr>
            <a:spLocks noGrp="1"/>
          </p:cNvSpPr>
          <p:nvPr/>
        </p:nvSpPr>
        <p:spPr>
          <a:xfrm>
            <a:off x="5095875" y="29718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define la intención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26350917-2C36-4EF9-92D7-11C265F7EEAE}"/>
              </a:ext>
            </a:extLst>
          </p:cNvPr>
          <p:cNvSpPr>
            <a:spLocks noGrp="1"/>
          </p:cNvSpPr>
          <p:nvPr/>
        </p:nvSpPr>
        <p:spPr>
          <a:xfrm>
            <a:off x="857250" y="3810000"/>
            <a:ext cx="10287000" cy="0"/>
          </a:xfrm>
          <a:prstGeom prst="line">
            <a:avLst/>
          </a:prstGeom>
          <a:noFill/>
          <a:ln w="19050">
            <a:solidFill>
              <a:srgbClr val="DCE6F5"/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BFD9A2B-498C-4165-80D8-AD2C8D05E025}"/>
              </a:ext>
            </a:extLst>
          </p:cNvPr>
          <p:cNvSpPr>
            <a:spLocks noGrp="1"/>
          </p:cNvSpPr>
          <p:nvPr/>
        </p:nvSpPr>
        <p:spPr>
          <a:xfrm>
            <a:off x="857250" y="4305300"/>
            <a:ext cx="95250" cy="95250"/>
          </a:xfrm>
          <a:prstGeom prst="ellipse">
            <a:avLst/>
          </a:prstGeom>
          <a:solidFill>
            <a:srgbClr val="155EE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79890E-FB24-4DA5-B57D-6041CA95E03E}"/>
              </a:ext>
            </a:extLst>
          </p:cNvPr>
          <p:cNvSpPr>
            <a:spLocks noGrp="1"/>
          </p:cNvSpPr>
          <p:nvPr/>
        </p:nvSpPr>
        <p:spPr>
          <a:xfrm>
            <a:off x="1085850" y="4238625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Descargar archivos de Office.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B7F48A8-56AC-45D0-8ED5-4C842E095713}"/>
              </a:ext>
            </a:extLst>
          </p:cNvPr>
          <p:cNvSpPr>
            <a:spLocks noGrp="1"/>
          </p:cNvSpPr>
          <p:nvPr/>
        </p:nvSpPr>
        <p:spPr>
          <a:xfrm>
            <a:off x="857250" y="4781550"/>
            <a:ext cx="95250" cy="95250"/>
          </a:xfrm>
          <a:prstGeom prst="ellipse">
            <a:avLst/>
          </a:prstGeom>
          <a:solidFill>
            <a:srgbClr val="155EEF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4F2905-3C9D-4941-90AB-283367EE884C}"/>
              </a:ext>
            </a:extLst>
          </p:cNvPr>
          <p:cNvSpPr>
            <a:spLocks noGrp="1"/>
          </p:cNvSpPr>
          <p:nvPr/>
        </p:nvSpPr>
        <p:spPr>
          <a:xfrm>
            <a:off x="1085850" y="4714875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Instalar o eliminar Click-to-Run.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B077FEF-F5A9-4381-BD9F-4AB42E616819}"/>
              </a:ext>
            </a:extLst>
          </p:cNvPr>
          <p:cNvSpPr>
            <a:spLocks noGrp="1"/>
          </p:cNvSpPr>
          <p:nvPr/>
        </p:nvSpPr>
        <p:spPr>
          <a:xfrm>
            <a:off x="857250" y="5257800"/>
            <a:ext cx="95250" cy="95250"/>
          </a:xfrm>
          <a:prstGeom prst="ellipse">
            <a:avLst/>
          </a:prstGeom>
          <a:solidFill>
            <a:srgbClr val="155EE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8E9028-5EE2-41B9-ADF1-D7915CA04818}"/>
              </a:ext>
            </a:extLst>
          </p:cNvPr>
          <p:cNvSpPr>
            <a:spLocks noGrp="1"/>
          </p:cNvSpPr>
          <p:nvPr/>
        </p:nvSpPr>
        <p:spPr>
          <a:xfrm>
            <a:off x="1085850" y="5191125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Personalizar la instalación.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94412A4-4787-427B-9D67-DB0A32124C67}"/>
              </a:ext>
            </a:extLst>
          </p:cNvPr>
          <p:cNvSpPr>
            <a:spLocks noGrp="1"/>
          </p:cNvSpPr>
          <p:nvPr/>
        </p:nvSpPr>
        <p:spPr>
          <a:xfrm>
            <a:off x="857250" y="5734050"/>
            <a:ext cx="95250" cy="95250"/>
          </a:xfrm>
          <a:prstGeom prst="ellipse">
            <a:avLst/>
          </a:prstGeom>
          <a:solidFill>
            <a:srgbClr val="155EEF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30CF3F-6A30-4B88-9747-71AE5D8D4031}"/>
              </a:ext>
            </a:extLst>
          </p:cNvPr>
          <p:cNvSpPr>
            <a:spLocks noGrp="1"/>
          </p:cNvSpPr>
          <p:nvPr/>
        </p:nvSpPr>
        <p:spPr>
          <a:xfrm>
            <a:off x="1085850" y="5667375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Aplicar políticas de actualización.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2F5B54-05B1-4C49-9B67-E250DB040CCA}"/>
              </a:ext>
            </a:extLst>
          </p:cNvPr>
          <p:cNvSpPr>
            <a:spLocks noGrp="1"/>
          </p:cNvSpPr>
          <p:nvPr/>
        </p:nvSpPr>
        <p:spPr>
          <a:xfrm>
            <a:off x="6667500" y="433387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00A86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A86B"/>
                </a:solidFill>
                <a:latin typeface="Aptos"/>
                <a:ea typeface="Aptos"/>
                <a:cs typeface="Aptos"/>
              </a:rPr>
              <a:t>Requisito operativo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55E410-7D17-41B2-8440-E9269520856A}"/>
              </a:ext>
            </a:extLst>
          </p:cNvPr>
          <p:cNvSpPr>
            <a:spLocks noGrp="1"/>
          </p:cNvSpPr>
          <p:nvPr/>
        </p:nvSpPr>
        <p:spPr>
          <a:xfrm>
            <a:off x="6667500" y="4762500"/>
            <a:ext cx="4095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administrador local o ejecución elevada mediante herramientas corporativas.</a:t>
            </a:r>
          </a:p>
        </p:txBody>
      </p:sp>
    </p:spTree>
    <p:extLst>
      <p:ext uri="{BB962C8B-B14F-4D97-AF65-F5344CB8AC3E}">
        <p14:creationId xmlns:p14="http://schemas.microsoft.com/office/powerpoint/2010/main" val="1083935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41B1EF7-EB3B-4796-B5B9-4B00160A12E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ODT · CLOUD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47EB71-8D15-4EE6-A9EA-9D32125A40F2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5B2EFDE-420C-4E46-B8BE-9F71B3ABBDD4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1B3816-CEE1-4C39-BB86-8A727EE2D637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F0641E-77E0-4C60-911F-840DE3FE45E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Dos XML sostienen el modelo cloud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B2F8B6-4E4D-476B-8665-3E844FC1C29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Mismo producto y experiencia; solo cambia el canal de actualización.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1B7C1777-0180-4134-AF2A-4582152A4ADE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4667250" cy="0"/>
          </a:xfrm>
          <a:prstGeom prst="line">
            <a:avLst/>
          </a:prstGeom>
          <a:noFill/>
          <a:ln w="57150">
            <a:solidFill>
              <a:srgbClr val="155EE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80BBC-1E37-4853-8A7A-E616408CE9C8}"/>
              </a:ext>
            </a:extLst>
          </p:cNvPr>
          <p:cNvSpPr>
            <a:spLocks noGrp="1"/>
          </p:cNvSpPr>
          <p:nvPr/>
        </p:nvSpPr>
        <p:spPr>
          <a:xfrm>
            <a:off x="857250" y="2400300"/>
            <a:ext cx="466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config-pilot-SECP.xml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029CC0-D7C0-4AB3-99B4-6A4AA7FC21A6}"/>
              </a:ext>
            </a:extLst>
          </p:cNvPr>
          <p:cNvSpPr>
            <a:spLocks noGrp="1"/>
          </p:cNvSpPr>
          <p:nvPr/>
        </p:nvSpPr>
        <p:spPr>
          <a:xfrm>
            <a:off x="857250" y="2933700"/>
            <a:ext cx="4667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Canal Preview · idiomas necesarios · CDN como origen · quitar MSI · UI Off · EULA On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1922EC39-600E-4267-94BE-8BC7606D8A43}"/>
              </a:ext>
            </a:extLst>
          </p:cNvPr>
          <p:cNvSpPr>
            <a:spLocks noGrp="1"/>
          </p:cNvSpPr>
          <p:nvPr/>
        </p:nvSpPr>
        <p:spPr>
          <a:xfrm>
            <a:off x="6667500" y="2190750"/>
            <a:ext cx="4667250" cy="0"/>
          </a:xfrm>
          <a:prstGeom prst="line">
            <a:avLst/>
          </a:prstGeom>
          <a:noFill/>
          <a:ln w="57150">
            <a:solidFill>
              <a:srgbClr val="00A86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68FB86-D471-4605-8AE3-0256A7BA8998}"/>
              </a:ext>
            </a:extLst>
          </p:cNvPr>
          <p:cNvSpPr>
            <a:spLocks noGrp="1"/>
          </p:cNvSpPr>
          <p:nvPr/>
        </p:nvSpPr>
        <p:spPr>
          <a:xfrm>
            <a:off x="6667500" y="2400300"/>
            <a:ext cx="466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config-broad-SEC.xml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B6DE07-0365-4697-9B79-EF5D61B88B9E}"/>
              </a:ext>
            </a:extLst>
          </p:cNvPr>
          <p:cNvSpPr>
            <a:spLocks noGrp="1"/>
          </p:cNvSpPr>
          <p:nvPr/>
        </p:nvSpPr>
        <p:spPr>
          <a:xfrm>
            <a:off x="6667500" y="2933700"/>
            <a:ext cx="4667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Canal estable · idiomas necesarios · CDN como origen · quitar MSI · UI Off · EULA On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0AE89D2B-3EA6-469A-8571-E215B6F74FC4}"/>
              </a:ext>
            </a:extLst>
          </p:cNvPr>
          <p:cNvSpPr>
            <a:spLocks noGrp="1"/>
          </p:cNvSpPr>
          <p:nvPr/>
        </p:nvSpPr>
        <p:spPr>
          <a:xfrm>
            <a:off x="857250" y="4953000"/>
            <a:ext cx="10477500" cy="0"/>
          </a:xfrm>
          <a:prstGeom prst="line">
            <a:avLst/>
          </a:prstGeom>
          <a:noFill/>
          <a:ln w="19050">
            <a:solidFill>
              <a:srgbClr val="DCE6F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D11AEB-38ED-4178-9B25-FD9430649556}"/>
              </a:ext>
            </a:extLst>
          </p:cNvPr>
          <p:cNvSpPr>
            <a:spLocks noGrp="1"/>
          </p:cNvSpPr>
          <p:nvPr/>
        </p:nvSpPr>
        <p:spPr>
          <a:xfrm>
            <a:off x="857250" y="52197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Idioma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9693F9-0C6D-4F47-AE62-97D123786CC3}"/>
              </a:ext>
            </a:extLst>
          </p:cNvPr>
          <p:cNvSpPr>
            <a:spLocks noGrp="1"/>
          </p:cNvSpPr>
          <p:nvPr/>
        </p:nvSpPr>
        <p:spPr>
          <a:xfrm>
            <a:off x="2095500" y="52197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140"/>
          </a:bodyPr>
          <a:lstStyle/>
          <a:p>
            <a:pPr algn="l">
              <a:defRPr sz="1575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Match operating system + fallback to CDN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B34D83-EC09-4BA8-A157-4205B3059AC1}"/>
              </a:ext>
            </a:extLst>
          </p:cNvPr>
          <p:cNvSpPr>
            <a:spLocks noGrp="1"/>
          </p:cNvSpPr>
          <p:nvPr/>
        </p:nvSpPr>
        <p:spPr>
          <a:xfrm>
            <a:off x="6667500" y="52197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00A86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A86B"/>
                </a:solidFill>
                <a:latin typeface="Aptos"/>
                <a:ea typeface="Aptos"/>
                <a:cs typeface="Aptos"/>
              </a:rPr>
              <a:t>Actualizaciones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18006F-4B89-4FDB-BD87-870A0356B612}"/>
              </a:ext>
            </a:extLst>
          </p:cNvPr>
          <p:cNvSpPr>
            <a:spLocks noGrp="1"/>
          </p:cNvSpPr>
          <p:nvPr/>
        </p:nvSpPr>
        <p:spPr>
          <a:xfrm>
            <a:off x="8429625" y="52197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193"/>
          </a:bodyPr>
          <a:lstStyle/>
          <a:p>
            <a:pPr algn="l">
              <a:defRPr sz="1575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CDN + comprobación automática</a:t>
            </a:r>
          </a:p>
        </p:txBody>
      </p:sp>
    </p:spTree>
    <p:extLst>
      <p:ext uri="{BB962C8B-B14F-4D97-AF65-F5344CB8AC3E}">
        <p14:creationId xmlns:p14="http://schemas.microsoft.com/office/powerpoint/2010/main" val="1494572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DE6213D-3E28-4293-BC8D-885E0B37F31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ODT · CLOUD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AD727E-43F8-40EC-A298-48F6358B1B7F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744B739-60B9-4213-81AB-69B4700CC4C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B214C0-0BDF-44A4-8116-AA942721B342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A0CC3C-EA24-44E5-A55F-EA37D08CDC5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1901"/>
          </a:bodyPr>
          <a:lstStyle/>
          <a:p>
            <a:pPr algn="l">
              <a:def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Cloud reduce pasos: configurar, probar y promover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56E04C-DF8C-4559-899F-765C6D53A8E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El contenido llega desde Office CDN; el share conserva ODT y los XML.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97C5D7-7C3E-4525-ABB4-80E6D6E55590}"/>
              </a:ext>
            </a:extLst>
          </p:cNvPr>
          <p:cNvSpPr>
            <a:spLocks noGrp="1"/>
          </p:cNvSpPr>
          <p:nvPr/>
        </p:nvSpPr>
        <p:spPr>
          <a:xfrm>
            <a:off x="647700" y="21336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820253B3-27D2-419A-B128-D35134768D0E}"/>
              </a:ext>
            </a:extLst>
          </p:cNvPr>
          <p:cNvSpPr>
            <a:spLocks noGrp="1"/>
          </p:cNvSpPr>
          <p:nvPr/>
        </p:nvSpPr>
        <p:spPr>
          <a:xfrm>
            <a:off x="647700" y="2724150"/>
            <a:ext cx="1809750" cy="0"/>
          </a:xfrm>
          <a:prstGeom prst="line">
            <a:avLst/>
          </a:prstGeom>
          <a:noFill/>
          <a:ln w="47625">
            <a:solidFill>
              <a:srgbClr val="155EE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0745AA-2FD0-473E-86E5-8129BDED9A6B}"/>
              </a:ext>
            </a:extLst>
          </p:cNvPr>
          <p:cNvSpPr>
            <a:spLocks noGrp="1"/>
          </p:cNvSpPr>
          <p:nvPr/>
        </p:nvSpPr>
        <p:spPr>
          <a:xfrm>
            <a:off x="647700" y="2971800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Crear share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F205BB-02DC-458D-A7AD-F12BB554AAF8}"/>
              </a:ext>
            </a:extLst>
          </p:cNvPr>
          <p:cNvSpPr>
            <a:spLocks noGrp="1"/>
          </p:cNvSpPr>
          <p:nvPr/>
        </p:nvSpPr>
        <p:spPr>
          <a:xfrm>
            <a:off x="2952750" y="21336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C4E402CF-E9C5-422B-8528-1627F3EF3F07}"/>
              </a:ext>
            </a:extLst>
          </p:cNvPr>
          <p:cNvSpPr>
            <a:spLocks noGrp="1"/>
          </p:cNvSpPr>
          <p:nvPr/>
        </p:nvSpPr>
        <p:spPr>
          <a:xfrm>
            <a:off x="2952750" y="2724150"/>
            <a:ext cx="1809750" cy="0"/>
          </a:xfrm>
          <a:prstGeom prst="line">
            <a:avLst/>
          </a:prstGeom>
          <a:noFill/>
          <a:ln w="47625">
            <a:solidFill>
              <a:srgbClr val="155EE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DE66BF-2C50-4034-87A4-0C2719B28D8F}"/>
              </a:ext>
            </a:extLst>
          </p:cNvPr>
          <p:cNvSpPr>
            <a:spLocks noGrp="1"/>
          </p:cNvSpPr>
          <p:nvPr/>
        </p:nvSpPr>
        <p:spPr>
          <a:xfrm>
            <a:off x="2952750" y="2971800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Descargar ODT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1BC384-C934-4629-9B7B-3636AE4198AC}"/>
              </a:ext>
            </a:extLst>
          </p:cNvPr>
          <p:cNvSpPr>
            <a:spLocks noGrp="1"/>
          </p:cNvSpPr>
          <p:nvPr/>
        </p:nvSpPr>
        <p:spPr>
          <a:xfrm>
            <a:off x="5257800" y="21336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24BE3A38-482C-4EA3-8615-076E28922606}"/>
              </a:ext>
            </a:extLst>
          </p:cNvPr>
          <p:cNvSpPr>
            <a:spLocks noGrp="1"/>
          </p:cNvSpPr>
          <p:nvPr/>
        </p:nvSpPr>
        <p:spPr>
          <a:xfrm>
            <a:off x="5257800" y="2724150"/>
            <a:ext cx="1809750" cy="0"/>
          </a:xfrm>
          <a:prstGeom prst="line">
            <a:avLst/>
          </a:prstGeom>
          <a:noFill/>
          <a:ln w="47625">
            <a:solidFill>
              <a:srgbClr val="155EE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92C971-C5CB-49EF-84EB-BD0B5CB90525}"/>
              </a:ext>
            </a:extLst>
          </p:cNvPr>
          <p:cNvSpPr>
            <a:spLocks noGrp="1"/>
          </p:cNvSpPr>
          <p:nvPr/>
        </p:nvSpPr>
        <p:spPr>
          <a:xfrm>
            <a:off x="5257800" y="2971800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Exportar 2 XML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AE954E-18EE-4F3B-9306-594A167E6E77}"/>
              </a:ext>
            </a:extLst>
          </p:cNvPr>
          <p:cNvSpPr>
            <a:spLocks noGrp="1"/>
          </p:cNvSpPr>
          <p:nvPr/>
        </p:nvSpPr>
        <p:spPr>
          <a:xfrm>
            <a:off x="7562850" y="21336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6D6D897A-B2B8-4DBC-9ACC-CB8074C60039}"/>
              </a:ext>
            </a:extLst>
          </p:cNvPr>
          <p:cNvSpPr>
            <a:spLocks noGrp="1"/>
          </p:cNvSpPr>
          <p:nvPr/>
        </p:nvSpPr>
        <p:spPr>
          <a:xfrm>
            <a:off x="7562850" y="2724150"/>
            <a:ext cx="1809750" cy="0"/>
          </a:xfrm>
          <a:prstGeom prst="line">
            <a:avLst/>
          </a:prstGeom>
          <a:noFill/>
          <a:ln w="47625">
            <a:solidFill>
              <a:srgbClr val="155EEF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D0CCF9-646F-4982-AB36-A30B51A190C0}"/>
              </a:ext>
            </a:extLst>
          </p:cNvPr>
          <p:cNvSpPr>
            <a:spLocks noGrp="1"/>
          </p:cNvSpPr>
          <p:nvPr/>
        </p:nvSpPr>
        <p:spPr>
          <a:xfrm>
            <a:off x="7562850" y="2971800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Configurar piloto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E9A95D-E9AD-4F6B-A21E-ECBCD44F1142}"/>
              </a:ext>
            </a:extLst>
          </p:cNvPr>
          <p:cNvSpPr>
            <a:spLocks noGrp="1"/>
          </p:cNvSpPr>
          <p:nvPr/>
        </p:nvSpPr>
        <p:spPr>
          <a:xfrm>
            <a:off x="9867900" y="21336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00A86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0A86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173FCDB-678C-4322-9459-AF82BBF59ABF}"/>
              </a:ext>
            </a:extLst>
          </p:cNvPr>
          <p:cNvSpPr>
            <a:spLocks noGrp="1"/>
          </p:cNvSpPr>
          <p:nvPr/>
        </p:nvSpPr>
        <p:spPr>
          <a:xfrm>
            <a:off x="9867900" y="2724150"/>
            <a:ext cx="1809750" cy="0"/>
          </a:xfrm>
          <a:prstGeom prst="line">
            <a:avLst/>
          </a:prstGeom>
          <a:noFill/>
          <a:ln w="47625">
            <a:solidFill>
              <a:srgbClr val="00A86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8F15B8-BCD2-481D-BD1F-92BE0528B59F}"/>
              </a:ext>
            </a:extLst>
          </p:cNvPr>
          <p:cNvSpPr>
            <a:spLocks noGrp="1"/>
          </p:cNvSpPr>
          <p:nvPr/>
        </p:nvSpPr>
        <p:spPr>
          <a:xfrm>
            <a:off x="9867900" y="2971800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Configurar amplio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593EC6-77E1-4896-8DEC-DC59AD0CC27A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Comando piloto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DACD8B-ACF8-4960-930E-C6B3F980E02E}"/>
              </a:ext>
            </a:extLst>
          </p:cNvPr>
          <p:cNvSpPr>
            <a:spLocks noGrp="1"/>
          </p:cNvSpPr>
          <p:nvPr/>
        </p:nvSpPr>
        <p:spPr>
          <a:xfrm>
            <a:off x="762000" y="4857750"/>
            <a:ext cx="619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setup.exe /configure config-pilot-SECP.xml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8A9A6A-9107-4E23-8FFF-1935BDB6B90C}"/>
              </a:ext>
            </a:extLst>
          </p:cNvPr>
          <p:cNvSpPr>
            <a:spLocks noGrp="1"/>
          </p:cNvSpPr>
          <p:nvPr/>
        </p:nvSpPr>
        <p:spPr>
          <a:xfrm>
            <a:off x="7239000" y="44767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00A86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A86B"/>
                </a:solidFill>
                <a:latin typeface="Aptos"/>
                <a:ea typeface="Aptos"/>
                <a:cs typeface="Aptos"/>
              </a:rPr>
              <a:t>Comando amplio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1A092A-E025-491A-902F-DD296E642A7A}"/>
              </a:ext>
            </a:extLst>
          </p:cNvPr>
          <p:cNvSpPr>
            <a:spLocks noGrp="1"/>
          </p:cNvSpPr>
          <p:nvPr/>
        </p:nvSpPr>
        <p:spPr>
          <a:xfrm>
            <a:off x="7239000" y="4857750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setup.exe /configure config-broad-SEC.xml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2AB516-E461-4240-B7B8-EFFBE1BE0CAF}"/>
              </a:ext>
            </a:extLst>
          </p:cNvPr>
          <p:cNvSpPr>
            <a:spLocks noGrp="1"/>
          </p:cNvSpPr>
          <p:nvPr/>
        </p:nvSpPr>
        <p:spPr>
          <a:xfrm>
            <a:off x="762000" y="58864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Ante fallos: última versión de ODT · ruta correcta · log en %temp%</a:t>
            </a:r>
          </a:p>
        </p:txBody>
      </p:sp>
    </p:spTree>
    <p:extLst>
      <p:ext uri="{BB962C8B-B14F-4D97-AF65-F5344CB8AC3E}">
        <p14:creationId xmlns:p14="http://schemas.microsoft.com/office/powerpoint/2010/main" val="1230355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76B2CE2-C676-4F84-9813-D92D4471540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ODT · ORIGEN LOCAL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EB8C37-3ED7-4D4F-BDE0-4A56054C1AF4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C96133B-AB39-46E8-A028-4D69241D5CE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3C92DD-2B4E-409B-BB32-0203347D1E2D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CDB7E4-3F63-424B-9FB2-5F4EB5F0CBA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6828"/>
          </a:bodyPr>
          <a:lstStyle/>
          <a:p>
            <a:pPr algn="l">
              <a:def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Local añade control de ancho de banda a cambio de operación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4F3D8A-8205-40B6-8CD9-D3F6FFFBF67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El contenido se descarga primero y luego se distribuye desde shares internos.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60916A-C556-446E-AE06-1AA62A2EBDE7}"/>
              </a:ext>
            </a:extLst>
          </p:cNvPr>
          <p:cNvSpPr>
            <a:spLocks noGrp="1"/>
          </p:cNvSpPr>
          <p:nvPr/>
        </p:nvSpPr>
        <p:spPr>
          <a:xfrm>
            <a:off x="857250" y="230505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\Server\Share\M365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1646B8-B70E-4189-901B-BC397C049E41}"/>
              </a:ext>
            </a:extLst>
          </p:cNvPr>
          <p:cNvSpPr>
            <a:spLocks noGrp="1"/>
          </p:cNvSpPr>
          <p:nvPr/>
        </p:nvSpPr>
        <p:spPr>
          <a:xfrm>
            <a:off x="6572250" y="2333625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ODT + XML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A00BECD0-E4EE-438E-A6DE-2E749A47B453}"/>
              </a:ext>
            </a:extLst>
          </p:cNvPr>
          <p:cNvSpPr>
            <a:spLocks noGrp="1"/>
          </p:cNvSpPr>
          <p:nvPr/>
        </p:nvSpPr>
        <p:spPr>
          <a:xfrm>
            <a:off x="857250" y="2895600"/>
            <a:ext cx="99060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AB3F8D-C4D9-4176-8F9E-8EC7FC8AF9D3}"/>
              </a:ext>
            </a:extLst>
          </p:cNvPr>
          <p:cNvSpPr>
            <a:spLocks noGrp="1"/>
          </p:cNvSpPr>
          <p:nvPr/>
        </p:nvSpPr>
        <p:spPr>
          <a:xfrm>
            <a:off x="857250" y="318135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…\SECP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6DE2E7-9EDA-44AF-8594-F4A946AC5344}"/>
              </a:ext>
            </a:extLst>
          </p:cNvPr>
          <p:cNvSpPr>
            <a:spLocks noGrp="1"/>
          </p:cNvSpPr>
          <p:nvPr/>
        </p:nvSpPr>
        <p:spPr>
          <a:xfrm>
            <a:off x="6572250" y="3209925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Paquete piloto Preview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D46090F0-DE6D-4A10-9CA2-9A30BB30E190}"/>
              </a:ext>
            </a:extLst>
          </p:cNvPr>
          <p:cNvSpPr>
            <a:spLocks noGrp="1"/>
          </p:cNvSpPr>
          <p:nvPr/>
        </p:nvSpPr>
        <p:spPr>
          <a:xfrm>
            <a:off x="857250" y="3771900"/>
            <a:ext cx="99060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F96601-68F2-4025-B30C-41B799BC2140}"/>
              </a:ext>
            </a:extLst>
          </p:cNvPr>
          <p:cNvSpPr>
            <a:spLocks noGrp="1"/>
          </p:cNvSpPr>
          <p:nvPr/>
        </p:nvSpPr>
        <p:spPr>
          <a:xfrm>
            <a:off x="857250" y="405765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0A86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A86B"/>
                </a:solidFill>
                <a:latin typeface="Aptos Display"/>
                <a:ea typeface="Aptos Display"/>
                <a:cs typeface="Aptos Display"/>
              </a:rPr>
              <a:t>…\SEC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56000A-D41C-49B0-8D24-D9CF84932009}"/>
              </a:ext>
            </a:extLst>
          </p:cNvPr>
          <p:cNvSpPr>
            <a:spLocks noGrp="1"/>
          </p:cNvSpPr>
          <p:nvPr/>
        </p:nvSpPr>
        <p:spPr>
          <a:xfrm>
            <a:off x="6572250" y="4086225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Paquete grupo amplio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F1506CBB-C21D-4082-BBF4-8404A56645AE}"/>
              </a:ext>
            </a:extLst>
          </p:cNvPr>
          <p:cNvSpPr>
            <a:spLocks noGrp="1"/>
          </p:cNvSpPr>
          <p:nvPr/>
        </p:nvSpPr>
        <p:spPr>
          <a:xfrm>
            <a:off x="857250" y="4648200"/>
            <a:ext cx="99060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6E58CE-2103-4467-9BCD-8ED3570BF5CE}"/>
              </a:ext>
            </a:extLst>
          </p:cNvPr>
          <p:cNvSpPr>
            <a:spLocks noGrp="1"/>
          </p:cNvSpPr>
          <p:nvPr/>
        </p:nvSpPr>
        <p:spPr>
          <a:xfrm>
            <a:off x="857250" y="52578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Disponibilidad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722F96-AE2D-47CD-9C9A-4085D945453D}"/>
              </a:ext>
            </a:extLst>
          </p:cNvPr>
          <p:cNvSpPr>
            <a:spLocks noGrp="1"/>
          </p:cNvSpPr>
          <p:nvPr/>
        </p:nvSpPr>
        <p:spPr>
          <a:xfrm>
            <a:off x="2762250" y="5257800"/>
            <a:ext cx="800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múltiples ubicaciones o DFS pueden replicar el share y acercar el contenido.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5D2CEA-EAF9-4CF6-9C38-377B0F6B7CDC}"/>
              </a:ext>
            </a:extLst>
          </p:cNvPr>
          <p:cNvSpPr>
            <a:spLocks noGrp="1"/>
          </p:cNvSpPr>
          <p:nvPr/>
        </p:nvSpPr>
        <p:spPr>
          <a:xfrm>
            <a:off x="857250" y="58102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00A86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A86B"/>
                </a:solidFill>
                <a:latin typeface="Aptos"/>
                <a:ea typeface="Aptos"/>
                <a:cs typeface="Aptos"/>
              </a:rPr>
              <a:t>Permisos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86084F-1A3C-4E43-AB49-817E260DF3EE}"/>
              </a:ext>
            </a:extLst>
          </p:cNvPr>
          <p:cNvSpPr>
            <a:spLocks noGrp="1"/>
          </p:cNvSpPr>
          <p:nvPr/>
        </p:nvSpPr>
        <p:spPr>
          <a:xfrm>
            <a:off x="2762250" y="5810250"/>
            <a:ext cx="800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los usuarios necesitan Read; la instalación directa requiere elevación.</a:t>
            </a:r>
          </a:p>
        </p:txBody>
      </p:sp>
    </p:spTree>
    <p:extLst>
      <p:ext uri="{BB962C8B-B14F-4D97-AF65-F5344CB8AC3E}">
        <p14:creationId xmlns:p14="http://schemas.microsoft.com/office/powerpoint/2010/main" val="233307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BD2A7343-ACE6-42A9-B9FF-ABD3AB34A67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ODT · ORIGEN LOCAL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BD2A91-482B-4BE0-96E3-4AF96F7A67F5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9F996F3-1840-4932-B4B2-387F5BC647F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1514B5-5B7E-4D49-9EFC-59BF2E735418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9151D3-F8B7-4B32-93BC-783DA38AFFF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51"/>
          </a:bodyPr>
          <a:lstStyle/>
          <a:p>
            <a:pPr algn="l">
              <a:def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Local exige descargar antes de configurar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36C416-2542-41F1-84C7-ACA9BB6C837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Ocho etapas separan preparación, contenido y ejecución.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49579C-ACFB-4A22-8649-BCAE526BF3D4}"/>
              </a:ext>
            </a:extLst>
          </p:cNvPr>
          <p:cNvSpPr>
            <a:spLocks noGrp="1"/>
          </p:cNvSpPr>
          <p:nvPr/>
        </p:nvSpPr>
        <p:spPr>
          <a:xfrm>
            <a:off x="742950" y="2190750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6967C6-D822-43F7-998D-16749E9AF8DB}"/>
              </a:ext>
            </a:extLst>
          </p:cNvPr>
          <p:cNvSpPr>
            <a:spLocks noGrp="1"/>
          </p:cNvSpPr>
          <p:nvPr/>
        </p:nvSpPr>
        <p:spPr>
          <a:xfrm>
            <a:off x="742950" y="2743200"/>
            <a:ext cx="219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Crear shares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E043D3A5-2CCC-4399-9F78-A94595D9ED22}"/>
              </a:ext>
            </a:extLst>
          </p:cNvPr>
          <p:cNvSpPr>
            <a:spLocks noGrp="1"/>
          </p:cNvSpPr>
          <p:nvPr/>
        </p:nvSpPr>
        <p:spPr>
          <a:xfrm>
            <a:off x="2695575" y="2381250"/>
            <a:ext cx="571500" cy="0"/>
          </a:xfrm>
          <a:prstGeom prst="line">
            <a:avLst/>
          </a:prstGeom>
          <a:noFill/>
          <a:ln w="28575">
            <a:solidFill>
              <a:srgbClr val="DCE6F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C857E2-0763-4EA8-AEF5-6847FBDD23D3}"/>
              </a:ext>
            </a:extLst>
          </p:cNvPr>
          <p:cNvSpPr>
            <a:spLocks noGrp="1"/>
          </p:cNvSpPr>
          <p:nvPr/>
        </p:nvSpPr>
        <p:spPr>
          <a:xfrm>
            <a:off x="3524250" y="2190750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887080-F093-40DA-8838-FDAED191C53C}"/>
              </a:ext>
            </a:extLst>
          </p:cNvPr>
          <p:cNvSpPr>
            <a:spLocks noGrp="1"/>
          </p:cNvSpPr>
          <p:nvPr/>
        </p:nvSpPr>
        <p:spPr>
          <a:xfrm>
            <a:off x="3524250" y="2743200"/>
            <a:ext cx="219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Descargar ODT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374016C-BC25-4255-A58C-C8FC982A4D08}"/>
              </a:ext>
            </a:extLst>
          </p:cNvPr>
          <p:cNvSpPr>
            <a:spLocks noGrp="1"/>
          </p:cNvSpPr>
          <p:nvPr/>
        </p:nvSpPr>
        <p:spPr>
          <a:xfrm>
            <a:off x="5476875" y="2381250"/>
            <a:ext cx="571500" cy="0"/>
          </a:xfrm>
          <a:prstGeom prst="line">
            <a:avLst/>
          </a:prstGeom>
          <a:noFill/>
          <a:ln w="28575">
            <a:solidFill>
              <a:srgbClr val="DCE6F5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237890-966E-4949-AA49-499E737C9A95}"/>
              </a:ext>
            </a:extLst>
          </p:cNvPr>
          <p:cNvSpPr>
            <a:spLocks noGrp="1"/>
          </p:cNvSpPr>
          <p:nvPr/>
        </p:nvSpPr>
        <p:spPr>
          <a:xfrm>
            <a:off x="6305550" y="2190750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EB8E8A-C976-4D04-B90A-22F7CD839F6D}"/>
              </a:ext>
            </a:extLst>
          </p:cNvPr>
          <p:cNvSpPr>
            <a:spLocks noGrp="1"/>
          </p:cNvSpPr>
          <p:nvPr/>
        </p:nvSpPr>
        <p:spPr>
          <a:xfrm>
            <a:off x="6305550" y="2743200"/>
            <a:ext cx="219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XML piloto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25B8955E-D77E-47A6-9273-E261FDA5BDD9}"/>
              </a:ext>
            </a:extLst>
          </p:cNvPr>
          <p:cNvSpPr>
            <a:spLocks noGrp="1"/>
          </p:cNvSpPr>
          <p:nvPr/>
        </p:nvSpPr>
        <p:spPr>
          <a:xfrm>
            <a:off x="8258175" y="2381250"/>
            <a:ext cx="571500" cy="0"/>
          </a:xfrm>
          <a:prstGeom prst="line">
            <a:avLst/>
          </a:prstGeom>
          <a:noFill/>
          <a:ln w="28575">
            <a:solidFill>
              <a:srgbClr val="DCE6F5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CCC482-C832-459C-A846-2D92A32507F6}"/>
              </a:ext>
            </a:extLst>
          </p:cNvPr>
          <p:cNvSpPr>
            <a:spLocks noGrp="1"/>
          </p:cNvSpPr>
          <p:nvPr/>
        </p:nvSpPr>
        <p:spPr>
          <a:xfrm>
            <a:off x="9086850" y="2190750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148205-F8FE-4005-91D3-4AAE993164CA}"/>
              </a:ext>
            </a:extLst>
          </p:cNvPr>
          <p:cNvSpPr>
            <a:spLocks noGrp="1"/>
          </p:cNvSpPr>
          <p:nvPr/>
        </p:nvSpPr>
        <p:spPr>
          <a:xfrm>
            <a:off x="9086850" y="2743200"/>
            <a:ext cx="219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XML amplio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AFDD9E-B443-43F4-94D1-3BA64303921A}"/>
              </a:ext>
            </a:extLst>
          </p:cNvPr>
          <p:cNvSpPr>
            <a:spLocks noGrp="1"/>
          </p:cNvSpPr>
          <p:nvPr/>
        </p:nvSpPr>
        <p:spPr>
          <a:xfrm>
            <a:off x="742950" y="3857625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3F7252-5B4F-4681-8FC7-DAA90163E81F}"/>
              </a:ext>
            </a:extLst>
          </p:cNvPr>
          <p:cNvSpPr>
            <a:spLocks noGrp="1"/>
          </p:cNvSpPr>
          <p:nvPr/>
        </p:nvSpPr>
        <p:spPr>
          <a:xfrm>
            <a:off x="742950" y="4410075"/>
            <a:ext cx="219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Download piloto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9543772-6A2C-48B7-9A90-C27D0AE575A1}"/>
              </a:ext>
            </a:extLst>
          </p:cNvPr>
          <p:cNvSpPr>
            <a:spLocks noGrp="1"/>
          </p:cNvSpPr>
          <p:nvPr/>
        </p:nvSpPr>
        <p:spPr>
          <a:xfrm>
            <a:off x="2695575" y="4048125"/>
            <a:ext cx="571500" cy="0"/>
          </a:xfrm>
          <a:prstGeom prst="line">
            <a:avLst/>
          </a:prstGeom>
          <a:noFill/>
          <a:ln w="28575">
            <a:solidFill>
              <a:srgbClr val="DCE6F5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438784-6A68-44DF-87FB-E3D45891FF75}"/>
              </a:ext>
            </a:extLst>
          </p:cNvPr>
          <p:cNvSpPr>
            <a:spLocks noGrp="1"/>
          </p:cNvSpPr>
          <p:nvPr/>
        </p:nvSpPr>
        <p:spPr>
          <a:xfrm>
            <a:off x="3524250" y="3857625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D83E9B-E4FA-46BE-AE3F-96E42F53F074}"/>
              </a:ext>
            </a:extLst>
          </p:cNvPr>
          <p:cNvSpPr>
            <a:spLocks noGrp="1"/>
          </p:cNvSpPr>
          <p:nvPr/>
        </p:nvSpPr>
        <p:spPr>
          <a:xfrm>
            <a:off x="3524250" y="4410075"/>
            <a:ext cx="219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Download amplio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83CEE582-C611-43B2-B930-F960A13B7F62}"/>
              </a:ext>
            </a:extLst>
          </p:cNvPr>
          <p:cNvSpPr>
            <a:spLocks noGrp="1"/>
          </p:cNvSpPr>
          <p:nvPr/>
        </p:nvSpPr>
        <p:spPr>
          <a:xfrm>
            <a:off x="5476875" y="4048125"/>
            <a:ext cx="571500" cy="0"/>
          </a:xfrm>
          <a:prstGeom prst="line">
            <a:avLst/>
          </a:prstGeom>
          <a:noFill/>
          <a:ln w="28575">
            <a:solidFill>
              <a:srgbClr val="DCE6F5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69CDAC-E45A-488C-BB65-03E29042F4D9}"/>
              </a:ext>
            </a:extLst>
          </p:cNvPr>
          <p:cNvSpPr>
            <a:spLocks noGrp="1"/>
          </p:cNvSpPr>
          <p:nvPr/>
        </p:nvSpPr>
        <p:spPr>
          <a:xfrm>
            <a:off x="6305550" y="3857625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06DF68-6EEF-4C4E-94D0-B4FF1C0FE270}"/>
              </a:ext>
            </a:extLst>
          </p:cNvPr>
          <p:cNvSpPr>
            <a:spLocks noGrp="1"/>
          </p:cNvSpPr>
          <p:nvPr/>
        </p:nvSpPr>
        <p:spPr>
          <a:xfrm>
            <a:off x="6305550" y="4410075"/>
            <a:ext cx="219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Configure piloto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AB1D7BE8-F700-44FE-94A4-3B17A8997835}"/>
              </a:ext>
            </a:extLst>
          </p:cNvPr>
          <p:cNvSpPr>
            <a:spLocks noGrp="1"/>
          </p:cNvSpPr>
          <p:nvPr/>
        </p:nvSpPr>
        <p:spPr>
          <a:xfrm>
            <a:off x="8258175" y="4048125"/>
            <a:ext cx="571500" cy="0"/>
          </a:xfrm>
          <a:prstGeom prst="line">
            <a:avLst/>
          </a:prstGeom>
          <a:noFill/>
          <a:ln w="28575">
            <a:solidFill>
              <a:srgbClr val="DCE6F5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1427D6-469B-4A98-BC0F-B16E46D4D2BA}"/>
              </a:ext>
            </a:extLst>
          </p:cNvPr>
          <p:cNvSpPr>
            <a:spLocks noGrp="1"/>
          </p:cNvSpPr>
          <p:nvPr/>
        </p:nvSpPr>
        <p:spPr>
          <a:xfrm>
            <a:off x="9086850" y="3857625"/>
            <a:ext cx="762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00A86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0A86B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061886-D753-41AF-B2FA-4FA665AF8F94}"/>
              </a:ext>
            </a:extLst>
          </p:cNvPr>
          <p:cNvSpPr>
            <a:spLocks noGrp="1"/>
          </p:cNvSpPr>
          <p:nvPr/>
        </p:nvSpPr>
        <p:spPr>
          <a:xfrm>
            <a:off x="9086850" y="4410075"/>
            <a:ext cx="219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Configure amplio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CF06BF84-FA55-4F4E-A972-01002ECF322C}"/>
              </a:ext>
            </a:extLst>
          </p:cNvPr>
          <p:cNvSpPr>
            <a:spLocks noGrp="1"/>
          </p:cNvSpPr>
          <p:nvPr/>
        </p:nvSpPr>
        <p:spPr>
          <a:xfrm>
            <a:off x="762000" y="5334000"/>
            <a:ext cx="10668000" cy="0"/>
          </a:xfrm>
          <a:prstGeom prst="line">
            <a:avLst/>
          </a:prstGeom>
          <a:noFill/>
          <a:ln w="19050">
            <a:solidFill>
              <a:srgbClr val="DCE6F5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95CB0FF-9D36-4627-A45E-1DAAC1597042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/download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E04519-576C-4A04-9CA7-41296CD5B9BC}"/>
              </a:ext>
            </a:extLst>
          </p:cNvPr>
          <p:cNvSpPr>
            <a:spLocks noGrp="1"/>
          </p:cNvSpPr>
          <p:nvPr/>
        </p:nvSpPr>
        <p:spPr>
          <a:xfrm>
            <a:off x="2381250" y="56197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completa solo archivos faltantes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318CB9B-0B0F-4383-A1DB-73E745D6D640}"/>
              </a:ext>
            </a:extLst>
          </p:cNvPr>
          <p:cNvSpPr>
            <a:spLocks noGrp="1"/>
          </p:cNvSpPr>
          <p:nvPr/>
        </p:nvSpPr>
        <p:spPr>
          <a:xfrm>
            <a:off x="6667500" y="56197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0A86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A86B"/>
                </a:solidFill>
                <a:latin typeface="Aptos"/>
                <a:ea typeface="Aptos"/>
                <a:cs typeface="Aptos"/>
              </a:rPr>
              <a:t>/configure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5A5CC8-BD8C-4C9B-BAA7-A6D5130CA23A}"/>
              </a:ext>
            </a:extLst>
          </p:cNvPr>
          <p:cNvSpPr>
            <a:spLocks noGrp="1"/>
          </p:cNvSpPr>
          <p:nvPr/>
        </p:nvSpPr>
        <p:spPr>
          <a:xfrm>
            <a:off x="8382000" y="561975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792"/>
          </a:bodyPr>
          <a:lstStyle/>
          <a:p>
            <a:pPr algn="l">
              <a:defRPr sz="15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instala usando el XML del grupo</a:t>
            </a:r>
          </a:p>
        </p:txBody>
      </p:sp>
    </p:spTree>
    <p:extLst>
      <p:ext uri="{BB962C8B-B14F-4D97-AF65-F5344CB8AC3E}">
        <p14:creationId xmlns:p14="http://schemas.microsoft.com/office/powerpoint/2010/main" val="659595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B36A25E-3314-433F-AC8C-EB702D9D64D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ELECCIÓN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AB5255-CBD9-467D-AD98-671955B12512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C43EDF6-77F9-4750-89F4-57A551DEC08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EF6E17-2738-4654-8C44-86FDE1E52AB6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EB80A0-054D-481B-A3D5-26B801ACA784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Cloud o local: decidir por red y control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C54467-A0D8-4554-A0A4-7C0AE1C105D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La fuente cambia el trabajo de IT, no el objetivo del despliegue.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8FA68F-02AD-4AFC-BB3A-96D9A9FD9AD7}"/>
              </a:ext>
            </a:extLst>
          </p:cNvPr>
          <p:cNvSpPr>
            <a:spLocks noGrp="1"/>
          </p:cNvSpPr>
          <p:nvPr/>
        </p:nvSpPr>
        <p:spPr>
          <a:xfrm>
            <a:off x="762000" y="1866900"/>
            <a:ext cx="228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CRITERIO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7B83C6-A81B-4BFC-AC0B-8452230F2076}"/>
              </a:ext>
            </a:extLst>
          </p:cNvPr>
          <p:cNvSpPr>
            <a:spLocks noGrp="1"/>
          </p:cNvSpPr>
          <p:nvPr/>
        </p:nvSpPr>
        <p:spPr>
          <a:xfrm>
            <a:off x="3905250" y="1866900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CLOUD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B3D336-987D-4C43-B2F8-CDC7ECFD782F}"/>
              </a:ext>
            </a:extLst>
          </p:cNvPr>
          <p:cNvSpPr>
            <a:spLocks noGrp="1"/>
          </p:cNvSpPr>
          <p:nvPr/>
        </p:nvSpPr>
        <p:spPr>
          <a:xfrm>
            <a:off x="7524750" y="186690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00A86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A86B"/>
                </a:solidFill>
                <a:latin typeface="Aptos"/>
                <a:ea typeface="Aptos"/>
                <a:cs typeface="Aptos"/>
              </a:rPr>
              <a:t>LOCAL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39744D-F5B7-4356-847F-45DAB6DCDF68}"/>
              </a:ext>
            </a:extLst>
          </p:cNvPr>
          <p:cNvSpPr>
            <a:spLocks noGrp="1"/>
          </p:cNvSpPr>
          <p:nvPr/>
        </p:nvSpPr>
        <p:spPr>
          <a:xfrm>
            <a:off x="762000" y="2247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Pasos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60E644-5AD8-423A-B0D2-A2DF39D969CB}"/>
              </a:ext>
            </a:extLst>
          </p:cNvPr>
          <p:cNvSpPr>
            <a:spLocks noGrp="1"/>
          </p:cNvSpPr>
          <p:nvPr/>
        </p:nvSpPr>
        <p:spPr>
          <a:xfrm>
            <a:off x="3905250" y="22479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7A7723-FBBD-4872-8AB4-170A69E67F50}"/>
              </a:ext>
            </a:extLst>
          </p:cNvPr>
          <p:cNvSpPr>
            <a:spLocks noGrp="1"/>
          </p:cNvSpPr>
          <p:nvPr/>
        </p:nvSpPr>
        <p:spPr>
          <a:xfrm>
            <a:off x="7524750" y="224790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7CEB5E24-6893-41B3-9A82-22811A030548}"/>
              </a:ext>
            </a:extLst>
          </p:cNvPr>
          <p:cNvSpPr>
            <a:spLocks noGrp="1"/>
          </p:cNvSpPr>
          <p:nvPr/>
        </p:nvSpPr>
        <p:spPr>
          <a:xfrm>
            <a:off x="762000" y="2743200"/>
            <a:ext cx="1019175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D916EF-D0DB-4583-810A-CF99BE7637E0}"/>
              </a:ext>
            </a:extLst>
          </p:cNvPr>
          <p:cNvSpPr>
            <a:spLocks noGrp="1"/>
          </p:cNvSpPr>
          <p:nvPr/>
        </p:nvSpPr>
        <p:spPr>
          <a:xfrm>
            <a:off x="762000" y="3009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Origen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88EC15-147A-481F-AC83-728F51F3B8BA}"/>
              </a:ext>
            </a:extLst>
          </p:cNvPr>
          <p:cNvSpPr>
            <a:spLocks noGrp="1"/>
          </p:cNvSpPr>
          <p:nvPr/>
        </p:nvSpPr>
        <p:spPr>
          <a:xfrm>
            <a:off x="3905250" y="30099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Office CDN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3FA0C3-CF15-45D9-841C-88EBB21E5F24}"/>
              </a:ext>
            </a:extLst>
          </p:cNvPr>
          <p:cNvSpPr>
            <a:spLocks noGrp="1"/>
          </p:cNvSpPr>
          <p:nvPr/>
        </p:nvSpPr>
        <p:spPr>
          <a:xfrm>
            <a:off x="7524750" y="300990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Share interno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D0E94EA-48C6-4903-A2F0-6B87236A01A3}"/>
              </a:ext>
            </a:extLst>
          </p:cNvPr>
          <p:cNvSpPr>
            <a:spLocks noGrp="1"/>
          </p:cNvSpPr>
          <p:nvPr/>
        </p:nvSpPr>
        <p:spPr>
          <a:xfrm>
            <a:off x="762000" y="3505200"/>
            <a:ext cx="1019175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9FB672-53EE-4054-A979-D6C50E6AFA1C}"/>
              </a:ext>
            </a:extLst>
          </p:cNvPr>
          <p:cNvSpPr>
            <a:spLocks noGrp="1"/>
          </p:cNvSpPr>
          <p:nvPr/>
        </p:nvSpPr>
        <p:spPr>
          <a:xfrm>
            <a:off x="762000" y="3771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Ancho de banda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64B25D-3C3C-40FD-BFA2-5550687E221B}"/>
              </a:ext>
            </a:extLst>
          </p:cNvPr>
          <p:cNvSpPr>
            <a:spLocks noGrp="1"/>
          </p:cNvSpPr>
          <p:nvPr/>
        </p:nvSpPr>
        <p:spPr>
          <a:xfrm>
            <a:off x="3905250" y="37719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Salida a Internet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82B906-CAD2-498E-819B-4334F0E4DF46}"/>
              </a:ext>
            </a:extLst>
          </p:cNvPr>
          <p:cNvSpPr>
            <a:spLocks noGrp="1"/>
          </p:cNvSpPr>
          <p:nvPr/>
        </p:nvSpPr>
        <p:spPr>
          <a:xfrm>
            <a:off x="7524750" y="377190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Descarga centralizada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AB18984-1809-4B77-BF0E-13BA4895B6CF}"/>
              </a:ext>
            </a:extLst>
          </p:cNvPr>
          <p:cNvSpPr>
            <a:spLocks noGrp="1"/>
          </p:cNvSpPr>
          <p:nvPr/>
        </p:nvSpPr>
        <p:spPr>
          <a:xfrm>
            <a:off x="762000" y="4267200"/>
            <a:ext cx="1019175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13666F-0320-4878-A20A-E848038881A6}"/>
              </a:ext>
            </a:extLst>
          </p:cNvPr>
          <p:cNvSpPr>
            <a:spLocks noGrp="1"/>
          </p:cNvSpPr>
          <p:nvPr/>
        </p:nvSpPr>
        <p:spPr>
          <a:xfrm>
            <a:off x="762000" y="4533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Operación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CFE899-A8DF-49C2-A400-6B4579FDC431}"/>
              </a:ext>
            </a:extLst>
          </p:cNvPr>
          <p:cNvSpPr>
            <a:spLocks noGrp="1"/>
          </p:cNvSpPr>
          <p:nvPr/>
        </p:nvSpPr>
        <p:spPr>
          <a:xfrm>
            <a:off x="3905250" y="45339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Menor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8211EB-71F9-4252-AFAB-FCAE1C78BC2D}"/>
              </a:ext>
            </a:extLst>
          </p:cNvPr>
          <p:cNvSpPr>
            <a:spLocks noGrp="1"/>
          </p:cNvSpPr>
          <p:nvPr/>
        </p:nvSpPr>
        <p:spPr>
          <a:xfrm>
            <a:off x="7524750" y="453390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Mayor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DE020DDA-6D73-4F61-A203-BC1476707567}"/>
              </a:ext>
            </a:extLst>
          </p:cNvPr>
          <p:cNvSpPr>
            <a:spLocks noGrp="1"/>
          </p:cNvSpPr>
          <p:nvPr/>
        </p:nvSpPr>
        <p:spPr>
          <a:xfrm>
            <a:off x="762000" y="5029200"/>
            <a:ext cx="1019175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C22B62-B79B-4300-A0FB-8C3E3D182549}"/>
              </a:ext>
            </a:extLst>
          </p:cNvPr>
          <p:cNvSpPr>
            <a:spLocks noGrp="1"/>
          </p:cNvSpPr>
          <p:nvPr/>
        </p:nvSpPr>
        <p:spPr>
          <a:xfrm>
            <a:off x="762000" y="529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Mejor encaje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3D34F6-D3D1-4989-9C07-059B40FC5094}"/>
              </a:ext>
            </a:extLst>
          </p:cNvPr>
          <p:cNvSpPr>
            <a:spLocks noGrp="1"/>
          </p:cNvSpPr>
          <p:nvPr/>
        </p:nvSpPr>
        <p:spPr>
          <a:xfrm>
            <a:off x="3905250" y="52959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54"/>
          </a:bodyPr>
          <a:lstStyle/>
          <a:p>
            <a:pPr algn="l">
              <a:defRPr sz="17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Red sólida y simplicidad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AD6BCC-CB6C-485D-9773-B2D9D2B92DA8}"/>
              </a:ext>
            </a:extLst>
          </p:cNvPr>
          <p:cNvSpPr>
            <a:spLocks noGrp="1"/>
          </p:cNvSpPr>
          <p:nvPr/>
        </p:nvSpPr>
        <p:spPr>
          <a:xfrm>
            <a:off x="7524750" y="529590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0980"/>
          </a:bodyPr>
          <a:lstStyle/>
          <a:p>
            <a:pPr algn="l">
              <a:defRPr sz="1725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Sedes, enlaces limitados o control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0F9ED323-605D-4D8D-863C-46ED3DF52037}"/>
              </a:ext>
            </a:extLst>
          </p:cNvPr>
          <p:cNvSpPr>
            <a:spLocks noGrp="1"/>
          </p:cNvSpPr>
          <p:nvPr/>
        </p:nvSpPr>
        <p:spPr>
          <a:xfrm>
            <a:off x="762000" y="5791200"/>
            <a:ext cx="1019175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66889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45CC8CC-548A-4864-ABF9-D7CD9E46689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ACTUALIZACIONES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168E59-4DBF-4F08-B1A0-78ECA2FB3A02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D9C6CEB-5E37-454B-82D3-3972418FE2B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19298B-E884-41A6-B4CD-03250C0AE338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35F23A-C823-44F0-95A6-53661C8562C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Click-to-Run actualiza por builds y deltas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DCEAEC-2135-496D-A089-F7CA357CF4A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El usuario recibe cambios pequeños y cambia de build al reabrir la aplicación.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B9D0DD-6654-46A0-9709-A7F2FFD59786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086"/>
          </a:bodyPr>
          <a:lstStyle/>
          <a:p>
            <a:pPr algn="l">
              <a:defRPr sz="46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2.º martes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FD7135-34E6-447E-8897-E73C7A8A8AE2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Microsoft publica un build completo de Office cada mes.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2BC48C39-F2B5-4431-A172-5DA02F255C66}"/>
              </a:ext>
            </a:extLst>
          </p:cNvPr>
          <p:cNvSpPr>
            <a:spLocks noGrp="1"/>
          </p:cNvSpPr>
          <p:nvPr/>
        </p:nvSpPr>
        <p:spPr>
          <a:xfrm>
            <a:off x="5095875" y="2095500"/>
            <a:ext cx="0" cy="3524250"/>
          </a:xfrm>
          <a:prstGeom prst="line">
            <a:avLst/>
          </a:prstGeom>
          <a:noFill/>
          <a:ln w="19050">
            <a:solidFill>
              <a:srgbClr val="DCE6F5"/>
            </a:solidFill>
            <a:prstDash val="solid"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9BD9C6-D404-45BB-B91C-C789306D470A}"/>
              </a:ext>
            </a:extLst>
          </p:cNvPr>
          <p:cNvSpPr>
            <a:spLocks noGrp="1"/>
          </p:cNvSpPr>
          <p:nvPr/>
        </p:nvSpPr>
        <p:spPr>
          <a:xfrm>
            <a:off x="5619750" y="2171700"/>
            <a:ext cx="361950" cy="361950"/>
          </a:xfrm>
          <a:prstGeom prst="ellipse">
            <a:avLst/>
          </a:prstGeom>
          <a:solidFill>
            <a:srgbClr val="155EEF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5DAB4D-8CCE-48C4-85CD-3AE282557590}"/>
              </a:ext>
            </a:extLst>
          </p:cNvPr>
          <p:cNvSpPr>
            <a:spLocks noGrp="1"/>
          </p:cNvSpPr>
          <p:nvPr/>
        </p:nvSpPr>
        <p:spPr>
          <a:xfrm>
            <a:off x="5619750" y="2200275"/>
            <a:ext cx="36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3AD44E-2F92-4E1B-BFB5-7AA7B8BDD3B3}"/>
              </a:ext>
            </a:extLst>
          </p:cNvPr>
          <p:cNvSpPr>
            <a:spLocks noGrp="1"/>
          </p:cNvSpPr>
          <p:nvPr/>
        </p:nvSpPr>
        <p:spPr>
          <a:xfrm>
            <a:off x="6134100" y="2152650"/>
            <a:ext cx="481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Comparar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8FDBF3-71FF-4F29-A93B-4687D8717DE6}"/>
              </a:ext>
            </a:extLst>
          </p:cNvPr>
          <p:cNvSpPr>
            <a:spLocks noGrp="1"/>
          </p:cNvSpPr>
          <p:nvPr/>
        </p:nvSpPr>
        <p:spPr>
          <a:xfrm>
            <a:off x="6134100" y="2476500"/>
            <a:ext cx="4819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Build actual vs nuevo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E8427AE-A5A8-481E-BD85-A39F72E0DFF7}"/>
              </a:ext>
            </a:extLst>
          </p:cNvPr>
          <p:cNvSpPr>
            <a:spLocks noGrp="1"/>
          </p:cNvSpPr>
          <p:nvPr/>
        </p:nvSpPr>
        <p:spPr>
          <a:xfrm>
            <a:off x="5619750" y="3009900"/>
            <a:ext cx="361950" cy="361950"/>
          </a:xfrm>
          <a:prstGeom prst="ellipse">
            <a:avLst/>
          </a:prstGeom>
          <a:solidFill>
            <a:srgbClr val="155EEF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328A9E-35E7-45E3-B8C2-AECE1C066275}"/>
              </a:ext>
            </a:extLst>
          </p:cNvPr>
          <p:cNvSpPr>
            <a:spLocks noGrp="1"/>
          </p:cNvSpPr>
          <p:nvPr/>
        </p:nvSpPr>
        <p:spPr>
          <a:xfrm>
            <a:off x="5619750" y="3038475"/>
            <a:ext cx="36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6F183A-D8F5-454C-90E2-040E31445998}"/>
              </a:ext>
            </a:extLst>
          </p:cNvPr>
          <p:cNvSpPr>
            <a:spLocks noGrp="1"/>
          </p:cNvSpPr>
          <p:nvPr/>
        </p:nvSpPr>
        <p:spPr>
          <a:xfrm>
            <a:off x="6134100" y="2990850"/>
            <a:ext cx="481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Descargar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AC9B0F-741E-4409-B723-7927FE80E6CB}"/>
              </a:ext>
            </a:extLst>
          </p:cNvPr>
          <p:cNvSpPr>
            <a:spLocks noGrp="1"/>
          </p:cNvSpPr>
          <p:nvPr/>
        </p:nvSpPr>
        <p:spPr>
          <a:xfrm>
            <a:off x="6134100" y="3314700"/>
            <a:ext cx="4819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Solo diferencias (deltas)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6D1842D-2B28-4C6B-9EFA-6428F0EEF3ED}"/>
              </a:ext>
            </a:extLst>
          </p:cNvPr>
          <p:cNvSpPr>
            <a:spLocks noGrp="1"/>
          </p:cNvSpPr>
          <p:nvPr/>
        </p:nvSpPr>
        <p:spPr>
          <a:xfrm>
            <a:off x="5619750" y="3848100"/>
            <a:ext cx="361950" cy="361950"/>
          </a:xfrm>
          <a:prstGeom prst="ellipse">
            <a:avLst/>
          </a:prstGeom>
          <a:solidFill>
            <a:srgbClr val="155EE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B328F7-EA2E-4C2B-8DD2-444DBDE8C43C}"/>
              </a:ext>
            </a:extLst>
          </p:cNvPr>
          <p:cNvSpPr>
            <a:spLocks noGrp="1"/>
          </p:cNvSpPr>
          <p:nvPr/>
        </p:nvSpPr>
        <p:spPr>
          <a:xfrm>
            <a:off x="5619750" y="3876675"/>
            <a:ext cx="36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0B28AB-AF37-43D7-8CC8-1DD632A23C15}"/>
              </a:ext>
            </a:extLst>
          </p:cNvPr>
          <p:cNvSpPr>
            <a:spLocks noGrp="1"/>
          </p:cNvSpPr>
          <p:nvPr/>
        </p:nvSpPr>
        <p:spPr>
          <a:xfrm>
            <a:off x="6134100" y="3829050"/>
            <a:ext cx="481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Aplicar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411FE2-AC8E-4101-AA1A-C399A4E4B6B6}"/>
              </a:ext>
            </a:extLst>
          </p:cNvPr>
          <p:cNvSpPr>
            <a:spLocks noGrp="1"/>
          </p:cNvSpPr>
          <p:nvPr/>
        </p:nvSpPr>
        <p:spPr>
          <a:xfrm>
            <a:off x="6134100" y="4152900"/>
            <a:ext cx="4819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En segundo plano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0D4FED9-89B5-44EA-A699-80EFA290B77E}"/>
              </a:ext>
            </a:extLst>
          </p:cNvPr>
          <p:cNvSpPr>
            <a:spLocks noGrp="1"/>
          </p:cNvSpPr>
          <p:nvPr/>
        </p:nvSpPr>
        <p:spPr>
          <a:xfrm>
            <a:off x="5619750" y="4686300"/>
            <a:ext cx="361950" cy="361950"/>
          </a:xfrm>
          <a:prstGeom prst="ellipse">
            <a:avLst/>
          </a:prstGeom>
          <a:solidFill>
            <a:srgbClr val="00A86B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F27831-D0E3-4468-B4EE-05DFC54095C6}"/>
              </a:ext>
            </a:extLst>
          </p:cNvPr>
          <p:cNvSpPr>
            <a:spLocks noGrp="1"/>
          </p:cNvSpPr>
          <p:nvPr/>
        </p:nvSpPr>
        <p:spPr>
          <a:xfrm>
            <a:off x="5619750" y="4714875"/>
            <a:ext cx="36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A2DAB8-BDCA-498E-A984-D87307487292}"/>
              </a:ext>
            </a:extLst>
          </p:cNvPr>
          <p:cNvSpPr>
            <a:spLocks noGrp="1"/>
          </p:cNvSpPr>
          <p:nvPr/>
        </p:nvSpPr>
        <p:spPr>
          <a:xfrm>
            <a:off x="6134100" y="4667250"/>
            <a:ext cx="481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Activar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9A822F-A497-4987-A709-17C3A9BCCB00}"/>
              </a:ext>
            </a:extLst>
          </p:cNvPr>
          <p:cNvSpPr>
            <a:spLocks noGrp="1"/>
          </p:cNvSpPr>
          <p:nvPr/>
        </p:nvSpPr>
        <p:spPr>
          <a:xfrm>
            <a:off x="6134100" y="4991100"/>
            <a:ext cx="4819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Al cerrar y reabrir</a:t>
            </a:r>
          </a:p>
        </p:txBody>
      </p:sp>
    </p:spTree>
    <p:extLst>
      <p:ext uri="{BB962C8B-B14F-4D97-AF65-F5344CB8AC3E}">
        <p14:creationId xmlns:p14="http://schemas.microsoft.com/office/powerpoint/2010/main" val="943523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1A142CC-B1DE-4354-8A7B-72321C1305D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ACTUALIZACIONES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D6F103-B941-48DC-B7D9-FB95848E850F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D1D066F7-BD0D-4C42-8564-42D48C89AF5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38A9D2-C93E-44DA-A559-ED65DD62CA61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8E9CEB-9AF1-44D9-8481-ED3CDA52553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4713"/>
          </a:bodyPr>
          <a:lstStyle/>
          <a:p>
            <a:pPr algn="l">
              <a:def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La fuente de actualización determina cuánto control conserva 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098952-784B-4EB6-A7A9-0405F1680652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Cuanto más control, mayor responsabilidad de programación y promoción.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5DB7796-5744-405D-A42B-98409907C39A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2857500" cy="0"/>
          </a:xfrm>
          <a:prstGeom prst="line">
            <a:avLst/>
          </a:prstGeom>
          <a:noFill/>
          <a:ln w="57150">
            <a:solidFill>
              <a:srgbClr val="155EE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3D7808-D7AF-4A46-AC33-520D1738F36C}"/>
              </a:ext>
            </a:extLst>
          </p:cNvPr>
          <p:cNvSpPr>
            <a:spLocks noGrp="1"/>
          </p:cNvSpPr>
          <p:nvPr/>
        </p:nvSpPr>
        <p:spPr>
          <a:xfrm>
            <a:off x="762000" y="24003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Cloud automático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6FD2B6-48A8-454A-83C0-5B7A588950ED}"/>
              </a:ext>
            </a:extLst>
          </p:cNvPr>
          <p:cNvSpPr>
            <a:spLocks noGrp="1"/>
          </p:cNvSpPr>
          <p:nvPr/>
        </p:nvSpPr>
        <p:spPr>
          <a:xfrm>
            <a:off x="762000" y="2933700"/>
            <a:ext cx="2857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Predeterminado. Tarea diaria comprueba y descarga deltas desde Internet.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A095EC8E-EB4A-4F4B-8987-0096BE269230}"/>
              </a:ext>
            </a:extLst>
          </p:cNvPr>
          <p:cNvSpPr>
            <a:spLocks noGrp="1"/>
          </p:cNvSpPr>
          <p:nvPr/>
        </p:nvSpPr>
        <p:spPr>
          <a:xfrm>
            <a:off x="4286250" y="2190750"/>
            <a:ext cx="2857500" cy="0"/>
          </a:xfrm>
          <a:prstGeom prst="line">
            <a:avLst/>
          </a:prstGeom>
          <a:noFill/>
          <a:ln w="57150">
            <a:solidFill>
              <a:srgbClr val="155EE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DA537D-0D86-4C74-9E44-ECBDF95A2BC2}"/>
              </a:ext>
            </a:extLst>
          </p:cNvPr>
          <p:cNvSpPr>
            <a:spLocks noGrp="1"/>
          </p:cNvSpPr>
          <p:nvPr/>
        </p:nvSpPr>
        <p:spPr>
          <a:xfrm>
            <a:off x="4286250" y="24003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Red automática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8717C7-7CC8-40EE-9634-ECE9AABA31D9}"/>
              </a:ext>
            </a:extLst>
          </p:cNvPr>
          <p:cNvSpPr>
            <a:spLocks noGrp="1"/>
          </p:cNvSpPr>
          <p:nvPr/>
        </p:nvSpPr>
        <p:spPr>
          <a:xfrm>
            <a:off x="4286250" y="2933700"/>
            <a:ext cx="2857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Group Policy o XML apuntan a una fuente interna. Frecuente en organizaciones pequeñas/medianas.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8D08D496-90C4-499C-8EE8-E7360EB88843}"/>
              </a:ext>
            </a:extLst>
          </p:cNvPr>
          <p:cNvSpPr>
            <a:spLocks noGrp="1"/>
          </p:cNvSpPr>
          <p:nvPr/>
        </p:nvSpPr>
        <p:spPr>
          <a:xfrm>
            <a:off x="7810500" y="2190750"/>
            <a:ext cx="2857500" cy="0"/>
          </a:xfrm>
          <a:prstGeom prst="line">
            <a:avLst/>
          </a:prstGeom>
          <a:noFill/>
          <a:ln w="57150">
            <a:solidFill>
              <a:srgbClr val="00A86B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751915-F6EA-4388-B139-3F9B2BF01D9B}"/>
              </a:ext>
            </a:extLst>
          </p:cNvPr>
          <p:cNvSpPr>
            <a:spLocks noGrp="1"/>
          </p:cNvSpPr>
          <p:nvPr/>
        </p:nvSpPr>
        <p:spPr>
          <a:xfrm>
            <a:off x="7810500" y="24003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ESD / setup.exe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39D1DA-2937-4E24-8CAB-F9674C07771E}"/>
              </a:ext>
            </a:extLst>
          </p:cNvPr>
          <p:cNvSpPr>
            <a:spLocks noGrp="1"/>
          </p:cNvSpPr>
          <p:nvPr/>
        </p:nvSpPr>
        <p:spPr>
          <a:xfrm>
            <a:off x="7810500" y="2933700"/>
            <a:ext cx="2857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Configuration Manager vuelve a ejecutar /configure para programar oleadas y controlar alcance.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79AE4615-F0DB-493B-ADBE-C4FF8C72670D}"/>
              </a:ext>
            </a:extLst>
          </p:cNvPr>
          <p:cNvSpPr>
            <a:spLocks noGrp="1"/>
          </p:cNvSpPr>
          <p:nvPr/>
        </p:nvSpPr>
        <p:spPr>
          <a:xfrm>
            <a:off x="762000" y="5124450"/>
            <a:ext cx="9906000" cy="0"/>
          </a:xfrm>
          <a:prstGeom prst="line">
            <a:avLst/>
          </a:prstGeom>
          <a:noFill/>
          <a:ln w="19050">
            <a:solidFill>
              <a:srgbClr val="DCE6F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2B184C-CA9C-406C-9894-30543D93F1D2}"/>
              </a:ext>
            </a:extLst>
          </p:cNvPr>
          <p:cNvSpPr>
            <a:spLocks noGrp="1"/>
          </p:cNvSpPr>
          <p:nvPr/>
        </p:nvSpPr>
        <p:spPr>
          <a:xfrm>
            <a:off x="762000" y="54102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Límite de soporte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042CB9-EE11-4B6E-964A-381F4E0A33CD}"/>
              </a:ext>
            </a:extLst>
          </p:cNvPr>
          <p:cNvSpPr>
            <a:spLocks noGrp="1"/>
          </p:cNvSpPr>
          <p:nvPr/>
        </p:nvSpPr>
        <p:spPr>
          <a:xfrm>
            <a:off x="3000375" y="5381625"/>
            <a:ext cx="7667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un cliente no puede quedar indefinidamente en un build antiguo: después de 12 meses debe actualizar.</a:t>
            </a:r>
          </a:p>
        </p:txBody>
      </p:sp>
    </p:spTree>
    <p:extLst>
      <p:ext uri="{BB962C8B-B14F-4D97-AF65-F5344CB8AC3E}">
        <p14:creationId xmlns:p14="http://schemas.microsoft.com/office/powerpoint/2010/main" val="537305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904" y="267004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6B7A90"/>
                </a:solidFill>
                <a:latin typeface="Aptos"/>
              </a:rPr>
              <a:t>CANALES DE ACTUALIZACIÓN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267004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25" b="1">
                <a:solidFill>
                  <a:srgbClr val="6B7A90"/>
                </a:solidFill>
                <a:latin typeface="Aptos"/>
              </a:rP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6474866"/>
            <a:ext cx="10972800" cy="10972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904" y="6572707"/>
            <a:ext cx="4937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B7A90"/>
                </a:solidFill>
                <a:latin typeface="Aptos"/>
              </a:rPr>
              <a:t>Material del módulo proporcionado por el usuario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85800"/>
            <a:ext cx="10561320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0B1F3A"/>
                </a:solidFill>
                <a:latin typeface="Aptos Display"/>
              </a:rPr>
              <a:t>Tres canales convierten la cadencia en una decisión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380744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0">
                <a:solidFill>
                  <a:srgbClr val="6B7A90"/>
                </a:solidFill>
                <a:latin typeface="Aptos"/>
              </a:rPr>
              <a:t>Todos entregan seguridad y correcciones; cambia la velocidad de las nuevas funciones.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29968"/>
            <a:ext cx="2907792" cy="10972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0B1F3A"/>
                </a:solidFill>
                <a:latin typeface="Aptos Display"/>
              </a:rPr>
              <a:t>Current 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71216"/>
            <a:ext cx="2907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0">
                <a:solidFill>
                  <a:srgbClr val="6B7A90"/>
                </a:solidFill>
                <a:latin typeface="Aptos"/>
              </a:rPr>
              <a:t>Funciones en cuanto están listas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93592"/>
            <a:ext cx="128016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155EEF"/>
                </a:solidFill>
                <a:latin typeface="Aptos"/>
              </a:rPr>
              <a:t>CADENCIA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2907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25" b="1">
                <a:solidFill>
                  <a:srgbClr val="0B1F3A"/>
                </a:solidFill>
                <a:latin typeface="Aptos"/>
              </a:rPr>
              <a:t>≥ 1 vez/mes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155EEF"/>
                </a:solidFill>
                <a:latin typeface="Aptos"/>
              </a:rPr>
              <a:t>DURANTE EL 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82312"/>
            <a:ext cx="290779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>
                <a:solidFill>
                  <a:srgbClr val="6B7A90"/>
                </a:solidFill>
                <a:latin typeface="Aptos"/>
              </a:rPr>
              <a:t>2–3 publicaciones mensuales típicas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13832"/>
            <a:ext cx="10972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155EEF"/>
                </a:solidFill>
                <a:latin typeface="Aptos"/>
              </a:rPr>
              <a:t>PILOTO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97296"/>
            <a:ext cx="29077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0B1F3A"/>
                </a:solidFill>
                <a:latin typeface="Aptos"/>
              </a:rPr>
              <a:t>Current Channel (Preview)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1104" y="2029968"/>
            <a:ext cx="2907792" cy="10972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61104" y="2286000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0B1F3A"/>
                </a:solidFill>
                <a:latin typeface="Aptos Display"/>
              </a:rPr>
              <a:t>Monthly 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1104" y="2871216"/>
            <a:ext cx="2907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0">
                <a:solidFill>
                  <a:srgbClr val="6B7A90"/>
                </a:solidFill>
                <a:latin typeface="Aptos"/>
              </a:rPr>
              <a:t>Una entrega predecible por 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1104" y="3593592"/>
            <a:ext cx="128016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155EEF"/>
                </a:solidFill>
                <a:latin typeface="Aptos"/>
              </a:rPr>
              <a:t>CADENCIA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1104" y="3886200"/>
            <a:ext cx="2907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25" b="1">
                <a:solidFill>
                  <a:srgbClr val="0B1F3A"/>
                </a:solidFill>
                <a:latin typeface="Aptos"/>
              </a:rPr>
              <a:t>2.º martes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1104" y="4480560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155EEF"/>
                </a:solidFill>
                <a:latin typeface="Aptos"/>
              </a:rPr>
              <a:t>DURANTE EL 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1104" y="4782312"/>
            <a:ext cx="290779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>
                <a:solidFill>
                  <a:srgbClr val="6B7A90"/>
                </a:solidFill>
                <a:latin typeface="Aptos"/>
              </a:rPr>
              <a:t>Funciones, seguridad y correcciones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1104" y="5513832"/>
            <a:ext cx="10972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155EEF"/>
                </a:solidFill>
                <a:latin typeface="Aptos"/>
              </a:rPr>
              <a:t>PILOTO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104" y="5797296"/>
            <a:ext cx="29077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0B1F3A"/>
                </a:solidFill>
                <a:latin typeface="Aptos"/>
              </a:rPr>
              <a:t>Sin preview dedicado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90688" y="2029968"/>
            <a:ext cx="2907792" cy="1097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90688" y="2286000"/>
            <a:ext cx="290779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0B1F3A"/>
                </a:solidFill>
                <a:latin typeface="Aptos Display"/>
              </a:rPr>
              <a:t>Semi-Annual Enterprise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0688" y="2871216"/>
            <a:ext cx="290779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0">
                <a:solidFill>
                  <a:srgbClr val="6B7A90"/>
                </a:solidFill>
                <a:latin typeface="Aptos"/>
              </a:rPr>
              <a:t>Funciones dos veces al año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3593592"/>
            <a:ext cx="128016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00A86B"/>
                </a:solidFill>
                <a:latin typeface="Aptos"/>
              </a:rPr>
              <a:t>CADENCIA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0688" y="3886200"/>
            <a:ext cx="2907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25" b="1">
                <a:solidFill>
                  <a:srgbClr val="0B1F3A"/>
                </a:solidFill>
                <a:latin typeface="Aptos"/>
              </a:rPr>
              <a:t>Enero y julio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0688" y="4480560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00A86B"/>
                </a:solidFill>
                <a:latin typeface="Aptos"/>
              </a:rPr>
              <a:t>DURANTE EL 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0688" y="4782312"/>
            <a:ext cx="290779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>
                <a:solidFill>
                  <a:srgbClr val="6B7A90"/>
                </a:solidFill>
                <a:latin typeface="Aptos"/>
              </a:rPr>
              <a:t>Seguridad y correcciones cada 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0688" y="5513832"/>
            <a:ext cx="10972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00A86B"/>
                </a:solidFill>
                <a:latin typeface="Aptos"/>
              </a:rPr>
              <a:t>PILOTO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0688" y="5797296"/>
            <a:ext cx="29077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0B1F3A"/>
                </a:solidFill>
                <a:latin typeface="Aptos"/>
              </a:rPr>
              <a:t>Preview en marzo y septiembre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904" y="267004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6B7A90"/>
                </a:solidFill>
                <a:latin typeface="Aptos"/>
              </a:rPr>
              <a:t>CANALES DE ACTUALIZACIÓN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267004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25" b="1">
                <a:solidFill>
                  <a:srgbClr val="6B7A90"/>
                </a:solidFill>
                <a:latin typeface="Aptos"/>
              </a:rP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6474866"/>
            <a:ext cx="10972800" cy="10972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904" y="6572707"/>
            <a:ext cx="4937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B7A90"/>
                </a:solidFill>
                <a:latin typeface="Aptos"/>
              </a:rPr>
              <a:t>Material del módulo proporcionado por el usuario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85800"/>
            <a:ext cx="10561320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0B1F3A"/>
                </a:solidFill>
                <a:latin typeface="Aptos Display"/>
              </a:rPr>
              <a:t>Current acelera; Monthly Enterprise da previsibilidad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380744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0">
                <a:solidFill>
                  <a:srgbClr val="6B7A90"/>
                </a:solidFill>
                <a:latin typeface="Aptos"/>
              </a:rPr>
              <a:t>Ambos son mensuales, pero optimizan objetivos operativos distintos.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84831"/>
            <a:ext cx="4892040" cy="10972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313432"/>
            <a:ext cx="48920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0B1F3A"/>
                </a:solidFill>
                <a:latin typeface="Aptos Display"/>
              </a:rPr>
              <a:t>Current 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07791"/>
            <a:ext cx="489204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0">
                <a:solidFill>
                  <a:srgbClr val="6B7A90"/>
                </a:solidFill>
                <a:latin typeface="Aptos"/>
              </a:rPr>
              <a:t>Recibe funciones apenas están listas, sin calendario fijo. Suele publicar dos o tres veces al mes, incluida una entrega el segundo martes.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155EEF"/>
                </a:solidFill>
                <a:latin typeface="Aptos"/>
              </a:rPr>
              <a:t>MODELO PILOTO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64608"/>
            <a:ext cx="438912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25" b="1">
                <a:solidFill>
                  <a:srgbClr val="0B1F3A"/>
                </a:solidFill>
                <a:latin typeface="Aptos Display"/>
              </a:rPr>
              <a:t>Current Channel (Preview)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21808"/>
            <a:ext cx="48006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>
                <a:solidFill>
                  <a:srgbClr val="6B7A90"/>
                </a:solidFill>
                <a:latin typeface="Aptos"/>
              </a:rPr>
              <a:t>Pequeña muestra representativa; normalmente recibe funciones al menos una semana antes.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65392" y="2084831"/>
            <a:ext cx="4892040" cy="1097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2313432"/>
            <a:ext cx="48920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0B1F3A"/>
                </a:solidFill>
                <a:latin typeface="Aptos Display"/>
              </a:rPr>
              <a:t>Monthly Enterprise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907791"/>
            <a:ext cx="489204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0">
                <a:solidFill>
                  <a:srgbClr val="6B7A90"/>
                </a:solidFill>
                <a:latin typeface="Aptos"/>
              </a:rPr>
              <a:t>Entrega una sola actualización mensual, el segundo martes. Puede combinar funciones, seguridad y correcciones no relacionadas con seguridad.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4526280"/>
            <a:ext cx="1828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00A86B"/>
                </a:solidFill>
                <a:latin typeface="Aptos"/>
              </a:rPr>
              <a:t>MODELO PILOTO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4864608"/>
            <a:ext cx="438912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25" b="1">
                <a:solidFill>
                  <a:srgbClr val="0B1F3A"/>
                </a:solidFill>
                <a:latin typeface="Aptos Display"/>
              </a:rPr>
              <a:t>Sin canal Preview dedicado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5321808"/>
            <a:ext cx="48006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>
                <a:solidFill>
                  <a:srgbClr val="6B7A90"/>
                </a:solidFill>
                <a:latin typeface="Aptos"/>
              </a:rPr>
              <a:t>Un grupo representativo adopta la nueva versión desde Office CDN y el resto se amplía durante varios días.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904" y="267004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6B7A90"/>
                </a:solidFill>
                <a:latin typeface="Aptos"/>
              </a:rPr>
              <a:t>CANALES DE ACTUALIZACIÓN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267004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25" b="1">
                <a:solidFill>
                  <a:srgbClr val="6B7A90"/>
                </a:solidFill>
                <a:latin typeface="Aptos"/>
              </a:rP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6474866"/>
            <a:ext cx="10972800" cy="10972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904" y="6572707"/>
            <a:ext cx="4937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B7A90"/>
                </a:solidFill>
                <a:latin typeface="Aptos"/>
              </a:rPr>
              <a:t>Material del módulo proporcionado por el usuario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85800"/>
            <a:ext cx="10561320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0B1F3A"/>
                </a:solidFill>
                <a:latin typeface="Aptos Display"/>
              </a:rPr>
              <a:t>Semi-Annual ofrece cuatro meses para validar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380744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0">
                <a:solidFill>
                  <a:srgbClr val="6B7A90"/>
                </a:solidFill>
                <a:latin typeface="Aptos"/>
              </a:rPr>
              <a:t>Está destinado a dispositivos con requisitos regulatorios, gubernamentales o pruebas extensas.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182112"/>
            <a:ext cx="10058400" cy="10972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3000" y="2916936"/>
            <a:ext cx="530352" cy="530352"/>
          </a:xfrm>
          <a:prstGeom prst="ellipse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8046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25" b="1">
                <a:solidFill>
                  <a:srgbClr val="155EEF"/>
                </a:solidFill>
                <a:latin typeface="Aptos Display"/>
              </a:rPr>
              <a:t>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>
                <a:solidFill>
                  <a:srgbClr val="0B1F3A"/>
                </a:solidFill>
                <a:latin typeface="Aptos Display"/>
              </a:rPr>
              <a:t>Preview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96512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0">
                <a:solidFill>
                  <a:srgbClr val="6B7A90"/>
                </a:solidFill>
                <a:latin typeface="Aptos"/>
              </a:rPr>
              <a:t>Funciones nuevas</a:t>
            </a:r>
          </a:p>
        </p:txBody>
      </p:sp>
      <p:sp>
        <p:nvSpPr>
          <p:cNvPr id="13" name="Oval 12"/>
          <p:cNvSpPr/>
          <p:nvPr/>
        </p:nvSpPr>
        <p:spPr>
          <a:xfrm>
            <a:off x="3886200" y="2916936"/>
            <a:ext cx="530352" cy="530352"/>
          </a:xfrm>
          <a:prstGeom prst="ellipse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39" y="2103120"/>
            <a:ext cx="8046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25" b="1">
                <a:solidFill>
                  <a:srgbClr val="00A86B"/>
                </a:solidFill>
                <a:latin typeface="Aptos Display"/>
              </a:rPr>
              <a:t>JUL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70332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>
                <a:solidFill>
                  <a:srgbClr val="0B1F3A"/>
                </a:solidFill>
                <a:latin typeface="Aptos Display"/>
              </a:rPr>
              <a:t>Producción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096512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0">
                <a:solidFill>
                  <a:srgbClr val="6B7A90"/>
                </a:solidFill>
                <a:latin typeface="Aptos"/>
              </a:rPr>
              <a:t>Mismas funciones</a:t>
            </a:r>
          </a:p>
        </p:txBody>
      </p:sp>
      <p:sp>
        <p:nvSpPr>
          <p:cNvPr id="17" name="Oval 16"/>
          <p:cNvSpPr/>
          <p:nvPr/>
        </p:nvSpPr>
        <p:spPr>
          <a:xfrm>
            <a:off x="6629400" y="2916936"/>
            <a:ext cx="530352" cy="530352"/>
          </a:xfrm>
          <a:prstGeom prst="ellipse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103120"/>
            <a:ext cx="8046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25" b="1">
                <a:solidFill>
                  <a:srgbClr val="155EEF"/>
                </a:solidFill>
                <a:latin typeface="Aptos Display"/>
              </a:rPr>
              <a:t>SEP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70332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>
                <a:solidFill>
                  <a:srgbClr val="0B1F3A"/>
                </a:solidFill>
                <a:latin typeface="Aptos Display"/>
              </a:rPr>
              <a:t>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096512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0">
                <a:solidFill>
                  <a:srgbClr val="6B7A90"/>
                </a:solidFill>
                <a:latin typeface="Aptos"/>
              </a:rPr>
              <a:t>Funciones nuevas</a:t>
            </a:r>
          </a:p>
        </p:txBody>
      </p:sp>
      <p:sp>
        <p:nvSpPr>
          <p:cNvPr id="21" name="Oval 20"/>
          <p:cNvSpPr/>
          <p:nvPr/>
        </p:nvSpPr>
        <p:spPr>
          <a:xfrm>
            <a:off x="9372600" y="2916936"/>
            <a:ext cx="530352" cy="530352"/>
          </a:xfrm>
          <a:prstGeom prst="ellipse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2103120"/>
            <a:ext cx="80467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25" b="1">
                <a:solidFill>
                  <a:srgbClr val="00A86B"/>
                </a:solidFill>
                <a:latin typeface="Aptos Display"/>
              </a:rPr>
              <a:t>ENE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70332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>
                <a:solidFill>
                  <a:srgbClr val="0B1F3A"/>
                </a:solidFill>
                <a:latin typeface="Aptos Display"/>
              </a:rPr>
              <a:t>Producción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4096512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0">
                <a:solidFill>
                  <a:srgbClr val="6B7A90"/>
                </a:solidFill>
                <a:latin typeface="Aptos"/>
              </a:rPr>
              <a:t>Mismas funciones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2816352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55EEF"/>
                </a:solidFill>
                <a:latin typeface="Aptos"/>
              </a:rPr>
              <a:t>4 meses de validación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816352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55EEF"/>
                </a:solidFill>
                <a:latin typeface="Aptos"/>
              </a:rPr>
              <a:t>4 meses de validación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074920"/>
            <a:ext cx="10744200" cy="10972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5321808"/>
            <a:ext cx="21031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00A86B"/>
                </a:solidFill>
                <a:latin typeface="Aptos"/>
              </a:rPr>
              <a:t>CADA SEGUNDO MARTES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5285232"/>
            <a:ext cx="8321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0">
                <a:solidFill>
                  <a:srgbClr val="0B1F3A"/>
                </a:solidFill>
                <a:latin typeface="Aptos"/>
              </a:rPr>
              <a:t>el canal y su Preview reciben seguridad y correcciones no relacionadas con seguridad cuando son necesarias.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916168"/>
            <a:ext cx="21031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155EEF"/>
                </a:solidFill>
                <a:latin typeface="Aptos"/>
              </a:rPr>
              <a:t>PILOTO RECOMENDADO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5879592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0">
                <a:solidFill>
                  <a:srgbClr val="0B1F3A"/>
                </a:solidFill>
                <a:latin typeface="Aptos"/>
              </a:rPr>
              <a:t>muestra pequeña y representativa para detectar incidencias antes de la distribución amplia.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904" y="267004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6B7A90"/>
                </a:solidFill>
                <a:latin typeface="Aptos"/>
              </a:rPr>
              <a:t>CANALES DE ACTUALIZACIÓN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267004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25" b="1">
                <a:solidFill>
                  <a:srgbClr val="6B7A90"/>
                </a:solidFill>
                <a:latin typeface="Aptos"/>
              </a:rP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6474866"/>
            <a:ext cx="10972800" cy="10972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904" y="6572707"/>
            <a:ext cx="4937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B7A90"/>
                </a:solidFill>
                <a:latin typeface="Aptos"/>
              </a:rPr>
              <a:t>Material del módulo proporcionado por el usuario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85800"/>
            <a:ext cx="10561320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0B1F3A"/>
                </a:solidFill>
                <a:latin typeface="Aptos Display"/>
              </a:rPr>
              <a:t>El canal se elige por negocio y se aplica por anillos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380744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0">
                <a:solidFill>
                  <a:srgbClr val="6B7A90"/>
                </a:solidFill>
                <a:latin typeface="Aptos"/>
              </a:rPr>
              <a:t>Combine recomendación, contexto y mecanismo de asignación.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93392"/>
            <a:ext cx="28346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155EEF"/>
                </a:solidFill>
                <a:latin typeface="Aptos"/>
              </a:rPr>
              <a:t>RECOMENDACIÓN DE MICROSOFT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395728"/>
            <a:ext cx="347472" cy="347472"/>
          </a:xfrm>
          <a:prstGeom prst="ellipse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427732"/>
            <a:ext cx="3474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377440"/>
            <a:ext cx="28346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0B1F3A"/>
                </a:solidFill>
                <a:latin typeface="Aptos"/>
              </a:rPr>
              <a:t>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06624"/>
            <a:ext cx="28346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>
                <a:solidFill>
                  <a:srgbClr val="6B7A90"/>
                </a:solidFill>
                <a:latin typeface="Aptos"/>
              </a:rPr>
              <a:t>Nuevas funciones tan pronto como están listas.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337560"/>
            <a:ext cx="347472" cy="347472"/>
          </a:xfrm>
          <a:prstGeom prst="ellipse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369564"/>
            <a:ext cx="3474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19272"/>
            <a:ext cx="28346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0B1F3A"/>
                </a:solidFill>
                <a:latin typeface="Aptos"/>
              </a:rPr>
              <a:t>Monthly 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648456"/>
            <a:ext cx="28346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>
                <a:solidFill>
                  <a:srgbClr val="6B7A90"/>
                </a:solidFill>
                <a:latin typeface="Aptos"/>
              </a:rPr>
              <a:t>Un lanzamiento mensual con fecha predecible.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279392"/>
            <a:ext cx="347472" cy="347472"/>
          </a:xfrm>
          <a:prstGeom prst="ellipse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311396"/>
            <a:ext cx="3474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261104"/>
            <a:ext cx="28346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0B1F3A"/>
                </a:solidFill>
                <a:latin typeface="Aptos"/>
              </a:rPr>
              <a:t>Semi-Annual Enterprise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590288"/>
            <a:ext cx="28346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>
                <a:solidFill>
                  <a:srgbClr val="6B7A90"/>
                </a:solidFill>
                <a:latin typeface="Aptos"/>
              </a:rPr>
              <a:t>Dispositivos selectos con pruebas extensas.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85232"/>
            <a:ext cx="347472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00A86B"/>
                </a:solidFill>
                <a:latin typeface="Aptos"/>
              </a:rPr>
              <a:t>FACTORES QUE CAMBIAN LA DECISIÓN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50992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0B1F3A"/>
                </a:solidFill>
                <a:latin typeface="Aptos"/>
              </a:rPr>
              <a:t>ancho de banda · capacitación y soporte · aplicaciones de negocio · requisitos organizacionales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1920240"/>
            <a:ext cx="10972" cy="4224528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57800" y="1993392"/>
            <a:ext cx="28346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00A86B"/>
                </a:solidFill>
                <a:latin typeface="Aptos"/>
              </a:rPr>
              <a:t>CÓMO APLICAR EL CANAL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24231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55EEF"/>
                </a:solidFill>
                <a:latin typeface="Aptos Display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2423160"/>
            <a:ext cx="5166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 Display"/>
              </a:rPr>
              <a:t>Microsoft 365 admin center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862072"/>
            <a:ext cx="51663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>
                <a:solidFill>
                  <a:srgbClr val="6B7A90"/>
                </a:solidFill>
                <a:latin typeface="Aptos"/>
              </a:rPr>
              <a:t>As soon as ready · Once a month · Every six months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50215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55EEF"/>
                </a:solidFill>
                <a:latin typeface="Aptos Display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3502152"/>
            <a:ext cx="5166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 Display"/>
              </a:rPr>
              <a:t>Office Deployment Tool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941064"/>
            <a:ext cx="51663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>
                <a:solidFill>
                  <a:srgbClr val="6B7A90"/>
                </a:solidFill>
                <a:latin typeface="Aptos"/>
              </a:rPr>
              <a:t>Cambiar Channel en configuration.xml; XML distintos por grupo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4581144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00A86B"/>
                </a:solidFill>
                <a:latin typeface="Aptos Display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4581144"/>
            <a:ext cx="5166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 Display"/>
              </a:rPr>
              <a:t>Group Policy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5020056"/>
            <a:ext cx="51663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>
                <a:solidFill>
                  <a:srgbClr val="6B7A90"/>
                </a:solidFill>
                <a:latin typeface="Aptos"/>
              </a:rPr>
              <a:t>Office 2016 (Machine) \ Updates; canal por GPO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5705856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>
                <a:solidFill>
                  <a:srgbClr val="D92D20"/>
                </a:solidFill>
                <a:latin typeface="Aptos"/>
              </a:rPr>
              <a:t>Cambio descendente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650992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>
                <a:solidFill>
                  <a:srgbClr val="0B1F3A"/>
                </a:solidFill>
                <a:latin typeface="Aptos"/>
              </a:rPr>
              <a:t>al pasar de mensual a semestral, los usuarios pierden funciones destinadas a versiones futuras.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8CCADAE-539D-4661-BB6C-B4039E260BD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ACTUALIZACIONES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A40931-2E79-4964-BD90-0ACAF351EC50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lang="en-US"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25</a:t>
            </a:r>
            <a:endParaRPr sz="1425" b="1">
              <a:solidFill>
                <a:srgbClr val="6B7A9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DF156F5-E988-471A-A537-0FE7126B29B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F499EB-D647-4D8B-9EB8-1516DBB406CA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46F25-26B2-4426-A19B-24B6AEB6AAF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1478"/>
          </a:bodyPr>
          <a:lstStyle/>
          <a:p>
            <a:pPr algn="l">
              <a:def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configuration.xml fija habilitación, origen y versión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D4C6EF-C3E6-4DB7-838D-93344A80FC6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Tres parámetros concentran el comportamiento del cliente.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9FE843-1624-4FDA-B5F2-AA2FE764221A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668000" cy="781050"/>
          </a:xfrm>
          <a:prstGeom prst="rect">
            <a:avLst/>
          </a:prstGeom>
          <a:solidFill>
            <a:srgbClr val="0B1F3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04AA25-95CA-4460-A915-91B1B0482458}"/>
              </a:ext>
            </a:extLst>
          </p:cNvPr>
          <p:cNvSpPr>
            <a:spLocks noGrp="1"/>
          </p:cNvSpPr>
          <p:nvPr/>
        </p:nvSpPr>
        <p:spPr>
          <a:xfrm>
            <a:off x="1047750" y="2333625"/>
            <a:ext cx="1009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&lt;Updates Enabled="TRUE" UpdatePath="\\Server\Share\Office\" /&gt;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0551BA-AE31-4192-8C2B-C077A08DB7DB}"/>
              </a:ext>
            </a:extLst>
          </p:cNvPr>
          <p:cNvSpPr>
            <a:spLocks noGrp="1"/>
          </p:cNvSpPr>
          <p:nvPr/>
        </p:nvSpPr>
        <p:spPr>
          <a:xfrm>
            <a:off x="857250" y="33528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Enabled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D3EE1C-C31A-42BB-A1C2-164BCFEEE21A}"/>
              </a:ext>
            </a:extLst>
          </p:cNvPr>
          <p:cNvSpPr>
            <a:spLocks noGrp="1"/>
          </p:cNvSpPr>
          <p:nvPr/>
        </p:nvSpPr>
        <p:spPr>
          <a:xfrm>
            <a:off x="3333750" y="3371850"/>
            <a:ext cx="7620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TRUE activa detección, descarga e instalación automáticas.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D27281A-2224-4BC7-9F00-95D74EF45767}"/>
              </a:ext>
            </a:extLst>
          </p:cNvPr>
          <p:cNvSpPr>
            <a:spLocks noGrp="1"/>
          </p:cNvSpPr>
          <p:nvPr/>
        </p:nvSpPr>
        <p:spPr>
          <a:xfrm>
            <a:off x="857250" y="3905250"/>
            <a:ext cx="100965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934E77-800D-40A7-B78B-4D139CFA9C3B}"/>
              </a:ext>
            </a:extLst>
          </p:cNvPr>
          <p:cNvSpPr>
            <a:spLocks noGrp="1"/>
          </p:cNvSpPr>
          <p:nvPr/>
        </p:nvSpPr>
        <p:spPr>
          <a:xfrm>
            <a:off x="857250" y="41338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UpdatePath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1465-2E3B-476C-B078-D5AAC5BF7E9C}"/>
              </a:ext>
            </a:extLst>
          </p:cNvPr>
          <p:cNvSpPr>
            <a:spLocks noGrp="1"/>
          </p:cNvSpPr>
          <p:nvPr/>
        </p:nvSpPr>
        <p:spPr>
          <a:xfrm>
            <a:off x="3333750" y="4152900"/>
            <a:ext cx="7620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Ruta de red, local o HTTP; sin valor usa Internet.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85785F81-6C4B-45AF-B834-1EB22BB0935A}"/>
              </a:ext>
            </a:extLst>
          </p:cNvPr>
          <p:cNvSpPr>
            <a:spLocks noGrp="1"/>
          </p:cNvSpPr>
          <p:nvPr/>
        </p:nvSpPr>
        <p:spPr>
          <a:xfrm>
            <a:off x="857250" y="4686300"/>
            <a:ext cx="100965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248861-95CD-4691-AD70-65A7D5DBBB32}"/>
              </a:ext>
            </a:extLst>
          </p:cNvPr>
          <p:cNvSpPr>
            <a:spLocks noGrp="1"/>
          </p:cNvSpPr>
          <p:nvPr/>
        </p:nvSpPr>
        <p:spPr>
          <a:xfrm>
            <a:off x="857250" y="49149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00A86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0A86B"/>
                </a:solidFill>
                <a:latin typeface="Aptos Display"/>
                <a:ea typeface="Aptos Display"/>
                <a:cs typeface="Aptos Display"/>
              </a:rPr>
              <a:t>TargetVersion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802FF9-C8C6-4F88-96DA-2A61DAABF15F}"/>
              </a:ext>
            </a:extLst>
          </p:cNvPr>
          <p:cNvSpPr>
            <a:spLocks noGrp="1"/>
          </p:cNvSpPr>
          <p:nvPr/>
        </p:nvSpPr>
        <p:spPr>
          <a:xfrm>
            <a:off x="3333750" y="4933950"/>
            <a:ext cx="7620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Build específico para la próxima actualización.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E69B6FF1-488F-4799-A6F1-A1104C4D3562}"/>
              </a:ext>
            </a:extLst>
          </p:cNvPr>
          <p:cNvSpPr>
            <a:spLocks noGrp="1"/>
          </p:cNvSpPr>
          <p:nvPr/>
        </p:nvSpPr>
        <p:spPr>
          <a:xfrm>
            <a:off x="857250" y="5467350"/>
            <a:ext cx="100965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005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E121560-37A6-4F57-A896-D55AC48B229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MICROSOFT INTUNE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CE9AA8-2FE9-4A81-BACD-13A6D3936234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lang="en-US"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26</a:t>
            </a:r>
            <a:endParaRPr sz="1425" b="1">
              <a:solidFill>
                <a:srgbClr val="6B7A9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DE05F00-86BB-4B85-B5C3-7D27CEE54AB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7E7AA8-BAEC-4D56-B0E3-51B6573A134F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F9E089-6D56-4583-9D4F-BB0EB84DC3B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Intune une distribución y seguridad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3DCABD-854D-46C7-A785-3630F5934B3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Una misma plataforma asigna aplicaciones y postura de seguridad.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CBC803-920A-4440-8694-6310D99BE247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476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3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Windows 10+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6B5FAD-9FE4-4AC0-B70C-9D0C0DC45583}"/>
              </a:ext>
            </a:extLst>
          </p:cNvPr>
          <p:cNvSpPr>
            <a:spLocks noGrp="1"/>
          </p:cNvSpPr>
          <p:nvPr/>
        </p:nvSpPr>
        <p:spPr>
          <a:xfrm>
            <a:off x="857250" y="29718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dispositivos compatibles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DAD3F588-B4D1-46F2-B8D4-5F43F2D07FF4}"/>
              </a:ext>
            </a:extLst>
          </p:cNvPr>
          <p:cNvSpPr>
            <a:spLocks noGrp="1"/>
          </p:cNvSpPr>
          <p:nvPr/>
        </p:nvSpPr>
        <p:spPr>
          <a:xfrm>
            <a:off x="5810250" y="2095500"/>
            <a:ext cx="0" cy="3429000"/>
          </a:xfrm>
          <a:prstGeom prst="line">
            <a:avLst/>
          </a:prstGeom>
          <a:noFill/>
          <a:ln w="19050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6651BE-099F-4AEC-9C7B-DB032BC6F22B}"/>
              </a:ext>
            </a:extLst>
          </p:cNvPr>
          <p:cNvSpPr>
            <a:spLocks noGrp="1"/>
          </p:cNvSpPr>
          <p:nvPr/>
        </p:nvSpPr>
        <p:spPr>
          <a:xfrm>
            <a:off x="6381750" y="21717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00A86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A86B"/>
                </a:solidFill>
                <a:latin typeface="Aptos"/>
                <a:ea typeface="Aptos"/>
                <a:cs typeface="Aptos"/>
              </a:rPr>
              <a:t>DOS ACCIONES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315D5D-3318-4915-AA87-5A48FD6FB9E5}"/>
              </a:ext>
            </a:extLst>
          </p:cNvPr>
          <p:cNvSpPr>
            <a:spLocks noGrp="1"/>
          </p:cNvSpPr>
          <p:nvPr/>
        </p:nvSpPr>
        <p:spPr>
          <a:xfrm>
            <a:off x="6381750" y="26479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Distribuir Microsoft 365 Apps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C80DBC-256E-4DB5-A0C5-7DCB176262E5}"/>
              </a:ext>
            </a:extLst>
          </p:cNvPr>
          <p:cNvSpPr>
            <a:spLocks noGrp="1"/>
          </p:cNvSpPr>
          <p:nvPr/>
        </p:nvSpPr>
        <p:spPr>
          <a:xfrm>
            <a:off x="6381750" y="31051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a dispositivos administrados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45E6D335-4C63-42C0-BD6F-21155874CA08}"/>
              </a:ext>
            </a:extLst>
          </p:cNvPr>
          <p:cNvSpPr>
            <a:spLocks noGrp="1"/>
          </p:cNvSpPr>
          <p:nvPr/>
        </p:nvSpPr>
        <p:spPr>
          <a:xfrm>
            <a:off x="6381750" y="3638550"/>
            <a:ext cx="4381500" cy="0"/>
          </a:xfrm>
          <a:prstGeom prst="line">
            <a:avLst/>
          </a:prstGeom>
          <a:noFill/>
          <a:ln w="19050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1371A0-BE03-4BA6-B2EE-49B270882E49}"/>
              </a:ext>
            </a:extLst>
          </p:cNvPr>
          <p:cNvSpPr>
            <a:spLocks noGrp="1"/>
          </p:cNvSpPr>
          <p:nvPr/>
        </p:nvSpPr>
        <p:spPr>
          <a:xfrm>
            <a:off x="6381750" y="400050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Aplicar security baseline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F5EA20-91D5-41F9-AC09-8371D09764A3}"/>
              </a:ext>
            </a:extLst>
          </p:cNvPr>
          <p:cNvSpPr>
            <a:spLocks noGrp="1"/>
          </p:cNvSpPr>
          <p:nvPr/>
        </p:nvSpPr>
        <p:spPr>
          <a:xfrm>
            <a:off x="6381750" y="44577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a usuarios, grupos o dispositivos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FC4765-C6A4-4759-9E2D-CB1103304B77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00A86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A86B"/>
                </a:solidFill>
                <a:latin typeface="Aptos"/>
                <a:ea typeface="Aptos"/>
                <a:cs typeface="Aptos"/>
              </a:rPr>
              <a:t>Recomendación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63C8E8-F80C-4E56-960C-EA39316847A5}"/>
              </a:ext>
            </a:extLst>
          </p:cNvPr>
          <p:cNvSpPr>
            <a:spLocks noGrp="1"/>
          </p:cNvSpPr>
          <p:nvPr/>
        </p:nvSpPr>
        <p:spPr>
          <a:xfrm>
            <a:off x="2857500" y="5295900"/>
            <a:ext cx="790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384"/>
          </a:bodyPr>
          <a:lstStyle/>
          <a:p>
            <a:pPr algn="l">
              <a:defRPr sz="16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use asignaciones por anillos para conservar el patrón piloto → amplio.</a:t>
            </a:r>
          </a:p>
        </p:txBody>
      </p:sp>
    </p:spTree>
    <p:extLst>
      <p:ext uri="{BB962C8B-B14F-4D97-AF65-F5344CB8AC3E}">
        <p14:creationId xmlns:p14="http://schemas.microsoft.com/office/powerpoint/2010/main" val="751528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60EDD04-F897-4517-9681-DBB53D68EB0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RECOMENDACIÓN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BB34C9-15C5-4729-90E0-77923322FE27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lang="en-US" sz="1425" b="1">
                <a:solidFill>
                  <a:srgbClr val="6B7A90"/>
                </a:solidFill>
                <a:latin typeface="Aptos"/>
                <a:ea typeface="Aptos"/>
                <a:cs typeface="Aptos"/>
              </a:rPr>
              <a:t>27</a:t>
            </a:r>
            <a:endParaRPr sz="1425" b="1">
              <a:solidFill>
                <a:srgbClr val="6B7A9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8F54C8D-F575-4F7E-87AB-2011876EBE8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CE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80CC1C-D0FA-4B1B-98DB-771E5C306EF5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9AB8EC-B07A-4B5F-93DD-04CD50DB124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Pilotear, observar y ampliar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4537FF-024D-47E7-8EF6-97711A6F0A5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Una hoja de ruta simple conserva control sin frenar la adopción.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69BF09-93CB-4FC4-85D2-3E9B8263F167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85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B3673A5E-978A-437A-A3BE-34370DE80DD0}"/>
              </a:ext>
            </a:extLst>
          </p:cNvPr>
          <p:cNvSpPr>
            <a:spLocks noGrp="1"/>
          </p:cNvSpPr>
          <p:nvPr/>
        </p:nvSpPr>
        <p:spPr>
          <a:xfrm>
            <a:off x="714375" y="2724150"/>
            <a:ext cx="2286000" cy="0"/>
          </a:xfrm>
          <a:prstGeom prst="line">
            <a:avLst/>
          </a:prstGeom>
          <a:noFill/>
          <a:ln w="47625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EF3DF3-693F-41AC-A7A3-8F22301E7C13}"/>
              </a:ext>
            </a:extLst>
          </p:cNvPr>
          <p:cNvSpPr>
            <a:spLocks noGrp="1"/>
          </p:cNvSpPr>
          <p:nvPr/>
        </p:nvSpPr>
        <p:spPr>
          <a:xfrm>
            <a:off x="714375" y="29908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DECIDIR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08E3D6-395E-4EB3-9C89-9DFEC2564827}"/>
              </a:ext>
            </a:extLst>
          </p:cNvPr>
          <p:cNvSpPr>
            <a:spLocks noGrp="1"/>
          </p:cNvSpPr>
          <p:nvPr/>
        </p:nvSpPr>
        <p:spPr>
          <a:xfrm>
            <a:off x="714375" y="3467100"/>
            <a:ext cx="2286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Control, red, escala y permisos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48015B-BF34-48AC-AECF-1FD56D1C9B76}"/>
              </a:ext>
            </a:extLst>
          </p:cNvPr>
          <p:cNvSpPr>
            <a:spLocks noGrp="1"/>
          </p:cNvSpPr>
          <p:nvPr/>
        </p:nvSpPr>
        <p:spPr>
          <a:xfrm>
            <a:off x="3571875" y="2143125"/>
            <a:ext cx="85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7E8DC590-A647-41C4-ABF8-FD623BBCB50F}"/>
              </a:ext>
            </a:extLst>
          </p:cNvPr>
          <p:cNvSpPr>
            <a:spLocks noGrp="1"/>
          </p:cNvSpPr>
          <p:nvPr/>
        </p:nvSpPr>
        <p:spPr>
          <a:xfrm>
            <a:off x="3571875" y="2724150"/>
            <a:ext cx="2286000" cy="0"/>
          </a:xfrm>
          <a:prstGeom prst="line">
            <a:avLst/>
          </a:prstGeom>
          <a:noFill/>
          <a:ln w="47625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8F66DC-09F5-4F66-A243-CDC227C61938}"/>
              </a:ext>
            </a:extLst>
          </p:cNvPr>
          <p:cNvSpPr>
            <a:spLocks noGrp="1"/>
          </p:cNvSpPr>
          <p:nvPr/>
        </p:nvSpPr>
        <p:spPr>
          <a:xfrm>
            <a:off x="3571875" y="29908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PREPARAR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9A77C2-8501-45BF-9FD3-0723490B2E37}"/>
              </a:ext>
            </a:extLst>
          </p:cNvPr>
          <p:cNvSpPr>
            <a:spLocks noGrp="1"/>
          </p:cNvSpPr>
          <p:nvPr/>
        </p:nvSpPr>
        <p:spPr>
          <a:xfrm>
            <a:off x="3571875" y="3467100"/>
            <a:ext cx="2286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Canales, groups, XML, shares y políticas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13C535-46CD-413A-97A5-4530AD8F218F}"/>
              </a:ext>
            </a:extLst>
          </p:cNvPr>
          <p:cNvSpPr>
            <a:spLocks noGrp="1"/>
          </p:cNvSpPr>
          <p:nvPr/>
        </p:nvSpPr>
        <p:spPr>
          <a:xfrm>
            <a:off x="6429375" y="2143125"/>
            <a:ext cx="85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55EE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0253B073-A168-4C3D-A202-5E437F00BF85}"/>
              </a:ext>
            </a:extLst>
          </p:cNvPr>
          <p:cNvSpPr>
            <a:spLocks noGrp="1"/>
          </p:cNvSpPr>
          <p:nvPr/>
        </p:nvSpPr>
        <p:spPr>
          <a:xfrm>
            <a:off x="6429375" y="2724150"/>
            <a:ext cx="2286000" cy="0"/>
          </a:xfrm>
          <a:prstGeom prst="line">
            <a:avLst/>
          </a:prstGeom>
          <a:noFill/>
          <a:ln w="47625">
            <a:solidFill>
              <a:srgbClr val="155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224E2F-F9DE-42D4-A67D-77395510171E}"/>
              </a:ext>
            </a:extLst>
          </p:cNvPr>
          <p:cNvSpPr>
            <a:spLocks noGrp="1"/>
          </p:cNvSpPr>
          <p:nvPr/>
        </p:nvSpPr>
        <p:spPr>
          <a:xfrm>
            <a:off x="6429375" y="29908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PILOTAR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A82BE3-26CF-497B-864E-01472DC7B714}"/>
              </a:ext>
            </a:extLst>
          </p:cNvPr>
          <p:cNvSpPr>
            <a:spLocks noGrp="1"/>
          </p:cNvSpPr>
          <p:nvPr/>
        </p:nvSpPr>
        <p:spPr>
          <a:xfrm>
            <a:off x="6429375" y="3467100"/>
            <a:ext cx="2286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Preview, hardware, drivers y aplicaciones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AFD31D-196F-4084-89C6-719CEFFFC6CD}"/>
              </a:ext>
            </a:extLst>
          </p:cNvPr>
          <p:cNvSpPr>
            <a:spLocks noGrp="1"/>
          </p:cNvSpPr>
          <p:nvPr/>
        </p:nvSpPr>
        <p:spPr>
          <a:xfrm>
            <a:off x="9286875" y="2143125"/>
            <a:ext cx="85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>
                <a:solidFill>
                  <a:srgbClr val="00A86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0A86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CADA6563-88AD-42FE-B81A-8ACC88A3B094}"/>
              </a:ext>
            </a:extLst>
          </p:cNvPr>
          <p:cNvSpPr>
            <a:spLocks noGrp="1"/>
          </p:cNvSpPr>
          <p:nvPr/>
        </p:nvSpPr>
        <p:spPr>
          <a:xfrm>
            <a:off x="9286875" y="2724150"/>
            <a:ext cx="2286000" cy="0"/>
          </a:xfrm>
          <a:prstGeom prst="line">
            <a:avLst/>
          </a:prstGeom>
          <a:noFill/>
          <a:ln w="47625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8F50CA-3C2F-4A49-B9D7-C75D7C9384B4}"/>
              </a:ext>
            </a:extLst>
          </p:cNvPr>
          <p:cNvSpPr>
            <a:spLocks noGrp="1"/>
          </p:cNvSpPr>
          <p:nvPr/>
        </p:nvSpPr>
        <p:spPr>
          <a:xfrm>
            <a:off x="9286875" y="29908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A"/>
                </a:solidFill>
                <a:latin typeface="Aptos"/>
                <a:ea typeface="Aptos"/>
                <a:cs typeface="Aptos"/>
              </a:rPr>
              <a:t>AMPLIAR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75DD40-3351-42F1-8942-0A65F928712E}"/>
              </a:ext>
            </a:extLst>
          </p:cNvPr>
          <p:cNvSpPr>
            <a:spLocks noGrp="1"/>
          </p:cNvSpPr>
          <p:nvPr/>
        </p:nvSpPr>
        <p:spPr>
          <a:xfrm>
            <a:off x="9286875" y="3467100"/>
            <a:ext cx="2286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6B7A9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B7A90"/>
                </a:solidFill>
                <a:latin typeface="Aptos"/>
                <a:ea typeface="Aptos"/>
                <a:cs typeface="Aptos"/>
              </a:rPr>
              <a:t>Canal estable, telemetría y actualización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E15BF0-A8EB-40E5-969D-68B8E090A6D6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723900"/>
          </a:xfrm>
          <a:prstGeom prst="rect">
            <a:avLst/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B28967A-9337-4748-B35C-01B38D273DD2}"/>
              </a:ext>
            </a:extLst>
          </p:cNvPr>
          <p:cNvSpPr>
            <a:spLocks noGrp="1"/>
          </p:cNvSpPr>
          <p:nvPr/>
        </p:nvSpPr>
        <p:spPr>
          <a:xfrm>
            <a:off x="1000125" y="53340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18"/>
          </a:bodyPr>
          <a:lstStyle/>
          <a:p>
            <a:pPr algn="l">
              <a:defRPr sz="1425" b="1">
                <a:solidFill>
                  <a:srgbClr val="155EE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5EEF"/>
                </a:solidFill>
                <a:latin typeface="Aptos"/>
                <a:ea typeface="Aptos"/>
                <a:cs typeface="Aptos"/>
              </a:rPr>
              <a:t>Decisión predeterminada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81F4AF-9C65-43E5-ADB4-3EB282DFB5CE}"/>
              </a:ext>
            </a:extLst>
          </p:cNvPr>
          <p:cNvSpPr>
            <a:spLocks noGrp="1"/>
          </p:cNvSpPr>
          <p:nvPr/>
        </p:nvSpPr>
        <p:spPr>
          <a:xfrm>
            <a:off x="3714750" y="5276850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333"/>
          </a:bodyPr>
          <a:lstStyle/>
          <a:p>
            <a:pPr algn="l">
              <a:defRPr sz="157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64 bits · piloto Preview · amplio estable · actualizaciones automáticas, salvo restricción de red.</a:t>
            </a:r>
          </a:p>
        </p:txBody>
      </p:sp>
    </p:spTree>
    <p:extLst>
      <p:ext uri="{BB962C8B-B14F-4D97-AF65-F5344CB8AC3E}">
        <p14:creationId xmlns:p14="http://schemas.microsoft.com/office/powerpoint/2010/main" val="16429610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48E85CE-7C5E-4F7E-A378-BA4C6B72470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2FE5BB-0FBE-4F2F-9007-E6B940AD51CF}"/>
              </a:ext>
            </a:extLst>
          </p:cNvPr>
          <p:cNvSpPr>
            <a:spLocks noGrp="1"/>
          </p:cNvSpPr>
          <p:nvPr/>
        </p:nvSpPr>
        <p:spPr>
          <a:xfrm>
            <a:off x="11277600" y="2667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28</a:t>
            </a:r>
            <a:endParaRPr sz="14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D8A60BEF-8657-498C-A134-B3EFCF09FBF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274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E28B6F-92C1-481E-8C05-5FBAD6446BB3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495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Material del módulo proporcionado por el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CED118-39C0-47E5-A9DC-4C6990B92DB8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05"/>
          </a:bodyPr>
          <a:lstStyle/>
          <a:p>
            <a:pPr algn="l">
              <a:defRPr sz="35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Cuatro decisiones dejan el despliegue listo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EA3117-AFDB-4762-BFF2-35DC1734E29C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00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BFCBD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CBDA"/>
                </a:solidFill>
                <a:latin typeface="Aptos"/>
                <a:ea typeface="Aptos"/>
                <a:cs typeface="Aptos"/>
              </a:rPr>
              <a:t>Si cada una tiene un dueño y un criterio, el resto se convierte en ejecución.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8AFFE2-116A-42F9-9B3B-E5FD84E83E58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6EA1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6EA1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F3CF6F-1A35-4FC4-9088-34FFF6DFBD2C}"/>
              </a:ext>
            </a:extLst>
          </p:cNvPr>
          <p:cNvSpPr>
            <a:spLocks noGrp="1"/>
          </p:cNvSpPr>
          <p:nvPr/>
        </p:nvSpPr>
        <p:spPr>
          <a:xfrm>
            <a:off x="704850" y="319087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Método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39E16A-5105-4573-80F8-2D79A7E367A8}"/>
              </a:ext>
            </a:extLst>
          </p:cNvPr>
          <p:cNvSpPr>
            <a:spLocks noGrp="1"/>
          </p:cNvSpPr>
          <p:nvPr/>
        </p:nvSpPr>
        <p:spPr>
          <a:xfrm>
            <a:off x="704850" y="3657600"/>
            <a:ext cx="2286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BFCB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FCBDA"/>
                </a:solidFill>
                <a:latin typeface="Aptos"/>
                <a:ea typeface="Aptos"/>
                <a:cs typeface="Aptos"/>
              </a:rPr>
              <a:t>Self-service o centralizado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094846-0245-4F33-840D-A22654201B41}"/>
              </a:ext>
            </a:extLst>
          </p:cNvPr>
          <p:cNvSpPr>
            <a:spLocks noGrp="1"/>
          </p:cNvSpPr>
          <p:nvPr/>
        </p:nvSpPr>
        <p:spPr>
          <a:xfrm>
            <a:off x="3524250" y="2571750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6EA1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6EA1F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D2121B-CDB8-4E9B-979A-77B632E09EB9}"/>
              </a:ext>
            </a:extLst>
          </p:cNvPr>
          <p:cNvSpPr>
            <a:spLocks noGrp="1"/>
          </p:cNvSpPr>
          <p:nvPr/>
        </p:nvSpPr>
        <p:spPr>
          <a:xfrm>
            <a:off x="3524250" y="319087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Fuente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20C95A-039F-4811-BBD1-A1DE79A5638B}"/>
              </a:ext>
            </a:extLst>
          </p:cNvPr>
          <p:cNvSpPr>
            <a:spLocks noGrp="1"/>
          </p:cNvSpPr>
          <p:nvPr/>
        </p:nvSpPr>
        <p:spPr>
          <a:xfrm>
            <a:off x="3524250" y="3657600"/>
            <a:ext cx="2286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BFCB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FCBDA"/>
                </a:solidFill>
                <a:latin typeface="Aptos"/>
                <a:ea typeface="Aptos"/>
                <a:cs typeface="Aptos"/>
              </a:rPr>
              <a:t>CDN o share local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30FD4E-CDDE-4119-B5FC-D849044BFB5D}"/>
              </a:ext>
            </a:extLst>
          </p:cNvPr>
          <p:cNvSpPr>
            <a:spLocks noGrp="1"/>
          </p:cNvSpPr>
          <p:nvPr/>
        </p:nvSpPr>
        <p:spPr>
          <a:xfrm>
            <a:off x="6343650" y="2571750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6EA1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6EA1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050DB3-96B0-495F-9D59-846C53D0C7CA}"/>
              </a:ext>
            </a:extLst>
          </p:cNvPr>
          <p:cNvSpPr>
            <a:spLocks noGrp="1"/>
          </p:cNvSpPr>
          <p:nvPr/>
        </p:nvSpPr>
        <p:spPr>
          <a:xfrm>
            <a:off x="6343650" y="319087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Anillos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28FFA3-5CA9-4235-A300-9D749AC39756}"/>
              </a:ext>
            </a:extLst>
          </p:cNvPr>
          <p:cNvSpPr>
            <a:spLocks noGrp="1"/>
          </p:cNvSpPr>
          <p:nvPr/>
        </p:nvSpPr>
        <p:spPr>
          <a:xfrm>
            <a:off x="6343650" y="3657600"/>
            <a:ext cx="2286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BFCB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FCBDA"/>
                </a:solidFill>
                <a:latin typeface="Aptos"/>
                <a:ea typeface="Aptos"/>
                <a:cs typeface="Aptos"/>
              </a:rPr>
              <a:t>Piloto Preview y grupo amplio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13630F-3793-43E1-8C76-E210C663CA19}"/>
              </a:ext>
            </a:extLst>
          </p:cNvPr>
          <p:cNvSpPr>
            <a:spLocks noGrp="1"/>
          </p:cNvSpPr>
          <p:nvPr/>
        </p:nvSpPr>
        <p:spPr>
          <a:xfrm>
            <a:off x="9163050" y="2571750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00A86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0A86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4521E0-0F4A-4F43-BE49-941E816FD235}"/>
              </a:ext>
            </a:extLst>
          </p:cNvPr>
          <p:cNvSpPr>
            <a:spLocks noGrp="1"/>
          </p:cNvSpPr>
          <p:nvPr/>
        </p:nvSpPr>
        <p:spPr>
          <a:xfrm>
            <a:off x="9163050" y="319087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Actualización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468960-009E-4241-9168-7347F6692ADD}"/>
              </a:ext>
            </a:extLst>
          </p:cNvPr>
          <p:cNvSpPr>
            <a:spLocks noGrp="1"/>
          </p:cNvSpPr>
          <p:nvPr/>
        </p:nvSpPr>
        <p:spPr>
          <a:xfrm>
            <a:off x="9163050" y="3657600"/>
            <a:ext cx="2286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BFCB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FCBDA"/>
                </a:solidFill>
                <a:latin typeface="Aptos"/>
                <a:ea typeface="Aptos"/>
                <a:cs typeface="Aptos"/>
              </a:rPr>
              <a:t>Cloud, red o ESD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8CD4BAAA-7C98-4519-8674-81FE2AB15724}"/>
              </a:ext>
            </a:extLst>
          </p:cNvPr>
          <p:cNvSpPr>
            <a:spLocks noGrp="1"/>
          </p:cNvSpPr>
          <p:nvPr/>
        </p:nvSpPr>
        <p:spPr>
          <a:xfrm>
            <a:off x="704850" y="4810125"/>
            <a:ext cx="10763250" cy="0"/>
          </a:xfrm>
          <a:prstGeom prst="line">
            <a:avLst/>
          </a:prstGeom>
          <a:noFill/>
          <a:ln w="19050">
            <a:solidFill>
              <a:srgbClr val="274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DEF2E3-F6F2-4CC9-A1BC-AA64E9356515}"/>
              </a:ext>
            </a:extLst>
          </p:cNvPr>
          <p:cNvSpPr>
            <a:spLocks noGrp="1"/>
          </p:cNvSpPr>
          <p:nvPr/>
        </p:nvSpPr>
        <p:spPr>
          <a:xfrm>
            <a:off x="704850" y="51816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00A86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A86B"/>
                </a:solidFill>
                <a:latin typeface="Aptos"/>
                <a:ea typeface="Aptos"/>
                <a:cs typeface="Aptos"/>
              </a:rPr>
              <a:t>Principio rector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6FE646-DD40-4E01-A18F-32A4BA436BC2}"/>
              </a:ext>
            </a:extLst>
          </p:cNvPr>
          <p:cNvSpPr>
            <a:spLocks noGrp="1"/>
          </p:cNvSpPr>
          <p:nvPr/>
        </p:nvSpPr>
        <p:spPr>
          <a:xfrm>
            <a:off x="2857500" y="5105400"/>
            <a:ext cx="790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227"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probar primero, observar la evidencia y promover después.</a:t>
            </a:r>
          </a:p>
        </p:txBody>
      </p:sp>
    </p:spTree>
    <p:extLst>
      <p:ext uri="{BB962C8B-B14F-4D97-AF65-F5344CB8AC3E}">
        <p14:creationId xmlns:p14="http://schemas.microsoft.com/office/powerpoint/2010/main" val="49335363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28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2012-07-30T22:48:03Z</dcterms:created>
  <dcterms:modified xsi:type="dcterms:W3CDTF">2026-08-25T19:32:50Z</dcterms:modified>
</cp:coreProperties>
</file>
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08-25T19:39:58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DB2DAC-71F4-4F83-BC11-EFB37B3D7B8B}" type="datetimeFigureOut"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9AE9D8-53D0-4B85-9C55-CDAC5E1415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9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2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E8D486-2A25-4A2E-99C3-A9F4613510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6F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8F6229-F828-4599-8CB4-100E6E279C42}"/>
              </a:ext>
            </a:extLst>
          </p:cNvPr>
          <p:cNvSpPr>
            <a:spLocks noGrp="1"/>
          </p:cNvSpPr>
          <p:nvPr/>
        </p:nvSpPr>
        <p:spPr>
          <a:xfrm>
            <a:off x="819150" y="704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MICROSOFT 365 · INTUNE · SEGURIDAD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04637C-1133-441E-87A4-66FE0BF8981A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9810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88000"/>
              </a:lnSpc>
              <a:buNone/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Administrar e implementar</a:t>
            </a:r>
          </a:p>
          <a:p>
            <a:pPr algn="l">
              <a:lnSpc>
                <a:spcPct val="88000"/>
              </a:lnSpc>
              <a:buNone/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Microsoft 365 Apps</a:t>
            </a:r>
            <a:r>
              <a:rPr lang="en-US"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con Intune</a:t>
            </a:r>
            <a:endParaRPr sz="51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81E925-5088-46B4-8A00-539C05A907CB}"/>
              </a:ext>
            </a:extLst>
          </p:cNvPr>
          <p:cNvSpPr>
            <a:spLocks noGrp="1"/>
          </p:cNvSpPr>
          <p:nvPr/>
        </p:nvSpPr>
        <p:spPr>
          <a:xfrm>
            <a:off x="819150" y="3600450"/>
            <a:ext cx="809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2100" b="0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E8E2F5"/>
                </a:solidFill>
                <a:latin typeface="Aptos"/>
                <a:ea typeface="Aptos"/>
                <a:cs typeface="Aptos"/>
              </a:rPr>
              <a:t>De la configuración cloud a una operación segura, actualizada y medible.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57CEE55-5815-492A-899E-B59149AD5525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7239000" cy="9525"/>
          </a:xfrm>
          <a:prstGeom prst="line">
            <a:avLst/>
          </a:prstGeom>
          <a:noFill/>
          <a:ln w="9525">
            <a:solidFill>
              <a:srgbClr val="766BB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360E2-7F11-4ECC-AFC1-CB993CBE343A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Guía visual para administradores de Microsoft 365 e Intune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18CE90-6D56-4FAE-B0D0-A1E99270311C}"/>
              </a:ext>
            </a:extLst>
          </p:cNvPr>
          <p:cNvSpPr>
            <a:spLocks noGrp="1"/>
          </p:cNvSpPr>
          <p:nvPr/>
        </p:nvSpPr>
        <p:spPr>
          <a:xfrm>
            <a:off x="10820400" y="61150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882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1C3325B-8709-4233-BB98-D2612C55D3A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MAPA DEL SISTEMA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F365AE-46AD-495B-A414-AF6562B8DA3B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185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Un despliegue administrado es un sistema, no una instalación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0023B00-9D96-487C-9042-A608122D786B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1D23C1-45DC-4A50-B3F0-B4181F1F6122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61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F13C61-62B0-48CC-A9EA-3CE66EA11E82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876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99"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90F9343D-22D1-46CA-BB2B-F785D5DD9120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190750" cy="9525"/>
          </a:xfrm>
          <a:prstGeom prst="line">
            <a:avLst/>
          </a:prstGeom>
          <a:noFill/>
          <a:ln w="28575">
            <a:solidFill>
              <a:srgbClr val="D7D0C7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A723FB-36A8-47A5-A685-58ECB61DE644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Configurar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E061CB-4BE3-48B6-AE0B-28A19410420F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2190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Políticas, apps, idiomas y preferencias.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A41C59-FC9D-48AD-9771-50507AF4D585}"/>
              </a:ext>
            </a:extLst>
          </p:cNvPr>
          <p:cNvSpPr>
            <a:spLocks noGrp="1"/>
          </p:cNvSpPr>
          <p:nvPr/>
        </p:nvSpPr>
        <p:spPr>
          <a:xfrm>
            <a:off x="3371850" y="2152650"/>
            <a:ext cx="876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99"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4967C32-2167-43CD-8924-48D4A0639036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2190750" cy="9525"/>
          </a:xfrm>
          <a:prstGeom prst="line">
            <a:avLst/>
          </a:prstGeom>
          <a:noFill/>
          <a:ln w="28575">
            <a:solidFill>
              <a:srgbClr val="F36F5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E51E3B-D4C0-4272-BAFF-8132A5227CF5}"/>
              </a:ext>
            </a:extLst>
          </p:cNvPr>
          <p:cNvSpPr>
            <a:spLocks noGrp="1"/>
          </p:cNvSpPr>
          <p:nvPr/>
        </p:nvSpPr>
        <p:spPr>
          <a:xfrm>
            <a:off x="3371850" y="31051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Entregar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620AD0-F3B5-4C58-89AD-8FAEF0257E29}"/>
              </a:ext>
            </a:extLst>
          </p:cNvPr>
          <p:cNvSpPr>
            <a:spLocks noGrp="1"/>
          </p:cNvSpPr>
          <p:nvPr/>
        </p:nvSpPr>
        <p:spPr>
          <a:xfrm>
            <a:off x="3371850" y="3562350"/>
            <a:ext cx="2190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Intune asigna la suite a usuarios o dispositivos.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1B0E6D-5783-4206-B432-6B79F4568514}"/>
              </a:ext>
            </a:extLst>
          </p:cNvPr>
          <p:cNvSpPr>
            <a:spLocks noGrp="1"/>
          </p:cNvSpPr>
          <p:nvPr/>
        </p:nvSpPr>
        <p:spPr>
          <a:xfrm>
            <a:off x="6057900" y="2152650"/>
            <a:ext cx="876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99"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69DBFC5-6469-4C44-84ED-A23C2EE46DDE}"/>
              </a:ext>
            </a:extLst>
          </p:cNvPr>
          <p:cNvSpPr>
            <a:spLocks noGrp="1"/>
          </p:cNvSpPr>
          <p:nvPr/>
        </p:nvSpPr>
        <p:spPr>
          <a:xfrm>
            <a:off x="6057900" y="2876550"/>
            <a:ext cx="2190750" cy="9525"/>
          </a:xfrm>
          <a:prstGeom prst="line">
            <a:avLst/>
          </a:prstGeom>
          <a:noFill/>
          <a:ln w="28575">
            <a:solidFill>
              <a:srgbClr val="D7D0C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1C78BE-8FCE-4BFB-A5C0-847501F03743}"/>
              </a:ext>
            </a:extLst>
          </p:cNvPr>
          <p:cNvSpPr>
            <a:spLocks noGrp="1"/>
          </p:cNvSpPr>
          <p:nvPr/>
        </p:nvSpPr>
        <p:spPr>
          <a:xfrm>
            <a:off x="6057900" y="31051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Proteger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268A66-5F06-4848-BA6A-B7E450218908}"/>
              </a:ext>
            </a:extLst>
          </p:cNvPr>
          <p:cNvSpPr>
            <a:spLocks noGrp="1"/>
          </p:cNvSpPr>
          <p:nvPr/>
        </p:nvSpPr>
        <p:spPr>
          <a:xfrm>
            <a:off x="6057900" y="3562350"/>
            <a:ext cx="2190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Baseline, acceso y protección de datos.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A046F3-220C-4DD4-8C3D-FCBFC019037C}"/>
              </a:ext>
            </a:extLst>
          </p:cNvPr>
          <p:cNvSpPr>
            <a:spLocks noGrp="1"/>
          </p:cNvSpPr>
          <p:nvPr/>
        </p:nvSpPr>
        <p:spPr>
          <a:xfrm>
            <a:off x="8743950" y="2152650"/>
            <a:ext cx="876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99"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11EB12B-965E-4862-AD71-E7A616463F01}"/>
              </a:ext>
            </a:extLst>
          </p:cNvPr>
          <p:cNvSpPr>
            <a:spLocks noGrp="1"/>
          </p:cNvSpPr>
          <p:nvPr/>
        </p:nvSpPr>
        <p:spPr>
          <a:xfrm>
            <a:off x="8743950" y="2876550"/>
            <a:ext cx="2190750" cy="9525"/>
          </a:xfrm>
          <a:prstGeom prst="line">
            <a:avLst/>
          </a:prstGeom>
          <a:noFill/>
          <a:ln w="28575">
            <a:solidFill>
              <a:srgbClr val="D7D0C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E501C6-CE84-4EB9-B708-F30B3F65CF6A}"/>
              </a:ext>
            </a:extLst>
          </p:cNvPr>
          <p:cNvSpPr>
            <a:spLocks noGrp="1"/>
          </p:cNvSpPr>
          <p:nvPr/>
        </p:nvSpPr>
        <p:spPr>
          <a:xfrm>
            <a:off x="8743950" y="31051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Operar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D3C3D2-2DBD-48C4-B18E-C13434209D03}"/>
              </a:ext>
            </a:extLst>
          </p:cNvPr>
          <p:cNvSpPr>
            <a:spLocks noGrp="1"/>
          </p:cNvSpPr>
          <p:nvPr/>
        </p:nvSpPr>
        <p:spPr>
          <a:xfrm>
            <a:off x="8743950" y="3562350"/>
            <a:ext cx="2190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Salud, inventario y actualizaciones mensuales.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25C3FA-87C4-4B72-8C1F-FB032B50551A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10820400" cy="533400"/>
          </a:xfrm>
          <a:prstGeom prst="rect">
            <a:avLst/>
          </a:prstGeom>
          <a:solidFill>
            <a:srgbClr val="FAD9D1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36F1D9-6D70-42EE-84A1-B5FD9A1648AB}"/>
              </a:ext>
            </a:extLst>
          </p:cNvPr>
          <p:cNvSpPr>
            <a:spLocks noGrp="1"/>
          </p:cNvSpPr>
          <p:nvPr/>
        </p:nvSpPr>
        <p:spPr>
          <a:xfrm>
            <a:off x="914400" y="5429250"/>
            <a:ext cx="1036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La calidad del despliegue depende de coordinar las cuatro capas.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2994E0-F1FC-4850-8E23-B93FE8582315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A4C10F-0818-48E3-B674-E6F725388CEF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7293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F4C25D8-1DBE-4F04-AC04-CD30585F1C1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CONTROL CLOUD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299831-ECC9-4D7F-AB22-381DD59F148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185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El admin center concentra configuración, evidencia y mantenimiento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7F96F63-53AA-4AD8-AADA-67E16FC64733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1CDA04-586F-4E58-9921-BDA7FC17051A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61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398CF2-BA4D-46A3-8FCD-6C4C4CCF08C1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Acceso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927D61-9891-4D29-BE27-8EE91A01E9B1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122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Show all  →  All admin centers  →  Office configuration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C8322F4-5C04-49D9-9FD9-94488B6A2B0D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BFC5B2-C56B-49AE-BD64-3C849FF7CF29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EFE53-CBAC-4FA4-A556-6309E1C67B53}"/>
              </a:ext>
            </a:extLst>
          </p:cNvPr>
          <p:cNvSpPr>
            <a:spLocks noGrp="1"/>
          </p:cNvSpPr>
          <p:nvPr/>
        </p:nvSpPr>
        <p:spPr>
          <a:xfrm>
            <a:off x="1219200" y="3371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Cloud Policy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9B001B-5420-41AB-8189-E5641B18EE9E}"/>
              </a:ext>
            </a:extLst>
          </p:cNvPr>
          <p:cNvSpPr>
            <a:spLocks noGrp="1"/>
          </p:cNvSpPr>
          <p:nvPr/>
        </p:nvSpPr>
        <p:spPr>
          <a:xfrm>
            <a:off x="1219200" y="3714750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Políticas para dispositivos, incluso sin dominio o administración.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AC0728-4C10-4FD0-8BA3-C0AF85F3F357}"/>
              </a:ext>
            </a:extLst>
          </p:cNvPr>
          <p:cNvSpPr>
            <a:spLocks noGrp="1"/>
          </p:cNvSpPr>
          <p:nvPr/>
        </p:nvSpPr>
        <p:spPr>
          <a:xfrm>
            <a:off x="4305300" y="33718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2FF266-A1F1-47B0-92E2-EE0775D83704}"/>
              </a:ext>
            </a:extLst>
          </p:cNvPr>
          <p:cNvSpPr>
            <a:spLocks noGrp="1"/>
          </p:cNvSpPr>
          <p:nvPr/>
        </p:nvSpPr>
        <p:spPr>
          <a:xfrm>
            <a:off x="4838700" y="3371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Customization Tool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DDAB9-5598-49A7-8C8A-FAEB9EB86E28}"/>
              </a:ext>
            </a:extLst>
          </p:cNvPr>
          <p:cNvSpPr>
            <a:spLocks noGrp="1"/>
          </p:cNvSpPr>
          <p:nvPr/>
        </p:nvSpPr>
        <p:spPr>
          <a:xfrm>
            <a:off x="4838700" y="3714750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Archivo de configuración para una instalación personalizada.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411E6A-5409-4A17-B736-4F65698A88C5}"/>
              </a:ext>
            </a:extLst>
          </p:cNvPr>
          <p:cNvSpPr>
            <a:spLocks noGrp="1"/>
          </p:cNvSpPr>
          <p:nvPr/>
        </p:nvSpPr>
        <p:spPr>
          <a:xfrm>
            <a:off x="7924800" y="33718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3481BD-A101-4AFE-8030-47DDD3C546E7}"/>
              </a:ext>
            </a:extLst>
          </p:cNvPr>
          <p:cNvSpPr>
            <a:spLocks noGrp="1"/>
          </p:cNvSpPr>
          <p:nvPr/>
        </p:nvSpPr>
        <p:spPr>
          <a:xfrm>
            <a:off x="8458200" y="3371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Apps health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F49C6C-5AEF-46E4-A5F1-85F4FDB27676}"/>
              </a:ext>
            </a:extLst>
          </p:cNvPr>
          <p:cNvSpPr>
            <a:spLocks noGrp="1"/>
          </p:cNvSpPr>
          <p:nvPr/>
        </p:nvSpPr>
        <p:spPr>
          <a:xfrm>
            <a:off x="8458200" y="3714750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Confiabilidad, rendimiento y orientación de solución.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40011D-D17F-44CF-A237-623F2FFC7567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666B54-C762-40D7-817A-75BB747588FF}"/>
              </a:ext>
            </a:extLst>
          </p:cNvPr>
          <p:cNvSpPr>
            <a:spLocks noGrp="1"/>
          </p:cNvSpPr>
          <p:nvPr/>
        </p:nvSpPr>
        <p:spPr>
          <a:xfrm>
            <a:off x="1219200" y="4629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Inventory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F9CAC3-6E58-4A87-81EF-CA78A3DAFDEC}"/>
              </a:ext>
            </a:extLst>
          </p:cNvPr>
          <p:cNvSpPr>
            <a:spLocks noGrp="1"/>
          </p:cNvSpPr>
          <p:nvPr/>
        </p:nvSpPr>
        <p:spPr>
          <a:xfrm>
            <a:off x="1219200" y="4972050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738"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Versiones, hardware, complementos, macros y último usuario.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82894D-AACD-4A08-8463-9D1AD23068D0}"/>
              </a:ext>
            </a:extLst>
          </p:cNvPr>
          <p:cNvSpPr>
            <a:spLocks noGrp="1"/>
          </p:cNvSpPr>
          <p:nvPr/>
        </p:nvSpPr>
        <p:spPr>
          <a:xfrm>
            <a:off x="4305300" y="4629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1782DB-20D3-460F-ACA2-99F5EBC576B5}"/>
              </a:ext>
            </a:extLst>
          </p:cNvPr>
          <p:cNvSpPr>
            <a:spLocks noGrp="1"/>
          </p:cNvSpPr>
          <p:nvPr/>
        </p:nvSpPr>
        <p:spPr>
          <a:xfrm>
            <a:off x="4838700" y="4629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Security Update Status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3F7CE0-3997-46B7-B55F-8E8A7ADF5098}"/>
              </a:ext>
            </a:extLst>
          </p:cNvPr>
          <p:cNvSpPr>
            <a:spLocks noGrp="1"/>
          </p:cNvSpPr>
          <p:nvPr/>
        </p:nvSpPr>
        <p:spPr>
          <a:xfrm>
            <a:off x="4838700" y="4972050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Cobertura de actualizaciones y objetivo de implementación.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CF4538-7B08-4F43-ABE7-192373845178}"/>
              </a:ext>
            </a:extLst>
          </p:cNvPr>
          <p:cNvSpPr>
            <a:spLocks noGrp="1"/>
          </p:cNvSpPr>
          <p:nvPr/>
        </p:nvSpPr>
        <p:spPr>
          <a:xfrm>
            <a:off x="7924800" y="4629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482C75-6888-4BBB-BF46-6323492BFE1C}"/>
              </a:ext>
            </a:extLst>
          </p:cNvPr>
          <p:cNvSpPr>
            <a:spLocks noGrp="1"/>
          </p:cNvSpPr>
          <p:nvPr/>
        </p:nvSpPr>
        <p:spPr>
          <a:xfrm>
            <a:off x="8458200" y="4629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Servicing profile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E384FC-D798-49F8-88AB-5AEEEE006FB3}"/>
              </a:ext>
            </a:extLst>
          </p:cNvPr>
          <p:cNvSpPr>
            <a:spLocks noGrp="1"/>
          </p:cNvSpPr>
          <p:nvPr/>
        </p:nvSpPr>
        <p:spPr>
          <a:xfrm>
            <a:off x="8458200" y="4972050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Actualizaciones mensuales automáticas y controladas.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791E0D-F081-421A-920D-E9FBB5D04BEE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1BBEB4-F0A4-41B4-A2EA-F1255B060249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140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2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A5020C3-9C01-48B6-AD45-D8AC894263C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POLÍTICAS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A9BAF5-56C9-497F-A02C-07DB2026ECE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97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 Policy desacopla la política del dominio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305F368-AC68-4472-9073-5C367DF2EDD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7167A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B4CB68-FFC1-4A2F-9505-C10E6AE1CB3F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E2F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EE9942-ECE9-459E-A282-90BFC631FAAB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619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0313"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identidad del usuario activa la configuración.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5EFA5B-FEA4-46C2-968E-538D347453C6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03"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9ABDC1-9CAF-4CDF-8550-442A4C6EDF39}"/>
              </a:ext>
            </a:extLst>
          </p:cNvPr>
          <p:cNvSpPr>
            <a:spLocks noGrp="1"/>
          </p:cNvSpPr>
          <p:nvPr/>
        </p:nvSpPr>
        <p:spPr>
          <a:xfrm>
            <a:off x="1371600" y="31623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170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usuario inicia sesión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B7D7CA-944C-4605-B3D5-96DF8E866AAB}"/>
              </a:ext>
            </a:extLst>
          </p:cNvPr>
          <p:cNvSpPr>
            <a:spLocks noGrp="1"/>
          </p:cNvSpPr>
          <p:nvPr/>
        </p:nvSpPr>
        <p:spPr>
          <a:xfrm>
            <a:off x="1371600" y="3524250"/>
            <a:ext cx="2571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E2F5"/>
                </a:solidFill>
                <a:latin typeface="Aptos"/>
                <a:ea typeface="Aptos"/>
                <a:cs typeface="Aptos"/>
              </a:rPr>
              <a:t>en Microsoft 365 Apps for enterprise.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0CFC95-0FD7-44B2-A04F-309B48AA0B0A}"/>
              </a:ext>
            </a:extLst>
          </p:cNvPr>
          <p:cNvSpPr>
            <a:spLocks noGrp="1"/>
          </p:cNvSpPr>
          <p:nvPr/>
        </p:nvSpPr>
        <p:spPr>
          <a:xfrm>
            <a:off x="4248150" y="31432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03"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BEE1F4-AB5A-4405-B3E9-2A7731B8716A}"/>
              </a:ext>
            </a:extLst>
          </p:cNvPr>
          <p:cNvSpPr>
            <a:spLocks noGrp="1"/>
          </p:cNvSpPr>
          <p:nvPr/>
        </p:nvSpPr>
        <p:spPr>
          <a:xfrm>
            <a:off x="4933950" y="31623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598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política se recupera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EA67FC-8FAD-4241-B604-AB801519027F}"/>
              </a:ext>
            </a:extLst>
          </p:cNvPr>
          <p:cNvSpPr>
            <a:spLocks noGrp="1"/>
          </p:cNvSpPr>
          <p:nvPr/>
        </p:nvSpPr>
        <p:spPr>
          <a:xfrm>
            <a:off x="4933950" y="3524250"/>
            <a:ext cx="2571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E2F5"/>
                </a:solidFill>
                <a:latin typeface="Aptos"/>
                <a:ea typeface="Aptos"/>
                <a:cs typeface="Aptos"/>
              </a:rPr>
              <a:t>desde el servicio cloud.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E5CB70-D043-4022-928C-3D9C401546EF}"/>
              </a:ext>
            </a:extLst>
          </p:cNvPr>
          <p:cNvSpPr>
            <a:spLocks noGrp="1"/>
          </p:cNvSpPr>
          <p:nvPr/>
        </p:nvSpPr>
        <p:spPr>
          <a:xfrm>
            <a:off x="7810500" y="31432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03"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B40420-C55B-436A-BE1F-A5FC91D76621}"/>
              </a:ext>
            </a:extLst>
          </p:cNvPr>
          <p:cNvSpPr>
            <a:spLocks noGrp="1"/>
          </p:cNvSpPr>
          <p:nvPr/>
        </p:nvSpPr>
        <p:spPr>
          <a:xfrm>
            <a:off x="8496300" y="31623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880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configuración se aplica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194100-EB20-4EA5-8CF2-D9A131CACF5F}"/>
              </a:ext>
            </a:extLst>
          </p:cNvPr>
          <p:cNvSpPr>
            <a:spLocks noGrp="1"/>
          </p:cNvSpPr>
          <p:nvPr/>
        </p:nvSpPr>
        <p:spPr>
          <a:xfrm>
            <a:off x="8496300" y="3524250"/>
            <a:ext cx="2571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E2F5"/>
                </a:solidFill>
                <a:latin typeface="Aptos"/>
                <a:ea typeface="Aptos"/>
                <a:cs typeface="Aptos"/>
              </a:rPr>
              <a:t>al dispositivo, esté o no unido a un dominio.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CE76AE-64BB-4D11-8811-DAEC8166404C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820400" cy="704850"/>
          </a:xfrm>
          <a:prstGeom prst="rect">
            <a:avLst/>
          </a:prstGeom>
          <a:solidFill>
            <a:srgbClr val="4A3C8D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516C98-7811-47FF-8AC3-6B82ECCC64A9}"/>
              </a:ext>
            </a:extLst>
          </p:cNvPr>
          <p:cNvSpPr>
            <a:spLocks noGrp="1"/>
          </p:cNvSpPr>
          <p:nvPr/>
        </p:nvSpPr>
        <p:spPr>
          <a:xfrm>
            <a:off x="914400" y="5010150"/>
            <a:ext cx="1036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345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Algunas políticas también alcanzan Office para la web, incluso en acceso anónimo a documentos.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EC3592-CFF7-4771-A009-CCD37BFBE3DF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BDB5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5D8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88BEC9-2DF1-4027-B97D-9F5F4B1AAC55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BDB5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5D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08893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8E967F5-E57B-4385-BDC7-8B6F94C48F1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PERSONALIZACIÓN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C0DA5-8AB2-4BE8-A438-42A1642EBF6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185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OCT convierte decisiones en una configuración repetible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A5062BE-8E17-4810-94FC-B1BCD811C5D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1FFA9A-E126-471C-9266-5B33BB25D5AD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61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EE6BE8-4102-4A31-AD08-FEF346BE563B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61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F686F7-5513-41A6-B0C0-F9BA294AC269}"/>
              </a:ext>
            </a:extLst>
          </p:cNvPr>
          <p:cNvSpPr>
            <a:spLocks noGrp="1"/>
          </p:cNvSpPr>
          <p:nvPr/>
        </p:nvSpPr>
        <p:spPr>
          <a:xfrm>
            <a:off x="914400" y="28003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72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Definir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B617D5-CC60-4F67-9CDB-9B7AD5768FA9}"/>
              </a:ext>
            </a:extLst>
          </p:cNvPr>
          <p:cNvSpPr>
            <a:spLocks noGrp="1"/>
          </p:cNvSpPr>
          <p:nvPr/>
        </p:nvSpPr>
        <p:spPr>
          <a:xfrm>
            <a:off x="914400" y="3295650"/>
            <a:ext cx="28575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4000"/>
              </a:lnSpc>
              <a:buNone/>
              <a:defRPr sz="16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Apps e idiomas</a:t>
            </a:r>
          </a:p>
          <a:p>
            <a:pPr algn="l">
              <a:lnSpc>
                <a:spcPct val="124000"/>
              </a:lnSpc>
              <a:buNone/>
              <a:defRPr sz="16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Actualizaciones</a:t>
            </a:r>
          </a:p>
          <a:p>
            <a:pPr algn="l">
              <a:lnSpc>
                <a:spcPct val="124000"/>
              </a:lnSpc>
              <a:buNone/>
              <a:defRPr sz="16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Preferencias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6BA204-6909-4758-8A8E-88B696439A91}"/>
              </a:ext>
            </a:extLst>
          </p:cNvPr>
          <p:cNvSpPr>
            <a:spLocks noGrp="1"/>
          </p:cNvSpPr>
          <p:nvPr/>
        </p:nvSpPr>
        <p:spPr>
          <a:xfrm>
            <a:off x="3505200" y="2781300"/>
            <a:ext cx="457200" cy="57150"/>
          </a:xfrm>
          <a:prstGeom prst="rect">
            <a:avLst/>
          </a:prstGeom>
          <a:solidFill>
            <a:srgbClr val="E8E2F5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C4FE1C-CDE6-4C6F-B436-0AE4E47C1D29}"/>
              </a:ext>
            </a:extLst>
          </p:cNvPr>
          <p:cNvSpPr>
            <a:spLocks noGrp="1"/>
          </p:cNvSpPr>
          <p:nvPr/>
        </p:nvSpPr>
        <p:spPr>
          <a:xfrm>
            <a:off x="3848100" y="2724150"/>
            <a:ext cx="114300" cy="171450"/>
          </a:xfrm>
          <a:prstGeom prst="rect">
            <a:avLst/>
          </a:prstGeom>
          <a:solidFill>
            <a:srgbClr val="5B4BB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B08F6B-8496-4BAA-AE8B-14FE48CCE277}"/>
              </a:ext>
            </a:extLst>
          </p:cNvPr>
          <p:cNvSpPr>
            <a:spLocks noGrp="1"/>
          </p:cNvSpPr>
          <p:nvPr/>
        </p:nvSpPr>
        <p:spPr>
          <a:xfrm>
            <a:off x="4267200" y="2152650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61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87C372-5D18-471C-BC90-0891C4D5C4A4}"/>
              </a:ext>
            </a:extLst>
          </p:cNvPr>
          <p:cNvSpPr>
            <a:spLocks noGrp="1"/>
          </p:cNvSpPr>
          <p:nvPr/>
        </p:nvSpPr>
        <p:spPr>
          <a:xfrm>
            <a:off x="4267200" y="28003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72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Generar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71D4B0-F13D-4F19-97B2-F14C32C14A6E}"/>
              </a:ext>
            </a:extLst>
          </p:cNvPr>
          <p:cNvSpPr>
            <a:spLocks noGrp="1"/>
          </p:cNvSpPr>
          <p:nvPr/>
        </p:nvSpPr>
        <p:spPr>
          <a:xfrm>
            <a:off x="4267200" y="3295650"/>
            <a:ext cx="28575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4000"/>
              </a:lnSpc>
              <a:buNone/>
              <a:defRPr sz="16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Archivo de configuración</a:t>
            </a:r>
          </a:p>
          <a:p>
            <a:pPr algn="l">
              <a:lnSpc>
                <a:spcPct val="124000"/>
              </a:lnSpc>
              <a:buNone/>
              <a:defRPr sz="16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reutilizable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3A3491-9319-477C-9A2D-5241D46C3B4A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457200" cy="57150"/>
          </a:xfrm>
          <a:prstGeom prst="rect">
            <a:avLst/>
          </a:prstGeom>
          <a:solidFill>
            <a:srgbClr val="E8E2F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007EA1-BD0B-4F4D-8D8F-0C83D27AB163}"/>
              </a:ext>
            </a:extLst>
          </p:cNvPr>
          <p:cNvSpPr>
            <a:spLocks noGrp="1"/>
          </p:cNvSpPr>
          <p:nvPr/>
        </p:nvSpPr>
        <p:spPr>
          <a:xfrm>
            <a:off x="7200900" y="2724150"/>
            <a:ext cx="114300" cy="171450"/>
          </a:xfrm>
          <a:prstGeom prst="rect">
            <a:avLst/>
          </a:prstGeom>
          <a:solidFill>
            <a:srgbClr val="5B4BB7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4CC061-8CE3-4CDD-B415-864B48B074A9}"/>
              </a:ext>
            </a:extLst>
          </p:cNvPr>
          <p:cNvSpPr>
            <a:spLocks noGrp="1"/>
          </p:cNvSpPr>
          <p:nvPr/>
        </p:nvSpPr>
        <p:spPr>
          <a:xfrm>
            <a:off x="7620000" y="2152650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61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51E7C6-39A1-4826-8ED3-9216D8AC94B0}"/>
              </a:ext>
            </a:extLst>
          </p:cNvPr>
          <p:cNvSpPr>
            <a:spLocks noGrp="1"/>
          </p:cNvSpPr>
          <p:nvPr/>
        </p:nvSpPr>
        <p:spPr>
          <a:xfrm>
            <a:off x="7620000" y="28003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72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Implementar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333C6B-98F4-46EB-AC30-0345FDE35820}"/>
              </a:ext>
            </a:extLst>
          </p:cNvPr>
          <p:cNvSpPr>
            <a:spLocks noGrp="1"/>
          </p:cNvSpPr>
          <p:nvPr/>
        </p:nvSpPr>
        <p:spPr>
          <a:xfrm>
            <a:off x="7620000" y="3295650"/>
            <a:ext cx="28575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4000"/>
              </a:lnSpc>
              <a:buNone/>
              <a:defRPr sz="16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Office Deployment Tool</a:t>
            </a:r>
          </a:p>
          <a:p>
            <a:pPr algn="l">
              <a:lnSpc>
                <a:spcPct val="124000"/>
              </a:lnSpc>
              <a:buNone/>
              <a:defRPr sz="16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+ instalación personalizada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67593BE-543F-457A-B01D-6A393AB58D24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8FB8E3-D7AF-4884-B93E-CBA4CE2F0621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7790CB-6A23-4413-8CD1-1614AE0C81C5}"/>
              </a:ext>
            </a:extLst>
          </p:cNvPr>
          <p:cNvSpPr>
            <a:spLocks noGrp="1"/>
          </p:cNvSpPr>
          <p:nvPr/>
        </p:nvSpPr>
        <p:spPr>
          <a:xfrm>
            <a:off x="2095500" y="52197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309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Una definición consistente que puede escalarse en organizaciones grandes.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D82C96-5C4A-4709-A5F2-43A8721D3560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35DAEE-1724-4BD2-875C-42D46B816EB2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9181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77B6FAD-1096-47A7-AE8D-7E3309149F9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OBSERVABILIDAD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544983-547C-4D2F-BDFF-A1062627292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185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Salud, inventario y seguridad responden preguntas distintas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B6059F0-C0E6-4C25-AFA0-DCAE5743387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72AE6B-4233-4E75-96DF-C6A1690F6013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61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086B0B-654D-44DF-944A-9400078A0B6C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E7D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¿Funciona bien?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B47570-9298-4FA7-81FF-A43FD45CC754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Apps health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83F22DE-8339-46B2-922B-4946C7222F0B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2857500" cy="9525"/>
          </a:xfrm>
          <a:prstGeom prst="line">
            <a:avLst/>
          </a:prstGeom>
          <a:noFill/>
          <a:ln w="38100">
            <a:solidFill>
              <a:srgbClr val="2E7D6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3A8A6F-150D-4329-BD00-04859995F3C6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3048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5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Tasa de bloqueos</a:t>
            </a:r>
          </a:p>
          <a:p>
            <a:pPr algn="l">
              <a:lnSpc>
                <a:spcPct val="128000"/>
              </a:lnSpc>
              <a:buNone/>
              <a:defRPr sz="15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Tiempo de inicio</a:t>
            </a:r>
          </a:p>
          <a:p>
            <a:pPr algn="l">
              <a:lnSpc>
                <a:spcPct val="128000"/>
              </a:lnSpc>
              <a:buNone/>
              <a:defRPr sz="15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Rendimiento por versión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C6D918-8E43-4206-9454-184B4769CE67}"/>
              </a:ext>
            </a:extLst>
          </p:cNvPr>
          <p:cNvSpPr>
            <a:spLocks noGrp="1"/>
          </p:cNvSpPr>
          <p:nvPr/>
        </p:nvSpPr>
        <p:spPr>
          <a:xfrm>
            <a:off x="4267200" y="21336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¿Qué está instalado?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2FCD7D-2145-4C70-8C7C-A8281016DDDA}"/>
              </a:ext>
            </a:extLst>
          </p:cNvPr>
          <p:cNvSpPr>
            <a:spLocks noGrp="1"/>
          </p:cNvSpPr>
          <p:nvPr/>
        </p:nvSpPr>
        <p:spPr>
          <a:xfrm>
            <a:off x="4267200" y="25146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Inventory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B46F491-AD21-40A0-AA03-5C55D610AD14}"/>
              </a:ext>
            </a:extLst>
          </p:cNvPr>
          <p:cNvSpPr>
            <a:spLocks noGrp="1"/>
          </p:cNvSpPr>
          <p:nvPr/>
        </p:nvSpPr>
        <p:spPr>
          <a:xfrm>
            <a:off x="4267200" y="3067050"/>
            <a:ext cx="2857500" cy="9525"/>
          </a:xfrm>
          <a:prstGeom prst="line">
            <a:avLst/>
          </a:prstGeom>
          <a:noFill/>
          <a:ln w="38100">
            <a:solidFill>
              <a:srgbClr val="3B2E7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C8656A-4567-4836-AF6F-D25878C73CC6}"/>
              </a:ext>
            </a:extLst>
          </p:cNvPr>
          <p:cNvSpPr>
            <a:spLocks noGrp="1"/>
          </p:cNvSpPr>
          <p:nvPr/>
        </p:nvSpPr>
        <p:spPr>
          <a:xfrm>
            <a:off x="4267200" y="3371850"/>
            <a:ext cx="3048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5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Hardware y SO</a:t>
            </a:r>
          </a:p>
          <a:p>
            <a:pPr algn="l">
              <a:lnSpc>
                <a:spcPct val="128000"/>
              </a:lnSpc>
              <a:buNone/>
              <a:defRPr sz="15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Office, add-ins y macros</a:t>
            </a:r>
          </a:p>
          <a:p>
            <a:pPr algn="l">
              <a:lnSpc>
                <a:spcPct val="128000"/>
              </a:lnSpc>
              <a:buNone/>
              <a:defRPr sz="15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Último usuario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3FD008-D08A-45B6-81CA-89E13B30B839}"/>
              </a:ext>
            </a:extLst>
          </p:cNvPr>
          <p:cNvSpPr>
            <a:spLocks noGrp="1"/>
          </p:cNvSpPr>
          <p:nvPr/>
        </p:nvSpPr>
        <p:spPr>
          <a:xfrm>
            <a:off x="7848600" y="21336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¿Está actualizado?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A81069-8AD6-47B4-BEF2-0655820455C4}"/>
              </a:ext>
            </a:extLst>
          </p:cNvPr>
          <p:cNvSpPr>
            <a:spLocks noGrp="1"/>
          </p:cNvSpPr>
          <p:nvPr/>
        </p:nvSpPr>
        <p:spPr>
          <a:xfrm>
            <a:off x="7848600" y="25146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12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Security Update Status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D824E21-2769-47A1-8E40-C4CB2C624E10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2857500" cy="9525"/>
          </a:xfrm>
          <a:prstGeom prst="line">
            <a:avLst/>
          </a:prstGeom>
          <a:noFill/>
          <a:ln w="38100">
            <a:solidFill>
              <a:srgbClr val="F36F5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3F7816-7A98-417C-9F76-760B88CB56C0}"/>
              </a:ext>
            </a:extLst>
          </p:cNvPr>
          <p:cNvSpPr>
            <a:spLocks noGrp="1"/>
          </p:cNvSpPr>
          <p:nvPr/>
        </p:nvSpPr>
        <p:spPr>
          <a:xfrm>
            <a:off x="7848600" y="3371850"/>
            <a:ext cx="3048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5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Últimas actualizaciones</a:t>
            </a:r>
          </a:p>
          <a:p>
            <a:pPr algn="l">
              <a:lnSpc>
                <a:spcPct val="128000"/>
              </a:lnSpc>
              <a:buNone/>
              <a:defRPr sz="15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Dispositivos cubiertos</a:t>
            </a:r>
          </a:p>
          <a:p>
            <a:pPr algn="l">
              <a:lnSpc>
                <a:spcPct val="128000"/>
              </a:lnSpc>
              <a:buNone/>
              <a:defRPr sz="15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Objetivo de implementación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3F7A92-1894-4833-84B2-0EC17179C6B7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552450"/>
          </a:xfrm>
          <a:prstGeom prst="rect">
            <a:avLst/>
          </a:prstGeom>
          <a:solidFill>
            <a:srgbClr val="E8E2F5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945C88-E42F-416E-A49E-0F4391AD78F7}"/>
              </a:ext>
            </a:extLst>
          </p:cNvPr>
          <p:cNvSpPr>
            <a:spLocks noGrp="1"/>
          </p:cNvSpPr>
          <p:nvPr/>
        </p:nvSpPr>
        <p:spPr>
          <a:xfrm>
            <a:off x="895350" y="5248275"/>
            <a:ext cx="1040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802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El objetivo de Security Update Status es informativo: no crea políticas ni modifica dispositivos.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82FEDC-EC9B-4B9E-9A48-A5BDDEE30E76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E29756-4735-4F6B-BA27-47A5F622F5D2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8626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2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DB42E61-D4AD-43FA-BCBD-64BCDD02C44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MANTENIMIENTO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8FF93-5095-423B-9884-4732C85B295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01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servicing profile industrializa el ciclo mensual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D31013F-C06E-4637-AD8C-0EBD25EBA4C6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7167A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E85F52-5FD6-496C-A110-A9AEA956302E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E2F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970862-A1D9-4DF0-8909-5E17955C0F63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2857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02"/>
          </a:bodyPr>
          <a:lstStyle/>
          <a:p>
            <a:pPr algn="l">
              <a:lnSpc>
                <a:spcPct val="105000"/>
              </a:lnSpc>
              <a:buNone/>
              <a:defRPr sz="405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2º martes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59B424-6199-4B92-9245-7BF8A6711463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793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comienza la distribución mensual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CCBB97F-CC66-4135-BB06-540E7D8AEE35}"/>
              </a:ext>
            </a:extLst>
          </p:cNvPr>
          <p:cNvSpPr>
            <a:spLocks noGrp="1"/>
          </p:cNvSpPr>
          <p:nvPr/>
        </p:nvSpPr>
        <p:spPr>
          <a:xfrm>
            <a:off x="4457700" y="2266950"/>
            <a:ext cx="9525" cy="3028950"/>
          </a:xfrm>
          <a:prstGeom prst="line">
            <a:avLst/>
          </a:prstGeom>
          <a:noFill/>
          <a:ln w="9525">
            <a:solidFill>
              <a:srgbClr val="756BB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2416EE-AFEF-49ED-AC88-3C47F57F0B54}"/>
              </a:ext>
            </a:extLst>
          </p:cNvPr>
          <p:cNvSpPr>
            <a:spLocks noGrp="1"/>
          </p:cNvSpPr>
          <p:nvPr/>
        </p:nvSpPr>
        <p:spPr>
          <a:xfrm>
            <a:off x="4953000" y="2095500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B069AE-1AF2-43FC-B70E-946FF50988E9}"/>
              </a:ext>
            </a:extLst>
          </p:cNvPr>
          <p:cNvSpPr>
            <a:spLocks noGrp="1"/>
          </p:cNvSpPr>
          <p:nvPr/>
        </p:nvSpPr>
        <p:spPr>
          <a:xfrm>
            <a:off x="5505450" y="20955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Liberación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C7308F-78C1-4129-8B24-E6DACD484EEB}"/>
              </a:ext>
            </a:extLst>
          </p:cNvPr>
          <p:cNvSpPr>
            <a:spLocks noGrp="1"/>
          </p:cNvSpPr>
          <p:nvPr/>
        </p:nvSpPr>
        <p:spPr>
          <a:xfrm>
            <a:off x="5505450" y="24574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E2F5"/>
                </a:solidFill>
                <a:latin typeface="Aptos"/>
                <a:ea typeface="Aptos"/>
                <a:cs typeface="Aptos"/>
              </a:rPr>
              <a:t>Microsoft publica la actualización.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7E5629-5930-498D-B9C8-26154E5463A5}"/>
              </a:ext>
            </a:extLst>
          </p:cNvPr>
          <p:cNvSpPr>
            <a:spLocks noGrp="1"/>
          </p:cNvSpPr>
          <p:nvPr/>
        </p:nvSpPr>
        <p:spPr>
          <a:xfrm>
            <a:off x="4953000" y="3086100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0B6D24-C626-4FE7-A000-6058ED571841}"/>
              </a:ext>
            </a:extLst>
          </p:cNvPr>
          <p:cNvSpPr>
            <a:spLocks noGrp="1"/>
          </p:cNvSpPr>
          <p:nvPr/>
        </p:nvSpPr>
        <p:spPr>
          <a:xfrm>
            <a:off x="5505450" y="30861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Oleadas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C5C23B-6BFB-409E-952F-E8FFA70F35B8}"/>
              </a:ext>
            </a:extLst>
          </p:cNvPr>
          <p:cNvSpPr>
            <a:spLocks noGrp="1"/>
          </p:cNvSpPr>
          <p:nvPr/>
        </p:nvSpPr>
        <p:spPr>
          <a:xfrm>
            <a:off x="5505450" y="34480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E2F5"/>
                </a:solidFill>
                <a:latin typeface="Aptos"/>
                <a:ea typeface="Aptos"/>
                <a:cs typeface="Aptos"/>
              </a:rPr>
              <a:t>La distribución limita el impacto de red.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EB42C1-96F3-46E0-87CB-FC13178CCDD1}"/>
              </a:ext>
            </a:extLst>
          </p:cNvPr>
          <p:cNvSpPr>
            <a:spLocks noGrp="1"/>
          </p:cNvSpPr>
          <p:nvPr/>
        </p:nvSpPr>
        <p:spPr>
          <a:xfrm>
            <a:off x="4953000" y="4076700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7B2A63-F218-4041-A67B-6648BFA94350}"/>
              </a:ext>
            </a:extLst>
          </p:cNvPr>
          <p:cNvSpPr>
            <a:spLocks noGrp="1"/>
          </p:cNvSpPr>
          <p:nvPr/>
        </p:nvSpPr>
        <p:spPr>
          <a:xfrm>
            <a:off x="5505450" y="40767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Cumplimiento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3E4004-59AF-48BF-BF7A-23C0CABD1D1D}"/>
              </a:ext>
            </a:extLst>
          </p:cNvPr>
          <p:cNvSpPr>
            <a:spLocks noGrp="1"/>
          </p:cNvSpPr>
          <p:nvPr/>
        </p:nvSpPr>
        <p:spPr>
          <a:xfrm>
            <a:off x="5505450" y="44386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E2F5"/>
                </a:solidFill>
                <a:latin typeface="Aptos"/>
                <a:ea typeface="Aptos"/>
                <a:cs typeface="Aptos"/>
              </a:rPr>
              <a:t>Fechas límite impulsan la instalación.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717AA6-E936-4A97-B77E-E982065AC186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CONTROLES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F61E75-53D3-4C17-8269-A7D936478E16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3238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Pausar actualizaciones</a:t>
            </a:r>
          </a:p>
          <a:p>
            <a:pPr algn="l">
              <a:lnSpc>
                <a:spcPct val="118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Fijar fechas límite</a:t>
            </a:r>
          </a:p>
          <a:p>
            <a:pPr algn="l">
              <a:lnSpc>
                <a:spcPct val="118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Definir ventanas bloqueadas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6B30F7-3771-4916-B659-CD2B1CDE3BDB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2F5"/>
                </a:solidFill>
                <a:latin typeface="Aptos"/>
                <a:ea typeface="Aptos"/>
                <a:cs typeface="Aptos"/>
              </a:rPr>
              <a:t>Los dispositivos pasan al Monthly Enterprise Channel y reciben contenido desde Office CDN.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868E07-1838-437B-89D7-7C61B8974548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BDB5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5D8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FBD1F6-835D-4AB1-8316-D4BB5E2C28BB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BDB5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5D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62912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7CA5E25-943D-4EB8-AF72-9E50AF8F1AF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INTUNE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E7ED60-C91F-48E1-9911-59F31BC0BCF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32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Intune conecta implementación, protección y acceso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B4C35EA-CEA9-4577-AFE4-C9250F4251A8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F4289D-0931-4408-8BAA-BFCCD67AC2B4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61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984325-007C-4868-B692-C8A7D842BF80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00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7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Una consola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A7E4FF-E984-439F-9385-80E6925F506F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94"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para administrar el ciclo completo de las aplicaciones.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890B92D-F803-4C73-871B-771EDCA9C224}"/>
              </a:ext>
            </a:extLst>
          </p:cNvPr>
          <p:cNvSpPr>
            <a:spLocks noGrp="1"/>
          </p:cNvSpPr>
          <p:nvPr/>
        </p:nvSpPr>
        <p:spPr>
          <a:xfrm>
            <a:off x="5086350" y="1981200"/>
            <a:ext cx="9525" cy="3771900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D3277-8F31-4982-9F35-4B237C5FE27A}"/>
              </a:ext>
            </a:extLst>
          </p:cNvPr>
          <p:cNvSpPr>
            <a:spLocks noGrp="1"/>
          </p:cNvSpPr>
          <p:nvPr/>
        </p:nvSpPr>
        <p:spPr>
          <a:xfrm>
            <a:off x="5562600" y="20193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17BC75-ECED-4FC1-A6C0-D8DE6B84D95C}"/>
              </a:ext>
            </a:extLst>
          </p:cNvPr>
          <p:cNvSpPr>
            <a:spLocks noGrp="1"/>
          </p:cNvSpPr>
          <p:nvPr/>
        </p:nvSpPr>
        <p:spPr>
          <a:xfrm>
            <a:off x="6038850" y="201930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Implementar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3A7A84-8219-450F-A42C-5798CFB2E28B}"/>
              </a:ext>
            </a:extLst>
          </p:cNvPr>
          <p:cNvSpPr>
            <a:spLocks noGrp="1"/>
          </p:cNvSpPr>
          <p:nvPr/>
        </p:nvSpPr>
        <p:spPr>
          <a:xfrm>
            <a:off x="6038850" y="2343150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Entrega centralizada y escalable.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88DDF5-36F7-414C-AC40-5D3C8DF7C52B}"/>
              </a:ext>
            </a:extLst>
          </p:cNvPr>
          <p:cNvSpPr>
            <a:spLocks noGrp="1"/>
          </p:cNvSpPr>
          <p:nvPr/>
        </p:nvSpPr>
        <p:spPr>
          <a:xfrm>
            <a:off x="8458200" y="20193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B713E6-B987-45CD-8031-E34020C1C3D4}"/>
              </a:ext>
            </a:extLst>
          </p:cNvPr>
          <p:cNvSpPr>
            <a:spLocks noGrp="1"/>
          </p:cNvSpPr>
          <p:nvPr/>
        </p:nvSpPr>
        <p:spPr>
          <a:xfrm>
            <a:off x="8934450" y="201930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Configurar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3EE97C-43F3-4AD3-94AB-0013A1A03B59}"/>
              </a:ext>
            </a:extLst>
          </p:cNvPr>
          <p:cNvSpPr>
            <a:spLocks noGrp="1"/>
          </p:cNvSpPr>
          <p:nvPr/>
        </p:nvSpPr>
        <p:spPr>
          <a:xfrm>
            <a:off x="8934450" y="2343150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Parámetros según políticas.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5624C8-C047-4E47-A565-03E31074CE0F}"/>
              </a:ext>
            </a:extLst>
          </p:cNvPr>
          <p:cNvSpPr>
            <a:spLocks noGrp="1"/>
          </p:cNvSpPr>
          <p:nvPr/>
        </p:nvSpPr>
        <p:spPr>
          <a:xfrm>
            <a:off x="5562600" y="32194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68B3E5-9C36-4CAB-90BC-BF338DA6E2A4}"/>
              </a:ext>
            </a:extLst>
          </p:cNvPr>
          <p:cNvSpPr>
            <a:spLocks noGrp="1"/>
          </p:cNvSpPr>
          <p:nvPr/>
        </p:nvSpPr>
        <p:spPr>
          <a:xfrm>
            <a:off x="6038850" y="321945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Proteger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3198D1-65DB-43C0-A44D-F0AB6B62EFE7}"/>
              </a:ext>
            </a:extLst>
          </p:cNvPr>
          <p:cNvSpPr>
            <a:spLocks noGrp="1"/>
          </p:cNvSpPr>
          <p:nvPr/>
        </p:nvSpPr>
        <p:spPr>
          <a:xfrm>
            <a:off x="6038850" y="3543300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Datos sensibles y cumplimiento.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C3E8FC-789C-4061-926D-61ADAC4B402C}"/>
              </a:ext>
            </a:extLst>
          </p:cNvPr>
          <p:cNvSpPr>
            <a:spLocks noGrp="1"/>
          </p:cNvSpPr>
          <p:nvPr/>
        </p:nvSpPr>
        <p:spPr>
          <a:xfrm>
            <a:off x="8458200" y="32194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58AA8E-D558-400D-ADFA-218B0617F286}"/>
              </a:ext>
            </a:extLst>
          </p:cNvPr>
          <p:cNvSpPr>
            <a:spLocks noGrp="1"/>
          </p:cNvSpPr>
          <p:nvPr/>
        </p:nvSpPr>
        <p:spPr>
          <a:xfrm>
            <a:off x="8934450" y="321945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Controlar acceso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77B13D-7946-4E6C-B4C7-841D029F34DF}"/>
              </a:ext>
            </a:extLst>
          </p:cNvPr>
          <p:cNvSpPr>
            <a:spLocks noGrp="1"/>
          </p:cNvSpPr>
          <p:nvPr/>
        </p:nvSpPr>
        <p:spPr>
          <a:xfrm>
            <a:off x="8934450" y="3543300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Quién puede usar cada aplicación.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EC3E9A-3B44-4C7C-BAC8-CA8A22D84C28}"/>
              </a:ext>
            </a:extLst>
          </p:cNvPr>
          <p:cNvSpPr>
            <a:spLocks noGrp="1"/>
          </p:cNvSpPr>
          <p:nvPr/>
        </p:nvSpPr>
        <p:spPr>
          <a:xfrm>
            <a:off x="5562600" y="44196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D26520-EC76-4FB0-98E0-B9BB5972BC81}"/>
              </a:ext>
            </a:extLst>
          </p:cNvPr>
          <p:cNvSpPr>
            <a:spLocks noGrp="1"/>
          </p:cNvSpPr>
          <p:nvPr/>
        </p:nvSpPr>
        <p:spPr>
          <a:xfrm>
            <a:off x="6038850" y="441960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Actualizar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148973-0757-4EA9-A404-B30FCE5E0828}"/>
              </a:ext>
            </a:extLst>
          </p:cNvPr>
          <p:cNvSpPr>
            <a:spLocks noGrp="1"/>
          </p:cNvSpPr>
          <p:nvPr/>
        </p:nvSpPr>
        <p:spPr>
          <a:xfrm>
            <a:off x="6038850" y="4743450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Aplicaciones consistentes y al día.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33DA09-0039-4229-A2CD-65B495E00282}"/>
              </a:ext>
            </a:extLst>
          </p:cNvPr>
          <p:cNvSpPr>
            <a:spLocks noGrp="1"/>
          </p:cNvSpPr>
          <p:nvPr/>
        </p:nvSpPr>
        <p:spPr>
          <a:xfrm>
            <a:off x="8458200" y="44196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CB96F9-0D5E-451B-BA3C-7F08769275FD}"/>
              </a:ext>
            </a:extLst>
          </p:cNvPr>
          <p:cNvSpPr>
            <a:spLocks noGrp="1"/>
          </p:cNvSpPr>
          <p:nvPr/>
        </p:nvSpPr>
        <p:spPr>
          <a:xfrm>
            <a:off x="8934450" y="441960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Supervisar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17DFDB-1AA6-4F69-8683-7E52BB5200FC}"/>
              </a:ext>
            </a:extLst>
          </p:cNvPr>
          <p:cNvSpPr>
            <a:spLocks noGrp="1"/>
          </p:cNvSpPr>
          <p:nvPr/>
        </p:nvSpPr>
        <p:spPr>
          <a:xfrm>
            <a:off x="8934450" y="4743450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Estado y protección de datos.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FB5998-7467-48B5-BDFC-D099675B1C53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8152EB-1C14-48D6-B524-506E48F6A641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57014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769714-1B76-4A01-803A-225581A8C05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CATÁLOGO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9CC6C9-3B18-4ABB-87F5-B28B52BFD6C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329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Elegir el tipo de app determina entrega y actualización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F0E8721-1A9E-4BAD-8D9A-3742CCACEB6F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CA28C6-D878-4958-8F8B-CE0FEF0810F5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61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685800" y="1981200"/>
          <a:ext cx="10820400" cy="371475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Tipo</a:t>
                      </a:r>
                    </a:p>
                  </a:txBody>
                  <a:tcPr>
                    <a:solidFill>
                      <a:srgbClr val="3B2E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Instalación</a:t>
                      </a:r>
                    </a:p>
                  </a:txBody>
                  <a:tcPr>
                    <a:solidFill>
                      <a:srgbClr val="3B2E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Actualizaciones</a:t>
                      </a:r>
                    </a:p>
                  </a:txBody>
                  <a:tcPr>
                    <a:solidFill>
                      <a:srgbClr val="3B2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1D2B"/>
                          </a:solidFill>
                          <a:latin typeface="Aptos"/>
                          <a:ea typeface="Aptos"/>
                          <a:cs typeface="Aptos"/>
                        </a:rPr>
                        <a:t>Apps from the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1D2B"/>
                          </a:solidFill>
                          <a:latin typeface="Aptos"/>
                          <a:ea typeface="Aptos"/>
                          <a:cs typeface="Aptos"/>
                        </a:rPr>
                        <a:t>Intune instala la aplicación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E7D68"/>
                          </a:solidFill>
                          <a:latin typeface="Aptos"/>
                          <a:ea typeface="Aptos"/>
                          <a:cs typeface="Aptos"/>
                        </a:rPr>
                        <a:t>Automáticas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1D2B"/>
                          </a:solidFill>
                          <a:latin typeface="Aptos"/>
                          <a:ea typeface="Aptos"/>
                          <a:cs typeface="Aptos"/>
                        </a:rPr>
                        <a:t>Line-of-business (LOB)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1D2B"/>
                          </a:solidFill>
                          <a:latin typeface="Aptos"/>
                          <a:ea typeface="Aptos"/>
                          <a:cs typeface="Aptos"/>
                        </a:rPr>
                        <a:t>Desde el archivo proporcionado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36F5B"/>
                          </a:solidFill>
                          <a:latin typeface="Aptos"/>
                          <a:ea typeface="Aptos"/>
                          <a:cs typeface="Aptos"/>
                        </a:rPr>
                        <a:t>Manuales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1D2B"/>
                          </a:solidFill>
                          <a:latin typeface="Aptos"/>
                          <a:ea typeface="Aptos"/>
                          <a:cs typeface="Aptos"/>
                        </a:rPr>
                        <a:t>Built-in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1D2B"/>
                          </a:solidFill>
                          <a:latin typeface="Aptos"/>
                          <a:ea typeface="Aptos"/>
                          <a:cs typeface="Aptos"/>
                        </a:rPr>
                        <a:t>Intune instala la aplicación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E7D68"/>
                          </a:solidFill>
                          <a:latin typeface="Aptos"/>
                          <a:ea typeface="Aptos"/>
                          <a:cs typeface="Aptos"/>
                        </a:rPr>
                        <a:t>Automáticas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1D2B"/>
                          </a:solidFill>
                          <a:latin typeface="Aptos"/>
                          <a:ea typeface="Aptos"/>
                          <a:cs typeface="Aptos"/>
                        </a:rPr>
                        <a:t>Web apps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1D2B"/>
                          </a:solidFill>
                          <a:latin typeface="Aptos"/>
                          <a:ea typeface="Aptos"/>
                          <a:cs typeface="Aptos"/>
                        </a:rPr>
                        <a:t>Acceso directo en pantalla principal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E7D68"/>
                          </a:solidFill>
                          <a:latin typeface="Aptos"/>
                          <a:ea typeface="Aptos"/>
                          <a:cs typeface="Aptos"/>
                        </a:rPr>
                        <a:t>Automáticas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1D2B"/>
                          </a:solidFill>
                          <a:latin typeface="Aptos"/>
                          <a:ea typeface="Aptos"/>
                          <a:cs typeface="Aptos"/>
                        </a:rPr>
                        <a:t>Apps from other Microsoft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1D2B"/>
                          </a:solidFill>
                          <a:latin typeface="Aptos"/>
                          <a:ea typeface="Aptos"/>
                          <a:cs typeface="Aptos"/>
                        </a:rPr>
                        <a:t>Acceso directo en Company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E7D68"/>
                          </a:solidFill>
                          <a:latin typeface="Aptos"/>
                          <a:ea typeface="Aptos"/>
                          <a:cs typeface="Aptos"/>
                        </a:rPr>
                        <a:t>Automáticas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06D987D-A34E-415C-BDFD-3F62B15079D6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549C17-2D9E-46B4-BDD4-812A8C21BC48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25182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81F6617-3EEC-480F-B077-961A7D7E39F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SELECCIÓN DE PAQUETES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C10303-2786-4F5D-84D4-C0F51A2A1171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268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El paquete correcto depende de plataforma y origen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E1DEB93-340A-49FC-8BC8-3B6192B8B0F3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0B3252-ACEA-4DCA-9901-394B7DE7A085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61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1C567C-10E5-4720-AE5C-B4DA2F59E6E2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Tiendas administradas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1F39E5E-FD51-43B1-98D5-B6A43D4188EA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2781300" cy="9525"/>
          </a:xfrm>
          <a:prstGeom prst="line">
            <a:avLst/>
          </a:prstGeom>
          <a:noFill/>
          <a:ln w="38100">
            <a:solidFill>
              <a:srgbClr val="3B2E7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7F1746-C28B-40F4-9B2F-815749492F19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31432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Android / Google Play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iOS y iPadOS / App Store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Microsoft Store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Managed Google Play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E9442D-49F1-42FD-B90C-C22E71EDC830}"/>
              </a:ext>
            </a:extLst>
          </p:cNvPr>
          <p:cNvSpPr>
            <a:spLocks noGrp="1"/>
          </p:cNvSpPr>
          <p:nvPr/>
        </p:nvSpPr>
        <p:spPr>
          <a:xfrm>
            <a:off x="3943350" y="2000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2E7D6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Microsoft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1AF94E4-9397-4576-9E4A-B3C005178889}"/>
              </a:ext>
            </a:extLst>
          </p:cNvPr>
          <p:cNvSpPr>
            <a:spLocks noGrp="1"/>
          </p:cNvSpPr>
          <p:nvPr/>
        </p:nvSpPr>
        <p:spPr>
          <a:xfrm>
            <a:off x="3943350" y="2419350"/>
            <a:ext cx="2781300" cy="9525"/>
          </a:xfrm>
          <a:prstGeom prst="line">
            <a:avLst/>
          </a:prstGeom>
          <a:noFill/>
          <a:ln w="38100">
            <a:solidFill>
              <a:srgbClr val="2E7D6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10C775-799C-497B-8BB0-584AA51F8219}"/>
              </a:ext>
            </a:extLst>
          </p:cNvPr>
          <p:cNvSpPr>
            <a:spLocks noGrp="1"/>
          </p:cNvSpPr>
          <p:nvPr/>
        </p:nvSpPr>
        <p:spPr>
          <a:xfrm>
            <a:off x="3943350" y="2628900"/>
            <a:ext cx="31432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Microsoft 365 Apps · Windows/macOS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Microsoft Edge · Windows/macOS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Defender for Endpoint · macOS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Enterprise App Catalog · Win32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F473D8-DF43-48FF-8DB8-0A2EA38557D6}"/>
              </a:ext>
            </a:extLst>
          </p:cNvPr>
          <p:cNvSpPr>
            <a:spLocks noGrp="1"/>
          </p:cNvSpPr>
          <p:nvPr/>
        </p:nvSpPr>
        <p:spPr>
          <a:xfrm>
            <a:off x="7200900" y="2000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LOB y Win32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EFF6215-2004-4E9B-8141-FBE5C6127DBC}"/>
              </a:ext>
            </a:extLst>
          </p:cNvPr>
          <p:cNvSpPr>
            <a:spLocks noGrp="1"/>
          </p:cNvSpPr>
          <p:nvPr/>
        </p:nvSpPr>
        <p:spPr>
          <a:xfrm>
            <a:off x="7200900" y="2419350"/>
            <a:ext cx="2781300" cy="9525"/>
          </a:xfrm>
          <a:prstGeom prst="line">
            <a:avLst/>
          </a:prstGeom>
          <a:noFill/>
          <a:ln w="38100">
            <a:solidFill>
              <a:srgbClr val="F36F5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FC8D35-C66D-49BA-A05D-3A26D97CEBA4}"/>
              </a:ext>
            </a:extLst>
          </p:cNvPr>
          <p:cNvSpPr>
            <a:spLocks noGrp="1"/>
          </p:cNvSpPr>
          <p:nvPr/>
        </p:nvSpPr>
        <p:spPr>
          <a:xfrm>
            <a:off x="7200900" y="2628900"/>
            <a:ext cx="31432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.apk · Android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.ipa · iOS/iPadOS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.msi · .appx · .msix · Windows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.intunewin · Win32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.pkg / .dmg · macOS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1DD4C-3574-424F-BE70-EF6057535882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C778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7782F"/>
                </a:solidFill>
                <a:latin typeface="Aptos"/>
                <a:ea typeface="Aptos"/>
                <a:cs typeface="Aptos"/>
              </a:rPr>
              <a:t>Web y sistema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E2F7CD7-1E69-4422-85FC-95D8BC375E5A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2781300" cy="9525"/>
          </a:xfrm>
          <a:prstGeom prst="line">
            <a:avLst/>
          </a:prstGeom>
          <a:noFill/>
          <a:ln w="38100">
            <a:solidFill>
              <a:srgbClr val="C7782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CFB1E9-A0E0-4273-A9AD-24F3A3395F96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3143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Web apps y clips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Windows web link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Cross-platform web apps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Android Enterprise system apps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3048A3-E623-47DA-8D92-66808B515295}"/>
              </a:ext>
            </a:extLst>
          </p:cNvPr>
          <p:cNvSpPr>
            <a:spLocks noGrp="1"/>
          </p:cNvSpPr>
          <p:nvPr/>
        </p:nvSpPr>
        <p:spPr>
          <a:xfrm>
            <a:off x="7200900" y="47053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Ruta de entrada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7FCA86-459A-4472-9FEC-03A05BB026EC}"/>
              </a:ext>
            </a:extLst>
          </p:cNvPr>
          <p:cNvSpPr>
            <a:spLocks noGrp="1"/>
          </p:cNvSpPr>
          <p:nvPr/>
        </p:nvSpPr>
        <p:spPr>
          <a:xfrm>
            <a:off x="7200900" y="50673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6348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Apps  →  All apps  →  Add  →  Select app type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859AEC-605A-4885-9B3A-B2848394E154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0D05D8-62D4-46B0-98B3-5ABF3EB447C0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27682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2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ABC40DA-0945-4A8E-BD9F-7BFB5283107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DISEÑO PREVIO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973D4E-B42C-4A5E-BFC4-B176E10D05B1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185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Antes de agregar una app, decida quién y qué administra Intune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6A59FD9-1E39-4070-AFCE-7584E2033BAD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7167A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8505A1-CEAD-4AEB-9B51-94F96D4564E1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E2F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F36936-2F81-410B-9DC6-A359CEBDC392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074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815AA1-CB55-4BAC-AD87-9BF032B0EC9D}"/>
              </a:ext>
            </a:extLst>
          </p:cNvPr>
          <p:cNvSpPr>
            <a:spLocks noGrp="1"/>
          </p:cNvSpPr>
          <p:nvPr/>
        </p:nvSpPr>
        <p:spPr>
          <a:xfrm>
            <a:off x="1524000" y="21145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A81CAE-CBED-4CF9-B93D-2F27FC0521CE}"/>
              </a:ext>
            </a:extLst>
          </p:cNvPr>
          <p:cNvSpPr>
            <a:spLocks noGrp="1"/>
          </p:cNvSpPr>
          <p:nvPr/>
        </p:nvSpPr>
        <p:spPr>
          <a:xfrm>
            <a:off x="3600450" y="2114550"/>
            <a:ext cx="704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¿Qué usuarios, plataformas y capacidades necesita la organización?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5360E8FC-EB77-468B-9259-F1C030E63C6D}"/>
              </a:ext>
            </a:extLst>
          </p:cNvPr>
          <p:cNvSpPr>
            <a:spLocks noGrp="1"/>
          </p:cNvSpPr>
          <p:nvPr/>
        </p:nvSpPr>
        <p:spPr>
          <a:xfrm>
            <a:off x="1524000" y="2895600"/>
            <a:ext cx="9124950" cy="9525"/>
          </a:xfrm>
          <a:prstGeom prst="line">
            <a:avLst/>
          </a:prstGeom>
          <a:noFill/>
          <a:ln w="9525">
            <a:solidFill>
              <a:srgbClr val="756BB0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D203F0-AEB8-4A62-8EC9-5B5072CCA6B8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074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75CFAA-98A1-4DCC-8966-2A32A6507929}"/>
              </a:ext>
            </a:extLst>
          </p:cNvPr>
          <p:cNvSpPr>
            <a:spLocks noGrp="1"/>
          </p:cNvSpPr>
          <p:nvPr/>
        </p:nvSpPr>
        <p:spPr>
          <a:xfrm>
            <a:off x="1524000" y="32956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Ámbito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EB6E1-DFB6-4D72-8C98-A07B06DDFF72}"/>
              </a:ext>
            </a:extLst>
          </p:cNvPr>
          <p:cNvSpPr>
            <a:spLocks noGrp="1"/>
          </p:cNvSpPr>
          <p:nvPr/>
        </p:nvSpPr>
        <p:spPr>
          <a:xfrm>
            <a:off x="3600450" y="3295650"/>
            <a:ext cx="704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¿Intune administrará dispositivos y apps, o solo las aplicaciones?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023C8BF-38C5-496C-8CD9-4185FFD465E2}"/>
              </a:ext>
            </a:extLst>
          </p:cNvPr>
          <p:cNvSpPr>
            <a:spLocks noGrp="1"/>
          </p:cNvSpPr>
          <p:nvPr/>
        </p:nvSpPr>
        <p:spPr>
          <a:xfrm>
            <a:off x="1524000" y="4076700"/>
            <a:ext cx="9124950" cy="9525"/>
          </a:xfrm>
          <a:prstGeom prst="line">
            <a:avLst/>
          </a:prstGeom>
          <a:noFill/>
          <a:ln w="9525">
            <a:solidFill>
              <a:srgbClr val="756BB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E4E784-4FBA-4067-A77D-D7EF30E097A4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074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4AC889-BD87-4936-823B-B75181B43B30}"/>
              </a:ext>
            </a:extLst>
          </p:cNvPr>
          <p:cNvSpPr>
            <a:spLocks noGrp="1"/>
          </p:cNvSpPr>
          <p:nvPr/>
        </p:nvSpPr>
        <p:spPr>
          <a:xfrm>
            <a:off x="1524000" y="44767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Segmentación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534B11-DDBA-42DC-B9E8-AD969BBF4057}"/>
              </a:ext>
            </a:extLst>
          </p:cNvPr>
          <p:cNvSpPr>
            <a:spLocks noGrp="1"/>
          </p:cNvSpPr>
          <p:nvPr/>
        </p:nvSpPr>
        <p:spPr>
          <a:xfrm>
            <a:off x="3600450" y="4476750"/>
            <a:ext cx="704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¿Qué aplicaciones y capacidades necesita cada grupo?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4E33DF18-4E00-4307-970D-775F778740C3}"/>
              </a:ext>
            </a:extLst>
          </p:cNvPr>
          <p:cNvSpPr>
            <a:spLocks noGrp="1"/>
          </p:cNvSpPr>
          <p:nvPr/>
        </p:nvSpPr>
        <p:spPr>
          <a:xfrm>
            <a:off x="1524000" y="5257800"/>
            <a:ext cx="9124950" cy="9525"/>
          </a:xfrm>
          <a:prstGeom prst="line">
            <a:avLst/>
          </a:prstGeom>
          <a:noFill/>
          <a:ln w="9525">
            <a:solidFill>
              <a:srgbClr val="756BB0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7575D6-885F-4B2D-AF06-B3666585DE44}"/>
              </a:ext>
            </a:extLst>
          </p:cNvPr>
          <p:cNvSpPr>
            <a:spLocks noGrp="1"/>
          </p:cNvSpPr>
          <p:nvPr/>
        </p:nvSpPr>
        <p:spPr>
          <a:xfrm>
            <a:off x="1524000" y="5791200"/>
            <a:ext cx="904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27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2F5"/>
                </a:solidFill>
                <a:latin typeface="Aptos"/>
                <a:ea typeface="Aptos"/>
                <a:cs typeface="Aptos"/>
              </a:rPr>
              <a:t>Estas respuestas determinan el tipo de app, la asignación y la política de protección.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833C25-7AF4-4871-B73F-97087C96A25D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BDB5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5D8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38BF89-AF3E-401F-9B96-43B3C31BD219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BDB5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5D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60783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14E60A3-10EE-413B-8650-6F5396163BC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WINDOWS 10/11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53EB3A-51A8-4265-A9AF-EE89E678915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185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Los conflictos de Office son el principal riesgo de implementación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FC636F9-9474-489A-A54F-E8A50820FEAD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10EE0-645B-4FF2-A00D-9E4681152364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617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F5896-1EBA-4690-B549-B356CF027561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Bloqueadores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6A0377-6722-430B-B633-FC7B87646722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76200" cy="76200"/>
          </a:xfrm>
          <a:prstGeom prst="rect">
            <a:avLst/>
          </a:prstGeom>
          <a:solidFill>
            <a:srgbClr val="F36F5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E324E1-9169-4A54-84EB-E6CF5C33411C}"/>
              </a:ext>
            </a:extLst>
          </p:cNvPr>
          <p:cNvSpPr>
            <a:spLocks noGrp="1"/>
          </p:cNvSpPr>
          <p:nvPr/>
        </p:nvSpPr>
        <p:spPr>
          <a:xfrm>
            <a:off x="914400" y="25146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Office MSI existente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4BB29D-83F6-40A7-BDD5-61FEBE9A2842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4724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Active Remove MSI o la instalación puede fallar.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5D00F1-F9C6-43B2-8881-C6363362E844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76200" cy="76200"/>
          </a:xfrm>
          <a:prstGeom prst="rect">
            <a:avLst/>
          </a:prstGeom>
          <a:solidFill>
            <a:srgbClr val="F36F5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C755BF-5470-4993-AB1E-146CA304628D}"/>
              </a:ext>
            </a:extLst>
          </p:cNvPr>
          <p:cNvSpPr>
            <a:spLocks noGrp="1"/>
          </p:cNvSpPr>
          <p:nvPr/>
        </p:nvSpPr>
        <p:spPr>
          <a:xfrm>
            <a:off x="914400" y="32956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Apps Office abiertas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DCF6C7-58A7-4D4D-939F-E571293BA981}"/>
              </a:ext>
            </a:extLst>
          </p:cNvPr>
          <p:cNvSpPr>
            <a:spLocks noGrp="1"/>
          </p:cNvSpPr>
          <p:nvPr/>
        </p:nvSpPr>
        <p:spPr>
          <a:xfrm>
            <a:off x="914400" y="3600450"/>
            <a:ext cx="4724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Puede fallar y perderse trabajo no guardado.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596D-9A89-4A6C-A580-92ED390D82B8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76200" cy="76200"/>
          </a:xfrm>
          <a:prstGeom prst="rect">
            <a:avLst/>
          </a:prstGeom>
          <a:solidFill>
            <a:srgbClr val="F36F5B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99EA24-D483-4725-B029-48D1A8840731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Ediciones no compatibles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A360CA-DECC-44EE-A704-F118954927DA}"/>
              </a:ext>
            </a:extLst>
          </p:cNvPr>
          <p:cNvSpPr>
            <a:spLocks noGrp="1"/>
          </p:cNvSpPr>
          <p:nvPr/>
        </p:nvSpPr>
        <p:spPr>
          <a:xfrm>
            <a:off x="914400" y="4381500"/>
            <a:ext cx="4724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Home, Team y Holographic no están soportadas.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DF369B-25E8-4814-A1EB-60D7077762FC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76200" cy="76200"/>
          </a:xfrm>
          <a:prstGeom prst="rect">
            <a:avLst/>
          </a:prstGeom>
          <a:solidFill>
            <a:srgbClr val="F36F5B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F15EA8-DEAF-4BDA-BC5D-51A038379D4D}"/>
              </a:ext>
            </a:extLst>
          </p:cNvPr>
          <p:cNvSpPr>
            <a:spLocks noGrp="1"/>
          </p:cNvSpPr>
          <p:nvPr/>
        </p:nvSpPr>
        <p:spPr>
          <a:xfrm>
            <a:off x="914400" y="48577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Microsoft Store + Intune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46454C-F308-4E92-9877-1CF615DFA408}"/>
              </a:ext>
            </a:extLst>
          </p:cNvPr>
          <p:cNvSpPr>
            <a:spLocks noGrp="1"/>
          </p:cNvSpPr>
          <p:nvPr/>
        </p:nvSpPr>
        <p:spPr>
          <a:xfrm>
            <a:off x="914400" y="5162550"/>
            <a:ext cx="4724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La coexistencia puede provocar corrupción o pérdida de datos.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66A757A-EBC0-4AB3-A6AF-CF2E079018B3}"/>
              </a:ext>
            </a:extLst>
          </p:cNvPr>
          <p:cNvSpPr>
            <a:spLocks noGrp="1"/>
          </p:cNvSpPr>
          <p:nvPr/>
        </p:nvSpPr>
        <p:spPr>
          <a:xfrm>
            <a:off x="6000750" y="2000250"/>
            <a:ext cx="9525" cy="3924300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722F80-CCFA-4326-82F7-F533FEF804B2}"/>
              </a:ext>
            </a:extLst>
          </p:cNvPr>
          <p:cNvSpPr>
            <a:spLocks noGrp="1"/>
          </p:cNvSpPr>
          <p:nvPr/>
        </p:nvSpPr>
        <p:spPr>
          <a:xfrm>
            <a:off x="6477000" y="20193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Condiciones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77F710-6A38-4BA3-8918-F53A252AE55D}"/>
              </a:ext>
            </a:extLst>
          </p:cNvPr>
          <p:cNvSpPr>
            <a:spLocks noGrp="1"/>
          </p:cNvSpPr>
          <p:nvPr/>
        </p:nvSpPr>
        <p:spPr>
          <a:xfrm>
            <a:off x="6477000" y="25717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5BE292-81BD-4A87-A314-A042030DA300}"/>
              </a:ext>
            </a:extLst>
          </p:cNvPr>
          <p:cNvSpPr>
            <a:spLocks noGrp="1"/>
          </p:cNvSpPr>
          <p:nvPr/>
        </p:nvSpPr>
        <p:spPr>
          <a:xfrm>
            <a:off x="6953250" y="2533650"/>
            <a:ext cx="426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Creators Update o posterior.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306CBB-AD1E-41E1-B044-FDBDA979EE2A}"/>
              </a:ext>
            </a:extLst>
          </p:cNvPr>
          <p:cNvSpPr>
            <a:spLocks noGrp="1"/>
          </p:cNvSpPr>
          <p:nvPr/>
        </p:nvSpPr>
        <p:spPr>
          <a:xfrm>
            <a:off x="6477000" y="31813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FCECBB-D0FD-4EE2-8DC8-D66F1F84321F}"/>
              </a:ext>
            </a:extLst>
          </p:cNvPr>
          <p:cNvSpPr>
            <a:spLocks noGrp="1"/>
          </p:cNvSpPr>
          <p:nvPr/>
        </p:nvSpPr>
        <p:spPr>
          <a:xfrm>
            <a:off x="6953250" y="3143250"/>
            <a:ext cx="426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Una sola implementación de Microsoft 365 por dispositivo.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A8B9F8-1D31-4E26-A035-C6D6350DDB2B}"/>
              </a:ext>
            </a:extLst>
          </p:cNvPr>
          <p:cNvSpPr>
            <a:spLocks noGrp="1"/>
          </p:cNvSpPr>
          <p:nvPr/>
        </p:nvSpPr>
        <p:spPr>
          <a:xfrm>
            <a:off x="6477000" y="3790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7DE537-AAF2-454F-A04D-96573510A06B}"/>
              </a:ext>
            </a:extLst>
          </p:cNvPr>
          <p:cNvSpPr>
            <a:spLocks noGrp="1"/>
          </p:cNvSpPr>
          <p:nvPr/>
        </p:nvSpPr>
        <p:spPr>
          <a:xfrm>
            <a:off x="6953250" y="3752850"/>
            <a:ext cx="426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32 bits funciona en equipos 32/64; 64 bits requiere equipo 64.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69177D-3D07-4991-956F-E3E2BECB1207}"/>
              </a:ext>
            </a:extLst>
          </p:cNvPr>
          <p:cNvSpPr>
            <a:spLocks noGrp="1"/>
          </p:cNvSpPr>
          <p:nvPr/>
        </p:nvSpPr>
        <p:spPr>
          <a:xfrm>
            <a:off x="6477000" y="44005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ABF9D6-D1FC-4E25-A649-C091CA62E6F1}"/>
              </a:ext>
            </a:extLst>
          </p:cNvPr>
          <p:cNvSpPr>
            <a:spLocks noGrp="1"/>
          </p:cNvSpPr>
          <p:nvPr/>
        </p:nvSpPr>
        <p:spPr>
          <a:xfrm>
            <a:off x="6953250" y="4362450"/>
            <a:ext cx="426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Intune solo agrega Office desde la suite Microsoft 365 Apps.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51D697-8CE6-48F0-A982-965ABC4660F6}"/>
              </a:ext>
            </a:extLst>
          </p:cNvPr>
          <p:cNvSpPr>
            <a:spLocks noGrp="1"/>
          </p:cNvSpPr>
          <p:nvPr/>
        </p:nvSpPr>
        <p:spPr>
          <a:xfrm>
            <a:off x="6477000" y="50101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4EA7C3-9D9D-450E-B632-63A0F5DEA0C6}"/>
              </a:ext>
            </a:extLst>
          </p:cNvPr>
          <p:cNvSpPr>
            <a:spLocks noGrp="1"/>
          </p:cNvSpPr>
          <p:nvPr/>
        </p:nvSpPr>
        <p:spPr>
          <a:xfrm>
            <a:off x="6953250" y="4972050"/>
            <a:ext cx="426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Visio y Project requieren licencias correspondientes.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96A92B-63CD-439B-9CB0-CDADC8B19437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D16FC9-7931-4FC5-B05A-E936705C6640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2587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AF3904E-7461-4C73-90A0-8AB1DD896E9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PROCESO DE IMPLEMENTACIÓN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044368-B853-444A-9FBB-ACBDA9C8494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185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La implementación en Intune sigue un flujo de seis decisiones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088B354-15B9-49AA-87AF-A286FAEA560C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CDBFD0-28CB-4F0E-86D0-C094FD52E512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617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C6DA45-4F2A-410C-A891-A1A06A674480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590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D942B3-345B-4F29-921B-D321773DF19B}"/>
              </a:ext>
            </a:extLst>
          </p:cNvPr>
          <p:cNvSpPr>
            <a:spLocks noGrp="1"/>
          </p:cNvSpPr>
          <p:nvPr/>
        </p:nvSpPr>
        <p:spPr>
          <a:xfrm>
            <a:off x="1409700" y="205740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Abrir Intune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B5C6E-2766-4182-9B38-D34F3F74BC37}"/>
              </a:ext>
            </a:extLst>
          </p:cNvPr>
          <p:cNvSpPr>
            <a:spLocks noGrp="1"/>
          </p:cNvSpPr>
          <p:nvPr/>
        </p:nvSpPr>
        <p:spPr>
          <a:xfrm>
            <a:off x="1409700" y="2419350"/>
            <a:ext cx="2609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Admin centers → Endpoint Manager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0110378-3E14-49F8-A920-C8363536F1EE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318135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3422AF-D1F6-42FF-B68C-F3A4B63D7C8A}"/>
              </a:ext>
            </a:extLst>
          </p:cNvPr>
          <p:cNvSpPr>
            <a:spLocks noGrp="1"/>
          </p:cNvSpPr>
          <p:nvPr/>
        </p:nvSpPr>
        <p:spPr>
          <a:xfrm>
            <a:off x="4286250" y="2038350"/>
            <a:ext cx="590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C140A-617D-4B9F-84F4-8CC2C5576258}"/>
              </a:ext>
            </a:extLst>
          </p:cNvPr>
          <p:cNvSpPr>
            <a:spLocks noGrp="1"/>
          </p:cNvSpPr>
          <p:nvPr/>
        </p:nvSpPr>
        <p:spPr>
          <a:xfrm>
            <a:off x="5010150" y="205740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Agregar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971FD-4405-4AC9-AF88-B03C0B606B33}"/>
              </a:ext>
            </a:extLst>
          </p:cNvPr>
          <p:cNvSpPr>
            <a:spLocks noGrp="1"/>
          </p:cNvSpPr>
          <p:nvPr/>
        </p:nvSpPr>
        <p:spPr>
          <a:xfrm>
            <a:off x="5010150" y="2419350"/>
            <a:ext cx="2609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Apps → All apps → +Add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DB59DC0-C3C6-460D-BE66-BAEE9FDB71CE}"/>
              </a:ext>
            </a:extLst>
          </p:cNvPr>
          <p:cNvSpPr>
            <a:spLocks noGrp="1"/>
          </p:cNvSpPr>
          <p:nvPr/>
        </p:nvSpPr>
        <p:spPr>
          <a:xfrm>
            <a:off x="4286250" y="3390900"/>
            <a:ext cx="318135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79912D-C4FE-43C3-8507-54E95B055B29}"/>
              </a:ext>
            </a:extLst>
          </p:cNvPr>
          <p:cNvSpPr>
            <a:spLocks noGrp="1"/>
          </p:cNvSpPr>
          <p:nvPr/>
        </p:nvSpPr>
        <p:spPr>
          <a:xfrm>
            <a:off x="7886700" y="2038350"/>
            <a:ext cx="590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2A817F-55C0-4448-BFFD-855A6B557C77}"/>
              </a:ext>
            </a:extLst>
          </p:cNvPr>
          <p:cNvSpPr>
            <a:spLocks noGrp="1"/>
          </p:cNvSpPr>
          <p:nvPr/>
        </p:nvSpPr>
        <p:spPr>
          <a:xfrm>
            <a:off x="8610600" y="205740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Elegir tipo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1763-1AAF-4EA8-8D0A-FAD949A95168}"/>
              </a:ext>
            </a:extLst>
          </p:cNvPr>
          <p:cNvSpPr>
            <a:spLocks noGrp="1"/>
          </p:cNvSpPr>
          <p:nvPr/>
        </p:nvSpPr>
        <p:spPr>
          <a:xfrm>
            <a:off x="8610600" y="2419350"/>
            <a:ext cx="2609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Microsoft 365 Apps · Windows 10 and later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52219B2-D828-4CA9-9CF4-7B9060A5751E}"/>
              </a:ext>
            </a:extLst>
          </p:cNvPr>
          <p:cNvSpPr>
            <a:spLocks noGrp="1"/>
          </p:cNvSpPr>
          <p:nvPr/>
        </p:nvSpPr>
        <p:spPr>
          <a:xfrm>
            <a:off x="7886700" y="3390900"/>
            <a:ext cx="318135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C9C799-B984-49F0-BDEF-2B662C0DB6CA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590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D5F6C0-BB43-47F1-8A30-8202CE6C287D}"/>
              </a:ext>
            </a:extLst>
          </p:cNvPr>
          <p:cNvSpPr>
            <a:spLocks noGrp="1"/>
          </p:cNvSpPr>
          <p:nvPr/>
        </p:nvSpPr>
        <p:spPr>
          <a:xfrm>
            <a:off x="1409700" y="386715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Describir suite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417951-3632-4EE7-9AEB-B0689C5DB5A1}"/>
              </a:ext>
            </a:extLst>
          </p:cNvPr>
          <p:cNvSpPr>
            <a:spLocks noGrp="1"/>
          </p:cNvSpPr>
          <p:nvPr/>
        </p:nvSpPr>
        <p:spPr>
          <a:xfrm>
            <a:off x="1409700" y="4229100"/>
            <a:ext cx="2609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Name, Description, Publisher, Category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CE5056-C10A-4A75-9B0A-B2CF45282817}"/>
              </a:ext>
            </a:extLst>
          </p:cNvPr>
          <p:cNvSpPr>
            <a:spLocks noGrp="1"/>
          </p:cNvSpPr>
          <p:nvPr/>
        </p:nvSpPr>
        <p:spPr>
          <a:xfrm>
            <a:off x="4286250" y="3848100"/>
            <a:ext cx="590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0DE874-E4DA-4416-99AE-B8BF75433459}"/>
              </a:ext>
            </a:extLst>
          </p:cNvPr>
          <p:cNvSpPr>
            <a:spLocks noGrp="1"/>
          </p:cNvSpPr>
          <p:nvPr/>
        </p:nvSpPr>
        <p:spPr>
          <a:xfrm>
            <a:off x="5010150" y="386715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Configurar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D15936-CD8F-4A01-B37E-2573B7DA6A93}"/>
              </a:ext>
            </a:extLst>
          </p:cNvPr>
          <p:cNvSpPr>
            <a:spLocks noGrp="1"/>
          </p:cNvSpPr>
          <p:nvPr/>
        </p:nvSpPr>
        <p:spPr>
          <a:xfrm>
            <a:off x="5010150" y="4229100"/>
            <a:ext cx="2609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Arquitectura, formato, canal, idiomas, Remove MSI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BF9991-06E6-4D83-864B-9E8A3290846D}"/>
              </a:ext>
            </a:extLst>
          </p:cNvPr>
          <p:cNvSpPr>
            <a:spLocks noGrp="1"/>
          </p:cNvSpPr>
          <p:nvPr/>
        </p:nvSpPr>
        <p:spPr>
          <a:xfrm>
            <a:off x="7886700" y="3848100"/>
            <a:ext cx="590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7CC8D7-877D-4A89-B219-9EA4FB9D38BE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Asignar y crear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46526C-DED4-4E9D-B454-8D9CB7E7FFB0}"/>
              </a:ext>
            </a:extLst>
          </p:cNvPr>
          <p:cNvSpPr>
            <a:spLocks noGrp="1"/>
          </p:cNvSpPr>
          <p:nvPr/>
        </p:nvSpPr>
        <p:spPr>
          <a:xfrm>
            <a:off x="8610600" y="4229100"/>
            <a:ext cx="2609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Usuarios, grupos o dispositivos → Review + create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1E9CD7-BDF8-474D-88F2-07271A498961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820400" cy="361950"/>
          </a:xfrm>
          <a:prstGeom prst="rect">
            <a:avLst/>
          </a:prstGeom>
          <a:solidFill>
            <a:srgbClr val="FAD9D1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747E1F-BF83-418D-B6BC-D77C47C66793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La revisión final debe reflejar exactamente la estrategia decidida antes de crear la app.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BB2B79-36FB-48B6-A61C-531FB4DEF7BA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5027D8-65F7-4AB1-8741-570C4092D465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34288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629DEE2-6625-4C13-B298-8142F9FADE8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CONFIGURE APP SUITE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69F2B2-2516-4110-84CF-E1D85229DC9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740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Cinco decisiones cambian el resultado del despliegue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493F810-51E1-422D-9D9B-97EAEE69191D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AFBDB-0D4F-4B8F-B03C-3BBCF9CC09A6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617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36D526-4FD8-40C8-9349-D410058655C4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E9BB00-ADC4-4684-A8FB-5DA29B049E86}"/>
              </a:ext>
            </a:extLst>
          </p:cNvPr>
          <p:cNvSpPr>
            <a:spLocks noGrp="1"/>
          </p:cNvSpPr>
          <p:nvPr/>
        </p:nvSpPr>
        <p:spPr>
          <a:xfrm>
            <a:off x="1257300" y="19812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E86861-B096-497E-85FA-84E37BA8ECD8}"/>
              </a:ext>
            </a:extLst>
          </p:cNvPr>
          <p:cNvSpPr>
            <a:spLocks noGrp="1"/>
          </p:cNvSpPr>
          <p:nvPr/>
        </p:nvSpPr>
        <p:spPr>
          <a:xfrm>
            <a:off x="3790950" y="19812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425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32 bits: equipos 32/64</a:t>
            </a:r>
          </a:p>
          <a:p>
            <a:pPr algn="l">
              <a:lnSpc>
                <a:spcPct val="113000"/>
              </a:lnSpc>
              <a:buNone/>
              <a:defRPr sz="1425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64 bits: solo equipos 64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91D1926-1E40-47D8-A21B-0D338E3F39E0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977265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F47654-7058-444C-B49F-828491D14876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E9474B-F918-46EB-852C-FB98210741AD}"/>
              </a:ext>
            </a:extLst>
          </p:cNvPr>
          <p:cNvSpPr>
            <a:spLocks noGrp="1"/>
          </p:cNvSpPr>
          <p:nvPr/>
        </p:nvSpPr>
        <p:spPr>
          <a:xfrm>
            <a:off x="1257300" y="27432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325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Formato predeterminado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B838BF-EFD0-47D1-A7DF-8838D4043A75}"/>
              </a:ext>
            </a:extLst>
          </p:cNvPr>
          <p:cNvSpPr>
            <a:spLocks noGrp="1"/>
          </p:cNvSpPr>
          <p:nvPr/>
        </p:nvSpPr>
        <p:spPr>
          <a:xfrm>
            <a:off x="3790950" y="27432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425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Open Document Format</a:t>
            </a:r>
          </a:p>
          <a:p>
            <a:pPr algn="l">
              <a:lnSpc>
                <a:spcPct val="113000"/>
              </a:lnSpc>
              <a:buNone/>
              <a:defRPr sz="1425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u Office Open XML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A273CBF-2501-4141-8631-2D62A4400DF3}"/>
              </a:ext>
            </a:extLst>
          </p:cNvPr>
          <p:cNvSpPr>
            <a:spLocks noGrp="1"/>
          </p:cNvSpPr>
          <p:nvPr/>
        </p:nvSpPr>
        <p:spPr>
          <a:xfrm>
            <a:off x="1257300" y="3371850"/>
            <a:ext cx="977265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AB7BD5-D773-4A58-B98B-B325D22C43D7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DC249-0671-40AE-8EEB-647A577D93EA}"/>
              </a:ext>
            </a:extLst>
          </p:cNvPr>
          <p:cNvSpPr>
            <a:spLocks noGrp="1"/>
          </p:cNvSpPr>
          <p:nvPr/>
        </p:nvSpPr>
        <p:spPr>
          <a:xfrm>
            <a:off x="1257300" y="35052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Update Channel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5D957A-380A-4867-96CF-070751B578EC}"/>
              </a:ext>
            </a:extLst>
          </p:cNvPr>
          <p:cNvSpPr>
            <a:spLocks noGrp="1"/>
          </p:cNvSpPr>
          <p:nvPr/>
        </p:nvSpPr>
        <p:spPr>
          <a:xfrm>
            <a:off x="3790950" y="35052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425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Current · Monthly Enterprise</a:t>
            </a:r>
          </a:p>
          <a:p>
            <a:pPr algn="l">
              <a:lnSpc>
                <a:spcPct val="113000"/>
              </a:lnSpc>
              <a:buNone/>
              <a:defRPr sz="1425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Semi-Annual · Preview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CAE2DBC-952C-49F4-8F38-783D5B3A4821}"/>
              </a:ext>
            </a:extLst>
          </p:cNvPr>
          <p:cNvSpPr>
            <a:spLocks noGrp="1"/>
          </p:cNvSpPr>
          <p:nvPr/>
        </p:nvSpPr>
        <p:spPr>
          <a:xfrm>
            <a:off x="1257300" y="4133850"/>
            <a:ext cx="977265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412908-6B45-411E-BEE7-18686049D5EF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24A459-2627-495A-96FD-073F1ACC037A}"/>
              </a:ext>
            </a:extLst>
          </p:cNvPr>
          <p:cNvSpPr>
            <a:spLocks noGrp="1"/>
          </p:cNvSpPr>
          <p:nvPr/>
        </p:nvSpPr>
        <p:spPr>
          <a:xfrm>
            <a:off x="1257300" y="42672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Idiomas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74EE46-F66C-452A-8859-66E6DAAEE591}"/>
              </a:ext>
            </a:extLst>
          </p:cNvPr>
          <p:cNvSpPr>
            <a:spLocks noGrp="1"/>
          </p:cNvSpPr>
          <p:nvPr/>
        </p:nvSpPr>
        <p:spPr>
          <a:xfrm>
            <a:off x="3790950" y="42672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425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Definir los requeridos; al reinstalar se recuperan los de la instalación MSI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C3BCFCE-AD59-41AE-BB3D-FECE37FFDD9B}"/>
              </a:ext>
            </a:extLst>
          </p:cNvPr>
          <p:cNvSpPr>
            <a:spLocks noGrp="1"/>
          </p:cNvSpPr>
          <p:nvPr/>
        </p:nvSpPr>
        <p:spPr>
          <a:xfrm>
            <a:off x="1257300" y="4895850"/>
            <a:ext cx="977265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B1FC2F-DCC5-49AD-A10F-40F15F7C8CE6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7D3F29-4B59-4DA1-B5BB-0CE1AF95B841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Remove MSI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AD1D30-1993-4B0D-83CB-BAE9CF32F19C}"/>
              </a:ext>
            </a:extLst>
          </p:cNvPr>
          <p:cNvSpPr>
            <a:spLocks noGrp="1"/>
          </p:cNvSpPr>
          <p:nvPr/>
        </p:nvSpPr>
        <p:spPr>
          <a:xfrm>
            <a:off x="3790950" y="50292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4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Elimina todas las aplicaciones Office MSI existentes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BD06D06D-42C0-4C25-80FD-E97DA012A230}"/>
              </a:ext>
            </a:extLst>
          </p:cNvPr>
          <p:cNvSpPr>
            <a:spLocks noGrp="1"/>
          </p:cNvSpPr>
          <p:nvPr/>
        </p:nvSpPr>
        <p:spPr>
          <a:xfrm>
            <a:off x="1257300" y="5657850"/>
            <a:ext cx="977265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C5FFBE-A11C-4E1D-BFF3-C8ED47220644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57E0FC-E73D-4606-9A0C-551A76B4D50E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62314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2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4F39261-DAE0-408E-AC88-7893C014FD5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ASIGNACIONES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E916F1-7B78-49E7-B3F0-EED79E6F4B7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185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Las asignaciones de Microsoft 365 Apps no son acumulativas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6770ACC-C3FC-4774-B1A0-1CF55181AC79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7167A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E104C8-52E2-4311-8771-6861AEA76F60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E2F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A57EBC-B0ED-4A93-B64E-C8D74F7B2751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Asignación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A5BAF2-C5A2-4E63-B7D7-6D064815FCA9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147"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Word  ·  Excel  ·  PowerPoint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5B1B5-7F69-4AD7-B579-8A6D84B9C3ED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Asignación 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B97326-3296-46C6-8703-D4C4306AC30D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Excel  ·  PowerPoint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7EEBAD-B7B0-44B4-8435-1F7F4A37337D}"/>
              </a:ext>
            </a:extLst>
          </p:cNvPr>
          <p:cNvSpPr>
            <a:spLocks noGrp="1"/>
          </p:cNvSpPr>
          <p:nvPr/>
        </p:nvSpPr>
        <p:spPr>
          <a:xfrm>
            <a:off x="5467350" y="2038350"/>
            <a:ext cx="57150" cy="2667000"/>
          </a:xfrm>
          <a:prstGeom prst="rect">
            <a:avLst/>
          </a:prstGeom>
          <a:solidFill>
            <a:srgbClr val="F36F5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0C8AD8-1976-49C1-93B7-4DD2084A89FE}"/>
              </a:ext>
            </a:extLst>
          </p:cNvPr>
          <p:cNvSpPr>
            <a:spLocks noGrp="1"/>
          </p:cNvSpPr>
          <p:nvPr/>
        </p:nvSpPr>
        <p:spPr>
          <a:xfrm>
            <a:off x="5981700" y="20764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Resultado posible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EF81AA-FB15-44E3-8353-EB228710A059}"/>
              </a:ext>
            </a:extLst>
          </p:cNvPr>
          <p:cNvSpPr>
            <a:spLocks noGrp="1"/>
          </p:cNvSpPr>
          <p:nvPr/>
        </p:nvSpPr>
        <p:spPr>
          <a:xfrm>
            <a:off x="5981700" y="2495550"/>
            <a:ext cx="457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Word se desinstala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B20D47-953F-4AA8-AA3E-AB9E4E709C4A}"/>
              </a:ext>
            </a:extLst>
          </p:cNvPr>
          <p:cNvSpPr>
            <a:spLocks noGrp="1"/>
          </p:cNvSpPr>
          <p:nvPr/>
        </p:nvSpPr>
        <p:spPr>
          <a:xfrm>
            <a:off x="5981700" y="3162300"/>
            <a:ext cx="447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Una asignación posterior puede sobrescribir la anterior.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87B63-8E03-4B42-A811-556B48C3140B}"/>
              </a:ext>
            </a:extLst>
          </p:cNvPr>
          <p:cNvSpPr>
            <a:spLocks noGrp="1"/>
          </p:cNvSpPr>
          <p:nvPr/>
        </p:nvSpPr>
        <p:spPr>
          <a:xfrm>
            <a:off x="5981700" y="42481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8E2F5"/>
                </a:solidFill>
                <a:latin typeface="Aptos"/>
                <a:ea typeface="Aptos"/>
                <a:cs typeface="Aptos"/>
              </a:rPr>
              <a:t>Excepción: esta condición no se aplica a Visio ni Project.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1F7330-945F-4B9A-AF5F-31167767918E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058400" cy="552450"/>
          </a:xfrm>
          <a:prstGeom prst="rect">
            <a:avLst/>
          </a:prstGeom>
          <a:solidFill>
            <a:srgbClr val="4A3C8D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278486-8C60-44F8-9D9D-FA32B3FEF504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960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175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Diseñe una única asignación completa por ámbito para evitar resultados inesperados.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A1B06-A409-4AA0-8D46-C488D81A24D3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BDB5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5D8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1EA3A0-205F-42F1-9DF8-3760AA7E5097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BDB5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5D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75927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5EDADA4-1380-4B5F-B045-A1285A3EAC2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AUTOPILOT Y ESP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202DF2-D8A6-4B4C-9391-2F8B8D3E9A6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36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ESP exige evitar instalaciones concurrentes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04B79D0-6010-4153-BB46-13E91A8AA38A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5BE3F4-0612-4C6A-8F96-92EAC650A7B5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6173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27B337-D84A-46F4-8B9C-D7EE418794BE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Riesgo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1C516-C5D8-4620-BCFA-ED894D625575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Microsoft 365 Apps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B48EB7-C50F-4281-9C72-7A23626855F8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2B"/>
                </a:solidFill>
                <a:latin typeface="Aptos"/>
                <a:ea typeface="Aptos"/>
                <a:cs typeface="Aptos"/>
              </a:rPr>
              <a:t>y una app Win32 pueden instalarse al mismo tiempo.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B6E63A-C204-46CC-9AF7-ED1899E1E80E}"/>
              </a:ext>
            </a:extLst>
          </p:cNvPr>
          <p:cNvSpPr>
            <a:spLocks noGrp="1"/>
          </p:cNvSpPr>
          <p:nvPr/>
        </p:nvSpPr>
        <p:spPr>
          <a:xfrm>
            <a:off x="4762500" y="2952750"/>
            <a:ext cx="76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36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5B91F2-9DA8-49EB-8A61-EC52F5B2C8D6}"/>
              </a:ext>
            </a:extLst>
          </p:cNvPr>
          <p:cNvSpPr>
            <a:spLocks noGrp="1"/>
          </p:cNvSpPr>
          <p:nvPr/>
        </p:nvSpPr>
        <p:spPr>
          <a:xfrm>
            <a:off x="5981700" y="20955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Impacto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2E8644-40BE-4561-8BDF-5886E109053A}"/>
              </a:ext>
            </a:extLst>
          </p:cNvPr>
          <p:cNvSpPr>
            <a:spLocks noGrp="1"/>
          </p:cNvSpPr>
          <p:nvPr/>
        </p:nvSpPr>
        <p:spPr>
          <a:xfrm>
            <a:off x="5981700" y="253365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Fallo de ESP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BB3EA8-78DB-4519-BB77-CF087A74FAC3}"/>
              </a:ext>
            </a:extLst>
          </p:cNvPr>
          <p:cNvSpPr>
            <a:spLocks noGrp="1"/>
          </p:cNvSpPr>
          <p:nvPr/>
        </p:nvSpPr>
        <p:spPr>
          <a:xfrm>
            <a:off x="5981700" y="3105150"/>
            <a:ext cx="4572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El tipo Microsoft 365 Apps (Windows 10 and later) no está administrado por IME.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F312AEC-6F42-45C4-88E5-E7F63C80CCCB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66751A-92D6-4D88-AEB2-F04C01AAE71E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E7D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Recomendación de Microsoft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222F81-3DA4-4B1D-81ED-463B21F77B9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1038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183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Si la suite será supervisada durante Enrollment Status Page, impleméntela como aplicación Win32.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2C5724-9A3E-491B-84A1-2ABB5240E44F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060E09-F6FA-4F34-BB3E-9653D1277547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0071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928FD0E-CAFE-4C2C-94A5-1F7B2B36161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SECURITY BASELINE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516189-80AF-4B5A-BAE2-0EE71240647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185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La baseline convierte recomendaciones en una política asignable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4CAB206-E159-4F54-BA3E-40417C3B9517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F2865E-48BC-4525-9260-37F0654D63D9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6173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5EB87-8E2D-48EB-8BC9-6335A902EC4E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Punto de partida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324577-5172-4A51-B6EE-672F3D6E8BD7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679"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Seguridad recomendada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8BBC7B-367E-4E95-9599-F422C2BA4E60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4095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para equilibrar protección y productividad; debe ajustarse a las necesidades de la organización.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BD6753A5-9330-42A3-80DE-AEA85A860C29}"/>
              </a:ext>
            </a:extLst>
          </p:cNvPr>
          <p:cNvSpPr>
            <a:spLocks noGrp="1"/>
          </p:cNvSpPr>
          <p:nvPr/>
        </p:nvSpPr>
        <p:spPr>
          <a:xfrm>
            <a:off x="5219700" y="1981200"/>
            <a:ext cx="9525" cy="3848100"/>
          </a:xfrm>
          <a:prstGeom prst="line">
            <a:avLst/>
          </a:prstGeom>
          <a:noFill/>
          <a:ln w="9525">
            <a:solidFill>
              <a:srgbClr val="D7D0C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F23FDC-688A-42BF-81D2-B37AF1C53244}"/>
              </a:ext>
            </a:extLst>
          </p:cNvPr>
          <p:cNvSpPr>
            <a:spLocks noGrp="1"/>
          </p:cNvSpPr>
          <p:nvPr/>
        </p:nvSpPr>
        <p:spPr>
          <a:xfrm>
            <a:off x="5695950" y="20383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7F8AF0-33B1-40F8-99D4-8A3DA21A0FF1}"/>
              </a:ext>
            </a:extLst>
          </p:cNvPr>
          <p:cNvSpPr>
            <a:spLocks noGrp="1"/>
          </p:cNvSpPr>
          <p:nvPr/>
        </p:nvSpPr>
        <p:spPr>
          <a:xfrm>
            <a:off x="6172200" y="20383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Asignar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BDB2F3-F157-4E0C-BD41-EDE91F877FD7}"/>
              </a:ext>
            </a:extLst>
          </p:cNvPr>
          <p:cNvSpPr>
            <a:spLocks noGrp="1"/>
          </p:cNvSpPr>
          <p:nvPr/>
        </p:nvSpPr>
        <p:spPr>
          <a:xfrm>
            <a:off x="7905750" y="203835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Grupos de dispositivos, usuarios o grupos.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093BA4-4770-4676-8685-44D72467CCCC}"/>
              </a:ext>
            </a:extLst>
          </p:cNvPr>
          <p:cNvSpPr>
            <a:spLocks noGrp="1"/>
          </p:cNvSpPr>
          <p:nvPr/>
        </p:nvSpPr>
        <p:spPr>
          <a:xfrm>
            <a:off x="5695950" y="29146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246DC3-CB07-45C8-AA5F-37C101C92E3B}"/>
              </a:ext>
            </a:extLst>
          </p:cNvPr>
          <p:cNvSpPr>
            <a:spLocks noGrp="1"/>
          </p:cNvSpPr>
          <p:nvPr/>
        </p:nvSpPr>
        <p:spPr>
          <a:xfrm>
            <a:off x="6172200" y="2914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Excluir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761D99-FEC2-47EA-8291-6E8803370FA9}"/>
              </a:ext>
            </a:extLst>
          </p:cNvPr>
          <p:cNvSpPr>
            <a:spLocks noGrp="1"/>
          </p:cNvSpPr>
          <p:nvPr/>
        </p:nvSpPr>
        <p:spPr>
          <a:xfrm>
            <a:off x="7905750" y="291465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Grupos determinados cuando sea necesario.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E79387-45B4-4D26-81DF-B0739328AAAD}"/>
              </a:ext>
            </a:extLst>
          </p:cNvPr>
          <p:cNvSpPr>
            <a:spLocks noGrp="1"/>
          </p:cNvSpPr>
          <p:nvPr/>
        </p:nvSpPr>
        <p:spPr>
          <a:xfrm>
            <a:off x="5695950" y="37909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0DF52F-4D5D-4926-95EE-A23B1DE10874}"/>
              </a:ext>
            </a:extLst>
          </p:cNvPr>
          <p:cNvSpPr>
            <a:spLocks noGrp="1"/>
          </p:cNvSpPr>
          <p:nvPr/>
        </p:nvSpPr>
        <p:spPr>
          <a:xfrm>
            <a:off x="6172200" y="3790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E88799-47B4-4E52-AD25-2E03B3718B02}"/>
              </a:ext>
            </a:extLst>
          </p:cNvPr>
          <p:cNvSpPr>
            <a:spLocks noGrp="1"/>
          </p:cNvSpPr>
          <p:nvPr/>
        </p:nvSpPr>
        <p:spPr>
          <a:xfrm>
            <a:off x="7905750" y="379095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Configuraciones recomendadas a Microsoft 365 Apps.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1CEADC-7F37-4E82-8543-815BA242198A}"/>
              </a:ext>
            </a:extLst>
          </p:cNvPr>
          <p:cNvSpPr>
            <a:spLocks noGrp="1"/>
          </p:cNvSpPr>
          <p:nvPr/>
        </p:nvSpPr>
        <p:spPr>
          <a:xfrm>
            <a:off x="5695950" y="46672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C6A7E5-CCAE-421B-A31A-C33D2A51F417}"/>
              </a:ext>
            </a:extLst>
          </p:cNvPr>
          <p:cNvSpPr>
            <a:spLocks noGrp="1"/>
          </p:cNvSpPr>
          <p:nvPr/>
        </p:nvSpPr>
        <p:spPr>
          <a:xfrm>
            <a:off x="6172200" y="4667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01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D2B"/>
                </a:solidFill>
                <a:latin typeface="Aptos"/>
                <a:ea typeface="Aptos"/>
                <a:cs typeface="Aptos"/>
              </a:rPr>
              <a:t>Centralizar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4EA6C7-2535-440C-993B-2D6DE5EC9A92}"/>
              </a:ext>
            </a:extLst>
          </p:cNvPr>
          <p:cNvSpPr>
            <a:spLocks noGrp="1"/>
          </p:cNvSpPr>
          <p:nvPr/>
        </p:nvSpPr>
        <p:spPr>
          <a:xfrm>
            <a:off x="7905750" y="466725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Administración, cumplimiento y experiencia consistente.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85C608-E1B0-4A03-8627-69C7E8CB6F84}"/>
              </a:ext>
            </a:extLst>
          </p:cNvPr>
          <p:cNvSpPr>
            <a:spLocks noGrp="1"/>
          </p:cNvSpPr>
          <p:nvPr/>
        </p:nvSpPr>
        <p:spPr>
          <a:xfrm>
            <a:off x="5695950" y="5505450"/>
            <a:ext cx="5353050" cy="342900"/>
          </a:xfrm>
          <a:prstGeom prst="rect">
            <a:avLst/>
          </a:prstGeom>
          <a:solidFill>
            <a:srgbClr val="E8E2F5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0B7CBB-C2D0-46FD-AEDD-D294ADAF1021}"/>
              </a:ext>
            </a:extLst>
          </p:cNvPr>
          <p:cNvSpPr>
            <a:spLocks noGrp="1"/>
          </p:cNvSpPr>
          <p:nvPr/>
        </p:nvSpPr>
        <p:spPr>
          <a:xfrm>
            <a:off x="5848350" y="5581650"/>
            <a:ext cx="504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597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3B2E7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B2E7E"/>
                </a:solidFill>
                <a:latin typeface="Aptos"/>
                <a:ea typeface="Aptos"/>
                <a:cs typeface="Aptos"/>
              </a:rPr>
              <a:t>Disponible también para Windows, Defender, Edge y Windows 365.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CF0A96-97F0-4D09-8A19-7B609E8CC421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F35DD8-A399-47D0-BAA3-E4C016E64033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7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173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02461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2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A1CC7CD-19F0-42BE-B138-58FC5F9BE64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MODELO OPERATIVO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119BD8-1A76-4EB0-ABBC-CDE6A6C75C2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185"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Operar en cuatro bucles mantiene Office seguro y actualizado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F7BC9AF-D0E0-4F52-9C1E-7F83B571BAA6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9525"/>
          </a:xfrm>
          <a:prstGeom prst="line">
            <a:avLst/>
          </a:prstGeom>
          <a:noFill/>
          <a:ln w="9525">
            <a:solidFill>
              <a:srgbClr val="7167A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FBD6F1-A6CD-4E8D-B15C-DA758EB41551}"/>
              </a:ext>
            </a:extLst>
          </p:cNvPr>
          <p:cNvSpPr>
            <a:spLocks noGrp="1"/>
          </p:cNvSpPr>
          <p:nvPr/>
        </p:nvSpPr>
        <p:spPr>
          <a:xfrm>
            <a:off x="110299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E2F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116CA9-CBB3-4AAE-8069-46ACA0E00A9E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88B472-505F-4328-AC8E-BEF73D24CCBD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Configurar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ACDD5B5-A1B8-489E-A076-2CD766E2E0DD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095500" cy="9525"/>
          </a:xfrm>
          <a:prstGeom prst="line">
            <a:avLst/>
          </a:prstGeom>
          <a:noFill/>
          <a:ln w="28575">
            <a:solidFill>
              <a:srgbClr val="756BB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206FEE-48E0-4589-BA74-84FC81A30F3F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2133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2F5"/>
                </a:solidFill>
                <a:latin typeface="Aptos"/>
                <a:ea typeface="Aptos"/>
                <a:cs typeface="Aptos"/>
              </a:rPr>
              <a:t>Cloud Policy + OCT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0D2AA2-2782-43AD-B891-A4B5A2AD5E65}"/>
              </a:ext>
            </a:extLst>
          </p:cNvPr>
          <p:cNvSpPr>
            <a:spLocks noGrp="1"/>
          </p:cNvSpPr>
          <p:nvPr/>
        </p:nvSpPr>
        <p:spPr>
          <a:xfrm>
            <a:off x="3295650" y="2114550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99D9C9-4692-4BFB-9F17-7BA53732398F}"/>
              </a:ext>
            </a:extLst>
          </p:cNvPr>
          <p:cNvSpPr>
            <a:spLocks noGrp="1"/>
          </p:cNvSpPr>
          <p:nvPr/>
        </p:nvSpPr>
        <p:spPr>
          <a:xfrm>
            <a:off x="3295650" y="260985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Entregar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F202628-EF8F-4B5D-9809-62A324B2C6BD}"/>
              </a:ext>
            </a:extLst>
          </p:cNvPr>
          <p:cNvSpPr>
            <a:spLocks noGrp="1"/>
          </p:cNvSpPr>
          <p:nvPr/>
        </p:nvSpPr>
        <p:spPr>
          <a:xfrm>
            <a:off x="3295650" y="3105150"/>
            <a:ext cx="2095500" cy="9525"/>
          </a:xfrm>
          <a:prstGeom prst="line">
            <a:avLst/>
          </a:prstGeom>
          <a:noFill/>
          <a:ln w="28575">
            <a:solidFill>
              <a:srgbClr val="756BB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EE0634-2006-4486-9C6F-B8C6BF81B3A9}"/>
              </a:ext>
            </a:extLst>
          </p:cNvPr>
          <p:cNvSpPr>
            <a:spLocks noGrp="1"/>
          </p:cNvSpPr>
          <p:nvPr/>
        </p:nvSpPr>
        <p:spPr>
          <a:xfrm>
            <a:off x="3295650" y="3333750"/>
            <a:ext cx="2133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2F5"/>
                </a:solidFill>
                <a:latin typeface="Aptos"/>
                <a:ea typeface="Aptos"/>
                <a:cs typeface="Aptos"/>
              </a:rPr>
              <a:t>Intune + asignaciones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4A9C3B-180C-433B-8776-BC53F7683CAD}"/>
              </a:ext>
            </a:extLst>
          </p:cNvPr>
          <p:cNvSpPr>
            <a:spLocks noGrp="1"/>
          </p:cNvSpPr>
          <p:nvPr/>
        </p:nvSpPr>
        <p:spPr>
          <a:xfrm>
            <a:off x="5905500" y="2114550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BC2EEF-2E1E-4640-95AA-0C3270DECC71}"/>
              </a:ext>
            </a:extLst>
          </p:cNvPr>
          <p:cNvSpPr>
            <a:spLocks noGrp="1"/>
          </p:cNvSpPr>
          <p:nvPr/>
        </p:nvSpPr>
        <p:spPr>
          <a:xfrm>
            <a:off x="5905500" y="260985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Proteger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AA43F31-B2DA-4FF3-9CFE-A272C077C8DC}"/>
              </a:ext>
            </a:extLst>
          </p:cNvPr>
          <p:cNvSpPr>
            <a:spLocks noGrp="1"/>
          </p:cNvSpPr>
          <p:nvPr/>
        </p:nvSpPr>
        <p:spPr>
          <a:xfrm>
            <a:off x="5905500" y="3105150"/>
            <a:ext cx="2095500" cy="9525"/>
          </a:xfrm>
          <a:prstGeom prst="line">
            <a:avLst/>
          </a:prstGeom>
          <a:noFill/>
          <a:ln w="28575">
            <a:solidFill>
              <a:srgbClr val="756BB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C8B61B-A34A-49CF-8AF0-AE9E00996F6C}"/>
              </a:ext>
            </a:extLst>
          </p:cNvPr>
          <p:cNvSpPr>
            <a:spLocks noGrp="1"/>
          </p:cNvSpPr>
          <p:nvPr/>
        </p:nvSpPr>
        <p:spPr>
          <a:xfrm>
            <a:off x="5905500" y="3333750"/>
            <a:ext cx="2133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2F5"/>
                </a:solidFill>
                <a:latin typeface="Aptos"/>
                <a:ea typeface="Aptos"/>
                <a:cs typeface="Aptos"/>
              </a:rPr>
              <a:t>Baseline + acceso + datos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4DDA92-9DF5-4506-BA31-B18BC6531212}"/>
              </a:ext>
            </a:extLst>
          </p:cNvPr>
          <p:cNvSpPr>
            <a:spLocks noGrp="1"/>
          </p:cNvSpPr>
          <p:nvPr/>
        </p:nvSpPr>
        <p:spPr>
          <a:xfrm>
            <a:off x="8515350" y="2114550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36F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98E79B-444D-4479-9A95-A5F8372EB9DE}"/>
              </a:ext>
            </a:extLst>
          </p:cNvPr>
          <p:cNvSpPr>
            <a:spLocks noGrp="1"/>
          </p:cNvSpPr>
          <p:nvPr/>
        </p:nvSpPr>
        <p:spPr>
          <a:xfrm>
            <a:off x="8515350" y="260985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Observar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D8C8A95-0FB6-465F-88A0-49F9291FEF67}"/>
              </a:ext>
            </a:extLst>
          </p:cNvPr>
          <p:cNvSpPr>
            <a:spLocks noGrp="1"/>
          </p:cNvSpPr>
          <p:nvPr/>
        </p:nvSpPr>
        <p:spPr>
          <a:xfrm>
            <a:off x="8515350" y="3105150"/>
            <a:ext cx="2095500" cy="9525"/>
          </a:xfrm>
          <a:prstGeom prst="line">
            <a:avLst/>
          </a:prstGeom>
          <a:noFill/>
          <a:ln w="28575">
            <a:solidFill>
              <a:srgbClr val="F36F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A49E22-8BCD-4723-BF58-72148C4B2647}"/>
              </a:ext>
            </a:extLst>
          </p:cNvPr>
          <p:cNvSpPr>
            <a:spLocks noGrp="1"/>
          </p:cNvSpPr>
          <p:nvPr/>
        </p:nvSpPr>
        <p:spPr>
          <a:xfrm>
            <a:off x="8515350" y="3333750"/>
            <a:ext cx="2133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E8E2F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2F5"/>
                </a:solidFill>
                <a:latin typeface="Aptos"/>
                <a:ea typeface="Aptos"/>
                <a:cs typeface="Aptos"/>
              </a:rPr>
              <a:t>Health + Inventory + Update Status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03511F-0E7A-4DE9-987B-9A83E9C9B51C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Cadencia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260241-FD16-42BF-8135-2C096BB85F18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971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Definir  →  desplegar  →  medir  →  corregir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11544B-B3D4-4FEF-A34E-5A712F35E3E2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AD9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AD9D1"/>
                </a:solidFill>
                <a:latin typeface="Aptos"/>
                <a:ea typeface="Aptos"/>
                <a:cs typeface="Aptos"/>
              </a:rPr>
              <a:t>El servicing profile cierra el ciclo con actualizaciones mensuales controladas.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6AD1E2-1E02-4591-9ADB-04439B07A463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BDB5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5D8"/>
                </a:solidFill>
                <a:latin typeface="Aptos"/>
                <a:ea typeface="Aptos"/>
                <a:cs typeface="Aptos"/>
              </a:rPr>
              <a:t>Deploy Microsoft 365 Apps for enterprise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00BD6E-67EC-47DE-94FF-C7E719EE478C}"/>
              </a:ext>
            </a:extLst>
          </p:cNvPr>
          <p:cNvSpPr>
            <a:spLocks noGrp="1"/>
          </p:cNvSpPr>
          <p:nvPr/>
        </p:nvSpPr>
        <p:spPr>
          <a:xfrm>
            <a:off x="11163300" y="64865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BDB5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5D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49608493"/>
      </p:ext>
    </p:extLst>
  </p:cSld>
  <p:clrMapOvr>
    <a:masterClrMapping/>
  </p:clrMapOvr>
</p:sld>
</file>

<file path=ppt/theme/theme1.xml><?xml version="1.0" encoding="utf-8"?>
<a:theme xmlns:a="http://schemas.openxmlformats.org/drawingml/2006/main" name="Índigo y coral editorial">
  <a:themeElements>
    <a:clrScheme name="Índigo y coral editorial">
      <a:dk1>
        <a:srgbClr val="000000"/>
      </a:dk1>
      <a:lt1>
        <a:srgbClr val="FFFFFF"/>
      </a:lt1>
      <a:dk2>
        <a:srgbClr val="201D2B"/>
      </a:dk2>
      <a:lt2>
        <a:srgbClr val="E8E2F5"/>
      </a:lt2>
      <a:accent1>
        <a:srgbClr val="3B2E7E"/>
      </a:accent1>
      <a:accent2>
        <a:srgbClr val="F36F5B"/>
      </a:accent2>
      <a:accent3>
        <a:srgbClr val="2E7D68"/>
      </a:accent3>
      <a:accent4>
        <a:srgbClr val="C7782F"/>
      </a:accent4>
      <a:accent5>
        <a:srgbClr val="5B4BB7"/>
      </a:accent5>
      <a:accent6>
        <a:srgbClr val="FAD9D1"/>
      </a:accent6>
      <a:hlink>
        <a:srgbClr val="5B4BB7"/>
      </a:hlink>
      <a:folHlink>
        <a:srgbClr val="F36F5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Índigo y coral editorial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Índigo y coral 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2012-07-30T22:48:03Z</dcterms:created>
  <dcterms:modified xsi:type="dcterms:W3CDTF">2026-08-25T19:51:11Z</dcterms:modified>
</cp:coreProperties>
</file>
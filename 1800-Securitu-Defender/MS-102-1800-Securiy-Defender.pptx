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" dt="2026-08-27T02:36:02.9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791A6-8B00-4C29-BF84-C48E417AEB2C}" type="datetimeFigureOut"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61FD97-54BB-4636-BA36-2FC02FCAF8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8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6D7C27B-1E9C-4320-9F1F-6A6F1C2258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208932-3D9C-4B28-A630-D99CBC3ABB01}"/>
              </a:ext>
            </a:extLst>
          </p:cNvPr>
          <p:cNvSpPr>
            <a:spLocks noGrp="1"/>
          </p:cNvSpPr>
          <p:nvPr/>
        </p:nvSpPr>
        <p:spPr>
          <a:xfrm>
            <a:off x="8877300" y="0"/>
            <a:ext cx="3314700" cy="6858000"/>
          </a:xfrm>
          <a:prstGeom prst="rect">
            <a:avLst/>
          </a:prstGeom>
          <a:solidFill>
            <a:srgbClr val="163A5F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B8442C-630C-459A-8096-52D768458D73}"/>
              </a:ext>
            </a:extLst>
          </p:cNvPr>
          <p:cNvSpPr>
            <a:spLocks noGrp="1"/>
          </p:cNvSpPr>
          <p:nvPr/>
        </p:nvSpPr>
        <p:spPr>
          <a:xfrm>
            <a:off x="8877300" y="5219700"/>
            <a:ext cx="3314700" cy="1638300"/>
          </a:xfrm>
          <a:prstGeom prst="rect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EF82C-40AC-499E-821E-C47FB00704B7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FORMACIÓN TÉCNICA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0D8CC6-A299-49C4-AD1F-E6E61EC0D86C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7334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8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8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Soluciones de seguridad</a:t>
            </a:r>
          </a:p>
          <a:p>
            <a:pPr algn="l">
              <a:defRPr sz="38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8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con Microsoft 365 Defender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AFC0A3-A46E-4B37-A43E-9DE19E1628B8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Microsoft Defender XDR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EA6EA-064C-4D4A-B43D-5D93ACC2367C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628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Prevención, detección, investigación y respuesta coordinadas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EAB40F-161E-4251-A4A1-42D6F1EA9D8A}"/>
              </a:ext>
            </a:extLst>
          </p:cNvPr>
          <p:cNvSpPr>
            <a:spLocks noGrp="1"/>
          </p:cNvSpPr>
          <p:nvPr/>
        </p:nvSpPr>
        <p:spPr>
          <a:xfrm>
            <a:off x="9305925" y="1590675"/>
            <a:ext cx="24288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XDR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AB3432-C124-41F7-B83F-005AF4F3CE04}"/>
              </a:ext>
            </a:extLst>
          </p:cNvPr>
          <p:cNvSpPr>
            <a:spLocks noGrp="1"/>
          </p:cNvSpPr>
          <p:nvPr/>
        </p:nvSpPr>
        <p:spPr>
          <a:xfrm>
            <a:off x="9467850" y="3028950"/>
            <a:ext cx="2095500" cy="381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801952-CA86-4D74-91F3-32F9B0B80859}"/>
              </a:ext>
            </a:extLst>
          </p:cNvPr>
          <p:cNvSpPr>
            <a:spLocks noGrp="1"/>
          </p:cNvSpPr>
          <p:nvPr/>
        </p:nvSpPr>
        <p:spPr>
          <a:xfrm>
            <a:off x="9277350" y="3314700"/>
            <a:ext cx="25241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EMAIL  ·  IDENTIDAD</a:t>
            </a:r>
          </a:p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ENDPOINTS  ·  APPS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DBA8D5-AEC5-4379-9D2D-BA833F0E772E}"/>
              </a:ext>
            </a:extLst>
          </p:cNvPr>
          <p:cNvSpPr>
            <a:spLocks noGrp="1"/>
          </p:cNvSpPr>
          <p:nvPr/>
        </p:nvSpPr>
        <p:spPr>
          <a:xfrm>
            <a:off x="9277350" y="5657850"/>
            <a:ext cx="2524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Defensa conectada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8697F6-C527-4139-AE7D-DDB8ED09728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01 / 20</a:t>
            </a:r>
          </a:p>
        </p:txBody>
      </p:sp>
    </p:spTree>
    <p:extLst>
      <p:ext uri="{BB962C8B-B14F-4D97-AF65-F5344CB8AC3E}">
        <p14:creationId xmlns:p14="http://schemas.microsoft.com/office/powerpoint/2010/main" val="415137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F1EC520-A8D5-4375-B6B7-C8DDBC4B14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8629D9-B2C2-45EF-A466-F784F35C7C8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PLATAFORMA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905CE7-6354-446E-B44C-262A9F2193E8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Cuatro dominios alimentan un incidente unificado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130EF1-B924-4369-8ECE-6DDCB226F062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83C86D-F955-478C-B859-2E7B10458999}"/>
              </a:ext>
            </a:extLst>
          </p:cNvPr>
          <p:cNvSpPr>
            <a:spLocks noGrp="1"/>
          </p:cNvSpPr>
          <p:nvPr/>
        </p:nvSpPr>
        <p:spPr>
          <a:xfrm>
            <a:off x="11191875" y="323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D1E108-7B15-4133-B333-15C526B7907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F1BE65-9486-4D5B-9B11-E5C337C402A1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A1"/>
                </a:solidFill>
                <a:latin typeface="Aptos"/>
                <a:ea typeface="Aptos"/>
                <a:cs typeface="Aptos"/>
              </a:rPr>
              <a:t>Microsoft Defender XDR · Formación técnica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1740AA-AF5C-4EAF-A001-1DCFC936524F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914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2 / 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13EF76-F969-4649-89F8-1D37C51C79D6}"/>
              </a:ext>
            </a:extLst>
          </p:cNvPr>
          <p:cNvSpPr>
            <a:spLocks noGrp="1"/>
          </p:cNvSpPr>
          <p:nvPr/>
        </p:nvSpPr>
        <p:spPr>
          <a:xfrm>
            <a:off x="714375" y="1809750"/>
            <a:ext cx="2190750" cy="1619250"/>
          </a:xfrm>
          <a:prstGeom prst="rect">
            <a:avLst/>
          </a:prstGeom>
          <a:solidFill>
            <a:srgbClr val="F5F9FC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E2F333-6364-4782-84F4-D43F259BF580}"/>
              </a:ext>
            </a:extLst>
          </p:cNvPr>
          <p:cNvSpPr>
            <a:spLocks noGrp="1"/>
          </p:cNvSpPr>
          <p:nvPr/>
        </p:nvSpPr>
        <p:spPr>
          <a:xfrm>
            <a:off x="714375" y="1809750"/>
            <a:ext cx="2190750" cy="762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3C271A-2C68-445D-A4A3-2FE0B05B4CA3}"/>
              </a:ext>
            </a:extLst>
          </p:cNvPr>
          <p:cNvSpPr>
            <a:spLocks noGrp="1"/>
          </p:cNvSpPr>
          <p:nvPr/>
        </p:nvSpPr>
        <p:spPr>
          <a:xfrm>
            <a:off x="866775" y="2143125"/>
            <a:ext cx="188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Office 365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B20539-4E15-435E-AC4E-A58C0FAC7A6D}"/>
              </a:ext>
            </a:extLst>
          </p:cNvPr>
          <p:cNvSpPr>
            <a:spLocks noGrp="1"/>
          </p:cNvSpPr>
          <p:nvPr/>
        </p:nvSpPr>
        <p:spPr>
          <a:xfrm>
            <a:off x="885825" y="2600325"/>
            <a:ext cx="1847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Correo y colaboración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290599-B4B9-428A-97B0-11EDB7AAD417}"/>
              </a:ext>
            </a:extLst>
          </p:cNvPr>
          <p:cNvSpPr>
            <a:spLocks noGrp="1"/>
          </p:cNvSpPr>
          <p:nvPr/>
        </p:nvSpPr>
        <p:spPr>
          <a:xfrm>
            <a:off x="1190625" y="313372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SEÑALES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AAFAFF-0D62-4102-87E7-DDB81669B075}"/>
              </a:ext>
            </a:extLst>
          </p:cNvPr>
          <p:cNvSpPr>
            <a:spLocks noGrp="1"/>
          </p:cNvSpPr>
          <p:nvPr/>
        </p:nvSpPr>
        <p:spPr>
          <a:xfrm>
            <a:off x="3333750" y="1809750"/>
            <a:ext cx="2190750" cy="1619250"/>
          </a:xfrm>
          <a:prstGeom prst="rect">
            <a:avLst/>
          </a:prstGeom>
          <a:solidFill>
            <a:srgbClr val="F5F9FC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70060F-F552-42D2-9046-ACFEA43A1545}"/>
              </a:ext>
            </a:extLst>
          </p:cNvPr>
          <p:cNvSpPr>
            <a:spLocks noGrp="1"/>
          </p:cNvSpPr>
          <p:nvPr/>
        </p:nvSpPr>
        <p:spPr>
          <a:xfrm>
            <a:off x="3333750" y="1809750"/>
            <a:ext cx="2190750" cy="76200"/>
          </a:xfrm>
          <a:prstGeom prst="rect">
            <a:avLst/>
          </a:prstGeom>
          <a:solidFill>
            <a:srgbClr val="163A5F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73A555-4E8F-4C5B-87E8-EBD4BA183643}"/>
              </a:ext>
            </a:extLst>
          </p:cNvPr>
          <p:cNvSpPr>
            <a:spLocks noGrp="1"/>
          </p:cNvSpPr>
          <p:nvPr/>
        </p:nvSpPr>
        <p:spPr>
          <a:xfrm>
            <a:off x="3486150" y="2143125"/>
            <a:ext cx="188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Identity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35AA19-1C59-4FBB-B455-C3B4D369700E}"/>
              </a:ext>
            </a:extLst>
          </p:cNvPr>
          <p:cNvSpPr>
            <a:spLocks noGrp="1"/>
          </p:cNvSpPr>
          <p:nvPr/>
        </p:nvSpPr>
        <p:spPr>
          <a:xfrm>
            <a:off x="3505200" y="2600325"/>
            <a:ext cx="1847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AD DS y credenciales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49D4BE-430C-458D-AAC1-BD6A0652C8CD}"/>
              </a:ext>
            </a:extLst>
          </p:cNvPr>
          <p:cNvSpPr>
            <a:spLocks noGrp="1"/>
          </p:cNvSpPr>
          <p:nvPr/>
        </p:nvSpPr>
        <p:spPr>
          <a:xfrm>
            <a:off x="3810000" y="313372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63A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3A5F"/>
                </a:solidFill>
                <a:latin typeface="Aptos"/>
                <a:ea typeface="Aptos"/>
                <a:cs typeface="Aptos"/>
              </a:rPr>
              <a:t>SEÑALES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BFD29C-03DC-4193-84CC-0BC115BAF1C1}"/>
              </a:ext>
            </a:extLst>
          </p:cNvPr>
          <p:cNvSpPr>
            <a:spLocks noGrp="1"/>
          </p:cNvSpPr>
          <p:nvPr/>
        </p:nvSpPr>
        <p:spPr>
          <a:xfrm>
            <a:off x="5953125" y="1809750"/>
            <a:ext cx="2190750" cy="1619250"/>
          </a:xfrm>
          <a:prstGeom prst="rect">
            <a:avLst/>
          </a:prstGeom>
          <a:solidFill>
            <a:srgbClr val="F5F9FC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CF6656-8D7A-4294-B118-9A9C43F4AAD0}"/>
              </a:ext>
            </a:extLst>
          </p:cNvPr>
          <p:cNvSpPr>
            <a:spLocks noGrp="1"/>
          </p:cNvSpPr>
          <p:nvPr/>
        </p:nvSpPr>
        <p:spPr>
          <a:xfrm>
            <a:off x="5953125" y="1809750"/>
            <a:ext cx="2190750" cy="76200"/>
          </a:xfrm>
          <a:prstGeom prst="rect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A8D053-9091-4871-BB8C-5CBEDCA5E6B6}"/>
              </a:ext>
            </a:extLst>
          </p:cNvPr>
          <p:cNvSpPr>
            <a:spLocks noGrp="1"/>
          </p:cNvSpPr>
          <p:nvPr/>
        </p:nvSpPr>
        <p:spPr>
          <a:xfrm>
            <a:off x="6105525" y="2143125"/>
            <a:ext cx="188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Endpoint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CE0D45-41CF-4791-9C2E-CD37ECB11862}"/>
              </a:ext>
            </a:extLst>
          </p:cNvPr>
          <p:cNvSpPr>
            <a:spLocks noGrp="1"/>
          </p:cNvSpPr>
          <p:nvPr/>
        </p:nvSpPr>
        <p:spPr>
          <a:xfrm>
            <a:off x="6124575" y="2600325"/>
            <a:ext cx="1847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Dispositivos y procesos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E98D8A-0EA1-4DD1-8D92-54D4921F57B6}"/>
              </a:ext>
            </a:extLst>
          </p:cNvPr>
          <p:cNvSpPr>
            <a:spLocks noGrp="1"/>
          </p:cNvSpPr>
          <p:nvPr/>
        </p:nvSpPr>
        <p:spPr>
          <a:xfrm>
            <a:off x="6429375" y="313372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07C4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7C41"/>
                </a:solidFill>
                <a:latin typeface="Aptos"/>
                <a:ea typeface="Aptos"/>
                <a:cs typeface="Aptos"/>
              </a:rPr>
              <a:t>SEÑALES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0CE134-3213-4DDB-99A1-8C0C0572A8FD}"/>
              </a:ext>
            </a:extLst>
          </p:cNvPr>
          <p:cNvSpPr>
            <a:spLocks noGrp="1"/>
          </p:cNvSpPr>
          <p:nvPr/>
        </p:nvSpPr>
        <p:spPr>
          <a:xfrm>
            <a:off x="8572500" y="1809750"/>
            <a:ext cx="2190750" cy="1619250"/>
          </a:xfrm>
          <a:prstGeom prst="rect">
            <a:avLst/>
          </a:prstGeom>
          <a:solidFill>
            <a:srgbClr val="F5F9FC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B7E9E9-4CC8-4AFD-8DA8-728F65D33372}"/>
              </a:ext>
            </a:extLst>
          </p:cNvPr>
          <p:cNvSpPr>
            <a:spLocks noGrp="1"/>
          </p:cNvSpPr>
          <p:nvPr/>
        </p:nvSpPr>
        <p:spPr>
          <a:xfrm>
            <a:off x="8572500" y="1809750"/>
            <a:ext cx="2190750" cy="76200"/>
          </a:xfrm>
          <a:prstGeom prst="rect">
            <a:avLst/>
          </a:prstGeom>
          <a:solidFill>
            <a:srgbClr val="C87B00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39DF75-F87E-4C96-8B0D-AFBB31515E93}"/>
              </a:ext>
            </a:extLst>
          </p:cNvPr>
          <p:cNvSpPr>
            <a:spLocks noGrp="1"/>
          </p:cNvSpPr>
          <p:nvPr/>
        </p:nvSpPr>
        <p:spPr>
          <a:xfrm>
            <a:off x="8724900" y="2143125"/>
            <a:ext cx="188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Cloud Apps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AD4904-4FDF-4608-812B-C84061CEAF47}"/>
              </a:ext>
            </a:extLst>
          </p:cNvPr>
          <p:cNvSpPr>
            <a:spLocks noGrp="1"/>
          </p:cNvSpPr>
          <p:nvPr/>
        </p:nvSpPr>
        <p:spPr>
          <a:xfrm>
            <a:off x="8743950" y="2600325"/>
            <a:ext cx="1847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SaaS · IaaS · PaaS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39B942-0CDD-4452-9983-AAF5E4DC7A8B}"/>
              </a:ext>
            </a:extLst>
          </p:cNvPr>
          <p:cNvSpPr>
            <a:spLocks noGrp="1"/>
          </p:cNvSpPr>
          <p:nvPr/>
        </p:nvSpPr>
        <p:spPr>
          <a:xfrm>
            <a:off x="9048750" y="313372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C87B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7B00"/>
                </a:solidFill>
                <a:latin typeface="Aptos"/>
                <a:ea typeface="Aptos"/>
                <a:cs typeface="Aptos"/>
              </a:rPr>
              <a:t>SEÑALES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2C9F2D-24A1-4F31-85A9-893A44484ABB}"/>
              </a:ext>
            </a:extLst>
          </p:cNvPr>
          <p:cNvSpPr>
            <a:spLocks noGrp="1"/>
          </p:cNvSpPr>
          <p:nvPr/>
        </p:nvSpPr>
        <p:spPr>
          <a:xfrm>
            <a:off x="1476375" y="3924300"/>
            <a:ext cx="9239250" cy="704850"/>
          </a:xfrm>
          <a:prstGeom prst="rect">
            <a:avLst/>
          </a:prstGeom>
          <a:solidFill>
            <a:srgbClr val="163A5F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91F347-68CB-45DA-B7C4-F805AB3E2B5C}"/>
              </a:ext>
            </a:extLst>
          </p:cNvPr>
          <p:cNvSpPr>
            <a:spLocks noGrp="1"/>
          </p:cNvSpPr>
          <p:nvPr/>
        </p:nvSpPr>
        <p:spPr>
          <a:xfrm>
            <a:off x="1762125" y="4114800"/>
            <a:ext cx="866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MICROSOFT DEFENDER XDR · CORRELACIÓN Y PRIORIZACIÓN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271E40D-0C7D-4205-88D1-C868153D601C}"/>
              </a:ext>
            </a:extLst>
          </p:cNvPr>
          <p:cNvSpPr>
            <a:spLocks noGrp="1"/>
          </p:cNvSpPr>
          <p:nvPr/>
        </p:nvSpPr>
        <p:spPr>
          <a:xfrm>
            <a:off x="3219450" y="4991100"/>
            <a:ext cx="5753100" cy="781050"/>
          </a:xfrm>
          <a:prstGeom prst="rect">
            <a:avLst/>
          </a:prstGeom>
          <a:solidFill>
            <a:srgbClr val="DFF3E8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094081-A55F-4D39-A33C-11416864B095}"/>
              </a:ext>
            </a:extLst>
          </p:cNvPr>
          <p:cNvSpPr>
            <a:spLocks noGrp="1"/>
          </p:cNvSpPr>
          <p:nvPr/>
        </p:nvSpPr>
        <p:spPr>
          <a:xfrm>
            <a:off x="3409950" y="5143500"/>
            <a:ext cx="537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rPr>
              <a:t>INCIDENTE UNIFICADO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AF87BF-6E9D-4699-9670-868E4381EDA3}"/>
              </a:ext>
            </a:extLst>
          </p:cNvPr>
          <p:cNvSpPr>
            <a:spLocks noGrp="1"/>
          </p:cNvSpPr>
          <p:nvPr/>
        </p:nvSpPr>
        <p:spPr>
          <a:xfrm>
            <a:off x="3409950" y="5467350"/>
            <a:ext cx="537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Contexto común para investigar y responder</a:t>
            </a:r>
          </a:p>
        </p:txBody>
      </p:sp>
    </p:spTree>
    <p:extLst>
      <p:ext uri="{BB962C8B-B14F-4D97-AF65-F5344CB8AC3E}">
        <p14:creationId xmlns:p14="http://schemas.microsoft.com/office/powerpoint/2010/main" val="299798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DD23D16B-4B71-4013-8B30-BFCAA98A30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494337-6DA9-4B5E-A1A3-C5D2ED94F0F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EXCHANGE ONLINE PROTECTION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DA1813-2F86-4FBE-97E2-ECC818DED32E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EOP detiene el correo por capas antes de la entrega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DBB7FE-873D-4DA3-99EB-7EA841A88141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E4D9EC-00AC-469D-9C76-F69236C1CDAE}"/>
              </a:ext>
            </a:extLst>
          </p:cNvPr>
          <p:cNvSpPr>
            <a:spLocks noGrp="1"/>
          </p:cNvSpPr>
          <p:nvPr/>
        </p:nvSpPr>
        <p:spPr>
          <a:xfrm>
            <a:off x="11191875" y="323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3E59B1-1CA7-41FC-A1A3-0C7B4A3F80F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B0A0FE-44D2-4658-B489-457E1DF02F58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A1"/>
                </a:solidFill>
                <a:latin typeface="Aptos"/>
                <a:ea typeface="Aptos"/>
                <a:cs typeface="Aptos"/>
              </a:rPr>
              <a:t>Microsoft Defender XDR · Formación técnica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3D0D35-E4A8-49BA-BCAD-7A9B82CC616B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914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3 / 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670729-89DC-4BC2-A658-94E3951B7CFC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1619250" cy="2038350"/>
          </a:xfrm>
          <a:prstGeom prst="rect">
            <a:avLst/>
          </a:prstGeom>
          <a:solidFill>
            <a:srgbClr val="F5F9FC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089D9C2-6614-4C84-97FF-3E83C38D4FDC}"/>
              </a:ext>
            </a:extLst>
          </p:cNvPr>
          <p:cNvSpPr>
            <a:spLocks noGrp="1"/>
          </p:cNvSpPr>
          <p:nvPr/>
        </p:nvSpPr>
        <p:spPr>
          <a:xfrm>
            <a:off x="1209675" y="1762125"/>
            <a:ext cx="533400" cy="533400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702676-FB8F-408B-82A2-0B1167D84D8A}"/>
              </a:ext>
            </a:extLst>
          </p:cNvPr>
          <p:cNvSpPr>
            <a:spLocks noGrp="1"/>
          </p:cNvSpPr>
          <p:nvPr/>
        </p:nvSpPr>
        <p:spPr>
          <a:xfrm>
            <a:off x="1304925" y="18859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D67AB8-8006-412D-B4A5-29D6C72AAD91}"/>
              </a:ext>
            </a:extLst>
          </p:cNvPr>
          <p:cNvSpPr>
            <a:spLocks noGrp="1"/>
          </p:cNvSpPr>
          <p:nvPr/>
        </p:nvSpPr>
        <p:spPr>
          <a:xfrm>
            <a:off x="781050" y="2390775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Conexión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18B292-BAB3-45E0-9FE4-90BC5B59D2D0}"/>
              </a:ext>
            </a:extLst>
          </p:cNvPr>
          <p:cNvSpPr>
            <a:spLocks noGrp="1"/>
          </p:cNvSpPr>
          <p:nvPr/>
        </p:nvSpPr>
        <p:spPr>
          <a:xfrm>
            <a:off x="800100" y="2895600"/>
            <a:ext cx="13525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Reputación IP / remitente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17C0AF-8ECC-4198-8804-7E77D0624985}"/>
              </a:ext>
            </a:extLst>
          </p:cNvPr>
          <p:cNvSpPr>
            <a:spLocks noGrp="1"/>
          </p:cNvSpPr>
          <p:nvPr/>
        </p:nvSpPr>
        <p:spPr>
          <a:xfrm>
            <a:off x="885825" y="3695700"/>
            <a:ext cx="1181100" cy="47625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723C03-19A5-44DA-B565-2B5239D4FEB0}"/>
              </a:ext>
            </a:extLst>
          </p:cNvPr>
          <p:cNvSpPr>
            <a:spLocks noGrp="1"/>
          </p:cNvSpPr>
          <p:nvPr/>
        </p:nvSpPr>
        <p:spPr>
          <a:xfrm>
            <a:off x="2524125" y="2095500"/>
            <a:ext cx="1619250" cy="2038350"/>
          </a:xfrm>
          <a:prstGeom prst="rect">
            <a:avLst/>
          </a:prstGeom>
          <a:solidFill>
            <a:srgbClr val="F5F9FC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7CEAEC1-6345-462B-B0B8-EEB14F5E2CC0}"/>
              </a:ext>
            </a:extLst>
          </p:cNvPr>
          <p:cNvSpPr>
            <a:spLocks noGrp="1"/>
          </p:cNvSpPr>
          <p:nvPr/>
        </p:nvSpPr>
        <p:spPr>
          <a:xfrm>
            <a:off x="3067050" y="1762125"/>
            <a:ext cx="533400" cy="533400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9CB85C-16A7-45D2-92A2-372EB5CB2D30}"/>
              </a:ext>
            </a:extLst>
          </p:cNvPr>
          <p:cNvSpPr>
            <a:spLocks noGrp="1"/>
          </p:cNvSpPr>
          <p:nvPr/>
        </p:nvSpPr>
        <p:spPr>
          <a:xfrm>
            <a:off x="3162300" y="18859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4E7FE6-D337-4DD5-A13A-FA7AB95FD236}"/>
              </a:ext>
            </a:extLst>
          </p:cNvPr>
          <p:cNvSpPr>
            <a:spLocks noGrp="1"/>
          </p:cNvSpPr>
          <p:nvPr/>
        </p:nvSpPr>
        <p:spPr>
          <a:xfrm>
            <a:off x="2638425" y="2390775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Malware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CC6362-C0A1-4C4C-AB29-C44ADFCE2924}"/>
              </a:ext>
            </a:extLst>
          </p:cNvPr>
          <p:cNvSpPr>
            <a:spLocks noGrp="1"/>
          </p:cNvSpPr>
          <p:nvPr/>
        </p:nvSpPr>
        <p:spPr>
          <a:xfrm>
            <a:off x="2657475" y="2895600"/>
            <a:ext cx="13525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Adjuntos y cuarentena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F9C992-B71D-4C8B-89D4-0C8B6216CC89}"/>
              </a:ext>
            </a:extLst>
          </p:cNvPr>
          <p:cNvSpPr>
            <a:spLocks noGrp="1"/>
          </p:cNvSpPr>
          <p:nvPr/>
        </p:nvSpPr>
        <p:spPr>
          <a:xfrm>
            <a:off x="2743200" y="3695700"/>
            <a:ext cx="1181100" cy="47625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95C6A2-7814-4AAD-90C1-FA85D974383C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1619250" cy="2038350"/>
          </a:xfrm>
          <a:prstGeom prst="rect">
            <a:avLst/>
          </a:prstGeom>
          <a:solidFill>
            <a:srgbClr val="F5F9FC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B4BFEFC-E364-4224-8251-5E4D7D93C334}"/>
              </a:ext>
            </a:extLst>
          </p:cNvPr>
          <p:cNvSpPr>
            <a:spLocks noGrp="1"/>
          </p:cNvSpPr>
          <p:nvPr/>
        </p:nvSpPr>
        <p:spPr>
          <a:xfrm>
            <a:off x="4924425" y="1762125"/>
            <a:ext cx="533400" cy="533400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37417C-764A-4137-8188-21009008E43F}"/>
              </a:ext>
            </a:extLst>
          </p:cNvPr>
          <p:cNvSpPr>
            <a:spLocks noGrp="1"/>
          </p:cNvSpPr>
          <p:nvPr/>
        </p:nvSpPr>
        <p:spPr>
          <a:xfrm>
            <a:off x="5019675" y="18859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F54E0E-9BE2-4768-BCFD-44511D8AC543}"/>
              </a:ext>
            </a:extLst>
          </p:cNvPr>
          <p:cNvSpPr>
            <a:spLocks noGrp="1"/>
          </p:cNvSpPr>
          <p:nvPr/>
        </p:nvSpPr>
        <p:spPr>
          <a:xfrm>
            <a:off x="4495800" y="2390775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Políticas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1C5DA9-7BD6-4C91-889A-A78C96AF98A5}"/>
              </a:ext>
            </a:extLst>
          </p:cNvPr>
          <p:cNvSpPr>
            <a:spLocks noGrp="1"/>
          </p:cNvSpPr>
          <p:nvPr/>
        </p:nvSpPr>
        <p:spPr>
          <a:xfrm>
            <a:off x="4514850" y="2895600"/>
            <a:ext cx="13525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Reglas de flujo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362181-5F0E-47F9-84C3-2B921A312B98}"/>
              </a:ext>
            </a:extLst>
          </p:cNvPr>
          <p:cNvSpPr>
            <a:spLocks noGrp="1"/>
          </p:cNvSpPr>
          <p:nvPr/>
        </p:nvSpPr>
        <p:spPr>
          <a:xfrm>
            <a:off x="4600575" y="3695700"/>
            <a:ext cx="1181100" cy="47625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03C76D-692B-484F-B196-4FE22E437AF4}"/>
              </a:ext>
            </a:extLst>
          </p:cNvPr>
          <p:cNvSpPr>
            <a:spLocks noGrp="1"/>
          </p:cNvSpPr>
          <p:nvPr/>
        </p:nvSpPr>
        <p:spPr>
          <a:xfrm>
            <a:off x="6238875" y="2095500"/>
            <a:ext cx="1619250" cy="2038350"/>
          </a:xfrm>
          <a:prstGeom prst="rect">
            <a:avLst/>
          </a:prstGeom>
          <a:solidFill>
            <a:srgbClr val="F5F9FC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4E6C1F2-DCC6-432D-A355-39EC4C5AD1AC}"/>
              </a:ext>
            </a:extLst>
          </p:cNvPr>
          <p:cNvSpPr>
            <a:spLocks noGrp="1"/>
          </p:cNvSpPr>
          <p:nvPr/>
        </p:nvSpPr>
        <p:spPr>
          <a:xfrm>
            <a:off x="6781800" y="1762125"/>
            <a:ext cx="533400" cy="533400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143123-56D8-402A-A8FC-24DEDAF17232}"/>
              </a:ext>
            </a:extLst>
          </p:cNvPr>
          <p:cNvSpPr>
            <a:spLocks noGrp="1"/>
          </p:cNvSpPr>
          <p:nvPr/>
        </p:nvSpPr>
        <p:spPr>
          <a:xfrm>
            <a:off x="6877050" y="18859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0ADF4AC-DB0C-43F6-B3E2-717925EF02F5}"/>
              </a:ext>
            </a:extLst>
          </p:cNvPr>
          <p:cNvSpPr>
            <a:spLocks noGrp="1"/>
          </p:cNvSpPr>
          <p:nvPr/>
        </p:nvSpPr>
        <p:spPr>
          <a:xfrm>
            <a:off x="6353175" y="2390775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Purview DLP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06C5EC-8C2E-4D09-972E-028BC814E1D8}"/>
              </a:ext>
            </a:extLst>
          </p:cNvPr>
          <p:cNvSpPr>
            <a:spLocks noGrp="1"/>
          </p:cNvSpPr>
          <p:nvPr/>
        </p:nvSpPr>
        <p:spPr>
          <a:xfrm>
            <a:off x="6372225" y="2895600"/>
            <a:ext cx="13525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Comprobaciones aplicables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37B0DDB-7D6A-48F2-BA89-BC2A0590E45D}"/>
              </a:ext>
            </a:extLst>
          </p:cNvPr>
          <p:cNvSpPr>
            <a:spLocks noGrp="1"/>
          </p:cNvSpPr>
          <p:nvPr/>
        </p:nvSpPr>
        <p:spPr>
          <a:xfrm>
            <a:off x="6457950" y="3695700"/>
            <a:ext cx="1181100" cy="47625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B2F163-DD66-4CF8-BFF9-B3012A5C2AA9}"/>
              </a:ext>
            </a:extLst>
          </p:cNvPr>
          <p:cNvSpPr>
            <a:spLocks noGrp="1"/>
          </p:cNvSpPr>
          <p:nvPr/>
        </p:nvSpPr>
        <p:spPr>
          <a:xfrm>
            <a:off x="8096250" y="2095500"/>
            <a:ext cx="1619250" cy="2038350"/>
          </a:xfrm>
          <a:prstGeom prst="rect">
            <a:avLst/>
          </a:prstGeom>
          <a:solidFill>
            <a:srgbClr val="F5F9FC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E20E57B-EC85-4390-84E0-5E6C4631992E}"/>
              </a:ext>
            </a:extLst>
          </p:cNvPr>
          <p:cNvSpPr>
            <a:spLocks noGrp="1"/>
          </p:cNvSpPr>
          <p:nvPr/>
        </p:nvSpPr>
        <p:spPr>
          <a:xfrm>
            <a:off x="8639175" y="1762125"/>
            <a:ext cx="533400" cy="533400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3D53BC4-EC4B-4600-9EC9-9919A1A53301}"/>
              </a:ext>
            </a:extLst>
          </p:cNvPr>
          <p:cNvSpPr>
            <a:spLocks noGrp="1"/>
          </p:cNvSpPr>
          <p:nvPr/>
        </p:nvSpPr>
        <p:spPr>
          <a:xfrm>
            <a:off x="8734425" y="18859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363E17E-0811-4F81-9140-E9F35754CA53}"/>
              </a:ext>
            </a:extLst>
          </p:cNvPr>
          <p:cNvSpPr>
            <a:spLocks noGrp="1"/>
          </p:cNvSpPr>
          <p:nvPr/>
        </p:nvSpPr>
        <p:spPr>
          <a:xfrm>
            <a:off x="8210550" y="2390775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Contenido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CA6B0F-5ACD-4B2C-A1B1-E701D31AF1AF}"/>
              </a:ext>
            </a:extLst>
          </p:cNvPr>
          <p:cNvSpPr>
            <a:spLocks noGrp="1"/>
          </p:cNvSpPr>
          <p:nvPr/>
        </p:nvSpPr>
        <p:spPr>
          <a:xfrm>
            <a:off x="8229600" y="2895600"/>
            <a:ext cx="13525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Spam · phishing · bulk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18A6669-327D-4F1B-9A4F-A895BF7B00A8}"/>
              </a:ext>
            </a:extLst>
          </p:cNvPr>
          <p:cNvSpPr>
            <a:spLocks noGrp="1"/>
          </p:cNvSpPr>
          <p:nvPr/>
        </p:nvSpPr>
        <p:spPr>
          <a:xfrm>
            <a:off x="8315325" y="3695700"/>
            <a:ext cx="1181100" cy="47625"/>
          </a:xfrm>
          <a:prstGeom prst="rect">
            <a:avLst/>
          </a:prstGeom>
          <a:solidFill>
            <a:srgbClr val="C42B1C"/>
          </a:solidFill>
          <a:ln w="0">
            <a:noFill/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C4775B4-9C98-45E5-8FD2-2E3DD99B107D}"/>
              </a:ext>
            </a:extLst>
          </p:cNvPr>
          <p:cNvSpPr>
            <a:spLocks noGrp="1"/>
          </p:cNvSpPr>
          <p:nvPr/>
        </p:nvSpPr>
        <p:spPr>
          <a:xfrm>
            <a:off x="9953625" y="2095500"/>
            <a:ext cx="1619250" cy="2038350"/>
          </a:xfrm>
          <a:prstGeom prst="rect">
            <a:avLst/>
          </a:prstGeom>
          <a:solidFill>
            <a:srgbClr val="DFF3E8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B38F242-C770-4E04-B050-5AE3CF3D7B7B}"/>
              </a:ext>
            </a:extLst>
          </p:cNvPr>
          <p:cNvSpPr>
            <a:spLocks noGrp="1"/>
          </p:cNvSpPr>
          <p:nvPr/>
        </p:nvSpPr>
        <p:spPr>
          <a:xfrm>
            <a:off x="10496550" y="1762125"/>
            <a:ext cx="533400" cy="533400"/>
          </a:xfrm>
          <a:prstGeom prst="ellipse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8EC9B9B-B3EA-4C8A-A0B5-E63BB65B02F3}"/>
              </a:ext>
            </a:extLst>
          </p:cNvPr>
          <p:cNvSpPr>
            <a:spLocks noGrp="1"/>
          </p:cNvSpPr>
          <p:nvPr/>
        </p:nvSpPr>
        <p:spPr>
          <a:xfrm>
            <a:off x="10591800" y="18859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FF6529-DDA1-4DC6-A4FA-47D7DA0F7E35}"/>
              </a:ext>
            </a:extLst>
          </p:cNvPr>
          <p:cNvSpPr>
            <a:spLocks noGrp="1"/>
          </p:cNvSpPr>
          <p:nvPr/>
        </p:nvSpPr>
        <p:spPr>
          <a:xfrm>
            <a:off x="10067925" y="2390775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Acción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E102D13-7DA6-434E-8207-A15517C9B7A3}"/>
              </a:ext>
            </a:extLst>
          </p:cNvPr>
          <p:cNvSpPr>
            <a:spLocks noGrp="1"/>
          </p:cNvSpPr>
          <p:nvPr/>
        </p:nvSpPr>
        <p:spPr>
          <a:xfrm>
            <a:off x="10086975" y="2895600"/>
            <a:ext cx="13525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Entregar · Junk · cuarentena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233BD47-067E-488B-8E92-9146906A4C6B}"/>
              </a:ext>
            </a:extLst>
          </p:cNvPr>
          <p:cNvSpPr>
            <a:spLocks noGrp="1"/>
          </p:cNvSpPr>
          <p:nvPr/>
        </p:nvSpPr>
        <p:spPr>
          <a:xfrm>
            <a:off x="10172700" y="3695700"/>
            <a:ext cx="1181100" cy="47625"/>
          </a:xfrm>
          <a:prstGeom prst="rect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7403BC5-2265-40AD-824D-360EF6162985}"/>
              </a:ext>
            </a:extLst>
          </p:cNvPr>
          <p:cNvSpPr>
            <a:spLocks noGrp="1"/>
          </p:cNvSpPr>
          <p:nvPr/>
        </p:nvSpPr>
        <p:spPr>
          <a:xfrm>
            <a:off x="1714500" y="476250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07C4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7C41"/>
                </a:solidFill>
                <a:latin typeface="Aptos"/>
                <a:ea typeface="Aptos"/>
                <a:cs typeface="Aptos"/>
              </a:rPr>
              <a:t>Los mensajes que superan todas las capas se entregan al destinatario.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FF6D811-FF3A-45B8-A182-8112D86C0D70}"/>
              </a:ext>
            </a:extLst>
          </p:cNvPr>
          <p:cNvSpPr>
            <a:spLocks noGrp="1"/>
          </p:cNvSpPr>
          <p:nvPr/>
        </p:nvSpPr>
        <p:spPr>
          <a:xfrm>
            <a:off x="3200400" y="5391150"/>
            <a:ext cx="5791200" cy="26670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9A2DFD5-151F-4730-95CE-E8B76F428AE3}"/>
              </a:ext>
            </a:extLst>
          </p:cNvPr>
          <p:cNvSpPr>
            <a:spLocks noGrp="1"/>
          </p:cNvSpPr>
          <p:nvPr/>
        </p:nvSpPr>
        <p:spPr>
          <a:xfrm>
            <a:off x="3295650" y="5429250"/>
            <a:ext cx="5600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También protege buzones locales e híbridos como servicio independiente</a:t>
            </a:r>
          </a:p>
        </p:txBody>
      </p:sp>
    </p:spTree>
    <p:extLst>
      <p:ext uri="{BB962C8B-B14F-4D97-AF65-F5344CB8AC3E}">
        <p14:creationId xmlns:p14="http://schemas.microsoft.com/office/powerpoint/2010/main" val="1590935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1799ACFC-EBD4-4146-A090-91F775F320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1B1771-ECF0-4436-B129-3DB359CF49A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EOP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9CE24E-62C2-4040-9E64-F91D1E32E02C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La clasificación determina la acción de entrega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1BD4F3-A8DA-4B96-B7E6-E27A019FE22D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4CB0B8-DC59-40C3-B572-93FB1F9FC37B}"/>
              </a:ext>
            </a:extLst>
          </p:cNvPr>
          <p:cNvSpPr>
            <a:spLocks noGrp="1"/>
          </p:cNvSpPr>
          <p:nvPr/>
        </p:nvSpPr>
        <p:spPr>
          <a:xfrm>
            <a:off x="11191875" y="323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136D28-25A7-42A4-8AC4-A940D043A05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AA611D-FC99-49E0-AB9C-E9CD62AE228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A1"/>
                </a:solidFill>
                <a:latin typeface="Aptos"/>
                <a:ea typeface="Aptos"/>
                <a:cs typeface="Aptos"/>
              </a:rPr>
              <a:t>Microsoft Defender XDR · Formación técnica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D30D97-60EE-4C82-B85C-8E063726744B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914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4 / 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829EA8-405C-42F5-981B-BF58525A4EF8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CLASIFICACIONES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2EE0CA-7854-4637-9B67-0163D77574A2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4095750" cy="428625"/>
          </a:xfrm>
          <a:prstGeom prst="rect">
            <a:avLst/>
          </a:prstGeom>
          <a:solidFill>
            <a:srgbClr val="FCE8E6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9EA3A4-B7FA-440E-84B3-173F519E8B43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76200" cy="428625"/>
          </a:xfrm>
          <a:prstGeom prst="rect">
            <a:avLst/>
          </a:prstGeom>
          <a:solidFill>
            <a:srgbClr val="C42B1C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899C03-310E-4003-A8F9-E5FBEF2034CC}"/>
              </a:ext>
            </a:extLst>
          </p:cNvPr>
          <p:cNvSpPr>
            <a:spLocks noGrp="1"/>
          </p:cNvSpPr>
          <p:nvPr/>
        </p:nvSpPr>
        <p:spPr>
          <a:xfrm>
            <a:off x="990600" y="21717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Malware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36802E-073E-432C-9B7A-634BE88D7055}"/>
              </a:ext>
            </a:extLst>
          </p:cNvPr>
          <p:cNvSpPr>
            <a:spLocks noGrp="1"/>
          </p:cNvSpPr>
          <p:nvPr/>
        </p:nvSpPr>
        <p:spPr>
          <a:xfrm>
            <a:off x="762000" y="2695575"/>
            <a:ext cx="4095750" cy="428625"/>
          </a:xfrm>
          <a:prstGeom prst="rect">
            <a:avLst/>
          </a:prstGeom>
          <a:solidFill>
            <a:srgbClr val="FCE8E6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8D90CD-7A22-4295-BED7-A4BC2C74977F}"/>
              </a:ext>
            </a:extLst>
          </p:cNvPr>
          <p:cNvSpPr>
            <a:spLocks noGrp="1"/>
          </p:cNvSpPr>
          <p:nvPr/>
        </p:nvSpPr>
        <p:spPr>
          <a:xfrm>
            <a:off x="762000" y="2695575"/>
            <a:ext cx="76200" cy="428625"/>
          </a:xfrm>
          <a:prstGeom prst="rect">
            <a:avLst/>
          </a:prstGeom>
          <a:solidFill>
            <a:srgbClr val="C42B1C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233DCD-1C6F-4606-A7F2-B1FE670A4DFF}"/>
              </a:ext>
            </a:extLst>
          </p:cNvPr>
          <p:cNvSpPr>
            <a:spLocks noGrp="1"/>
          </p:cNvSpPr>
          <p:nvPr/>
        </p:nvSpPr>
        <p:spPr>
          <a:xfrm>
            <a:off x="990600" y="2790825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Phishing de alta confianza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2897AA-3B0B-4F04-861F-26929EA1A274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4095750" cy="428625"/>
          </a:xfrm>
          <a:prstGeom prst="rect">
            <a:avLst/>
          </a:prstGeom>
          <a:solidFill>
            <a:srgbClr val="FFF3D6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2CFE7C-1A5C-4561-A786-C130B2C218BE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76200" cy="428625"/>
          </a:xfrm>
          <a:prstGeom prst="rect">
            <a:avLst/>
          </a:prstGeom>
          <a:solidFill>
            <a:srgbClr val="C87B00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2543F2-E876-4DE6-9189-B6272BA66FA3}"/>
              </a:ext>
            </a:extLst>
          </p:cNvPr>
          <p:cNvSpPr>
            <a:spLocks noGrp="1"/>
          </p:cNvSpPr>
          <p:nvPr/>
        </p:nvSpPr>
        <p:spPr>
          <a:xfrm>
            <a:off x="990600" y="34099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Phishing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79F246-5C4E-46FB-8252-AC376E76ADBF}"/>
              </a:ext>
            </a:extLst>
          </p:cNvPr>
          <p:cNvSpPr>
            <a:spLocks noGrp="1"/>
          </p:cNvSpPr>
          <p:nvPr/>
        </p:nvSpPr>
        <p:spPr>
          <a:xfrm>
            <a:off x="762000" y="3933825"/>
            <a:ext cx="4095750" cy="428625"/>
          </a:xfrm>
          <a:prstGeom prst="rect">
            <a:avLst/>
          </a:prstGeom>
          <a:solidFill>
            <a:srgbClr val="FFF3D6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D95CA2-49B8-441A-8FD5-A519E564148E}"/>
              </a:ext>
            </a:extLst>
          </p:cNvPr>
          <p:cNvSpPr>
            <a:spLocks noGrp="1"/>
          </p:cNvSpPr>
          <p:nvPr/>
        </p:nvSpPr>
        <p:spPr>
          <a:xfrm>
            <a:off x="762000" y="3933825"/>
            <a:ext cx="76200" cy="428625"/>
          </a:xfrm>
          <a:prstGeom prst="rect">
            <a:avLst/>
          </a:prstGeom>
          <a:solidFill>
            <a:srgbClr val="C87B00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495B44-B19C-432B-A0C9-6F6543435B7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Spam de alta confianza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10CB85-E2BD-4901-A2D0-52023E5DD961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4095750" cy="428625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CE620C-2683-4D66-94B5-B2DD4245743F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76200" cy="428625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3A6B56-E99A-4DC1-ABED-7625D7D97B1A}"/>
              </a:ext>
            </a:extLst>
          </p:cNvPr>
          <p:cNvSpPr>
            <a:spLocks noGrp="1"/>
          </p:cNvSpPr>
          <p:nvPr/>
        </p:nvSpPr>
        <p:spPr>
          <a:xfrm>
            <a:off x="990600" y="46482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Spam · Bulk · Spoofing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C28887-FD9B-4086-891A-8866FF5B7690}"/>
              </a:ext>
            </a:extLst>
          </p:cNvPr>
          <p:cNvSpPr>
            <a:spLocks noGrp="1"/>
          </p:cNvSpPr>
          <p:nvPr/>
        </p:nvSpPr>
        <p:spPr>
          <a:xfrm>
            <a:off x="5886450" y="1714500"/>
            <a:ext cx="19050" cy="400050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A06E51-E431-4220-AEE8-8D34971278DA}"/>
              </a:ext>
            </a:extLst>
          </p:cNvPr>
          <p:cNvSpPr>
            <a:spLocks noGrp="1"/>
          </p:cNvSpPr>
          <p:nvPr/>
        </p:nvSpPr>
        <p:spPr>
          <a:xfrm>
            <a:off x="6477000" y="16954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07C4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7C41"/>
                </a:solidFill>
                <a:latin typeface="Aptos"/>
                <a:ea typeface="Aptos"/>
                <a:cs typeface="Aptos"/>
              </a:rPr>
              <a:t>ACCIONES SEGÚN POLÍTICA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7381138-25A3-428A-9DDD-275882F2C86F}"/>
              </a:ext>
            </a:extLst>
          </p:cNvPr>
          <p:cNvSpPr>
            <a:spLocks noGrp="1"/>
          </p:cNvSpPr>
          <p:nvPr/>
        </p:nvSpPr>
        <p:spPr>
          <a:xfrm>
            <a:off x="6477000" y="2171700"/>
            <a:ext cx="361950" cy="361950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9E9CDC5-CBFC-4628-B2A4-FF16106807FF}"/>
              </a:ext>
            </a:extLst>
          </p:cNvPr>
          <p:cNvSpPr>
            <a:spLocks noGrp="1"/>
          </p:cNvSpPr>
          <p:nvPr/>
        </p:nvSpPr>
        <p:spPr>
          <a:xfrm>
            <a:off x="6562725" y="22479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94AA5A-EE93-46D7-A7E7-6E87858EF83D}"/>
              </a:ext>
            </a:extLst>
          </p:cNvPr>
          <p:cNvSpPr>
            <a:spLocks noGrp="1"/>
          </p:cNvSpPr>
          <p:nvPr/>
        </p:nvSpPr>
        <p:spPr>
          <a:xfrm>
            <a:off x="7029450" y="2162175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CUARENTENA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19AF2D-685B-46EC-9C38-8197E42D5918}"/>
              </a:ext>
            </a:extLst>
          </p:cNvPr>
          <p:cNvSpPr>
            <a:spLocks noGrp="1"/>
          </p:cNvSpPr>
          <p:nvPr/>
        </p:nvSpPr>
        <p:spPr>
          <a:xfrm>
            <a:off x="7029450" y="2447925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Revisar, eliminar o liberar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43ABB59-3D13-4F2A-B1E3-0CE5F3ADE252}"/>
              </a:ext>
            </a:extLst>
          </p:cNvPr>
          <p:cNvSpPr>
            <a:spLocks noGrp="1"/>
          </p:cNvSpPr>
          <p:nvPr/>
        </p:nvSpPr>
        <p:spPr>
          <a:xfrm>
            <a:off x="6477000" y="3009900"/>
            <a:ext cx="361950" cy="361950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BC13D6C-9600-405F-8E19-69D9C3B5798A}"/>
              </a:ext>
            </a:extLst>
          </p:cNvPr>
          <p:cNvSpPr>
            <a:spLocks noGrp="1"/>
          </p:cNvSpPr>
          <p:nvPr/>
        </p:nvSpPr>
        <p:spPr>
          <a:xfrm>
            <a:off x="6562725" y="30861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C9BF86-D5BB-4FC1-A95D-BB8227B875E9}"/>
              </a:ext>
            </a:extLst>
          </p:cNvPr>
          <p:cNvSpPr>
            <a:spLocks noGrp="1"/>
          </p:cNvSpPr>
          <p:nvPr/>
        </p:nvSpPr>
        <p:spPr>
          <a:xfrm>
            <a:off x="7029450" y="3000375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JUNK EMAIL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17E0F2-E35A-4FC9-AB2F-29B99F6E88C2}"/>
              </a:ext>
            </a:extLst>
          </p:cNvPr>
          <p:cNvSpPr>
            <a:spLocks noGrp="1"/>
          </p:cNvSpPr>
          <p:nvPr/>
        </p:nvSpPr>
        <p:spPr>
          <a:xfrm>
            <a:off x="7029450" y="3286125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Aislar correo no deseado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8CB6A44-9CBD-499E-85D6-3DF9B2768B21}"/>
              </a:ext>
            </a:extLst>
          </p:cNvPr>
          <p:cNvSpPr>
            <a:spLocks noGrp="1"/>
          </p:cNvSpPr>
          <p:nvPr/>
        </p:nvSpPr>
        <p:spPr>
          <a:xfrm>
            <a:off x="6477000" y="3848100"/>
            <a:ext cx="361950" cy="361950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557E89-01D8-4308-9202-AAA70490B0BD}"/>
              </a:ext>
            </a:extLst>
          </p:cNvPr>
          <p:cNvSpPr>
            <a:spLocks noGrp="1"/>
          </p:cNvSpPr>
          <p:nvPr/>
        </p:nvSpPr>
        <p:spPr>
          <a:xfrm>
            <a:off x="6562725" y="39243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8DFDB1E-DAAC-4086-8E7B-6C9CF85CF0AF}"/>
              </a:ext>
            </a:extLst>
          </p:cNvPr>
          <p:cNvSpPr>
            <a:spLocks noGrp="1"/>
          </p:cNvSpPr>
          <p:nvPr/>
        </p:nvSpPr>
        <p:spPr>
          <a:xfrm>
            <a:off x="7029450" y="3838575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OTRA ACCIÓN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B066F2B-2A51-46D1-9365-DC2E210D6183}"/>
              </a:ext>
            </a:extLst>
          </p:cNvPr>
          <p:cNvSpPr>
            <a:spLocks noGrp="1"/>
          </p:cNvSpPr>
          <p:nvPr/>
        </p:nvSpPr>
        <p:spPr>
          <a:xfrm>
            <a:off x="7029450" y="4124325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Regla de flujo configurada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F49E77D-309B-41C7-84C6-A1FF47B89B83}"/>
              </a:ext>
            </a:extLst>
          </p:cNvPr>
          <p:cNvSpPr>
            <a:spLocks noGrp="1"/>
          </p:cNvSpPr>
          <p:nvPr/>
        </p:nvSpPr>
        <p:spPr>
          <a:xfrm>
            <a:off x="6477000" y="4686300"/>
            <a:ext cx="361950" cy="361950"/>
          </a:xfrm>
          <a:prstGeom prst="ellipse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58B16E7-88A7-4319-9ED7-7050623F82C0}"/>
              </a:ext>
            </a:extLst>
          </p:cNvPr>
          <p:cNvSpPr>
            <a:spLocks noGrp="1"/>
          </p:cNvSpPr>
          <p:nvPr/>
        </p:nvSpPr>
        <p:spPr>
          <a:xfrm>
            <a:off x="6562725" y="47625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40872F0-C146-45C9-8262-DFF0BC709C07}"/>
              </a:ext>
            </a:extLst>
          </p:cNvPr>
          <p:cNvSpPr>
            <a:spLocks noGrp="1"/>
          </p:cNvSpPr>
          <p:nvPr/>
        </p:nvSpPr>
        <p:spPr>
          <a:xfrm>
            <a:off x="7029450" y="4676775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7C4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7C41"/>
                </a:solidFill>
                <a:latin typeface="Aptos"/>
                <a:ea typeface="Aptos"/>
                <a:cs typeface="Aptos"/>
              </a:rPr>
              <a:t>ENTREGA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995D8D7-58F7-4926-A660-03C978FE1BD3}"/>
              </a:ext>
            </a:extLst>
          </p:cNvPr>
          <p:cNvSpPr>
            <a:spLocks noGrp="1"/>
          </p:cNvSpPr>
          <p:nvPr/>
        </p:nvSpPr>
        <p:spPr>
          <a:xfrm>
            <a:off x="7029450" y="4962525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Solo tras superar las capas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3201E1B-0670-4A5C-995A-D6C2F87B47DA}"/>
              </a:ext>
            </a:extLst>
          </p:cNvPr>
          <p:cNvSpPr>
            <a:spLocks noGrp="1"/>
          </p:cNvSpPr>
          <p:nvPr/>
        </p:nvSpPr>
        <p:spPr>
          <a:xfrm>
            <a:off x="6477000" y="5524500"/>
            <a:ext cx="4333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La cuarentena mantiene el control en manos de usuarios autorizados y administradores.</a:t>
            </a:r>
          </a:p>
        </p:txBody>
      </p:sp>
    </p:spTree>
    <p:extLst>
      <p:ext uri="{BB962C8B-B14F-4D97-AF65-F5344CB8AC3E}">
        <p14:creationId xmlns:p14="http://schemas.microsoft.com/office/powerpoint/2010/main" val="1110167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8477B5C4-B325-449B-9364-5BABD4B7DA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97D356-6032-41C2-8FB5-F50750B43E2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DEFENDER FOR OFFICE 365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0AB555-1B10-4CB3-B0CB-1C94CC05F09C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Defender amplía EOP contra amenazas avanzadas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CE605F-F8D8-48B2-A51B-1E1F497D2902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29C6E9-A441-43F1-9D54-963080BBE967}"/>
              </a:ext>
            </a:extLst>
          </p:cNvPr>
          <p:cNvSpPr>
            <a:spLocks noGrp="1"/>
          </p:cNvSpPr>
          <p:nvPr/>
        </p:nvSpPr>
        <p:spPr>
          <a:xfrm>
            <a:off x="11191875" y="323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47F860-A21F-414C-B669-A837B67602FC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875EE2-FB63-4083-B0E6-D7C19E35C007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A1"/>
                </a:solidFill>
                <a:latin typeface="Aptos"/>
                <a:ea typeface="Aptos"/>
                <a:cs typeface="Aptos"/>
              </a:rPr>
              <a:t>Microsoft Defender XDR · Formación técnica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33805E-5BA0-4E0F-807A-0CCEABEA7773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914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5 / 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6AA98A-E0EA-4910-9CA9-F8085DCD010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4953000" cy="4000500"/>
          </a:xfrm>
          <a:prstGeom prst="rect">
            <a:avLst/>
          </a:prstGeom>
          <a:solidFill>
            <a:srgbClr val="F5F9FC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2EF53B-F5B4-4D2A-9337-328A716CDECB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4953000" cy="9525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800793-E491-44CA-901F-2BB0EE1B1D86}"/>
              </a:ext>
            </a:extLst>
          </p:cNvPr>
          <p:cNvSpPr>
            <a:spLocks noGrp="1"/>
          </p:cNvSpPr>
          <p:nvPr/>
        </p:nvSpPr>
        <p:spPr>
          <a:xfrm>
            <a:off x="952500" y="2047875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EOP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B6698C0-C17D-458B-B76A-FE19F49B8C99}"/>
              </a:ext>
            </a:extLst>
          </p:cNvPr>
          <p:cNvSpPr>
            <a:spLocks noGrp="1"/>
          </p:cNvSpPr>
          <p:nvPr/>
        </p:nvSpPr>
        <p:spPr>
          <a:xfrm>
            <a:off x="1066800" y="2762250"/>
            <a:ext cx="66675" cy="66675"/>
          </a:xfrm>
          <a:prstGeom prst="ellipse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55C5A8-59F7-4219-B40C-BB9F76098635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3924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Spoofing, phishing, spam y malware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5AC149F-4CEE-45EC-AE97-E585504DD5B1}"/>
              </a:ext>
            </a:extLst>
          </p:cNvPr>
          <p:cNvSpPr>
            <a:spLocks noGrp="1"/>
          </p:cNvSpPr>
          <p:nvPr/>
        </p:nvSpPr>
        <p:spPr>
          <a:xfrm>
            <a:off x="1066800" y="3295650"/>
            <a:ext cx="66675" cy="6667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0D42E9-9D4B-4FD6-87A4-74A775853308}"/>
              </a:ext>
            </a:extLst>
          </p:cNvPr>
          <p:cNvSpPr>
            <a:spLocks noGrp="1"/>
          </p:cNvSpPr>
          <p:nvPr/>
        </p:nvSpPr>
        <p:spPr>
          <a:xfrm>
            <a:off x="1238250" y="3219450"/>
            <a:ext cx="3924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Reputación de IP, URL y dominio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83E7068-036F-47DD-B5FD-254053AA827D}"/>
              </a:ext>
            </a:extLst>
          </p:cNvPr>
          <p:cNvSpPr>
            <a:spLocks noGrp="1"/>
          </p:cNvSpPr>
          <p:nvPr/>
        </p:nvSpPr>
        <p:spPr>
          <a:xfrm>
            <a:off x="1066800" y="3829050"/>
            <a:ext cx="66675" cy="6667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3464F-F5CE-437C-BF2E-56459D4DA381}"/>
              </a:ext>
            </a:extLst>
          </p:cNvPr>
          <p:cNvSpPr>
            <a:spLocks noGrp="1"/>
          </p:cNvSpPr>
          <p:nvPr/>
        </p:nvSpPr>
        <p:spPr>
          <a:xfrm>
            <a:off x="1238250" y="3752850"/>
            <a:ext cx="3924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Filtrado de conexión, contenido y políticas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202B550-5422-4171-8692-7A6E5D654EF1}"/>
              </a:ext>
            </a:extLst>
          </p:cNvPr>
          <p:cNvSpPr>
            <a:spLocks noGrp="1"/>
          </p:cNvSpPr>
          <p:nvPr/>
        </p:nvSpPr>
        <p:spPr>
          <a:xfrm>
            <a:off x="1066800" y="4362450"/>
            <a:ext cx="66675" cy="6667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F86455-74AB-475C-9DB2-2CE03ABD0262}"/>
              </a:ext>
            </a:extLst>
          </p:cNvPr>
          <p:cNvSpPr>
            <a:spLocks noGrp="1"/>
          </p:cNvSpPr>
          <p:nvPr/>
        </p:nvSpPr>
        <p:spPr>
          <a:xfrm>
            <a:off x="1238250" y="4286250"/>
            <a:ext cx="3924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Cuarentena y acciones de entrega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DF2A42-70B7-41E8-B2CA-D40B1A37481E}"/>
              </a:ext>
            </a:extLst>
          </p:cNvPr>
          <p:cNvSpPr>
            <a:spLocks noGrp="1"/>
          </p:cNvSpPr>
          <p:nvPr/>
        </p:nvSpPr>
        <p:spPr>
          <a:xfrm>
            <a:off x="6553200" y="1714500"/>
            <a:ext cx="4953000" cy="4000500"/>
          </a:xfrm>
          <a:prstGeom prst="rect">
            <a:avLst/>
          </a:prstGeom>
          <a:solidFill>
            <a:srgbClr val="DFF3E8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553CAC-B80B-45D9-92C5-BD387FE62152}"/>
              </a:ext>
            </a:extLst>
          </p:cNvPr>
          <p:cNvSpPr>
            <a:spLocks noGrp="1"/>
          </p:cNvSpPr>
          <p:nvPr/>
        </p:nvSpPr>
        <p:spPr>
          <a:xfrm>
            <a:off x="6553200" y="1714500"/>
            <a:ext cx="4953000" cy="95250"/>
          </a:xfrm>
          <a:prstGeom prst="rect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779A38-D314-414C-8F01-635CABA1C804}"/>
              </a:ext>
            </a:extLst>
          </p:cNvPr>
          <p:cNvSpPr>
            <a:spLocks noGrp="1"/>
          </p:cNvSpPr>
          <p:nvPr/>
        </p:nvSpPr>
        <p:spPr>
          <a:xfrm>
            <a:off x="6819900" y="2047875"/>
            <a:ext cx="4419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rPr>
              <a:t>DEFENDER FOR OFFICE 365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D19A433-77EF-4220-B06C-26F5A3424C59}"/>
              </a:ext>
            </a:extLst>
          </p:cNvPr>
          <p:cNvSpPr>
            <a:spLocks noGrp="1"/>
          </p:cNvSpPr>
          <p:nvPr/>
        </p:nvSpPr>
        <p:spPr>
          <a:xfrm>
            <a:off x="6934200" y="2762250"/>
            <a:ext cx="66675" cy="66675"/>
          </a:xfrm>
          <a:prstGeom prst="ellipse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09D1B7-5D48-4A6F-A31D-7D135DD8F422}"/>
              </a:ext>
            </a:extLst>
          </p:cNvPr>
          <p:cNvSpPr>
            <a:spLocks noGrp="1"/>
          </p:cNvSpPr>
          <p:nvPr/>
        </p:nvSpPr>
        <p:spPr>
          <a:xfrm>
            <a:off x="7105650" y="2686050"/>
            <a:ext cx="3924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Malware de día cero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74A2BCD-6C4F-4B7E-870D-DA6218CCC8D0}"/>
              </a:ext>
            </a:extLst>
          </p:cNvPr>
          <p:cNvSpPr>
            <a:spLocks noGrp="1"/>
          </p:cNvSpPr>
          <p:nvPr/>
        </p:nvSpPr>
        <p:spPr>
          <a:xfrm>
            <a:off x="6934200" y="3295650"/>
            <a:ext cx="66675" cy="6667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570793-3F84-4A36-97F1-52DC24D20773}"/>
              </a:ext>
            </a:extLst>
          </p:cNvPr>
          <p:cNvSpPr>
            <a:spLocks noGrp="1"/>
          </p:cNvSpPr>
          <p:nvPr/>
        </p:nvSpPr>
        <p:spPr>
          <a:xfrm>
            <a:off x="7105650" y="3219450"/>
            <a:ext cx="3924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Phishing avanzado y suplantación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B8B7109-D33D-460F-B605-8E571AB640F5}"/>
              </a:ext>
            </a:extLst>
          </p:cNvPr>
          <p:cNvSpPr>
            <a:spLocks noGrp="1"/>
          </p:cNvSpPr>
          <p:nvPr/>
        </p:nvSpPr>
        <p:spPr>
          <a:xfrm>
            <a:off x="6934200" y="3829050"/>
            <a:ext cx="66675" cy="6667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5346B7-12B6-4413-958C-D0851558C349}"/>
              </a:ext>
            </a:extLst>
          </p:cNvPr>
          <p:cNvSpPr>
            <a:spLocks noGrp="1"/>
          </p:cNvSpPr>
          <p:nvPr/>
        </p:nvSpPr>
        <p:spPr>
          <a:xfrm>
            <a:off x="7105650" y="3752850"/>
            <a:ext cx="3924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URL maliciosas en correo y documentos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484FEB5-8AD5-475C-A326-1B243B159C8F}"/>
              </a:ext>
            </a:extLst>
          </p:cNvPr>
          <p:cNvSpPr>
            <a:spLocks noGrp="1"/>
          </p:cNvSpPr>
          <p:nvPr/>
        </p:nvSpPr>
        <p:spPr>
          <a:xfrm>
            <a:off x="6934200" y="4362450"/>
            <a:ext cx="66675" cy="6667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A42493-26A3-4DF4-AEFA-22EA77E60DD3}"/>
              </a:ext>
            </a:extLst>
          </p:cNvPr>
          <p:cNvSpPr>
            <a:spLocks noGrp="1"/>
          </p:cNvSpPr>
          <p:nvPr/>
        </p:nvSpPr>
        <p:spPr>
          <a:xfrm>
            <a:off x="7105650" y="4286250"/>
            <a:ext cx="3924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Protección configurada por políticas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929A7BD-A6E7-4B9B-A350-FBAB3C594E59}"/>
              </a:ext>
            </a:extLst>
          </p:cNvPr>
          <p:cNvSpPr>
            <a:spLocks noGrp="1"/>
          </p:cNvSpPr>
          <p:nvPr/>
        </p:nvSpPr>
        <p:spPr>
          <a:xfrm>
            <a:off x="5657850" y="342900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A"/>
                </a:solidFill>
                <a:latin typeface="Aptos"/>
                <a:ea typeface="Aptos"/>
                <a:cs typeface="Aptos"/>
              </a:rPr>
              <a:t>EXTIENDE</a:t>
            </a:r>
          </a:p>
        </p:txBody>
      </p:sp>
    </p:spTree>
    <p:extLst>
      <p:ext uri="{BB962C8B-B14F-4D97-AF65-F5344CB8AC3E}">
        <p14:creationId xmlns:p14="http://schemas.microsoft.com/office/powerpoint/2010/main" val="1319420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5653511-5D01-4631-A67C-51BDDF77C4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1792CF-40A2-441F-93C5-2E984883195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POLÍTICAS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D8CEF3-1131-4026-982A-3DEF0B068F02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Cuatro controles protegen antes y después del clic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1A8B07-A764-4BB9-A318-21290D878C09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DE2A52-9C30-4658-9511-44C5000A434F}"/>
              </a:ext>
            </a:extLst>
          </p:cNvPr>
          <p:cNvSpPr>
            <a:spLocks noGrp="1"/>
          </p:cNvSpPr>
          <p:nvPr/>
        </p:nvSpPr>
        <p:spPr>
          <a:xfrm>
            <a:off x="11191875" y="323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A81975-5A6B-4597-82DD-A7E9F12D395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F40F51-EFCE-4A53-8DF0-39C8866FB55D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A1"/>
                </a:solidFill>
                <a:latin typeface="Aptos"/>
                <a:ea typeface="Aptos"/>
                <a:cs typeface="Aptos"/>
              </a:rPr>
              <a:t>Microsoft Defender XDR · Formación técnica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B39241-D0C2-425E-B0D3-D827D8A7CCFC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914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6 / 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757DB4-D4CC-4C88-964E-93FD2BD4A640}"/>
              </a:ext>
            </a:extLst>
          </p:cNvPr>
          <p:cNvSpPr>
            <a:spLocks noGrp="1"/>
          </p:cNvSpPr>
          <p:nvPr/>
        </p:nvSpPr>
        <p:spPr>
          <a:xfrm>
            <a:off x="6096000" y="1714500"/>
            <a:ext cx="19050" cy="390525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A600D1-8895-434B-BBBC-7AF8C655FB2D}"/>
              </a:ext>
            </a:extLst>
          </p:cNvPr>
          <p:cNvSpPr>
            <a:spLocks noGrp="1"/>
          </p:cNvSpPr>
          <p:nvPr/>
        </p:nvSpPr>
        <p:spPr>
          <a:xfrm>
            <a:off x="704850" y="3667125"/>
            <a:ext cx="10782300" cy="1905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A584AAB-6D79-424B-84C7-C38D6DAA1138}"/>
              </a:ext>
            </a:extLst>
          </p:cNvPr>
          <p:cNvSpPr>
            <a:spLocks noGrp="1"/>
          </p:cNvSpPr>
          <p:nvPr/>
        </p:nvSpPr>
        <p:spPr>
          <a:xfrm>
            <a:off x="857250" y="1876425"/>
            <a:ext cx="419100" cy="419100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4F9663-85A3-4C79-ACDA-0DA59D08B4DC}"/>
              </a:ext>
            </a:extLst>
          </p:cNvPr>
          <p:cNvSpPr>
            <a:spLocks noGrp="1"/>
          </p:cNvSpPr>
          <p:nvPr/>
        </p:nvSpPr>
        <p:spPr>
          <a:xfrm>
            <a:off x="962025" y="1971675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9DD7D4-1BDB-4F18-A192-FCADC74BD2DC}"/>
              </a:ext>
            </a:extLst>
          </p:cNvPr>
          <p:cNvSpPr>
            <a:spLocks noGrp="1"/>
          </p:cNvSpPr>
          <p:nvPr/>
        </p:nvSpPr>
        <p:spPr>
          <a:xfrm>
            <a:off x="1466850" y="18478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SAFE ATTACHMENTS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C17587-D804-478D-85C1-387893B18511}"/>
              </a:ext>
            </a:extLst>
          </p:cNvPr>
          <p:cNvSpPr>
            <a:spLocks noGrp="1"/>
          </p:cNvSpPr>
          <p:nvPr/>
        </p:nvSpPr>
        <p:spPr>
          <a:xfrm>
            <a:off x="1466850" y="2286000"/>
            <a:ext cx="4191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Detona adjuntos desconocidos en un hypervisor para observar comportamiento malicioso.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66C52DB-381F-4745-8D5B-B8EB80CB7B5F}"/>
              </a:ext>
            </a:extLst>
          </p:cNvPr>
          <p:cNvSpPr>
            <a:spLocks noGrp="1"/>
          </p:cNvSpPr>
          <p:nvPr/>
        </p:nvSpPr>
        <p:spPr>
          <a:xfrm>
            <a:off x="6477000" y="1876425"/>
            <a:ext cx="419100" cy="419100"/>
          </a:xfrm>
          <a:prstGeom prst="ellipse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A5100E-EC8C-4F09-AC8A-7C9F3B5923AE}"/>
              </a:ext>
            </a:extLst>
          </p:cNvPr>
          <p:cNvSpPr>
            <a:spLocks noGrp="1"/>
          </p:cNvSpPr>
          <p:nvPr/>
        </p:nvSpPr>
        <p:spPr>
          <a:xfrm>
            <a:off x="962025" y="1971675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5DA201-51F6-4338-BD52-A8E431DFB0FB}"/>
              </a:ext>
            </a:extLst>
          </p:cNvPr>
          <p:cNvSpPr>
            <a:spLocks noGrp="1"/>
          </p:cNvSpPr>
          <p:nvPr/>
        </p:nvSpPr>
        <p:spPr>
          <a:xfrm>
            <a:off x="7086600" y="18478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7C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7C41"/>
                </a:solidFill>
                <a:latin typeface="Aptos"/>
                <a:ea typeface="Aptos"/>
                <a:cs typeface="Aptos"/>
              </a:rPr>
              <a:t>SAFE LINKS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5FECE9-DD12-4D1B-A459-696DBF3CC30E}"/>
              </a:ext>
            </a:extLst>
          </p:cNvPr>
          <p:cNvSpPr>
            <a:spLocks noGrp="1"/>
          </p:cNvSpPr>
          <p:nvPr/>
        </p:nvSpPr>
        <p:spPr>
          <a:xfrm>
            <a:off x="7086600" y="2286000"/>
            <a:ext cx="4191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Evalúa el enlace en el momento del clic y bloquea destinos maliciosos.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36D48FB-E38C-4318-9731-7E5E29F6DCDC}"/>
              </a:ext>
            </a:extLst>
          </p:cNvPr>
          <p:cNvSpPr>
            <a:spLocks noGrp="1"/>
          </p:cNvSpPr>
          <p:nvPr/>
        </p:nvSpPr>
        <p:spPr>
          <a:xfrm>
            <a:off x="857250" y="4010025"/>
            <a:ext cx="419100" cy="419100"/>
          </a:xfrm>
          <a:prstGeom prst="ellipse">
            <a:avLst/>
          </a:prstGeom>
          <a:solidFill>
            <a:srgbClr val="C87B00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40CDA6-084E-4A8B-9412-07B8CD4CBE4A}"/>
              </a:ext>
            </a:extLst>
          </p:cNvPr>
          <p:cNvSpPr>
            <a:spLocks noGrp="1"/>
          </p:cNvSpPr>
          <p:nvPr/>
        </p:nvSpPr>
        <p:spPr>
          <a:xfrm>
            <a:off x="962025" y="4105275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E5688C-BB1F-4113-A91C-8FFE59FF6AE2}"/>
              </a:ext>
            </a:extLst>
          </p:cNvPr>
          <p:cNvSpPr>
            <a:spLocks noGrp="1"/>
          </p:cNvSpPr>
          <p:nvPr/>
        </p:nvSpPr>
        <p:spPr>
          <a:xfrm>
            <a:off x="1466850" y="39814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C87B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7B00"/>
                </a:solidFill>
                <a:latin typeface="Aptos"/>
                <a:ea typeface="Aptos"/>
                <a:cs typeface="Aptos"/>
              </a:rPr>
              <a:t>SPOOF INTELLIGENCE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C4E484-0825-47C1-9AAA-1D70E887ED6C}"/>
              </a:ext>
            </a:extLst>
          </p:cNvPr>
          <p:cNvSpPr>
            <a:spLocks noGrp="1"/>
          </p:cNvSpPr>
          <p:nvPr/>
        </p:nvSpPr>
        <p:spPr>
          <a:xfrm>
            <a:off x="1466850" y="4419600"/>
            <a:ext cx="4191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Identifica remitentes que aparentan actuar en nombre de dominios de la organización.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BCA83CB-919C-429C-A460-8B093064C445}"/>
              </a:ext>
            </a:extLst>
          </p:cNvPr>
          <p:cNvSpPr>
            <a:spLocks noGrp="1"/>
          </p:cNvSpPr>
          <p:nvPr/>
        </p:nvSpPr>
        <p:spPr>
          <a:xfrm>
            <a:off x="6477000" y="4010025"/>
            <a:ext cx="419100" cy="419100"/>
          </a:xfrm>
          <a:prstGeom prst="ellipse">
            <a:avLst/>
          </a:prstGeom>
          <a:solidFill>
            <a:srgbClr val="C42B1C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E6BE94-111C-4E6C-8293-B4E97AB19B07}"/>
              </a:ext>
            </a:extLst>
          </p:cNvPr>
          <p:cNvSpPr>
            <a:spLocks noGrp="1"/>
          </p:cNvSpPr>
          <p:nvPr/>
        </p:nvSpPr>
        <p:spPr>
          <a:xfrm>
            <a:off x="962025" y="4105275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A362BB-B6AD-41DE-BED4-06EC25AE9C70}"/>
              </a:ext>
            </a:extLst>
          </p:cNvPr>
          <p:cNvSpPr>
            <a:spLocks noGrp="1"/>
          </p:cNvSpPr>
          <p:nvPr/>
        </p:nvSpPr>
        <p:spPr>
          <a:xfrm>
            <a:off x="7086600" y="39814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C42B1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42B1C"/>
                </a:solidFill>
                <a:latin typeface="Aptos"/>
                <a:ea typeface="Aptos"/>
                <a:cs typeface="Aptos"/>
              </a:rPr>
              <a:t>ANTI-PHISHING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5C4420-7364-4DE9-953E-BD3846F86E32}"/>
              </a:ext>
            </a:extLst>
          </p:cNvPr>
          <p:cNvSpPr>
            <a:spLocks noGrp="1"/>
          </p:cNvSpPr>
          <p:nvPr/>
        </p:nvSpPr>
        <p:spPr>
          <a:xfrm>
            <a:off x="7086600" y="4419600"/>
            <a:ext cx="4191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Usa machine learning para phishing común, spear phishing y suplantación.</a:t>
            </a:r>
          </a:p>
        </p:txBody>
      </p:sp>
    </p:spTree>
    <p:extLst>
      <p:ext uri="{BB962C8B-B14F-4D97-AF65-F5344CB8AC3E}">
        <p14:creationId xmlns:p14="http://schemas.microsoft.com/office/powerpoint/2010/main" val="1234849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CDB213C7-92E2-416D-AFCE-FDB68EEFD0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D3A19F-A517-4DCA-8C1E-B5E135A9001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LICENCIAMIENTO FUNCIONAL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ED680E-7C3A-4E05-A4C2-297B4DC4A1B0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Plan 2 amplía Plan 1 con operaciones de respuesta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834AC0-832D-48A1-832E-380A2C3FF8D6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64F57F-E622-41DA-B19D-167529A5A989}"/>
              </a:ext>
            </a:extLst>
          </p:cNvPr>
          <p:cNvSpPr>
            <a:spLocks noGrp="1"/>
          </p:cNvSpPr>
          <p:nvPr/>
        </p:nvSpPr>
        <p:spPr>
          <a:xfrm>
            <a:off x="11191875" y="323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7AB2F4-46BD-471B-A3A7-198A0898351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6DB6E5-D596-42DD-8B95-F88E34C1AE42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A1"/>
                </a:solidFill>
                <a:latin typeface="Aptos"/>
                <a:ea typeface="Aptos"/>
                <a:cs typeface="Aptos"/>
              </a:rPr>
              <a:t>Microsoft Defender XDR · Formación técnica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29DADE-E72A-46C4-ACB8-22BF647BEA5D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914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7 / 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366123-4137-4A5B-8EBD-D6A3ECA35870}"/>
              </a:ext>
            </a:extLst>
          </p:cNvPr>
          <p:cNvSpPr>
            <a:spLocks noGrp="1"/>
          </p:cNvSpPr>
          <p:nvPr/>
        </p:nvSpPr>
        <p:spPr>
          <a:xfrm>
            <a:off x="904875" y="171450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PLAN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54E73E-2F32-4EDF-B8B7-27A912DFC276}"/>
              </a:ext>
            </a:extLst>
          </p:cNvPr>
          <p:cNvSpPr>
            <a:spLocks noGrp="1"/>
          </p:cNvSpPr>
          <p:nvPr/>
        </p:nvSpPr>
        <p:spPr>
          <a:xfrm>
            <a:off x="904875" y="2209800"/>
            <a:ext cx="4476750" cy="47625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293728E-5D25-4713-A6AC-D4345E939D37}"/>
              </a:ext>
            </a:extLst>
          </p:cNvPr>
          <p:cNvSpPr>
            <a:spLocks noGrp="1"/>
          </p:cNvSpPr>
          <p:nvPr/>
        </p:nvSpPr>
        <p:spPr>
          <a:xfrm>
            <a:off x="1143000" y="2647950"/>
            <a:ext cx="66675" cy="66675"/>
          </a:xfrm>
          <a:prstGeom prst="ellipse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D99A40-4997-482A-907A-AC5A4CAE2264}"/>
              </a:ext>
            </a:extLst>
          </p:cNvPr>
          <p:cNvSpPr>
            <a:spLocks noGrp="1"/>
          </p:cNvSpPr>
          <p:nvPr/>
        </p:nvSpPr>
        <p:spPr>
          <a:xfrm>
            <a:off x="1314450" y="2571750"/>
            <a:ext cx="3733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Safe Attachments y Safe Links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F6D1061-211F-4327-841D-EBD5AE3E61A8}"/>
              </a:ext>
            </a:extLst>
          </p:cNvPr>
          <p:cNvSpPr>
            <a:spLocks noGrp="1"/>
          </p:cNvSpPr>
          <p:nvPr/>
        </p:nvSpPr>
        <p:spPr>
          <a:xfrm>
            <a:off x="1143000" y="3200400"/>
            <a:ext cx="66675" cy="6667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E780AA-478F-4EA3-8B84-53D475E5985D}"/>
              </a:ext>
            </a:extLst>
          </p:cNvPr>
          <p:cNvSpPr>
            <a:spLocks noGrp="1"/>
          </p:cNvSpPr>
          <p:nvPr/>
        </p:nvSpPr>
        <p:spPr>
          <a:xfrm>
            <a:off x="1314450" y="3124200"/>
            <a:ext cx="3733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Protección para SharePoint, OneDrive y Teams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43AAA72-851F-45E7-8E0A-94A6A57C09E6}"/>
              </a:ext>
            </a:extLst>
          </p:cNvPr>
          <p:cNvSpPr>
            <a:spLocks noGrp="1"/>
          </p:cNvSpPr>
          <p:nvPr/>
        </p:nvSpPr>
        <p:spPr>
          <a:xfrm>
            <a:off x="1143000" y="3752850"/>
            <a:ext cx="66675" cy="6667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A7AA8D-291A-4062-9253-72296A2CB981}"/>
              </a:ext>
            </a:extLst>
          </p:cNvPr>
          <p:cNvSpPr>
            <a:spLocks noGrp="1"/>
          </p:cNvSpPr>
          <p:nvPr/>
        </p:nvSpPr>
        <p:spPr>
          <a:xfrm>
            <a:off x="1314450" y="3676650"/>
            <a:ext cx="3733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Políticas anti-phishing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83DF308-D0DA-4C49-BFF6-573B43E4AA81}"/>
              </a:ext>
            </a:extLst>
          </p:cNvPr>
          <p:cNvSpPr>
            <a:spLocks noGrp="1"/>
          </p:cNvSpPr>
          <p:nvPr/>
        </p:nvSpPr>
        <p:spPr>
          <a:xfrm>
            <a:off x="1143000" y="4305300"/>
            <a:ext cx="66675" cy="6667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E2DA6D-1ECF-446E-9D15-ED45DCC44D6F}"/>
              </a:ext>
            </a:extLst>
          </p:cNvPr>
          <p:cNvSpPr>
            <a:spLocks noGrp="1"/>
          </p:cNvSpPr>
          <p:nvPr/>
        </p:nvSpPr>
        <p:spPr>
          <a:xfrm>
            <a:off x="1314450" y="4229100"/>
            <a:ext cx="3733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Detecciones en tiempo real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DD7F9F-0E1D-4768-A0CA-7D92FEAE6F03}"/>
              </a:ext>
            </a:extLst>
          </p:cNvPr>
          <p:cNvSpPr>
            <a:spLocks noGrp="1"/>
          </p:cNvSpPr>
          <p:nvPr/>
        </p:nvSpPr>
        <p:spPr>
          <a:xfrm>
            <a:off x="6762750" y="171450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rPr>
              <a:t>PLAN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E60BC1-BF76-4128-B552-562CC7DA94FB}"/>
              </a:ext>
            </a:extLst>
          </p:cNvPr>
          <p:cNvSpPr>
            <a:spLocks noGrp="1"/>
          </p:cNvSpPr>
          <p:nvPr/>
        </p:nvSpPr>
        <p:spPr>
          <a:xfrm>
            <a:off x="6762750" y="2209800"/>
            <a:ext cx="4476750" cy="47625"/>
          </a:xfrm>
          <a:prstGeom prst="rect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25EF06-539D-46FB-8B57-F3B7087AE429}"/>
              </a:ext>
            </a:extLst>
          </p:cNvPr>
          <p:cNvSpPr>
            <a:spLocks noGrp="1"/>
          </p:cNvSpPr>
          <p:nvPr/>
        </p:nvSpPr>
        <p:spPr>
          <a:xfrm>
            <a:off x="6972300" y="250507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7C4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7C41"/>
                </a:solidFill>
                <a:latin typeface="Aptos"/>
                <a:ea typeface="Aptos"/>
                <a:cs typeface="Aptos"/>
              </a:rPr>
              <a:t>Incluye todo Plan 1 +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CABCFF0-5830-4489-9BF1-07E76237AEFB}"/>
              </a:ext>
            </a:extLst>
          </p:cNvPr>
          <p:cNvSpPr>
            <a:spLocks noGrp="1"/>
          </p:cNvSpPr>
          <p:nvPr/>
        </p:nvSpPr>
        <p:spPr>
          <a:xfrm>
            <a:off x="6972300" y="3028950"/>
            <a:ext cx="66675" cy="66675"/>
          </a:xfrm>
          <a:prstGeom prst="ellipse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50941B-C903-4CC3-ADA5-823D15716D8F}"/>
              </a:ext>
            </a:extLst>
          </p:cNvPr>
          <p:cNvSpPr>
            <a:spLocks noGrp="1"/>
          </p:cNvSpPr>
          <p:nvPr/>
        </p:nvSpPr>
        <p:spPr>
          <a:xfrm>
            <a:off x="7143750" y="2952750"/>
            <a:ext cx="3829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Automated Investigation and Response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0AF7BB5-E1C0-4188-99CD-06BAC795CEE3}"/>
              </a:ext>
            </a:extLst>
          </p:cNvPr>
          <p:cNvSpPr>
            <a:spLocks noGrp="1"/>
          </p:cNvSpPr>
          <p:nvPr/>
        </p:nvSpPr>
        <p:spPr>
          <a:xfrm>
            <a:off x="6972300" y="3552825"/>
            <a:ext cx="66675" cy="6667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CFE12B-85CC-4049-855E-4E1500FC9079}"/>
              </a:ext>
            </a:extLst>
          </p:cNvPr>
          <p:cNvSpPr>
            <a:spLocks noGrp="1"/>
          </p:cNvSpPr>
          <p:nvPr/>
        </p:nvSpPr>
        <p:spPr>
          <a:xfrm>
            <a:off x="7143750" y="3476625"/>
            <a:ext cx="3829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Threat Trackers y Threat Explorer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414E491-36D4-4F27-A39F-102EF4BF489D}"/>
              </a:ext>
            </a:extLst>
          </p:cNvPr>
          <p:cNvSpPr>
            <a:spLocks noGrp="1"/>
          </p:cNvSpPr>
          <p:nvPr/>
        </p:nvSpPr>
        <p:spPr>
          <a:xfrm>
            <a:off x="6972300" y="4076700"/>
            <a:ext cx="66675" cy="6667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1C2A9C-2F39-44EA-883E-0E059D637E39}"/>
              </a:ext>
            </a:extLst>
          </p:cNvPr>
          <p:cNvSpPr>
            <a:spLocks noGrp="1"/>
          </p:cNvSpPr>
          <p:nvPr/>
        </p:nvSpPr>
        <p:spPr>
          <a:xfrm>
            <a:off x="7143750" y="4000500"/>
            <a:ext cx="3829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Attack Simulation Training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DC4921D-667C-4E9D-965F-BCD16503FFE4}"/>
              </a:ext>
            </a:extLst>
          </p:cNvPr>
          <p:cNvSpPr>
            <a:spLocks noGrp="1"/>
          </p:cNvSpPr>
          <p:nvPr/>
        </p:nvSpPr>
        <p:spPr>
          <a:xfrm>
            <a:off x="6972300" y="4600575"/>
            <a:ext cx="66675" cy="6667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AC817E-B0AE-4A82-8D6A-D80C7DE77DAA}"/>
              </a:ext>
            </a:extLst>
          </p:cNvPr>
          <p:cNvSpPr>
            <a:spLocks noGrp="1"/>
          </p:cNvSpPr>
          <p:nvPr/>
        </p:nvSpPr>
        <p:spPr>
          <a:xfrm>
            <a:off x="7143750" y="4524375"/>
            <a:ext cx="3829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Advanced Hunting e investigación de incidentes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C7CBDB-1FBB-465D-9B9D-A412EBEED77B}"/>
              </a:ext>
            </a:extLst>
          </p:cNvPr>
          <p:cNvSpPr>
            <a:spLocks noGrp="1"/>
          </p:cNvSpPr>
          <p:nvPr/>
        </p:nvSpPr>
        <p:spPr>
          <a:xfrm>
            <a:off x="5467350" y="1619250"/>
            <a:ext cx="19050" cy="419100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6A3BA9-54B1-40CF-A006-6674588BEAEA}"/>
              </a:ext>
            </a:extLst>
          </p:cNvPr>
          <p:cNvSpPr>
            <a:spLocks noGrp="1"/>
          </p:cNvSpPr>
          <p:nvPr/>
        </p:nvSpPr>
        <p:spPr>
          <a:xfrm>
            <a:off x="1666875" y="5381625"/>
            <a:ext cx="2952750" cy="26670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9EEC3B-1651-4285-AD46-C4F0F0216505}"/>
              </a:ext>
            </a:extLst>
          </p:cNvPr>
          <p:cNvSpPr>
            <a:spLocks noGrp="1"/>
          </p:cNvSpPr>
          <p:nvPr/>
        </p:nvSpPr>
        <p:spPr>
          <a:xfrm>
            <a:off x="1762125" y="5419725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Configurar y proteger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589473-2581-4313-88D6-92B23771CCB2}"/>
              </a:ext>
            </a:extLst>
          </p:cNvPr>
          <p:cNvSpPr>
            <a:spLocks noGrp="1"/>
          </p:cNvSpPr>
          <p:nvPr/>
        </p:nvSpPr>
        <p:spPr>
          <a:xfrm>
            <a:off x="7334250" y="5381625"/>
            <a:ext cx="3333750" cy="266700"/>
          </a:xfrm>
          <a:prstGeom prst="rect">
            <a:avLst/>
          </a:prstGeom>
          <a:solidFill>
            <a:srgbClr val="DFF3E8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59D3120-DF6B-42C4-9EEC-73560AB901C2}"/>
              </a:ext>
            </a:extLst>
          </p:cNvPr>
          <p:cNvSpPr>
            <a:spLocks noGrp="1"/>
          </p:cNvSpPr>
          <p:nvPr/>
        </p:nvSpPr>
        <p:spPr>
          <a:xfrm>
            <a:off x="7429500" y="54197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07C4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7C41"/>
                </a:solidFill>
                <a:latin typeface="Aptos"/>
                <a:ea typeface="Aptos"/>
                <a:cs typeface="Aptos"/>
              </a:rPr>
              <a:t>Automatizar, investigar y remediar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806C8C-682C-48AF-89B9-94D354F0E17C}"/>
              </a:ext>
            </a:extLst>
          </p:cNvPr>
          <p:cNvSpPr>
            <a:spLocks noGrp="1"/>
          </p:cNvSpPr>
          <p:nvPr/>
        </p:nvSpPr>
        <p:spPr>
          <a:xfrm>
            <a:off x="3429000" y="590550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A"/>
                </a:solidFill>
                <a:latin typeface="Aptos"/>
                <a:ea typeface="Aptos"/>
                <a:cs typeface="Aptos"/>
              </a:rPr>
              <a:t>Varias capacidades avanzadas requieren Microsoft 365 E5.</a:t>
            </a:r>
          </a:p>
        </p:txBody>
      </p:sp>
    </p:spTree>
    <p:extLst>
      <p:ext uri="{BB962C8B-B14F-4D97-AF65-F5344CB8AC3E}">
        <p14:creationId xmlns:p14="http://schemas.microsoft.com/office/powerpoint/2010/main" val="1992939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6552A7E-AFEF-469B-98B1-CD0DE3218C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EB83A3-F066-4186-959B-FFF03F091B7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OPERACIONES DE SEGURIDAD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38D341-B52A-4018-A529-1003CE50F300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Investigación, simulación y hunting cierran el ciclo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3AB742-5D48-48B5-B1F5-4007755DBA76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CEE0C8-56D6-4084-954F-144AA5A0840D}"/>
              </a:ext>
            </a:extLst>
          </p:cNvPr>
          <p:cNvSpPr>
            <a:spLocks noGrp="1"/>
          </p:cNvSpPr>
          <p:nvPr/>
        </p:nvSpPr>
        <p:spPr>
          <a:xfrm>
            <a:off x="11191875" y="323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EEB7A4-5C8E-4BC1-87C6-2B8987AD3E7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28B542-B03B-4CA5-B5D1-1028AC88033C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A1"/>
                </a:solidFill>
                <a:latin typeface="Aptos"/>
                <a:ea typeface="Aptos"/>
                <a:cs typeface="Aptos"/>
              </a:rPr>
              <a:t>Microsoft Defender XDR · Formación técnica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70922B-CE24-4AF8-BF1B-DAF249D52579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914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8 / 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265EA-7AE5-4681-83C6-AABD69B2D330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2381250" cy="2286000"/>
          </a:xfrm>
          <a:prstGeom prst="rect">
            <a:avLst/>
          </a:prstGeom>
          <a:solidFill>
            <a:srgbClr val="F5F9FC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0A3EEB-AC37-4453-B3F6-3706DD33A1F0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2381250" cy="9525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D08184-1329-4500-A238-96AB0EC0CD4E}"/>
              </a:ext>
            </a:extLst>
          </p:cNvPr>
          <p:cNvSpPr>
            <a:spLocks noGrp="1"/>
          </p:cNvSpPr>
          <p:nvPr/>
        </p:nvSpPr>
        <p:spPr>
          <a:xfrm>
            <a:off x="952500" y="2419350"/>
            <a:ext cx="361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C7F3B1-ACD1-4657-9E89-B240DEEB4D62}"/>
              </a:ext>
            </a:extLst>
          </p:cNvPr>
          <p:cNvSpPr>
            <a:spLocks noGrp="1"/>
          </p:cNvSpPr>
          <p:nvPr/>
        </p:nvSpPr>
        <p:spPr>
          <a:xfrm>
            <a:off x="952500" y="3038475"/>
            <a:ext cx="2038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THREAT TRACKERS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C0D994-1CB9-4A19-B361-2AA582D5196D}"/>
              </a:ext>
            </a:extLst>
          </p:cNvPr>
          <p:cNvSpPr>
            <a:spLocks noGrp="1"/>
          </p:cNvSpPr>
          <p:nvPr/>
        </p:nvSpPr>
        <p:spPr>
          <a:xfrm>
            <a:off x="971550" y="3667125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Inteligencia sobre amenazas y malware actuales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796E8B-25F1-4999-96FF-18B4FE77FBF9}"/>
              </a:ext>
            </a:extLst>
          </p:cNvPr>
          <p:cNvSpPr>
            <a:spLocks noGrp="1"/>
          </p:cNvSpPr>
          <p:nvPr/>
        </p:nvSpPr>
        <p:spPr>
          <a:xfrm>
            <a:off x="3562350" y="2095500"/>
            <a:ext cx="2381250" cy="2286000"/>
          </a:xfrm>
          <a:prstGeom prst="rect">
            <a:avLst/>
          </a:prstGeom>
          <a:solidFill>
            <a:srgbClr val="F5F9FC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162DD8-5C6C-4EA7-AB14-65889E4A421F}"/>
              </a:ext>
            </a:extLst>
          </p:cNvPr>
          <p:cNvSpPr>
            <a:spLocks noGrp="1"/>
          </p:cNvSpPr>
          <p:nvPr/>
        </p:nvSpPr>
        <p:spPr>
          <a:xfrm>
            <a:off x="3562350" y="2095500"/>
            <a:ext cx="2381250" cy="95250"/>
          </a:xfrm>
          <a:prstGeom prst="rect">
            <a:avLst/>
          </a:prstGeom>
          <a:solidFill>
            <a:srgbClr val="163A5F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D8E341-632E-473F-AC02-B7CA00243239}"/>
              </a:ext>
            </a:extLst>
          </p:cNvPr>
          <p:cNvSpPr>
            <a:spLocks noGrp="1"/>
          </p:cNvSpPr>
          <p:nvPr/>
        </p:nvSpPr>
        <p:spPr>
          <a:xfrm>
            <a:off x="3733800" y="2419350"/>
            <a:ext cx="361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163A5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63A5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9064D5-4A06-41B0-A7FB-D8249852A536}"/>
              </a:ext>
            </a:extLst>
          </p:cNvPr>
          <p:cNvSpPr>
            <a:spLocks noGrp="1"/>
          </p:cNvSpPr>
          <p:nvPr/>
        </p:nvSpPr>
        <p:spPr>
          <a:xfrm>
            <a:off x="3733800" y="3038475"/>
            <a:ext cx="2038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THREAT EXPLORER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A54750-27F9-4216-B1C9-7442712DFB51}"/>
              </a:ext>
            </a:extLst>
          </p:cNvPr>
          <p:cNvSpPr>
            <a:spLocks noGrp="1"/>
          </p:cNvSpPr>
          <p:nvPr/>
        </p:nvSpPr>
        <p:spPr>
          <a:xfrm>
            <a:off x="3752850" y="3667125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Consultas y vistas de amenazas recientes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D27A22-1835-4616-AF3D-D52093A4A7E3}"/>
              </a:ext>
            </a:extLst>
          </p:cNvPr>
          <p:cNvSpPr>
            <a:spLocks noGrp="1"/>
          </p:cNvSpPr>
          <p:nvPr/>
        </p:nvSpPr>
        <p:spPr>
          <a:xfrm>
            <a:off x="6343650" y="2095500"/>
            <a:ext cx="2381250" cy="2286000"/>
          </a:xfrm>
          <a:prstGeom prst="rect">
            <a:avLst/>
          </a:prstGeom>
          <a:solidFill>
            <a:srgbClr val="F5F9FC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2F9703-A933-49D9-9264-EC3DCAD901F5}"/>
              </a:ext>
            </a:extLst>
          </p:cNvPr>
          <p:cNvSpPr>
            <a:spLocks noGrp="1"/>
          </p:cNvSpPr>
          <p:nvPr/>
        </p:nvSpPr>
        <p:spPr>
          <a:xfrm>
            <a:off x="6343650" y="2095500"/>
            <a:ext cx="2381250" cy="95250"/>
          </a:xfrm>
          <a:prstGeom prst="rect">
            <a:avLst/>
          </a:prstGeom>
          <a:solidFill>
            <a:srgbClr val="C87B00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0D8C63-8EB8-443F-8B2D-902758CAB5A2}"/>
              </a:ext>
            </a:extLst>
          </p:cNvPr>
          <p:cNvSpPr>
            <a:spLocks noGrp="1"/>
          </p:cNvSpPr>
          <p:nvPr/>
        </p:nvSpPr>
        <p:spPr>
          <a:xfrm>
            <a:off x="6515100" y="2419350"/>
            <a:ext cx="361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C87B0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C87B00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C951C1-B66F-4937-82F2-25D57B3BC3D8}"/>
              </a:ext>
            </a:extLst>
          </p:cNvPr>
          <p:cNvSpPr>
            <a:spLocks noGrp="1"/>
          </p:cNvSpPr>
          <p:nvPr/>
        </p:nvSpPr>
        <p:spPr>
          <a:xfrm>
            <a:off x="6515100" y="3038475"/>
            <a:ext cx="2038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ATTACK SIMULATION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A881DF-8B4C-4C2C-B8B3-9449BFE39BC5}"/>
              </a:ext>
            </a:extLst>
          </p:cNvPr>
          <p:cNvSpPr>
            <a:spLocks noGrp="1"/>
          </p:cNvSpPr>
          <p:nvPr/>
        </p:nvSpPr>
        <p:spPr>
          <a:xfrm>
            <a:off x="6534150" y="3667125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Phishing, adjuntos, password spray y fuerza bruta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E76CFC-1469-4BE3-8D63-D47A07D550CB}"/>
              </a:ext>
            </a:extLst>
          </p:cNvPr>
          <p:cNvSpPr>
            <a:spLocks noGrp="1"/>
          </p:cNvSpPr>
          <p:nvPr/>
        </p:nvSpPr>
        <p:spPr>
          <a:xfrm>
            <a:off x="9124950" y="2095500"/>
            <a:ext cx="2381250" cy="2286000"/>
          </a:xfrm>
          <a:prstGeom prst="rect">
            <a:avLst/>
          </a:prstGeom>
          <a:solidFill>
            <a:srgbClr val="F5F9FC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DFD71D-0AEC-4EA7-B4AB-2394B1B6CBBC}"/>
              </a:ext>
            </a:extLst>
          </p:cNvPr>
          <p:cNvSpPr>
            <a:spLocks noGrp="1"/>
          </p:cNvSpPr>
          <p:nvPr/>
        </p:nvSpPr>
        <p:spPr>
          <a:xfrm>
            <a:off x="9124950" y="2095500"/>
            <a:ext cx="2381250" cy="95250"/>
          </a:xfrm>
          <a:prstGeom prst="rect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4E9924-A951-4C44-8946-E73580D72227}"/>
              </a:ext>
            </a:extLst>
          </p:cNvPr>
          <p:cNvSpPr>
            <a:spLocks noGrp="1"/>
          </p:cNvSpPr>
          <p:nvPr/>
        </p:nvSpPr>
        <p:spPr>
          <a:xfrm>
            <a:off x="9296400" y="2419350"/>
            <a:ext cx="361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75C932B-779E-4B39-8D8B-6CA2D6787B63}"/>
              </a:ext>
            </a:extLst>
          </p:cNvPr>
          <p:cNvSpPr>
            <a:spLocks noGrp="1"/>
          </p:cNvSpPr>
          <p:nvPr/>
        </p:nvSpPr>
        <p:spPr>
          <a:xfrm>
            <a:off x="9296400" y="3038475"/>
            <a:ext cx="2038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ADVANCED HUNTING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578B29-D90A-4118-8EED-BBB8F1724E71}"/>
              </a:ext>
            </a:extLst>
          </p:cNvPr>
          <p:cNvSpPr>
            <a:spLocks noGrp="1"/>
          </p:cNvSpPr>
          <p:nvPr/>
        </p:nvSpPr>
        <p:spPr>
          <a:xfrm>
            <a:off x="9315450" y="3667125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Consultas proactivas y detecciones personalizadas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A4FAF0-4295-4F60-9D29-0D5612F385D1}"/>
              </a:ext>
            </a:extLst>
          </p:cNvPr>
          <p:cNvSpPr>
            <a:spLocks noGrp="1"/>
          </p:cNvSpPr>
          <p:nvPr/>
        </p:nvSpPr>
        <p:spPr>
          <a:xfrm>
            <a:off x="2571750" y="4905375"/>
            <a:ext cx="7048500" cy="552450"/>
          </a:xfrm>
          <a:prstGeom prst="rect">
            <a:avLst/>
          </a:prstGeom>
          <a:solidFill>
            <a:srgbClr val="163A5F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2E3E81-3C98-4C8E-A829-C905826F0971}"/>
              </a:ext>
            </a:extLst>
          </p:cNvPr>
          <p:cNvSpPr>
            <a:spLocks noGrp="1"/>
          </p:cNvSpPr>
          <p:nvPr/>
        </p:nvSpPr>
        <p:spPr>
          <a:xfrm>
            <a:off x="2762250" y="5057775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Alertas correlacionadas → incidentes investigables</a:t>
            </a:r>
          </a:p>
        </p:txBody>
      </p:sp>
    </p:spTree>
    <p:extLst>
      <p:ext uri="{BB962C8B-B14F-4D97-AF65-F5344CB8AC3E}">
        <p14:creationId xmlns:p14="http://schemas.microsoft.com/office/powerpoint/2010/main" val="426021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3241B5E5-E407-492C-87D7-5AC9C231F5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9A3020-0B7C-45FC-A8AB-D29F20B3DD1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DEFENDER FOR IDENTITY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B2A13C-B744-46A1-9C85-3352AE98914E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Las señales de AD DS se convierten en contexto cloud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E3A6AB-160D-4A1C-9D66-B9F74ABC8080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55B762-4FBE-4061-AA1E-A14F21114FAA}"/>
              </a:ext>
            </a:extLst>
          </p:cNvPr>
          <p:cNvSpPr>
            <a:spLocks noGrp="1"/>
          </p:cNvSpPr>
          <p:nvPr/>
        </p:nvSpPr>
        <p:spPr>
          <a:xfrm>
            <a:off x="11191875" y="323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B38E3E-0B05-4521-ABB3-78B8D6C4F8F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98FF63-6B8A-4D5C-B82F-21302A5C4E5A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A1"/>
                </a:solidFill>
                <a:latin typeface="Aptos"/>
                <a:ea typeface="Aptos"/>
                <a:cs typeface="Aptos"/>
              </a:rPr>
              <a:t>Microsoft Defender XDR · Formación técnica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F2FB76-F4D2-4C53-BA34-20149E8B32B6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914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9 / 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FDF385-E089-4722-8CA5-66965345E3A5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2524125" cy="285750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FB1620-29F3-4E0E-8F94-7539422930D0}"/>
              </a:ext>
            </a:extLst>
          </p:cNvPr>
          <p:cNvSpPr>
            <a:spLocks noGrp="1"/>
          </p:cNvSpPr>
          <p:nvPr/>
        </p:nvSpPr>
        <p:spPr>
          <a:xfrm>
            <a:off x="933450" y="2324100"/>
            <a:ext cx="2143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ACTIVE DIRECTORY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8569DD-6F19-451A-B65D-CD40EFA9EAAC}"/>
              </a:ext>
            </a:extLst>
          </p:cNvPr>
          <p:cNvSpPr>
            <a:spLocks noGrp="1"/>
          </p:cNvSpPr>
          <p:nvPr/>
        </p:nvSpPr>
        <p:spPr>
          <a:xfrm>
            <a:off x="1000125" y="2857500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Usuarios · grupos</a:t>
            </a:r>
          </a:p>
          <a:p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credenciales · AD FS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59A51-7786-473D-83DD-0BA4CE3C8CA2}"/>
              </a:ext>
            </a:extLst>
          </p:cNvPr>
          <p:cNvSpPr>
            <a:spLocks noGrp="1"/>
          </p:cNvSpPr>
          <p:nvPr/>
        </p:nvSpPr>
        <p:spPr>
          <a:xfrm>
            <a:off x="1123950" y="4048125"/>
            <a:ext cx="1762125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4518E9-ABFF-40C0-89E8-4F22E6238F51}"/>
              </a:ext>
            </a:extLst>
          </p:cNvPr>
          <p:cNvSpPr>
            <a:spLocks noGrp="1"/>
          </p:cNvSpPr>
          <p:nvPr/>
        </p:nvSpPr>
        <p:spPr>
          <a:xfrm>
            <a:off x="1219200" y="4086225"/>
            <a:ext cx="1571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Fuente de señales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82D2E1-129D-4FC4-B998-E3B2B9E0574E}"/>
              </a:ext>
            </a:extLst>
          </p:cNvPr>
          <p:cNvSpPr>
            <a:spLocks noGrp="1"/>
          </p:cNvSpPr>
          <p:nvPr/>
        </p:nvSpPr>
        <p:spPr>
          <a:xfrm>
            <a:off x="3857625" y="2000250"/>
            <a:ext cx="2524125" cy="2857500"/>
          </a:xfrm>
          <a:prstGeom prst="rect">
            <a:avLst/>
          </a:prstGeom>
          <a:solidFill>
            <a:srgbClr val="F5F9FC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85280-EAF7-4DB4-A455-906AC5F1F9EF}"/>
              </a:ext>
            </a:extLst>
          </p:cNvPr>
          <p:cNvSpPr>
            <a:spLocks noGrp="1"/>
          </p:cNvSpPr>
          <p:nvPr/>
        </p:nvSpPr>
        <p:spPr>
          <a:xfrm>
            <a:off x="4048125" y="2324100"/>
            <a:ext cx="2143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63A5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3A5F"/>
                </a:solidFill>
                <a:latin typeface="Aptos Display"/>
                <a:ea typeface="Aptos Display"/>
                <a:cs typeface="Aptos Display"/>
              </a:rPr>
              <a:t>SENSORES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AA2AB7-14D8-4F94-AFEF-ECC951555BE3}"/>
              </a:ext>
            </a:extLst>
          </p:cNvPr>
          <p:cNvSpPr>
            <a:spLocks noGrp="1"/>
          </p:cNvSpPr>
          <p:nvPr/>
        </p:nvSpPr>
        <p:spPr>
          <a:xfrm>
            <a:off x="4114800" y="2857500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Controladores de dominio</a:t>
            </a:r>
          </a:p>
          <a:p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y eventos de autenticación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4BF46E-7DFC-4AB2-95E5-72A044990974}"/>
              </a:ext>
            </a:extLst>
          </p:cNvPr>
          <p:cNvSpPr>
            <a:spLocks noGrp="1"/>
          </p:cNvSpPr>
          <p:nvPr/>
        </p:nvSpPr>
        <p:spPr>
          <a:xfrm>
            <a:off x="4171950" y="4048125"/>
            <a:ext cx="1895475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44A280-9725-4622-B04F-44C3ED144BE8}"/>
              </a:ext>
            </a:extLst>
          </p:cNvPr>
          <p:cNvSpPr>
            <a:spLocks noGrp="1"/>
          </p:cNvSpPr>
          <p:nvPr/>
        </p:nvSpPr>
        <p:spPr>
          <a:xfrm>
            <a:off x="4267200" y="4086225"/>
            <a:ext cx="1704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63A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3A5F"/>
                </a:solidFill>
                <a:latin typeface="Aptos"/>
                <a:ea typeface="Aptos"/>
                <a:cs typeface="Aptos"/>
              </a:rPr>
              <a:t>Telemetría continua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A9A80A-67E0-4559-9E8C-7633B3117C1F}"/>
              </a:ext>
            </a:extLst>
          </p:cNvPr>
          <p:cNvSpPr>
            <a:spLocks noGrp="1"/>
          </p:cNvSpPr>
          <p:nvPr/>
        </p:nvSpPr>
        <p:spPr>
          <a:xfrm>
            <a:off x="6972300" y="2000250"/>
            <a:ext cx="4476750" cy="2857500"/>
          </a:xfrm>
          <a:prstGeom prst="rect">
            <a:avLst/>
          </a:prstGeom>
          <a:solidFill>
            <a:srgbClr val="DFF3E8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E6909B-A7F9-4FA7-8564-7626521D62FE}"/>
              </a:ext>
            </a:extLst>
          </p:cNvPr>
          <p:cNvSpPr>
            <a:spLocks noGrp="1"/>
          </p:cNvSpPr>
          <p:nvPr/>
        </p:nvSpPr>
        <p:spPr>
          <a:xfrm>
            <a:off x="7191375" y="2324100"/>
            <a:ext cx="403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rPr>
              <a:t>ANALÍTICA DE COMPORTAMIENTO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ABEB21-3903-443D-B16A-AB718338E6F2}"/>
              </a:ext>
            </a:extLst>
          </p:cNvPr>
          <p:cNvSpPr>
            <a:spLocks noGrp="1"/>
          </p:cNvSpPr>
          <p:nvPr/>
        </p:nvSpPr>
        <p:spPr>
          <a:xfrm>
            <a:off x="7429500" y="2857500"/>
            <a:ext cx="3562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Línea base por usuario + inteligencia adaptativa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EE8D41E-4578-40E2-A38C-B8C226305B17}"/>
              </a:ext>
            </a:extLst>
          </p:cNvPr>
          <p:cNvSpPr>
            <a:spLocks noGrp="1"/>
          </p:cNvSpPr>
          <p:nvPr/>
        </p:nvSpPr>
        <p:spPr>
          <a:xfrm>
            <a:off x="7477125" y="3695700"/>
            <a:ext cx="66675" cy="66675"/>
          </a:xfrm>
          <a:prstGeom prst="ellipse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3C2397-1D5D-44FD-B7F2-4D1B76F90208}"/>
              </a:ext>
            </a:extLst>
          </p:cNvPr>
          <p:cNvSpPr>
            <a:spLocks noGrp="1"/>
          </p:cNvSpPr>
          <p:nvPr/>
        </p:nvSpPr>
        <p:spPr>
          <a:xfrm>
            <a:off x="7648575" y="3619500"/>
            <a:ext cx="325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Detectar anomalías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57F80E1-8325-4D86-B452-EB801D78D252}"/>
              </a:ext>
            </a:extLst>
          </p:cNvPr>
          <p:cNvSpPr>
            <a:spLocks noGrp="1"/>
          </p:cNvSpPr>
          <p:nvPr/>
        </p:nvSpPr>
        <p:spPr>
          <a:xfrm>
            <a:off x="7477125" y="4019550"/>
            <a:ext cx="66675" cy="6667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5BCAB5-1D22-4FB9-900E-38E260E88E8F}"/>
              </a:ext>
            </a:extLst>
          </p:cNvPr>
          <p:cNvSpPr>
            <a:spLocks noGrp="1"/>
          </p:cNvSpPr>
          <p:nvPr/>
        </p:nvSpPr>
        <p:spPr>
          <a:xfrm>
            <a:off x="7648575" y="3943350"/>
            <a:ext cx="325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Proteger identidades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8319D75-CC0E-47CC-AB9C-109F87197C22}"/>
              </a:ext>
            </a:extLst>
          </p:cNvPr>
          <p:cNvSpPr>
            <a:spLocks noGrp="1"/>
          </p:cNvSpPr>
          <p:nvPr/>
        </p:nvSpPr>
        <p:spPr>
          <a:xfrm>
            <a:off x="7477125" y="4343400"/>
            <a:ext cx="66675" cy="6667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C5E297-9419-4895-B71F-57FCD15E97C3}"/>
              </a:ext>
            </a:extLst>
          </p:cNvPr>
          <p:cNvSpPr>
            <a:spLocks noGrp="1"/>
          </p:cNvSpPr>
          <p:nvPr/>
        </p:nvSpPr>
        <p:spPr>
          <a:xfrm>
            <a:off x="7648575" y="4267200"/>
            <a:ext cx="325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Investigar una attack timeline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1D31BF-D086-42A0-BB5E-66275BC43037}"/>
              </a:ext>
            </a:extLst>
          </p:cNvPr>
          <p:cNvSpPr>
            <a:spLocks noGrp="1"/>
          </p:cNvSpPr>
          <p:nvPr/>
        </p:nvSpPr>
        <p:spPr>
          <a:xfrm>
            <a:off x="3362325" y="3000375"/>
            <a:ext cx="400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F37434-DFBA-4175-A496-536DFBDD58BE}"/>
              </a:ext>
            </a:extLst>
          </p:cNvPr>
          <p:cNvSpPr>
            <a:spLocks noGrp="1"/>
          </p:cNvSpPr>
          <p:nvPr/>
        </p:nvSpPr>
        <p:spPr>
          <a:xfrm>
            <a:off x="6477000" y="3000375"/>
            <a:ext cx="400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107C4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7C41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76312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8F6918B9-17FF-41BE-9A60-E26D1983FA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7E3B6E-7085-4D7C-90F5-56900EDECC8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CADENA DE ATAQUE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E624B9-8223-4089-860E-A42B092294AF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La detección cubre la cadena de ataque de identidad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083E18-EA85-4315-A5F1-AF1AF1CEF2D0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4A2977-63AF-4FB2-980D-85845BE1E23D}"/>
              </a:ext>
            </a:extLst>
          </p:cNvPr>
          <p:cNvSpPr>
            <a:spLocks noGrp="1"/>
          </p:cNvSpPr>
          <p:nvPr/>
        </p:nvSpPr>
        <p:spPr>
          <a:xfrm>
            <a:off x="11191875" y="323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8EC783-9AA5-4089-A2AF-FF2D318E151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D0E55A-A0C0-4323-8A74-430A43160E9A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A1"/>
                </a:solidFill>
                <a:latin typeface="Aptos"/>
                <a:ea typeface="Aptos"/>
                <a:cs typeface="Aptos"/>
              </a:rPr>
              <a:t>Microsoft Defender XDR · Formación técnica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6BFB94-AFB7-40C8-A6A0-56D6E99FF432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914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10 / 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AE25F0-B20B-47DB-98D9-72050E6CA276}"/>
              </a:ext>
            </a:extLst>
          </p:cNvPr>
          <p:cNvSpPr>
            <a:spLocks noGrp="1"/>
          </p:cNvSpPr>
          <p:nvPr/>
        </p:nvSpPr>
        <p:spPr>
          <a:xfrm>
            <a:off x="704850" y="2019300"/>
            <a:ext cx="2533650" cy="2571750"/>
          </a:xfrm>
          <a:prstGeom prst="rect">
            <a:avLst/>
          </a:prstGeom>
          <a:solidFill>
            <a:srgbClr val="F5F9FC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052F15-AB2C-4C5C-AA64-0CC77F588E93}"/>
              </a:ext>
            </a:extLst>
          </p:cNvPr>
          <p:cNvSpPr>
            <a:spLocks noGrp="1"/>
          </p:cNvSpPr>
          <p:nvPr/>
        </p:nvSpPr>
        <p:spPr>
          <a:xfrm>
            <a:off x="704850" y="2019300"/>
            <a:ext cx="2533650" cy="5334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3861A2-E047-4A77-890D-9B6068B3D20D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727196-6EAA-4454-B69C-AC71997011FB}"/>
              </a:ext>
            </a:extLst>
          </p:cNvPr>
          <p:cNvSpPr>
            <a:spLocks noGrp="1"/>
          </p:cNvSpPr>
          <p:nvPr/>
        </p:nvSpPr>
        <p:spPr>
          <a:xfrm>
            <a:off x="1200150" y="2152650"/>
            <a:ext cx="1885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RECONNAISSANCE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521DB4-0AE4-4C15-98D6-7680CD44B11E}"/>
              </a:ext>
            </a:extLst>
          </p:cNvPr>
          <p:cNvSpPr>
            <a:spLocks noGrp="1"/>
          </p:cNvSpPr>
          <p:nvPr/>
        </p:nvSpPr>
        <p:spPr>
          <a:xfrm>
            <a:off x="933450" y="2990850"/>
            <a:ext cx="20764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Usuarios, grupos, IP, dispositivos y recursos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7F6519-B7C2-4B06-A1CA-4A178A77FCD8}"/>
              </a:ext>
            </a:extLst>
          </p:cNvPr>
          <p:cNvSpPr>
            <a:spLocks noGrp="1"/>
          </p:cNvSpPr>
          <p:nvPr/>
        </p:nvSpPr>
        <p:spPr>
          <a:xfrm>
            <a:off x="1066800" y="4152900"/>
            <a:ext cx="1809750" cy="381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552A43-675F-4724-9A4D-5614A5BAC306}"/>
              </a:ext>
            </a:extLst>
          </p:cNvPr>
          <p:cNvSpPr>
            <a:spLocks noGrp="1"/>
          </p:cNvSpPr>
          <p:nvPr/>
        </p:nvSpPr>
        <p:spPr>
          <a:xfrm>
            <a:off x="3505200" y="2019300"/>
            <a:ext cx="2533650" cy="2571750"/>
          </a:xfrm>
          <a:prstGeom prst="rect">
            <a:avLst/>
          </a:prstGeom>
          <a:solidFill>
            <a:srgbClr val="F5F9FC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8EDDD4-EF24-45FC-8088-C4626F3DCA1B}"/>
              </a:ext>
            </a:extLst>
          </p:cNvPr>
          <p:cNvSpPr>
            <a:spLocks noGrp="1"/>
          </p:cNvSpPr>
          <p:nvPr/>
        </p:nvSpPr>
        <p:spPr>
          <a:xfrm>
            <a:off x="3505200" y="2019300"/>
            <a:ext cx="2533650" cy="533400"/>
          </a:xfrm>
          <a:prstGeom prst="rect">
            <a:avLst/>
          </a:prstGeom>
          <a:solidFill>
            <a:srgbClr val="C87B00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DBCE10-4262-4781-83CA-725007CD6A46}"/>
              </a:ext>
            </a:extLst>
          </p:cNvPr>
          <p:cNvSpPr>
            <a:spLocks noGrp="1"/>
          </p:cNvSpPr>
          <p:nvPr/>
        </p:nvSpPr>
        <p:spPr>
          <a:xfrm>
            <a:off x="3619500" y="2152650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8262DE-8511-4D88-A306-DB1E9957FD50}"/>
              </a:ext>
            </a:extLst>
          </p:cNvPr>
          <p:cNvSpPr>
            <a:spLocks noGrp="1"/>
          </p:cNvSpPr>
          <p:nvPr/>
        </p:nvSpPr>
        <p:spPr>
          <a:xfrm>
            <a:off x="4000500" y="2152650"/>
            <a:ext cx="1885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CREDENCIALES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08A705-CB81-4A42-870E-51CA2211615E}"/>
              </a:ext>
            </a:extLst>
          </p:cNvPr>
          <p:cNvSpPr>
            <a:spLocks noGrp="1"/>
          </p:cNvSpPr>
          <p:nvPr/>
        </p:nvSpPr>
        <p:spPr>
          <a:xfrm>
            <a:off x="3733800" y="2990850"/>
            <a:ext cx="20764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Fuerza bruta, fallos y cambios de grupos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0E6C0-B7C0-458B-B289-E674924912AC}"/>
              </a:ext>
            </a:extLst>
          </p:cNvPr>
          <p:cNvSpPr>
            <a:spLocks noGrp="1"/>
          </p:cNvSpPr>
          <p:nvPr/>
        </p:nvSpPr>
        <p:spPr>
          <a:xfrm>
            <a:off x="3867150" y="4152900"/>
            <a:ext cx="1809750" cy="38100"/>
          </a:xfrm>
          <a:prstGeom prst="rect">
            <a:avLst/>
          </a:prstGeom>
          <a:solidFill>
            <a:srgbClr val="C87B00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B87ACF-2AEE-4792-84E5-633EE536193E}"/>
              </a:ext>
            </a:extLst>
          </p:cNvPr>
          <p:cNvSpPr>
            <a:spLocks noGrp="1"/>
          </p:cNvSpPr>
          <p:nvPr/>
        </p:nvSpPr>
        <p:spPr>
          <a:xfrm>
            <a:off x="6305550" y="2019300"/>
            <a:ext cx="2533650" cy="2571750"/>
          </a:xfrm>
          <a:prstGeom prst="rect">
            <a:avLst/>
          </a:prstGeom>
          <a:solidFill>
            <a:srgbClr val="F5F9FC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1E77B0-0A69-477F-A8D7-2B91544CD0E0}"/>
              </a:ext>
            </a:extLst>
          </p:cNvPr>
          <p:cNvSpPr>
            <a:spLocks noGrp="1"/>
          </p:cNvSpPr>
          <p:nvPr/>
        </p:nvSpPr>
        <p:spPr>
          <a:xfrm>
            <a:off x="6305550" y="2019300"/>
            <a:ext cx="2533650" cy="533400"/>
          </a:xfrm>
          <a:prstGeom prst="rect">
            <a:avLst/>
          </a:prstGeom>
          <a:solidFill>
            <a:srgbClr val="C42B1C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B7B49D-BF83-4B21-A09E-8E2BC242595A}"/>
              </a:ext>
            </a:extLst>
          </p:cNvPr>
          <p:cNvSpPr>
            <a:spLocks noGrp="1"/>
          </p:cNvSpPr>
          <p:nvPr/>
        </p:nvSpPr>
        <p:spPr>
          <a:xfrm>
            <a:off x="6419850" y="2152650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39C655-9D1C-4798-BEBF-973A59FF2F9B}"/>
              </a:ext>
            </a:extLst>
          </p:cNvPr>
          <p:cNvSpPr>
            <a:spLocks noGrp="1"/>
          </p:cNvSpPr>
          <p:nvPr/>
        </p:nvSpPr>
        <p:spPr>
          <a:xfrm>
            <a:off x="6800850" y="2152650"/>
            <a:ext cx="1885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MOVIMIENTO LATERAL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2D408F-D9E9-488D-B6C5-1FD4D0136910}"/>
              </a:ext>
            </a:extLst>
          </p:cNvPr>
          <p:cNvSpPr>
            <a:spLocks noGrp="1"/>
          </p:cNvSpPr>
          <p:nvPr/>
        </p:nvSpPr>
        <p:spPr>
          <a:xfrm>
            <a:off x="6534150" y="2990850"/>
            <a:ext cx="20764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Pass the Ticket / Hash / Overpass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C1D34F-8E73-4192-BB3B-989554D9B872}"/>
              </a:ext>
            </a:extLst>
          </p:cNvPr>
          <p:cNvSpPr>
            <a:spLocks noGrp="1"/>
          </p:cNvSpPr>
          <p:nvPr/>
        </p:nvSpPr>
        <p:spPr>
          <a:xfrm>
            <a:off x="6667500" y="4152900"/>
            <a:ext cx="1809750" cy="38100"/>
          </a:xfrm>
          <a:prstGeom prst="rect">
            <a:avLst/>
          </a:prstGeom>
          <a:solidFill>
            <a:srgbClr val="C42B1C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4ACB1C-C414-4232-BC9F-6CAAE01DD3DE}"/>
              </a:ext>
            </a:extLst>
          </p:cNvPr>
          <p:cNvSpPr>
            <a:spLocks noGrp="1"/>
          </p:cNvSpPr>
          <p:nvPr/>
        </p:nvSpPr>
        <p:spPr>
          <a:xfrm>
            <a:off x="9105900" y="2019300"/>
            <a:ext cx="2533650" cy="2571750"/>
          </a:xfrm>
          <a:prstGeom prst="rect">
            <a:avLst/>
          </a:prstGeom>
          <a:solidFill>
            <a:srgbClr val="F5F9FC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FCA6F3-C496-4BB4-9B33-58D6A692F0D9}"/>
              </a:ext>
            </a:extLst>
          </p:cNvPr>
          <p:cNvSpPr>
            <a:spLocks noGrp="1"/>
          </p:cNvSpPr>
          <p:nvPr/>
        </p:nvSpPr>
        <p:spPr>
          <a:xfrm>
            <a:off x="9105900" y="2019300"/>
            <a:ext cx="2533650" cy="533400"/>
          </a:xfrm>
          <a:prstGeom prst="rect">
            <a:avLst/>
          </a:prstGeom>
          <a:solidFill>
            <a:srgbClr val="163A5F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78719D-9471-41DE-AADE-99773D6BC7D2}"/>
              </a:ext>
            </a:extLst>
          </p:cNvPr>
          <p:cNvSpPr>
            <a:spLocks noGrp="1"/>
          </p:cNvSpPr>
          <p:nvPr/>
        </p:nvSpPr>
        <p:spPr>
          <a:xfrm>
            <a:off x="9220200" y="2152650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DC2D24-D22E-4724-87A0-1B535BFE6378}"/>
              </a:ext>
            </a:extLst>
          </p:cNvPr>
          <p:cNvSpPr>
            <a:spLocks noGrp="1"/>
          </p:cNvSpPr>
          <p:nvPr/>
        </p:nvSpPr>
        <p:spPr>
          <a:xfrm>
            <a:off x="9601200" y="2152650"/>
            <a:ext cx="1885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DOMINIO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8911036-5B2B-40F5-BEC1-229E7E3230F7}"/>
              </a:ext>
            </a:extLst>
          </p:cNvPr>
          <p:cNvSpPr>
            <a:spLocks noGrp="1"/>
          </p:cNvSpPr>
          <p:nvPr/>
        </p:nvSpPr>
        <p:spPr>
          <a:xfrm>
            <a:off x="9334500" y="2990850"/>
            <a:ext cx="20764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DC Shadow, replicación y Golden Ticket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D85C655-EE77-491E-BB0C-EBE962FF8F42}"/>
              </a:ext>
            </a:extLst>
          </p:cNvPr>
          <p:cNvSpPr>
            <a:spLocks noGrp="1"/>
          </p:cNvSpPr>
          <p:nvPr/>
        </p:nvSpPr>
        <p:spPr>
          <a:xfrm>
            <a:off x="9467850" y="4152900"/>
            <a:ext cx="1809750" cy="38100"/>
          </a:xfrm>
          <a:prstGeom prst="rect">
            <a:avLst/>
          </a:prstGeom>
          <a:solidFill>
            <a:srgbClr val="163A5F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310924F-8490-4D6A-BFD8-EB6CDA9A9F4E}"/>
              </a:ext>
            </a:extLst>
          </p:cNvPr>
          <p:cNvSpPr>
            <a:spLocks noGrp="1"/>
          </p:cNvSpPr>
          <p:nvPr/>
        </p:nvSpPr>
        <p:spPr>
          <a:xfrm>
            <a:off x="3619500" y="5095875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rPr>
              <a:t>Attack timeline en tiempo real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FF0485-8AA2-435B-9D78-570DE003465A}"/>
              </a:ext>
            </a:extLst>
          </p:cNvPr>
          <p:cNvSpPr>
            <a:spLocks noGrp="1"/>
          </p:cNvSpPr>
          <p:nvPr/>
        </p:nvSpPr>
        <p:spPr>
          <a:xfrm>
            <a:off x="2905125" y="5476875"/>
            <a:ext cx="638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Menos ruido · más contexto sobre usuarios, dispositivos y recursos</a:t>
            </a:r>
          </a:p>
        </p:txBody>
      </p:sp>
    </p:spTree>
    <p:extLst>
      <p:ext uri="{BB962C8B-B14F-4D97-AF65-F5344CB8AC3E}">
        <p14:creationId xmlns:p14="http://schemas.microsoft.com/office/powerpoint/2010/main" val="64871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FC5C071-FDE1-472A-8495-DD692BB710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065658-D231-4412-ADD4-E502E9E5A95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IDENTIDADES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A83EF5-5D61-4EE1-ADF8-9E3277E58390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El movimiento lateral revela rutas a cuentas sensibles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A138C8-FFEA-4675-99CB-016D68762A7A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361FB-506B-4CCB-9A93-6BC9A2F98424}"/>
              </a:ext>
            </a:extLst>
          </p:cNvPr>
          <p:cNvSpPr>
            <a:spLocks noGrp="1"/>
          </p:cNvSpPr>
          <p:nvPr/>
        </p:nvSpPr>
        <p:spPr>
          <a:xfrm>
            <a:off x="11191875" y="323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719215-2CBC-404E-A530-846B7F39063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E57753-B860-479B-A1C9-C6BC0BA392F2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A1"/>
                </a:solidFill>
                <a:latin typeface="Aptos"/>
                <a:ea typeface="Aptos"/>
                <a:cs typeface="Aptos"/>
              </a:rPr>
              <a:t>Microsoft Defender XDR · Formación técnica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0CD00A-ABE5-4E04-AC0D-103E86627B66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914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11 / 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658DBB-EAAF-4069-BFB6-92B0C79CEB40}"/>
              </a:ext>
            </a:extLst>
          </p:cNvPr>
          <p:cNvSpPr>
            <a:spLocks noGrp="1"/>
          </p:cNvSpPr>
          <p:nvPr/>
        </p:nvSpPr>
        <p:spPr>
          <a:xfrm>
            <a:off x="762000" y="1743075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C42B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42B1C"/>
                </a:solidFill>
                <a:latin typeface="Aptos"/>
                <a:ea typeface="Aptos"/>
                <a:cs typeface="Aptos"/>
              </a:rPr>
              <a:t>TÉCNICAS OBSERVADAS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F2E374-7300-4DDC-9929-F6386EEF8E99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4095750" cy="381000"/>
          </a:xfrm>
          <a:prstGeom prst="rect">
            <a:avLst/>
          </a:prstGeom>
          <a:solidFill>
            <a:srgbClr val="FCE8E6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80854F-54B2-4A63-8BC2-CFF9AF4537FF}"/>
              </a:ext>
            </a:extLst>
          </p:cNvPr>
          <p:cNvSpPr>
            <a:spLocks noGrp="1"/>
          </p:cNvSpPr>
          <p:nvPr/>
        </p:nvSpPr>
        <p:spPr>
          <a:xfrm>
            <a:off x="933450" y="2228850"/>
            <a:ext cx="3752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Pass the Ticket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B22F80-16CE-48F4-820F-116966F6C3E7}"/>
              </a:ext>
            </a:extLst>
          </p:cNvPr>
          <p:cNvSpPr>
            <a:spLocks noGrp="1"/>
          </p:cNvSpPr>
          <p:nvPr/>
        </p:nvSpPr>
        <p:spPr>
          <a:xfrm>
            <a:off x="762000" y="2724150"/>
            <a:ext cx="4095750" cy="381000"/>
          </a:xfrm>
          <a:prstGeom prst="rect">
            <a:avLst/>
          </a:prstGeom>
          <a:solidFill>
            <a:srgbClr val="FCE8E6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431AC8-8427-4F29-8B46-AB9A110BEAFA}"/>
              </a:ext>
            </a:extLst>
          </p:cNvPr>
          <p:cNvSpPr>
            <a:spLocks noGrp="1"/>
          </p:cNvSpPr>
          <p:nvPr/>
        </p:nvSpPr>
        <p:spPr>
          <a:xfrm>
            <a:off x="933450" y="2809875"/>
            <a:ext cx="3752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Pass the Hash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8BEF7A-D474-4332-B1A5-9997DE9DA174}"/>
              </a:ext>
            </a:extLst>
          </p:cNvPr>
          <p:cNvSpPr>
            <a:spLocks noGrp="1"/>
          </p:cNvSpPr>
          <p:nvPr/>
        </p:nvSpPr>
        <p:spPr>
          <a:xfrm>
            <a:off x="762000" y="3305175"/>
            <a:ext cx="4095750" cy="381000"/>
          </a:xfrm>
          <a:prstGeom prst="rect">
            <a:avLst/>
          </a:prstGeom>
          <a:solidFill>
            <a:srgbClr val="FCE8E6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D97F72-F9EB-4E92-BED2-3DD8B4E500C5}"/>
              </a:ext>
            </a:extLst>
          </p:cNvPr>
          <p:cNvSpPr>
            <a:spLocks noGrp="1"/>
          </p:cNvSpPr>
          <p:nvPr/>
        </p:nvSpPr>
        <p:spPr>
          <a:xfrm>
            <a:off x="933450" y="3390900"/>
            <a:ext cx="3752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Overpass the Hash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A94FF4-9759-4EE5-8B35-6D53FA02DD25}"/>
              </a:ext>
            </a:extLst>
          </p:cNvPr>
          <p:cNvSpPr>
            <a:spLocks noGrp="1"/>
          </p:cNvSpPr>
          <p:nvPr/>
        </p:nvSpPr>
        <p:spPr>
          <a:xfrm>
            <a:off x="762000" y="3886200"/>
            <a:ext cx="4095750" cy="38100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0D31E8-EA5D-4254-B25D-3DA29DF4B9B6}"/>
              </a:ext>
            </a:extLst>
          </p:cNvPr>
          <p:cNvSpPr>
            <a:spLocks noGrp="1"/>
          </p:cNvSpPr>
          <p:nvPr/>
        </p:nvSpPr>
        <p:spPr>
          <a:xfrm>
            <a:off x="933450" y="3971925"/>
            <a:ext cx="3752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Ejecución remota en DC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3459BC-87B0-4C77-BB17-E3863B87A11E}"/>
              </a:ext>
            </a:extLst>
          </p:cNvPr>
          <p:cNvSpPr>
            <a:spLocks noGrp="1"/>
          </p:cNvSpPr>
          <p:nvPr/>
        </p:nvSpPr>
        <p:spPr>
          <a:xfrm>
            <a:off x="762000" y="4467225"/>
            <a:ext cx="4095750" cy="38100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133B75-4F38-4CE1-8A63-788A16EB48B7}"/>
              </a:ext>
            </a:extLst>
          </p:cNvPr>
          <p:cNvSpPr>
            <a:spLocks noGrp="1"/>
          </p:cNvSpPr>
          <p:nvPr/>
        </p:nvSpPr>
        <p:spPr>
          <a:xfrm>
            <a:off x="933450" y="4552950"/>
            <a:ext cx="3752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DC Shadow / replicación maliciosa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0EB6D8-DFB0-4C43-B157-F89F21B7AEC6}"/>
              </a:ext>
            </a:extLst>
          </p:cNvPr>
          <p:cNvSpPr>
            <a:spLocks noGrp="1"/>
          </p:cNvSpPr>
          <p:nvPr/>
        </p:nvSpPr>
        <p:spPr>
          <a:xfrm>
            <a:off x="5676900" y="1714500"/>
            <a:ext cx="19050" cy="400050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399D73-3388-4B7A-8AFF-FE3A63082BE3}"/>
              </a:ext>
            </a:extLst>
          </p:cNvPr>
          <p:cNvSpPr>
            <a:spLocks noGrp="1"/>
          </p:cNvSpPr>
          <p:nvPr/>
        </p:nvSpPr>
        <p:spPr>
          <a:xfrm>
            <a:off x="6381750" y="1743075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07C4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7C41"/>
                </a:solidFill>
                <a:latin typeface="Aptos"/>
                <a:ea typeface="Aptos"/>
                <a:cs typeface="Aptos"/>
              </a:rPr>
              <a:t>CONTEXTO PARA REDUCIR EXPOSICIÓN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EC00BC4-BA81-4422-8389-EAACE0DAD287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66675" cy="66675"/>
          </a:xfrm>
          <a:prstGeom prst="ellipse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E808CE-56E7-4B21-B9A4-68C32E500161}"/>
              </a:ext>
            </a:extLst>
          </p:cNvPr>
          <p:cNvSpPr>
            <a:spLocks noGrp="1"/>
          </p:cNvSpPr>
          <p:nvPr/>
        </p:nvSpPr>
        <p:spPr>
          <a:xfrm>
            <a:off x="6648450" y="2152650"/>
            <a:ext cx="40195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Lateral Movement Paths hacia cuentas sensibles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B4E2AF6-2135-4497-B5DA-4358588E8BFB}"/>
              </a:ext>
            </a:extLst>
          </p:cNvPr>
          <p:cNvSpPr>
            <a:spLocks noGrp="1"/>
          </p:cNvSpPr>
          <p:nvPr/>
        </p:nvSpPr>
        <p:spPr>
          <a:xfrm>
            <a:off x="6477000" y="2809875"/>
            <a:ext cx="66675" cy="6667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713293-62E9-4714-B5C2-1E5ACC0FB2AD}"/>
              </a:ext>
            </a:extLst>
          </p:cNvPr>
          <p:cNvSpPr>
            <a:spLocks noGrp="1"/>
          </p:cNvSpPr>
          <p:nvPr/>
        </p:nvSpPr>
        <p:spPr>
          <a:xfrm>
            <a:off x="6648450" y="2733675"/>
            <a:ext cx="40195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Configuraciones e identidades en riesgo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E749E6A-2A7D-4EC7-8707-5DB0729A58A8}"/>
              </a:ext>
            </a:extLst>
          </p:cNvPr>
          <p:cNvSpPr>
            <a:spLocks noGrp="1"/>
          </p:cNvSpPr>
          <p:nvPr/>
        </p:nvSpPr>
        <p:spPr>
          <a:xfrm>
            <a:off x="6477000" y="3390900"/>
            <a:ext cx="66675" cy="6667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A5D96A1-AC82-40D5-93AC-BB0549590A17}"/>
              </a:ext>
            </a:extLst>
          </p:cNvPr>
          <p:cNvSpPr>
            <a:spLocks noGrp="1"/>
          </p:cNvSpPr>
          <p:nvPr/>
        </p:nvSpPr>
        <p:spPr>
          <a:xfrm>
            <a:off x="6648450" y="3314700"/>
            <a:ext cx="40195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Contraseñas transmitidas en texto claro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53E6CFF-40B3-4524-B51E-76ECCEF8A541}"/>
              </a:ext>
            </a:extLst>
          </p:cNvPr>
          <p:cNvSpPr>
            <a:spLocks noGrp="1"/>
          </p:cNvSpPr>
          <p:nvPr/>
        </p:nvSpPr>
        <p:spPr>
          <a:xfrm>
            <a:off x="6477000" y="3971925"/>
            <a:ext cx="66675" cy="6667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6C2657-E8FA-4815-BC19-34C4EF545429}"/>
              </a:ext>
            </a:extLst>
          </p:cNvPr>
          <p:cNvSpPr>
            <a:spLocks noGrp="1"/>
          </p:cNvSpPr>
          <p:nvPr/>
        </p:nvSpPr>
        <p:spPr>
          <a:xfrm>
            <a:off x="6648450" y="3895725"/>
            <a:ext cx="40195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Recomendaciones e informes de seguridad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65C8675-776C-4B4F-B1ED-4F5EC7C0EFE2}"/>
              </a:ext>
            </a:extLst>
          </p:cNvPr>
          <p:cNvSpPr>
            <a:spLocks noGrp="1"/>
          </p:cNvSpPr>
          <p:nvPr/>
        </p:nvSpPr>
        <p:spPr>
          <a:xfrm>
            <a:off x="6477000" y="4552950"/>
            <a:ext cx="66675" cy="6667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CDEFD9-8739-40BA-94C8-CE9303FB7F32}"/>
              </a:ext>
            </a:extLst>
          </p:cNvPr>
          <p:cNvSpPr>
            <a:spLocks noGrp="1"/>
          </p:cNvSpPr>
          <p:nvPr/>
        </p:nvSpPr>
        <p:spPr>
          <a:xfrm>
            <a:off x="6648450" y="4476750"/>
            <a:ext cx="40195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Integración con Defender for Endpoint</a:t>
            </a:r>
          </a:p>
        </p:txBody>
      </p:sp>
    </p:spTree>
    <p:extLst>
      <p:ext uri="{BB962C8B-B14F-4D97-AF65-F5344CB8AC3E}">
        <p14:creationId xmlns:p14="http://schemas.microsoft.com/office/powerpoint/2010/main" val="218688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5DE32CC-870F-4027-A5CF-AD110A4AAF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210D3D-A8D4-4A62-A0FE-482E059211E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DEFENDER FOR ENDPOINT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C71CA4-1B56-4CDF-84CF-1B9A47EE5623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Endpoint combina sensores, nube e inteligencia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65D62C-08ED-41DE-A787-376BD6E6D560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7C237F-E5A6-4942-86F9-F213C5D3A5A0}"/>
              </a:ext>
            </a:extLst>
          </p:cNvPr>
          <p:cNvSpPr>
            <a:spLocks noGrp="1"/>
          </p:cNvSpPr>
          <p:nvPr/>
        </p:nvSpPr>
        <p:spPr>
          <a:xfrm>
            <a:off x="11191875" y="323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FBE521-DA68-484F-8BCE-B07AEF831CF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637E97-3EDD-450E-8261-0AE0EB9992B5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A1"/>
                </a:solidFill>
                <a:latin typeface="Aptos"/>
                <a:ea typeface="Aptos"/>
                <a:cs typeface="Aptos"/>
              </a:rPr>
              <a:t>Microsoft Defender XDR · Formación técnica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7DFF52-8238-46FF-87DB-15CD2EBD3DC2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914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12 / 20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84D168-029F-40FC-8265-C11F9D0638F7}"/>
              </a:ext>
            </a:extLst>
          </p:cNvPr>
          <p:cNvSpPr>
            <a:spLocks noGrp="1"/>
          </p:cNvSpPr>
          <p:nvPr/>
        </p:nvSpPr>
        <p:spPr>
          <a:xfrm>
            <a:off x="2000250" y="1809750"/>
            <a:ext cx="857250" cy="857250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E9AE3E-7EC9-4861-BA3A-F37AD728475B}"/>
              </a:ext>
            </a:extLst>
          </p:cNvPr>
          <p:cNvSpPr>
            <a:spLocks noGrp="1"/>
          </p:cNvSpPr>
          <p:nvPr/>
        </p:nvSpPr>
        <p:spPr>
          <a:xfrm>
            <a:off x="2219325" y="2028825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B2AD3A-A397-436E-B635-FE45162B29D4}"/>
              </a:ext>
            </a:extLst>
          </p:cNvPr>
          <p:cNvSpPr>
            <a:spLocks noGrp="1"/>
          </p:cNvSpPr>
          <p:nvPr/>
        </p:nvSpPr>
        <p:spPr>
          <a:xfrm>
            <a:off x="904875" y="300990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SENSORES DE COMPORTAMIENTO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46969F-FEA4-4135-A8ED-4037A916C0D9}"/>
              </a:ext>
            </a:extLst>
          </p:cNvPr>
          <p:cNvSpPr>
            <a:spLocks noGrp="1"/>
          </p:cNvSpPr>
          <p:nvPr/>
        </p:nvSpPr>
        <p:spPr>
          <a:xfrm>
            <a:off x="952500" y="3695700"/>
            <a:ext cx="2952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Integrados en Windows 10 y 11; recopilan señales del sistema operativo.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D9BE1AF-ADE9-4DFE-8F96-32769C4B0ABC}"/>
              </a:ext>
            </a:extLst>
          </p:cNvPr>
          <p:cNvSpPr>
            <a:spLocks noGrp="1"/>
          </p:cNvSpPr>
          <p:nvPr/>
        </p:nvSpPr>
        <p:spPr>
          <a:xfrm>
            <a:off x="5715000" y="1809750"/>
            <a:ext cx="857250" cy="857250"/>
          </a:xfrm>
          <a:prstGeom prst="ellipse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A02968-F7B2-479B-B6E1-712815103399}"/>
              </a:ext>
            </a:extLst>
          </p:cNvPr>
          <p:cNvSpPr>
            <a:spLocks noGrp="1"/>
          </p:cNvSpPr>
          <p:nvPr/>
        </p:nvSpPr>
        <p:spPr>
          <a:xfrm>
            <a:off x="5934075" y="2028825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9A628D-6A03-432B-AF6F-5642DDEA433B}"/>
              </a:ext>
            </a:extLst>
          </p:cNvPr>
          <p:cNvSpPr>
            <a:spLocks noGrp="1"/>
          </p:cNvSpPr>
          <p:nvPr/>
        </p:nvSpPr>
        <p:spPr>
          <a:xfrm>
            <a:off x="4619625" y="300990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07C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7C41"/>
                </a:solidFill>
                <a:latin typeface="Aptos"/>
                <a:ea typeface="Aptos"/>
                <a:cs typeface="Aptos"/>
              </a:rPr>
              <a:t>ANALÍTICA CLOUD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B838EF-04C7-47C2-9F53-D9250527E439}"/>
              </a:ext>
            </a:extLst>
          </p:cNvPr>
          <p:cNvSpPr>
            <a:spLocks noGrp="1"/>
          </p:cNvSpPr>
          <p:nvPr/>
        </p:nvSpPr>
        <p:spPr>
          <a:xfrm>
            <a:off x="4667250" y="3695700"/>
            <a:ext cx="2952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Correlaciona datos de Windows, Microsoft 365, Azure y otros recursos.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6019F04-2C40-4548-BE4D-FA41C2CEF814}"/>
              </a:ext>
            </a:extLst>
          </p:cNvPr>
          <p:cNvSpPr>
            <a:spLocks noGrp="1"/>
          </p:cNvSpPr>
          <p:nvPr/>
        </p:nvSpPr>
        <p:spPr>
          <a:xfrm>
            <a:off x="9429750" y="1809750"/>
            <a:ext cx="857250" cy="857250"/>
          </a:xfrm>
          <a:prstGeom prst="ellipse">
            <a:avLst/>
          </a:prstGeom>
          <a:solidFill>
            <a:srgbClr val="163A5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7F58E1-601B-418C-9194-F6AA4EF69EC4}"/>
              </a:ext>
            </a:extLst>
          </p:cNvPr>
          <p:cNvSpPr>
            <a:spLocks noGrp="1"/>
          </p:cNvSpPr>
          <p:nvPr/>
        </p:nvSpPr>
        <p:spPr>
          <a:xfrm>
            <a:off x="9648825" y="2028825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F6FCDB-14DD-4E05-A416-A1F33859CDDC}"/>
              </a:ext>
            </a:extLst>
          </p:cNvPr>
          <p:cNvSpPr>
            <a:spLocks noGrp="1"/>
          </p:cNvSpPr>
          <p:nvPr/>
        </p:nvSpPr>
        <p:spPr>
          <a:xfrm>
            <a:off x="8334375" y="300990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63A5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A5F"/>
                </a:solidFill>
                <a:latin typeface="Aptos"/>
                <a:ea typeface="Aptos"/>
                <a:cs typeface="Aptos"/>
              </a:rPr>
              <a:t>THREAT INTELLIGENCE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EE4677-5A42-4FFE-AEFB-EA0434BFDDF8}"/>
              </a:ext>
            </a:extLst>
          </p:cNvPr>
          <p:cNvSpPr>
            <a:spLocks noGrp="1"/>
          </p:cNvSpPr>
          <p:nvPr/>
        </p:nvSpPr>
        <p:spPr>
          <a:xfrm>
            <a:off x="8382000" y="3695700"/>
            <a:ext cx="2952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Reconoce herramientas, técnicas y procedimientos del atacante.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2FA9DB-4F43-4DFC-A5AF-7CB7226D9E38}"/>
              </a:ext>
            </a:extLst>
          </p:cNvPr>
          <p:cNvSpPr>
            <a:spLocks noGrp="1"/>
          </p:cNvSpPr>
          <p:nvPr/>
        </p:nvSpPr>
        <p:spPr>
          <a:xfrm>
            <a:off x="1790700" y="5086350"/>
            <a:ext cx="8610600" cy="59055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177E5A-46F3-402E-9982-75DCFB6F7F7A}"/>
              </a:ext>
            </a:extLst>
          </p:cNvPr>
          <p:cNvSpPr>
            <a:spLocks noGrp="1"/>
          </p:cNvSpPr>
          <p:nvPr/>
        </p:nvSpPr>
        <p:spPr>
          <a:xfrm>
            <a:off x="2076450" y="5248275"/>
            <a:ext cx="803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Prevenir  ·  Detectar  ·  Investigar  ·  Responder</a:t>
            </a:r>
          </a:p>
        </p:txBody>
      </p:sp>
    </p:spTree>
    <p:extLst>
      <p:ext uri="{BB962C8B-B14F-4D97-AF65-F5344CB8AC3E}">
        <p14:creationId xmlns:p14="http://schemas.microsoft.com/office/powerpoint/2010/main" val="695324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FB3E43D-CA1C-4427-A05A-9BB7577517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C4D3CA-B706-4853-A40A-8FF045AEC46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THREAT &amp; VULNERABILITY MANAGEMENT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F88DF9-598C-4DE6-A6E3-6A39EEEDED40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TVM prioriza exposición según el riesgo real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87C1B7-26A0-4897-B85D-22BB254DF90B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479009-77B3-4691-8531-1A391DE215A6}"/>
              </a:ext>
            </a:extLst>
          </p:cNvPr>
          <p:cNvSpPr>
            <a:spLocks noGrp="1"/>
          </p:cNvSpPr>
          <p:nvPr/>
        </p:nvSpPr>
        <p:spPr>
          <a:xfrm>
            <a:off x="11191875" y="323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5A6002-D026-4024-86F2-9DF7E546752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0E0766-3A63-430A-B7BA-DC5D0E61274D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A1"/>
                </a:solidFill>
                <a:latin typeface="Aptos"/>
                <a:ea typeface="Aptos"/>
                <a:cs typeface="Aptos"/>
              </a:rPr>
              <a:t>Microsoft Defender XDR · Formación técnica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2B76DF-6CCD-4496-8B8F-A4031804924C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914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13 / 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82E234-A855-47B0-B1CE-46BE31C21286}"/>
              </a:ext>
            </a:extLst>
          </p:cNvPr>
          <p:cNvSpPr>
            <a:spLocks noGrp="1"/>
          </p:cNvSpPr>
          <p:nvPr/>
        </p:nvSpPr>
        <p:spPr>
          <a:xfrm>
            <a:off x="1143000" y="1847850"/>
            <a:ext cx="9906000" cy="60960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41429E-9447-41C4-94AB-1B9DDEAA8061}"/>
              </a:ext>
            </a:extLst>
          </p:cNvPr>
          <p:cNvSpPr>
            <a:spLocks noGrp="1"/>
          </p:cNvSpPr>
          <p:nvPr/>
        </p:nvSpPr>
        <p:spPr>
          <a:xfrm>
            <a:off x="1409700" y="2028825"/>
            <a:ext cx="937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Vulnerabilidades y configuraciones incorrectas en tiempo real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FB1BC6-49FF-455D-B38D-CA6D460DF7D1}"/>
              </a:ext>
            </a:extLst>
          </p:cNvPr>
          <p:cNvSpPr>
            <a:spLocks noGrp="1"/>
          </p:cNvSpPr>
          <p:nvPr/>
        </p:nvSpPr>
        <p:spPr>
          <a:xfrm>
            <a:off x="1905000" y="2714625"/>
            <a:ext cx="8382000" cy="60960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B9E659-CBA3-4BDE-8687-B5A4C973311C}"/>
              </a:ext>
            </a:extLst>
          </p:cNvPr>
          <p:cNvSpPr>
            <a:spLocks noGrp="1"/>
          </p:cNvSpPr>
          <p:nvPr/>
        </p:nvSpPr>
        <p:spPr>
          <a:xfrm>
            <a:off x="2171700" y="2895600"/>
            <a:ext cx="784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Panorama de amenazas + detecciones en la organización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875986-B7C8-4C30-B4CB-0ADFF9B7FB7A}"/>
              </a:ext>
            </a:extLst>
          </p:cNvPr>
          <p:cNvSpPr>
            <a:spLocks noGrp="1"/>
          </p:cNvSpPr>
          <p:nvPr/>
        </p:nvSpPr>
        <p:spPr>
          <a:xfrm>
            <a:off x="2667000" y="3581400"/>
            <a:ext cx="6858000" cy="6096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31F879-9733-47C2-B9D4-AEB18429B176}"/>
              </a:ext>
            </a:extLst>
          </p:cNvPr>
          <p:cNvSpPr>
            <a:spLocks noGrp="1"/>
          </p:cNvSpPr>
          <p:nvPr/>
        </p:nvSpPr>
        <p:spPr>
          <a:xfrm>
            <a:off x="2933700" y="3762375"/>
            <a:ext cx="632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Datos sensibles + contexto empresarial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8B26BA-5A7C-4A3C-BDD4-4F23220FC87D}"/>
              </a:ext>
            </a:extLst>
          </p:cNvPr>
          <p:cNvSpPr>
            <a:spLocks noGrp="1"/>
          </p:cNvSpPr>
          <p:nvPr/>
        </p:nvSpPr>
        <p:spPr>
          <a:xfrm>
            <a:off x="3429000" y="4448175"/>
            <a:ext cx="5334000" cy="609600"/>
          </a:xfrm>
          <a:prstGeom prst="rect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E0A30C-F574-4191-8237-926D1CDD013D}"/>
              </a:ext>
            </a:extLst>
          </p:cNvPr>
          <p:cNvSpPr>
            <a:spLocks noGrp="1"/>
          </p:cNvSpPr>
          <p:nvPr/>
        </p:nvSpPr>
        <p:spPr>
          <a:xfrm>
            <a:off x="3695700" y="4629150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Acciones de remediación priorizadas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0C792E-2451-4BCA-941F-4C0158575471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A"/>
                </a:solidFill>
                <a:latin typeface="Aptos"/>
                <a:ea typeface="Aptos"/>
                <a:cs typeface="Aptos"/>
              </a:rPr>
              <a:t>DE EXPOSICIÓN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045393-2687-4514-8660-267AD016ABB7}"/>
              </a:ext>
            </a:extLst>
          </p:cNvPr>
          <p:cNvSpPr>
            <a:spLocks noGrp="1"/>
          </p:cNvSpPr>
          <p:nvPr/>
        </p:nvSpPr>
        <p:spPr>
          <a:xfrm>
            <a:off x="10048875" y="48768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07C4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7C41"/>
                </a:solidFill>
                <a:latin typeface="Aptos"/>
                <a:ea typeface="Aptos"/>
                <a:cs typeface="Aptos"/>
              </a:rPr>
              <a:t>A DECISIÓN</a:t>
            </a:r>
          </a:p>
        </p:txBody>
      </p:sp>
    </p:spTree>
    <p:extLst>
      <p:ext uri="{BB962C8B-B14F-4D97-AF65-F5344CB8AC3E}">
        <p14:creationId xmlns:p14="http://schemas.microsoft.com/office/powerpoint/2010/main" val="2113916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08530BE8-F145-4D6B-AC12-E0FC04AD1B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D98101-1EC5-4998-ACEA-CBB33198A01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ATTACK SURFACE REDUCTION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7374B9-4D26-4D31-A5EA-0E6670009695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ASR reduce oportunidades antes de la explotación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A97F63-BC6E-4C57-806A-BD3B32BF096E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9F3A56-405B-449F-82E9-511B61615AF2}"/>
              </a:ext>
            </a:extLst>
          </p:cNvPr>
          <p:cNvSpPr>
            <a:spLocks noGrp="1"/>
          </p:cNvSpPr>
          <p:nvPr/>
        </p:nvSpPr>
        <p:spPr>
          <a:xfrm>
            <a:off x="11191875" y="323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7AB6A2-FB01-4B58-9EA4-E71B4212332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D82179-7B0B-4681-B478-E0C8DD2230F8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A1"/>
                </a:solidFill>
                <a:latin typeface="Aptos"/>
                <a:ea typeface="Aptos"/>
                <a:cs typeface="Aptos"/>
              </a:rPr>
              <a:t>Microsoft Defender XDR · Formación técnica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D55FFD-7E15-49F4-8096-DBA76F785DA7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914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14 / 20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50D8FF-D9BE-4566-ABD5-96D95C9CD972}"/>
              </a:ext>
            </a:extLst>
          </p:cNvPr>
          <p:cNvSpPr>
            <a:spLocks noGrp="1"/>
          </p:cNvSpPr>
          <p:nvPr/>
        </p:nvSpPr>
        <p:spPr>
          <a:xfrm>
            <a:off x="4762500" y="2524125"/>
            <a:ext cx="2667000" cy="1714500"/>
          </a:xfrm>
          <a:prstGeom prst="ellipse">
            <a:avLst/>
          </a:prstGeom>
          <a:solidFill>
            <a:srgbClr val="163A5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9FC177-1698-4E49-AD1F-D789CB68DBF1}"/>
              </a:ext>
            </a:extLst>
          </p:cNvPr>
          <p:cNvSpPr>
            <a:spLocks noGrp="1"/>
          </p:cNvSpPr>
          <p:nvPr/>
        </p:nvSpPr>
        <p:spPr>
          <a:xfrm>
            <a:off x="5191125" y="2857500"/>
            <a:ext cx="1809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ATTACK</a:t>
            </a:r>
          </a:p>
          <a:p>
            <a:pPr algn="ctr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SURFACE</a:t>
            </a:r>
          </a:p>
          <a:p>
            <a:pPr algn="ctr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REDUCTION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ED73EA-3261-43BB-B360-4A44A3805B56}"/>
              </a:ext>
            </a:extLst>
          </p:cNvPr>
          <p:cNvSpPr>
            <a:spLocks noGrp="1"/>
          </p:cNvSpPr>
          <p:nvPr/>
        </p:nvSpPr>
        <p:spPr>
          <a:xfrm>
            <a:off x="904875" y="1857375"/>
            <a:ext cx="2714625" cy="495300"/>
          </a:xfrm>
          <a:prstGeom prst="rect">
            <a:avLst/>
          </a:prstGeom>
          <a:solidFill>
            <a:srgbClr val="F5F9FC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5792C5-020C-4EF2-B1B9-B5E60364973D}"/>
              </a:ext>
            </a:extLst>
          </p:cNvPr>
          <p:cNvSpPr>
            <a:spLocks noGrp="1"/>
          </p:cNvSpPr>
          <p:nvPr/>
        </p:nvSpPr>
        <p:spPr>
          <a:xfrm>
            <a:off x="904875" y="1857375"/>
            <a:ext cx="76200" cy="4953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413A71-98A0-48C7-81E6-9579FFF84C08}"/>
              </a:ext>
            </a:extLst>
          </p:cNvPr>
          <p:cNvSpPr>
            <a:spLocks noGrp="1"/>
          </p:cNvSpPr>
          <p:nvPr/>
        </p:nvSpPr>
        <p:spPr>
          <a:xfrm>
            <a:off x="1114425" y="1990725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Reglas ASR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434D5C-9130-4D24-B1BB-0EB45A14A327}"/>
              </a:ext>
            </a:extLst>
          </p:cNvPr>
          <p:cNvSpPr>
            <a:spLocks noGrp="1"/>
          </p:cNvSpPr>
          <p:nvPr/>
        </p:nvSpPr>
        <p:spPr>
          <a:xfrm>
            <a:off x="904875" y="2857500"/>
            <a:ext cx="2714625" cy="495300"/>
          </a:xfrm>
          <a:prstGeom prst="rect">
            <a:avLst/>
          </a:prstGeom>
          <a:solidFill>
            <a:srgbClr val="F5F9FC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1D3882-D55A-4D6A-A108-CC24FC6817DA}"/>
              </a:ext>
            </a:extLst>
          </p:cNvPr>
          <p:cNvSpPr>
            <a:spLocks noGrp="1"/>
          </p:cNvSpPr>
          <p:nvPr/>
        </p:nvSpPr>
        <p:spPr>
          <a:xfrm>
            <a:off x="904875" y="2857500"/>
            <a:ext cx="76200" cy="495300"/>
          </a:xfrm>
          <a:prstGeom prst="rect">
            <a:avLst/>
          </a:prstGeom>
          <a:solidFill>
            <a:srgbClr val="163A5F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636CD5-E712-45E1-B43C-84E8B91D917F}"/>
              </a:ext>
            </a:extLst>
          </p:cNvPr>
          <p:cNvSpPr>
            <a:spLocks noGrp="1"/>
          </p:cNvSpPr>
          <p:nvPr/>
        </p:nvSpPr>
        <p:spPr>
          <a:xfrm>
            <a:off x="1114425" y="29908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Aislamiento hardware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581A8D-E953-46B5-8FA8-615C4A8561BA}"/>
              </a:ext>
            </a:extLst>
          </p:cNvPr>
          <p:cNvSpPr>
            <a:spLocks noGrp="1"/>
          </p:cNvSpPr>
          <p:nvPr/>
        </p:nvSpPr>
        <p:spPr>
          <a:xfrm>
            <a:off x="904875" y="3857625"/>
            <a:ext cx="2714625" cy="495300"/>
          </a:xfrm>
          <a:prstGeom prst="rect">
            <a:avLst/>
          </a:prstGeom>
          <a:solidFill>
            <a:srgbClr val="F5F9FC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B4245B-3AFA-483E-A698-B33F9305C373}"/>
              </a:ext>
            </a:extLst>
          </p:cNvPr>
          <p:cNvSpPr>
            <a:spLocks noGrp="1"/>
          </p:cNvSpPr>
          <p:nvPr/>
        </p:nvSpPr>
        <p:spPr>
          <a:xfrm>
            <a:off x="904875" y="3857625"/>
            <a:ext cx="76200" cy="495300"/>
          </a:xfrm>
          <a:prstGeom prst="rect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2A8596-0C11-4CEE-BF73-6EBE0E937550}"/>
              </a:ext>
            </a:extLst>
          </p:cNvPr>
          <p:cNvSpPr>
            <a:spLocks noGrp="1"/>
          </p:cNvSpPr>
          <p:nvPr/>
        </p:nvSpPr>
        <p:spPr>
          <a:xfrm>
            <a:off x="1114425" y="3990975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Application control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2507E7-BE48-49C1-8EE0-13C50B6FDC5E}"/>
              </a:ext>
            </a:extLst>
          </p:cNvPr>
          <p:cNvSpPr>
            <a:spLocks noGrp="1"/>
          </p:cNvSpPr>
          <p:nvPr/>
        </p:nvSpPr>
        <p:spPr>
          <a:xfrm>
            <a:off x="904875" y="4857750"/>
            <a:ext cx="2714625" cy="495300"/>
          </a:xfrm>
          <a:prstGeom prst="rect">
            <a:avLst/>
          </a:prstGeom>
          <a:solidFill>
            <a:srgbClr val="F5F9FC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F68316-7C7D-4FE2-BDC2-6DCD1FD96E7B}"/>
              </a:ext>
            </a:extLst>
          </p:cNvPr>
          <p:cNvSpPr>
            <a:spLocks noGrp="1"/>
          </p:cNvSpPr>
          <p:nvPr/>
        </p:nvSpPr>
        <p:spPr>
          <a:xfrm>
            <a:off x="904875" y="4857750"/>
            <a:ext cx="76200" cy="495300"/>
          </a:xfrm>
          <a:prstGeom prst="rect">
            <a:avLst/>
          </a:prstGeom>
          <a:solidFill>
            <a:srgbClr val="C87B00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237471-E0DF-48D1-9B4F-2BCA51756C6F}"/>
              </a:ext>
            </a:extLst>
          </p:cNvPr>
          <p:cNvSpPr>
            <a:spLocks noGrp="1"/>
          </p:cNvSpPr>
          <p:nvPr/>
        </p:nvSpPr>
        <p:spPr>
          <a:xfrm>
            <a:off x="1114425" y="499110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Exploit protection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8627BD-23BD-4F9E-AB07-F1606CFBACC8}"/>
              </a:ext>
            </a:extLst>
          </p:cNvPr>
          <p:cNvSpPr>
            <a:spLocks noGrp="1"/>
          </p:cNvSpPr>
          <p:nvPr/>
        </p:nvSpPr>
        <p:spPr>
          <a:xfrm>
            <a:off x="8572500" y="1857375"/>
            <a:ext cx="2714625" cy="495300"/>
          </a:xfrm>
          <a:prstGeom prst="rect">
            <a:avLst/>
          </a:prstGeom>
          <a:solidFill>
            <a:srgbClr val="F5F9FC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A496CF-68C9-4DFA-86B6-EC883796C744}"/>
              </a:ext>
            </a:extLst>
          </p:cNvPr>
          <p:cNvSpPr>
            <a:spLocks noGrp="1"/>
          </p:cNvSpPr>
          <p:nvPr/>
        </p:nvSpPr>
        <p:spPr>
          <a:xfrm>
            <a:off x="8572500" y="1857375"/>
            <a:ext cx="76200" cy="4953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3F5481-FC6C-40BE-B365-58118639B576}"/>
              </a:ext>
            </a:extLst>
          </p:cNvPr>
          <p:cNvSpPr>
            <a:spLocks noGrp="1"/>
          </p:cNvSpPr>
          <p:nvPr/>
        </p:nvSpPr>
        <p:spPr>
          <a:xfrm>
            <a:off x="8782050" y="1990725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Network protection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B2D5EB-F3B8-4E0F-8D43-93A303F44407}"/>
              </a:ext>
            </a:extLst>
          </p:cNvPr>
          <p:cNvSpPr>
            <a:spLocks noGrp="1"/>
          </p:cNvSpPr>
          <p:nvPr/>
        </p:nvSpPr>
        <p:spPr>
          <a:xfrm>
            <a:off x="8572500" y="2857500"/>
            <a:ext cx="2714625" cy="495300"/>
          </a:xfrm>
          <a:prstGeom prst="rect">
            <a:avLst/>
          </a:prstGeom>
          <a:solidFill>
            <a:srgbClr val="F5F9FC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E7ECE7-7425-484B-9445-74364F5F6531}"/>
              </a:ext>
            </a:extLst>
          </p:cNvPr>
          <p:cNvSpPr>
            <a:spLocks noGrp="1"/>
          </p:cNvSpPr>
          <p:nvPr/>
        </p:nvSpPr>
        <p:spPr>
          <a:xfrm>
            <a:off x="8572500" y="2857500"/>
            <a:ext cx="76200" cy="495300"/>
          </a:xfrm>
          <a:prstGeom prst="rect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12A9BF-AB5C-4FA8-8C9E-F55C47EBF376}"/>
              </a:ext>
            </a:extLst>
          </p:cNvPr>
          <p:cNvSpPr>
            <a:spLocks noGrp="1"/>
          </p:cNvSpPr>
          <p:nvPr/>
        </p:nvSpPr>
        <p:spPr>
          <a:xfrm>
            <a:off x="8782050" y="29908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Web protection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8E0D36-5189-498A-A57E-4F4BE50B9306}"/>
              </a:ext>
            </a:extLst>
          </p:cNvPr>
          <p:cNvSpPr>
            <a:spLocks noGrp="1"/>
          </p:cNvSpPr>
          <p:nvPr/>
        </p:nvSpPr>
        <p:spPr>
          <a:xfrm>
            <a:off x="8572500" y="3857625"/>
            <a:ext cx="2714625" cy="495300"/>
          </a:xfrm>
          <a:prstGeom prst="rect">
            <a:avLst/>
          </a:prstGeom>
          <a:solidFill>
            <a:srgbClr val="F5F9FC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154701-35DC-4D81-876B-DF1385C5D1C9}"/>
              </a:ext>
            </a:extLst>
          </p:cNvPr>
          <p:cNvSpPr>
            <a:spLocks noGrp="1"/>
          </p:cNvSpPr>
          <p:nvPr/>
        </p:nvSpPr>
        <p:spPr>
          <a:xfrm>
            <a:off x="8572500" y="3857625"/>
            <a:ext cx="76200" cy="495300"/>
          </a:xfrm>
          <a:prstGeom prst="rect">
            <a:avLst/>
          </a:prstGeom>
          <a:solidFill>
            <a:srgbClr val="C42B1C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BFBC86A-A1A9-436C-91AB-F1514AD2FF8A}"/>
              </a:ext>
            </a:extLst>
          </p:cNvPr>
          <p:cNvSpPr>
            <a:spLocks noGrp="1"/>
          </p:cNvSpPr>
          <p:nvPr/>
        </p:nvSpPr>
        <p:spPr>
          <a:xfrm>
            <a:off x="8782050" y="3990975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Controlled folder access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188CFEA-72F5-46E6-A86D-3FB0608791B3}"/>
              </a:ext>
            </a:extLst>
          </p:cNvPr>
          <p:cNvSpPr>
            <a:spLocks noGrp="1"/>
          </p:cNvSpPr>
          <p:nvPr/>
        </p:nvSpPr>
        <p:spPr>
          <a:xfrm>
            <a:off x="8572500" y="4857750"/>
            <a:ext cx="2714625" cy="495300"/>
          </a:xfrm>
          <a:prstGeom prst="rect">
            <a:avLst/>
          </a:prstGeom>
          <a:solidFill>
            <a:srgbClr val="F5F9FC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EB5307E-C24F-463A-AB8A-5353AC7842E6}"/>
              </a:ext>
            </a:extLst>
          </p:cNvPr>
          <p:cNvSpPr>
            <a:spLocks noGrp="1"/>
          </p:cNvSpPr>
          <p:nvPr/>
        </p:nvSpPr>
        <p:spPr>
          <a:xfrm>
            <a:off x="8572500" y="4857750"/>
            <a:ext cx="76200" cy="495300"/>
          </a:xfrm>
          <a:prstGeom prst="rect">
            <a:avLst/>
          </a:prstGeom>
          <a:solidFill>
            <a:srgbClr val="163A5F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8C1DBD-A59F-472D-B16D-8CACE12325D0}"/>
              </a:ext>
            </a:extLst>
          </p:cNvPr>
          <p:cNvSpPr>
            <a:spLocks noGrp="1"/>
          </p:cNvSpPr>
          <p:nvPr/>
        </p:nvSpPr>
        <p:spPr>
          <a:xfrm>
            <a:off x="8782050" y="499110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Network firewall</a:t>
            </a:r>
          </a:p>
        </p:txBody>
      </p:sp>
    </p:spTree>
    <p:extLst>
      <p:ext uri="{BB962C8B-B14F-4D97-AF65-F5344CB8AC3E}">
        <p14:creationId xmlns:p14="http://schemas.microsoft.com/office/powerpoint/2010/main" val="612703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C0E7D70-5B77-42C5-84E4-BF2A23D78A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78B66E-F7FD-4E42-B514-A72C23EAE9F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PROTECCIÓN DE ENDPOINTS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9C82E-DA5B-49E7-A914-7E0CE92BFB54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Antivirus y EDR forman capas complementarias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1CC221-0B63-4000-B049-B78268005EC9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24BA49-F21F-44EC-82C2-4BB818A15B7B}"/>
              </a:ext>
            </a:extLst>
          </p:cNvPr>
          <p:cNvSpPr>
            <a:spLocks noGrp="1"/>
          </p:cNvSpPr>
          <p:nvPr/>
        </p:nvSpPr>
        <p:spPr>
          <a:xfrm>
            <a:off x="11191875" y="323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0E1A30-E0A6-4426-929F-3A9FBC10169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116894-8A95-4710-8C88-B7430DF6E737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A1"/>
                </a:solidFill>
                <a:latin typeface="Aptos"/>
                <a:ea typeface="Aptos"/>
                <a:cs typeface="Aptos"/>
              </a:rPr>
              <a:t>Microsoft Defender XDR · Formación técnica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EB6C70-B511-4DFF-9BCC-F37E31F009A6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914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15 / 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BFA8E4-DB18-4F9B-A130-429B02199993}"/>
              </a:ext>
            </a:extLst>
          </p:cNvPr>
          <p:cNvSpPr>
            <a:spLocks noGrp="1"/>
          </p:cNvSpPr>
          <p:nvPr/>
        </p:nvSpPr>
        <p:spPr>
          <a:xfrm>
            <a:off x="762000" y="1762125"/>
            <a:ext cx="10668000" cy="106680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B290D2-D124-4D7A-97B2-EDECE8AE147A}"/>
              </a:ext>
            </a:extLst>
          </p:cNvPr>
          <p:cNvSpPr>
            <a:spLocks noGrp="1"/>
          </p:cNvSpPr>
          <p:nvPr/>
        </p:nvSpPr>
        <p:spPr>
          <a:xfrm>
            <a:off x="762000" y="1762125"/>
            <a:ext cx="133350" cy="10668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AB8F0D-FB2C-492B-8415-F13FC297D109}"/>
              </a:ext>
            </a:extLst>
          </p:cNvPr>
          <p:cNvSpPr>
            <a:spLocks noGrp="1"/>
          </p:cNvSpPr>
          <p:nvPr/>
        </p:nvSpPr>
        <p:spPr>
          <a:xfrm>
            <a:off x="1143000" y="1971675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MICROSOFT DEFENDER ANTIVIRUS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E13148-D238-4A5E-9A3E-A41665E18B5A}"/>
              </a:ext>
            </a:extLst>
          </p:cNvPr>
          <p:cNvSpPr>
            <a:spLocks noGrp="1"/>
          </p:cNvSpPr>
          <p:nvPr/>
        </p:nvSpPr>
        <p:spPr>
          <a:xfrm>
            <a:off x="1143000" y="2390775"/>
            <a:ext cx="962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Comportamiento + heurística + tiempo real  ·  Protección cloud  ·  Actualizaciones continuas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C8941E-85AB-49ED-80F5-98DA8E7C201E}"/>
              </a:ext>
            </a:extLst>
          </p:cNvPr>
          <p:cNvSpPr>
            <a:spLocks noGrp="1"/>
          </p:cNvSpPr>
          <p:nvPr/>
        </p:nvSpPr>
        <p:spPr>
          <a:xfrm>
            <a:off x="762000" y="3190875"/>
            <a:ext cx="10668000" cy="1066800"/>
          </a:xfrm>
          <a:prstGeom prst="rect">
            <a:avLst/>
          </a:prstGeom>
          <a:solidFill>
            <a:srgbClr val="DFF3E8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51E396-5076-479E-80B4-EAD4D8A35CA8}"/>
              </a:ext>
            </a:extLst>
          </p:cNvPr>
          <p:cNvSpPr>
            <a:spLocks noGrp="1"/>
          </p:cNvSpPr>
          <p:nvPr/>
        </p:nvSpPr>
        <p:spPr>
          <a:xfrm>
            <a:off x="762000" y="3190875"/>
            <a:ext cx="133350" cy="1066800"/>
          </a:xfrm>
          <a:prstGeom prst="rect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6C08C2-B91A-4283-9228-87E84890A284}"/>
              </a:ext>
            </a:extLst>
          </p:cNvPr>
          <p:cNvSpPr>
            <a:spLocks noGrp="1"/>
          </p:cNvSpPr>
          <p:nvPr/>
        </p:nvSpPr>
        <p:spPr>
          <a:xfrm>
            <a:off x="1143000" y="34004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rPr>
              <a:t>ENDPOINT DETECTION &amp; RESPONSE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4BE9FA-B20A-47B1-A3DA-6F4C0737D806}"/>
              </a:ext>
            </a:extLst>
          </p:cNvPr>
          <p:cNvSpPr>
            <a:spLocks noGrp="1"/>
          </p:cNvSpPr>
          <p:nvPr/>
        </p:nvSpPr>
        <p:spPr>
          <a:xfrm>
            <a:off x="1143000" y="3819525"/>
            <a:ext cx="962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Detecciones casi en tiempo real  ·  Alcance de la brecha  ·  Acciones de respuesta y remediación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7845A-3D12-4E35-833F-6D1BDDA458B5}"/>
              </a:ext>
            </a:extLst>
          </p:cNvPr>
          <p:cNvSpPr>
            <a:spLocks noGrp="1"/>
          </p:cNvSpPr>
          <p:nvPr/>
        </p:nvSpPr>
        <p:spPr>
          <a:xfrm>
            <a:off x="2190750" y="4695825"/>
            <a:ext cx="7810500" cy="762000"/>
          </a:xfrm>
          <a:prstGeom prst="rect">
            <a:avLst/>
          </a:prstGeom>
          <a:solidFill>
            <a:srgbClr val="163A5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3E199D-F112-4FBF-AFDB-BB5255183E7E}"/>
              </a:ext>
            </a:extLst>
          </p:cNvPr>
          <p:cNvSpPr>
            <a:spLocks noGrp="1"/>
          </p:cNvSpPr>
          <p:nvPr/>
        </p:nvSpPr>
        <p:spPr>
          <a:xfrm>
            <a:off x="2476500" y="4829175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ADVANCED HUNTING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2BCB1C-E1BD-44F5-BA4D-52F104D489D0}"/>
              </a:ext>
            </a:extLst>
          </p:cNvPr>
          <p:cNvSpPr>
            <a:spLocks noGrp="1"/>
          </p:cNvSpPr>
          <p:nvPr/>
        </p:nvSpPr>
        <p:spPr>
          <a:xfrm>
            <a:off x="2476500" y="51435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Buscar amenazas · detectar brechas · crear detecciones personalizadas</a:t>
            </a:r>
          </a:p>
        </p:txBody>
      </p:sp>
    </p:spTree>
    <p:extLst>
      <p:ext uri="{BB962C8B-B14F-4D97-AF65-F5344CB8AC3E}">
        <p14:creationId xmlns:p14="http://schemas.microsoft.com/office/powerpoint/2010/main" val="1437378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E64F801-A9DF-4531-B2A2-8B7C61036A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1849D2-B2F7-4D58-9FC0-5DB20B9A066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AUTOMATED INVESTIGATION AND REMEDIATION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BF796B-5BC2-42B9-9353-77013B8CB424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AIR automatiza la respuesta con control humano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DC6378-6EBD-4767-9683-ECE887047C25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CBC8AE-1BE8-44B8-9B3E-30A79C78523E}"/>
              </a:ext>
            </a:extLst>
          </p:cNvPr>
          <p:cNvSpPr>
            <a:spLocks noGrp="1"/>
          </p:cNvSpPr>
          <p:nvPr/>
        </p:nvSpPr>
        <p:spPr>
          <a:xfrm>
            <a:off x="11191875" y="323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5C280B-845F-4108-82C8-49B52495062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8828B0-1DA5-4DCA-AA5C-F1349BFA9057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A1"/>
                </a:solidFill>
                <a:latin typeface="Aptos"/>
                <a:ea typeface="Aptos"/>
                <a:cs typeface="Aptos"/>
              </a:rPr>
              <a:t>Microsoft Defender XDR · Formación técnica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0C50C5-1AAD-4F6A-96A1-969C1C81F8BC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914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16 / 20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1B852D-3E97-4E9D-9A4F-EF046B357701}"/>
              </a:ext>
            </a:extLst>
          </p:cNvPr>
          <p:cNvSpPr>
            <a:spLocks noGrp="1"/>
          </p:cNvSpPr>
          <p:nvPr/>
        </p:nvSpPr>
        <p:spPr>
          <a:xfrm>
            <a:off x="1495425" y="1952625"/>
            <a:ext cx="838200" cy="838200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601642-913A-4ADE-BEA1-524C1AA74802}"/>
              </a:ext>
            </a:extLst>
          </p:cNvPr>
          <p:cNvSpPr>
            <a:spLocks noGrp="1"/>
          </p:cNvSpPr>
          <p:nvPr/>
        </p:nvSpPr>
        <p:spPr>
          <a:xfrm>
            <a:off x="1733550" y="2190750"/>
            <a:ext cx="36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495D33-93C4-4F95-B810-680256587A6A}"/>
              </a:ext>
            </a:extLst>
          </p:cNvPr>
          <p:cNvSpPr>
            <a:spLocks noGrp="1"/>
          </p:cNvSpPr>
          <p:nvPr/>
        </p:nvSpPr>
        <p:spPr>
          <a:xfrm>
            <a:off x="828675" y="306705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ALERTA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F2FD4D-A4C5-4121-99F6-CC9D6A14D5A1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Agrupa señales relacionadas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5FBA0-905B-42E1-8C3C-326ED2BA4277}"/>
              </a:ext>
            </a:extLst>
          </p:cNvPr>
          <p:cNvSpPr>
            <a:spLocks noGrp="1"/>
          </p:cNvSpPr>
          <p:nvPr/>
        </p:nvSpPr>
        <p:spPr>
          <a:xfrm>
            <a:off x="3067050" y="2228850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06EA580-8851-4F47-9883-28EDABE01638}"/>
              </a:ext>
            </a:extLst>
          </p:cNvPr>
          <p:cNvSpPr>
            <a:spLocks noGrp="1"/>
          </p:cNvSpPr>
          <p:nvPr/>
        </p:nvSpPr>
        <p:spPr>
          <a:xfrm>
            <a:off x="4352925" y="1952625"/>
            <a:ext cx="838200" cy="838200"/>
          </a:xfrm>
          <a:prstGeom prst="ellipse">
            <a:avLst/>
          </a:prstGeom>
          <a:solidFill>
            <a:srgbClr val="163A5F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46A81B-DF36-40CD-BF32-DDA20F34F9D4}"/>
              </a:ext>
            </a:extLst>
          </p:cNvPr>
          <p:cNvSpPr>
            <a:spLocks noGrp="1"/>
          </p:cNvSpPr>
          <p:nvPr/>
        </p:nvSpPr>
        <p:spPr>
          <a:xfrm>
            <a:off x="4591050" y="2190750"/>
            <a:ext cx="36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B9C20F-5EB3-40F4-ACCA-93099B6706B5}"/>
              </a:ext>
            </a:extLst>
          </p:cNvPr>
          <p:cNvSpPr>
            <a:spLocks noGrp="1"/>
          </p:cNvSpPr>
          <p:nvPr/>
        </p:nvSpPr>
        <p:spPr>
          <a:xfrm>
            <a:off x="3686175" y="306705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63A5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3A5F"/>
                </a:solidFill>
                <a:latin typeface="Aptos Display"/>
                <a:ea typeface="Aptos Display"/>
                <a:cs typeface="Aptos Display"/>
              </a:rPr>
              <a:t>INSPECCIÓN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184D5E-856F-45A3-8E7F-51136C4E2EB0}"/>
              </a:ext>
            </a:extLst>
          </p:cNvPr>
          <p:cNvSpPr>
            <a:spLocks noGrp="1"/>
          </p:cNvSpPr>
          <p:nvPr/>
        </p:nvSpPr>
        <p:spPr>
          <a:xfrm>
            <a:off x="3695700" y="352425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Analiza entidades y evidencias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65D090-9766-4C70-88C6-309A062507A3}"/>
              </a:ext>
            </a:extLst>
          </p:cNvPr>
          <p:cNvSpPr>
            <a:spLocks noGrp="1"/>
          </p:cNvSpPr>
          <p:nvPr/>
        </p:nvSpPr>
        <p:spPr>
          <a:xfrm>
            <a:off x="5924550" y="2228850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83EFCD-2B73-4507-844A-86180560DADA}"/>
              </a:ext>
            </a:extLst>
          </p:cNvPr>
          <p:cNvSpPr>
            <a:spLocks noGrp="1"/>
          </p:cNvSpPr>
          <p:nvPr/>
        </p:nvSpPr>
        <p:spPr>
          <a:xfrm>
            <a:off x="7210425" y="1952625"/>
            <a:ext cx="838200" cy="838200"/>
          </a:xfrm>
          <a:prstGeom prst="ellipse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3BC595-F526-43E1-A841-D1E12628B099}"/>
              </a:ext>
            </a:extLst>
          </p:cNvPr>
          <p:cNvSpPr>
            <a:spLocks noGrp="1"/>
          </p:cNvSpPr>
          <p:nvPr/>
        </p:nvSpPr>
        <p:spPr>
          <a:xfrm>
            <a:off x="7448550" y="2190750"/>
            <a:ext cx="36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059AF9-7C95-4ECC-8CC5-0274326931EA}"/>
              </a:ext>
            </a:extLst>
          </p:cNvPr>
          <p:cNvSpPr>
            <a:spLocks noGrp="1"/>
          </p:cNvSpPr>
          <p:nvPr/>
        </p:nvSpPr>
        <p:spPr>
          <a:xfrm>
            <a:off x="6543675" y="306705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rPr>
              <a:t>REMEDIACIÓN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43E3AE-0E45-4BCB-9E98-BB01003CC8EE}"/>
              </a:ext>
            </a:extLst>
          </p:cNvPr>
          <p:cNvSpPr>
            <a:spLocks noGrp="1"/>
          </p:cNvSpPr>
          <p:nvPr/>
        </p:nvSpPr>
        <p:spPr>
          <a:xfrm>
            <a:off x="6553200" y="352425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Ejecuta acciones inmediatas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DC50B2-0006-41F4-93DA-455E63E04610}"/>
              </a:ext>
            </a:extLst>
          </p:cNvPr>
          <p:cNvSpPr>
            <a:spLocks noGrp="1"/>
          </p:cNvSpPr>
          <p:nvPr/>
        </p:nvSpPr>
        <p:spPr>
          <a:xfrm>
            <a:off x="8782050" y="2228850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07EFD8A-9CB1-48FC-8092-F0E3F28993AE}"/>
              </a:ext>
            </a:extLst>
          </p:cNvPr>
          <p:cNvSpPr>
            <a:spLocks noGrp="1"/>
          </p:cNvSpPr>
          <p:nvPr/>
        </p:nvSpPr>
        <p:spPr>
          <a:xfrm>
            <a:off x="10067925" y="1952625"/>
            <a:ext cx="838200" cy="838200"/>
          </a:xfrm>
          <a:prstGeom prst="ellipse">
            <a:avLst/>
          </a:prstGeom>
          <a:solidFill>
            <a:srgbClr val="C87B00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50C9D3-2AF2-48EC-95ED-A0E7C356CC5B}"/>
              </a:ext>
            </a:extLst>
          </p:cNvPr>
          <p:cNvSpPr>
            <a:spLocks noGrp="1"/>
          </p:cNvSpPr>
          <p:nvPr/>
        </p:nvSpPr>
        <p:spPr>
          <a:xfrm>
            <a:off x="10306050" y="2190750"/>
            <a:ext cx="36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CC90F7-81EA-4F7C-9774-E2C488335493}"/>
              </a:ext>
            </a:extLst>
          </p:cNvPr>
          <p:cNvSpPr>
            <a:spLocks noGrp="1"/>
          </p:cNvSpPr>
          <p:nvPr/>
        </p:nvSpPr>
        <p:spPr>
          <a:xfrm>
            <a:off x="9401175" y="306705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C87B0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87B00"/>
                </a:solidFill>
                <a:latin typeface="Aptos Display"/>
                <a:ea typeface="Aptos Display"/>
                <a:cs typeface="Aptos Display"/>
              </a:rPr>
              <a:t>ACTION CENTER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CD3A16-4B3D-4ED8-9BBE-D6DC5BC7B7D1}"/>
              </a:ext>
            </a:extLst>
          </p:cNvPr>
          <p:cNvSpPr>
            <a:spLocks noGrp="1"/>
          </p:cNvSpPr>
          <p:nvPr/>
        </p:nvSpPr>
        <p:spPr>
          <a:xfrm>
            <a:off x="9410700" y="352425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Aprobar · rechazar · deshacer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4E8FD2-BAC7-4B48-97C2-58DE24B97CB7}"/>
              </a:ext>
            </a:extLst>
          </p:cNvPr>
          <p:cNvSpPr>
            <a:spLocks noGrp="1"/>
          </p:cNvSpPr>
          <p:nvPr/>
        </p:nvSpPr>
        <p:spPr>
          <a:xfrm>
            <a:off x="2286000" y="4810125"/>
            <a:ext cx="7620000" cy="59055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CB051E-A8E7-48C6-809A-F5AEFCA3B14E}"/>
              </a:ext>
            </a:extLst>
          </p:cNvPr>
          <p:cNvSpPr>
            <a:spLocks noGrp="1"/>
          </p:cNvSpPr>
          <p:nvPr/>
        </p:nvSpPr>
        <p:spPr>
          <a:xfrm>
            <a:off x="2571750" y="4972050"/>
            <a:ext cx="704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Resultado: menos alertas manuales y más tiempo para amenazas complejas</a:t>
            </a:r>
          </a:p>
        </p:txBody>
      </p:sp>
    </p:spTree>
    <p:extLst>
      <p:ext uri="{BB962C8B-B14F-4D97-AF65-F5344CB8AC3E}">
        <p14:creationId xmlns:p14="http://schemas.microsoft.com/office/powerpoint/2010/main" val="1536432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A0C61D6-37DC-4554-A779-BAFF20DEC3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CFA1DB-EB8B-401A-9808-E4F89B46FF0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RESILIENCIA DEL SOC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2FDCD9-4455-4863-B586-D2029D54AEE0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Postura y expertos elevan la capacidad de defensa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812D7F-13DF-4C17-8297-BA6BDA3666ED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F782DB-01F7-4C70-AE96-8D413D32F6F6}"/>
              </a:ext>
            </a:extLst>
          </p:cNvPr>
          <p:cNvSpPr>
            <a:spLocks noGrp="1"/>
          </p:cNvSpPr>
          <p:nvPr/>
        </p:nvSpPr>
        <p:spPr>
          <a:xfrm>
            <a:off x="11191875" y="323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9CE90C-AF40-4CCE-AFCC-2F66501110C0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EB1625-D380-4716-BA02-32B545D01215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A1"/>
                </a:solidFill>
                <a:latin typeface="Aptos"/>
                <a:ea typeface="Aptos"/>
                <a:cs typeface="Aptos"/>
              </a:rPr>
              <a:t>Microsoft Defender XDR · Formación técnica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D1E41C-43FC-4579-B075-E4110069C236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914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17 / 20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BB0CF8B-1CC9-43BC-B20D-9EAE9E4E4877}"/>
              </a:ext>
            </a:extLst>
          </p:cNvPr>
          <p:cNvSpPr>
            <a:spLocks noGrp="1"/>
          </p:cNvSpPr>
          <p:nvPr/>
        </p:nvSpPr>
        <p:spPr>
          <a:xfrm>
            <a:off x="1000125" y="1952625"/>
            <a:ext cx="2381250" cy="2381250"/>
          </a:xfrm>
          <a:prstGeom prst="ellipse">
            <a:avLst/>
          </a:prstGeom>
          <a:solidFill>
            <a:srgbClr val="DFF3E8"/>
          </a:solidFill>
          <a:ln w="28575">
            <a:solidFill>
              <a:srgbClr val="107C4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A96774-7F09-49F0-BBE6-53C57A652CDD}"/>
              </a:ext>
            </a:extLst>
          </p:cNvPr>
          <p:cNvSpPr>
            <a:spLocks noGrp="1"/>
          </p:cNvSpPr>
          <p:nvPr/>
        </p:nvSpPr>
        <p:spPr>
          <a:xfrm>
            <a:off x="1476375" y="2457450"/>
            <a:ext cx="14287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rPr>
              <a:t>SECURE</a:t>
            </a:r>
          </a:p>
          <a:p>
            <a:pPr algn="ctr">
              <a:defRPr sz="2025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rPr>
              <a:t>SCORE</a:t>
            </a:r>
          </a:p>
          <a:p>
            <a:pPr algn="ctr">
              <a:defRPr sz="2025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rPr>
              <a:t>FOR DEVICES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058881-8EF3-40DB-AEAC-79FC018087BF}"/>
              </a:ext>
            </a:extLst>
          </p:cNvPr>
          <p:cNvSpPr>
            <a:spLocks noGrp="1"/>
          </p:cNvSpPr>
          <p:nvPr/>
        </p:nvSpPr>
        <p:spPr>
          <a:xfrm>
            <a:off x="809625" y="4667250"/>
            <a:ext cx="1714500" cy="26670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4995B5-3D36-42C6-89CE-97D3639E9EA8}"/>
              </a:ext>
            </a:extLst>
          </p:cNvPr>
          <p:cNvSpPr>
            <a:spLocks noGrp="1"/>
          </p:cNvSpPr>
          <p:nvPr/>
        </p:nvSpPr>
        <p:spPr>
          <a:xfrm>
            <a:off x="904875" y="4705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Aplicaciones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700323-4F01-4FA6-9DA6-2038F99D553F}"/>
              </a:ext>
            </a:extLst>
          </p:cNvPr>
          <p:cNvSpPr>
            <a:spLocks noGrp="1"/>
          </p:cNvSpPr>
          <p:nvPr/>
        </p:nvSpPr>
        <p:spPr>
          <a:xfrm>
            <a:off x="3571875" y="4667250"/>
            <a:ext cx="1714500" cy="26670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EBB8D4-AA56-4C61-B490-CBD3815C1516}"/>
              </a:ext>
            </a:extLst>
          </p:cNvPr>
          <p:cNvSpPr>
            <a:spLocks noGrp="1"/>
          </p:cNvSpPr>
          <p:nvPr/>
        </p:nvSpPr>
        <p:spPr>
          <a:xfrm>
            <a:off x="3667125" y="4705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Sistema operativo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F68D3B-B7A0-48FC-8EBF-B65AB7A9E028}"/>
              </a:ext>
            </a:extLst>
          </p:cNvPr>
          <p:cNvSpPr>
            <a:spLocks noGrp="1"/>
          </p:cNvSpPr>
          <p:nvPr/>
        </p:nvSpPr>
        <p:spPr>
          <a:xfrm>
            <a:off x="809625" y="5076825"/>
            <a:ext cx="1714500" cy="26670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D16321-FB79-44D8-8FC8-4A294F5854F0}"/>
              </a:ext>
            </a:extLst>
          </p:cNvPr>
          <p:cNvSpPr>
            <a:spLocks noGrp="1"/>
          </p:cNvSpPr>
          <p:nvPr/>
        </p:nvSpPr>
        <p:spPr>
          <a:xfrm>
            <a:off x="904875" y="51149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Red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3D54B1-C272-462D-B789-B0F1B43E5EDF}"/>
              </a:ext>
            </a:extLst>
          </p:cNvPr>
          <p:cNvSpPr>
            <a:spLocks noGrp="1"/>
          </p:cNvSpPr>
          <p:nvPr/>
        </p:nvSpPr>
        <p:spPr>
          <a:xfrm>
            <a:off x="3571875" y="5076825"/>
            <a:ext cx="1714500" cy="26670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B58923-B0CC-4D64-86A5-41087A75F079}"/>
              </a:ext>
            </a:extLst>
          </p:cNvPr>
          <p:cNvSpPr>
            <a:spLocks noGrp="1"/>
          </p:cNvSpPr>
          <p:nvPr/>
        </p:nvSpPr>
        <p:spPr>
          <a:xfrm>
            <a:off x="3667125" y="51149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Cuentas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EF4391-6165-487B-8366-87D1BA4839EF}"/>
              </a:ext>
            </a:extLst>
          </p:cNvPr>
          <p:cNvSpPr>
            <a:spLocks noGrp="1"/>
          </p:cNvSpPr>
          <p:nvPr/>
        </p:nvSpPr>
        <p:spPr>
          <a:xfrm>
            <a:off x="809625" y="5486400"/>
            <a:ext cx="1714500" cy="26670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A5D18C-0845-4EFF-A2DD-9D5BF1A797C7}"/>
              </a:ext>
            </a:extLst>
          </p:cNvPr>
          <p:cNvSpPr>
            <a:spLocks noGrp="1"/>
          </p:cNvSpPr>
          <p:nvPr/>
        </p:nvSpPr>
        <p:spPr>
          <a:xfrm>
            <a:off x="904875" y="552450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Controles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8F0671-F624-43B1-8CD1-A0F0ECACD0B3}"/>
              </a:ext>
            </a:extLst>
          </p:cNvPr>
          <p:cNvSpPr>
            <a:spLocks noGrp="1"/>
          </p:cNvSpPr>
          <p:nvPr/>
        </p:nvSpPr>
        <p:spPr>
          <a:xfrm>
            <a:off x="5619750" y="1714500"/>
            <a:ext cx="19050" cy="400050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8443CF-47DB-465C-A4BF-4191ACCA847E}"/>
              </a:ext>
            </a:extLst>
          </p:cNvPr>
          <p:cNvSpPr>
            <a:spLocks noGrp="1"/>
          </p:cNvSpPr>
          <p:nvPr/>
        </p:nvSpPr>
        <p:spPr>
          <a:xfrm>
            <a:off x="6286500" y="1809750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63A5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63A5F"/>
                </a:solidFill>
                <a:latin typeface="Aptos Display"/>
                <a:ea typeface="Aptos Display"/>
                <a:cs typeface="Aptos Display"/>
              </a:rPr>
              <a:t>MICROSOFT THREAT EXPERTS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0EAE58-9CB8-43E0-AA46-31F217A0E6C6}"/>
              </a:ext>
            </a:extLst>
          </p:cNvPr>
          <p:cNvSpPr>
            <a:spLocks noGrp="1"/>
          </p:cNvSpPr>
          <p:nvPr/>
        </p:nvSpPr>
        <p:spPr>
          <a:xfrm>
            <a:off x="6286500" y="2286000"/>
            <a:ext cx="447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57A"/>
                </a:solidFill>
                <a:latin typeface="Aptos"/>
                <a:ea typeface="Aptos"/>
                <a:cs typeface="Aptos"/>
              </a:rPr>
              <a:t>Managed threat hunting para SOC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ADDCEEB-945D-46C9-A0A6-86D62DB00018}"/>
              </a:ext>
            </a:extLst>
          </p:cNvPr>
          <p:cNvSpPr>
            <a:spLocks noGrp="1"/>
          </p:cNvSpPr>
          <p:nvPr/>
        </p:nvSpPr>
        <p:spPr>
          <a:xfrm>
            <a:off x="6477000" y="2952750"/>
            <a:ext cx="66675" cy="66675"/>
          </a:xfrm>
          <a:prstGeom prst="ellipse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6C56C9-A78E-462C-B04D-3370487BB61B}"/>
              </a:ext>
            </a:extLst>
          </p:cNvPr>
          <p:cNvSpPr>
            <a:spLocks noGrp="1"/>
          </p:cNvSpPr>
          <p:nvPr/>
        </p:nvSpPr>
        <p:spPr>
          <a:xfrm>
            <a:off x="6648450" y="2876550"/>
            <a:ext cx="3924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Notificaciones de ataques dirigidos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B5DB841-F282-40D8-B5B1-F2506CAB1A72}"/>
              </a:ext>
            </a:extLst>
          </p:cNvPr>
          <p:cNvSpPr>
            <a:spLocks noGrp="1"/>
          </p:cNvSpPr>
          <p:nvPr/>
        </p:nvSpPr>
        <p:spPr>
          <a:xfrm>
            <a:off x="6477000" y="3448050"/>
            <a:ext cx="66675" cy="6667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C84BB43-939C-4722-BF8A-C613223D39B9}"/>
              </a:ext>
            </a:extLst>
          </p:cNvPr>
          <p:cNvSpPr>
            <a:spLocks noGrp="1"/>
          </p:cNvSpPr>
          <p:nvPr/>
        </p:nvSpPr>
        <p:spPr>
          <a:xfrm>
            <a:off x="6648450" y="3371850"/>
            <a:ext cx="3924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Expertos bajo demanda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93F4806-CEB6-4BDA-8644-4B6A1165A2F6}"/>
              </a:ext>
            </a:extLst>
          </p:cNvPr>
          <p:cNvSpPr>
            <a:spLocks noGrp="1"/>
          </p:cNvSpPr>
          <p:nvPr/>
        </p:nvSpPr>
        <p:spPr>
          <a:xfrm>
            <a:off x="6477000" y="3943350"/>
            <a:ext cx="66675" cy="6667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3C04F5-2B76-4DDB-9A70-DF24551C1152}"/>
              </a:ext>
            </a:extLst>
          </p:cNvPr>
          <p:cNvSpPr>
            <a:spLocks noGrp="1"/>
          </p:cNvSpPr>
          <p:nvPr/>
        </p:nvSpPr>
        <p:spPr>
          <a:xfrm>
            <a:off x="6648450" y="3867150"/>
            <a:ext cx="3924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Hunting de intrusiones humanas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58F782F-F1EA-4217-9DE6-E2197926449A}"/>
              </a:ext>
            </a:extLst>
          </p:cNvPr>
          <p:cNvSpPr>
            <a:spLocks noGrp="1"/>
          </p:cNvSpPr>
          <p:nvPr/>
        </p:nvSpPr>
        <p:spPr>
          <a:xfrm>
            <a:off x="6477000" y="4438650"/>
            <a:ext cx="66675" cy="6667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39385E-3DD2-46D7-B82B-44DD7FAF00BA}"/>
              </a:ext>
            </a:extLst>
          </p:cNvPr>
          <p:cNvSpPr>
            <a:spLocks noGrp="1"/>
          </p:cNvSpPr>
          <p:nvPr/>
        </p:nvSpPr>
        <p:spPr>
          <a:xfrm>
            <a:off x="6648450" y="4362450"/>
            <a:ext cx="3924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Hunter-trained AI y análisis de alcance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80FFFB2-9DED-482F-9BA9-0AC2720D865E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66675" cy="6667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BD0C05-45D5-46E8-9639-FAEBCA443283}"/>
              </a:ext>
            </a:extLst>
          </p:cNvPr>
          <p:cNvSpPr>
            <a:spLocks noGrp="1"/>
          </p:cNvSpPr>
          <p:nvPr/>
        </p:nvSpPr>
        <p:spPr>
          <a:xfrm>
            <a:off x="6648450" y="4857750"/>
            <a:ext cx="3924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Contexto sobre alertas y causa raíz</a:t>
            </a:r>
          </a:p>
        </p:txBody>
      </p:sp>
    </p:spTree>
    <p:extLst>
      <p:ext uri="{BB962C8B-B14F-4D97-AF65-F5344CB8AC3E}">
        <p14:creationId xmlns:p14="http://schemas.microsoft.com/office/powerpoint/2010/main" val="679549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C176AE0-BBA4-4F70-8C1B-C995C1FD01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CF150A-E889-4300-AEA1-E01E4BD25AA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MICROSOFT 365 THREAT INTELLIGENCE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2C0508-ABDB-441B-8B0A-055C6E55BE07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La inteligencia global guía decisiones locales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09242E-AC8E-43B5-90BD-EAECA98E2D05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5D07D-E3AD-4A67-9AE8-52450018C76E}"/>
              </a:ext>
            </a:extLst>
          </p:cNvPr>
          <p:cNvSpPr>
            <a:spLocks noGrp="1"/>
          </p:cNvSpPr>
          <p:nvPr/>
        </p:nvSpPr>
        <p:spPr>
          <a:xfrm>
            <a:off x="11191875" y="323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C5362C-43D8-4974-BAEB-8766F83F870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D0030B-3826-442E-815A-49B906AD6072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A1"/>
                </a:solidFill>
                <a:latin typeface="Aptos"/>
                <a:ea typeface="Aptos"/>
                <a:cs typeface="Aptos"/>
              </a:rPr>
              <a:t>Microsoft Defender XDR · Formación técnica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15AF2C-A787-4C28-8F9B-494A9608F961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914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18 / 20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E6A2E4-DB92-4D5D-89E8-B2FA4EFC5D26}"/>
              </a:ext>
            </a:extLst>
          </p:cNvPr>
          <p:cNvSpPr>
            <a:spLocks noGrp="1"/>
          </p:cNvSpPr>
          <p:nvPr/>
        </p:nvSpPr>
        <p:spPr>
          <a:xfrm>
            <a:off x="4429125" y="1952625"/>
            <a:ext cx="3333750" cy="2476500"/>
          </a:xfrm>
          <a:prstGeom prst="ellipse">
            <a:avLst/>
          </a:prstGeom>
          <a:solidFill>
            <a:srgbClr val="163A5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20C58-D02C-44B4-98E1-D172A25A6F04}"/>
              </a:ext>
            </a:extLst>
          </p:cNvPr>
          <p:cNvSpPr>
            <a:spLocks noGrp="1"/>
          </p:cNvSpPr>
          <p:nvPr/>
        </p:nvSpPr>
        <p:spPr>
          <a:xfrm>
            <a:off x="5095875" y="2524125"/>
            <a:ext cx="2000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MICROSOFT</a:t>
            </a:r>
          </a:p>
          <a:p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INTELLIGENT</a:t>
            </a:r>
          </a:p>
          <a:p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SECURITY GRAPH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B06D6B-D3A6-4B11-A63A-F2F41B4C20F3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2476500" cy="781050"/>
          </a:xfrm>
          <a:prstGeom prst="rect">
            <a:avLst/>
          </a:prstGeom>
          <a:solidFill>
            <a:srgbClr val="F5F9FC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54B6BD-FFEA-4093-B6D8-EF9C32641CCF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85725" cy="78105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180D1D-604B-4D1F-9295-380561FF0EA2}"/>
              </a:ext>
            </a:extLst>
          </p:cNvPr>
          <p:cNvSpPr>
            <a:spLocks noGrp="1"/>
          </p:cNvSpPr>
          <p:nvPr/>
        </p:nvSpPr>
        <p:spPr>
          <a:xfrm>
            <a:off x="1085850" y="2257425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Amenazas globales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2F10BD-B52E-4CA4-8B81-5015249F50E9}"/>
              </a:ext>
            </a:extLst>
          </p:cNvPr>
          <p:cNvSpPr>
            <a:spLocks noGrp="1"/>
          </p:cNvSpPr>
          <p:nvPr/>
        </p:nvSpPr>
        <p:spPr>
          <a:xfrm>
            <a:off x="857250" y="3905250"/>
            <a:ext cx="2476500" cy="781050"/>
          </a:xfrm>
          <a:prstGeom prst="rect">
            <a:avLst/>
          </a:prstGeom>
          <a:solidFill>
            <a:srgbClr val="F5F9FC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EB9D29-211E-4D19-83D1-11505A43E91B}"/>
              </a:ext>
            </a:extLst>
          </p:cNvPr>
          <p:cNvSpPr>
            <a:spLocks noGrp="1"/>
          </p:cNvSpPr>
          <p:nvPr/>
        </p:nvSpPr>
        <p:spPr>
          <a:xfrm>
            <a:off x="857250" y="3905250"/>
            <a:ext cx="85725" cy="781050"/>
          </a:xfrm>
          <a:prstGeom prst="rect">
            <a:avLst/>
          </a:prstGeom>
          <a:solidFill>
            <a:srgbClr val="C42B1C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25644C-1E30-43AE-99B4-58311E85342A}"/>
              </a:ext>
            </a:extLst>
          </p:cNvPr>
          <p:cNvSpPr>
            <a:spLocks noGrp="1"/>
          </p:cNvSpPr>
          <p:nvPr/>
        </p:nvSpPr>
        <p:spPr>
          <a:xfrm>
            <a:off x="1085850" y="4162425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Malware y phishing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DA3466-A8A4-4ACC-AD40-C205D2AB1351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476500" cy="781050"/>
          </a:xfrm>
          <a:prstGeom prst="rect">
            <a:avLst/>
          </a:prstGeom>
          <a:solidFill>
            <a:srgbClr val="F5F9FC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770911-C095-4C4B-B662-9E9073E98FCA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85725" cy="781050"/>
          </a:xfrm>
          <a:prstGeom prst="rect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E4DF2D-6B65-4425-8FA0-493029821A72}"/>
              </a:ext>
            </a:extLst>
          </p:cNvPr>
          <p:cNvSpPr>
            <a:spLocks noGrp="1"/>
          </p:cNvSpPr>
          <p:nvPr/>
        </p:nvSpPr>
        <p:spPr>
          <a:xfrm>
            <a:off x="9086850" y="2257425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Tendencias del tenant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3FB2E2-D32C-4782-8367-F6F1B61BC649}"/>
              </a:ext>
            </a:extLst>
          </p:cNvPr>
          <p:cNvSpPr>
            <a:spLocks noGrp="1"/>
          </p:cNvSpPr>
          <p:nvPr/>
        </p:nvSpPr>
        <p:spPr>
          <a:xfrm>
            <a:off x="8858250" y="3905250"/>
            <a:ext cx="2476500" cy="781050"/>
          </a:xfrm>
          <a:prstGeom prst="rect">
            <a:avLst/>
          </a:prstGeom>
          <a:solidFill>
            <a:srgbClr val="F5F9FC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9A312D-7297-42E6-95C5-7A7C86191FEB}"/>
              </a:ext>
            </a:extLst>
          </p:cNvPr>
          <p:cNvSpPr>
            <a:spLocks noGrp="1"/>
          </p:cNvSpPr>
          <p:nvPr/>
        </p:nvSpPr>
        <p:spPr>
          <a:xfrm>
            <a:off x="8858250" y="3905250"/>
            <a:ext cx="85725" cy="781050"/>
          </a:xfrm>
          <a:prstGeom prst="rect">
            <a:avLst/>
          </a:prstGeom>
          <a:solidFill>
            <a:srgbClr val="C87B00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40DA75-A959-4856-AA3E-1A050BFD3715}"/>
              </a:ext>
            </a:extLst>
          </p:cNvPr>
          <p:cNvSpPr>
            <a:spLocks noGrp="1"/>
          </p:cNvSpPr>
          <p:nvPr/>
        </p:nvSpPr>
        <p:spPr>
          <a:xfrm>
            <a:off x="9086850" y="4162425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Usuarios más atacados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F505A2-526E-41EB-80D2-388A352539A8}"/>
              </a:ext>
            </a:extLst>
          </p:cNvPr>
          <p:cNvSpPr>
            <a:spLocks noGrp="1"/>
          </p:cNvSpPr>
          <p:nvPr/>
        </p:nvSpPr>
        <p:spPr>
          <a:xfrm>
            <a:off x="3333750" y="49530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Threat Dashboard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1B868F-906F-4FD2-B4DB-F58976C7AE53}"/>
              </a:ext>
            </a:extLst>
          </p:cNvPr>
          <p:cNvSpPr>
            <a:spLocks noGrp="1"/>
          </p:cNvSpPr>
          <p:nvPr/>
        </p:nvSpPr>
        <p:spPr>
          <a:xfrm>
            <a:off x="6381750" y="49530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07C4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7C41"/>
                </a:solidFill>
                <a:latin typeface="Aptos"/>
                <a:ea typeface="Aptos"/>
                <a:cs typeface="Aptos"/>
              </a:rPr>
              <a:t>Threat Explorer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D6D3B8-8DEB-4037-8639-BAB2EFF9E719}"/>
              </a:ext>
            </a:extLst>
          </p:cNvPr>
          <p:cNvSpPr>
            <a:spLocks noGrp="1"/>
          </p:cNvSpPr>
          <p:nvPr/>
        </p:nvSpPr>
        <p:spPr>
          <a:xfrm>
            <a:off x="2571750" y="5410200"/>
            <a:ext cx="704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Origen · actores · impacto · recomendaciones · investigación de malware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579D5B-855B-41EA-8567-C3A2353C55EA}"/>
              </a:ext>
            </a:extLst>
          </p:cNvPr>
          <p:cNvSpPr>
            <a:spLocks noGrp="1"/>
          </p:cNvSpPr>
          <p:nvPr/>
        </p:nvSpPr>
        <p:spPr>
          <a:xfrm>
            <a:off x="2571750" y="5886450"/>
            <a:ext cx="704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DA1"/>
                </a:solidFill>
                <a:latin typeface="Aptos"/>
                <a:ea typeface="Aptos"/>
                <a:cs typeface="Aptos"/>
              </a:rPr>
              <a:t>Disponible con Microsoft 365 Enterprise E5; complemento para otras suscripciones Enterprise.</a:t>
            </a:r>
          </a:p>
        </p:txBody>
      </p:sp>
    </p:spTree>
    <p:extLst>
      <p:ext uri="{BB962C8B-B14F-4D97-AF65-F5344CB8AC3E}">
        <p14:creationId xmlns:p14="http://schemas.microsoft.com/office/powerpoint/2010/main" val="395413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E8B47F39-257D-4011-BDC7-F4F265925A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59375E-B846-494C-8670-88D01BF1FD9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DEFENDER FOR CLOUD APPS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8F5D38-D118-4DF6-8BD3-A1D9C631AF90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El control se extiende a SaaS, IaaS y PaaS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C93603-570E-4519-B53C-446DAC9527ED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C1E396-FB67-486F-BE7A-1721B6B4D0D2}"/>
              </a:ext>
            </a:extLst>
          </p:cNvPr>
          <p:cNvSpPr>
            <a:spLocks noGrp="1"/>
          </p:cNvSpPr>
          <p:nvPr/>
        </p:nvSpPr>
        <p:spPr>
          <a:xfrm>
            <a:off x="11191875" y="323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FB05BE-4778-43DD-AD1D-7D220C64F090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658D02-642F-40E9-B71D-D4F21E7E0F50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A1"/>
                </a:solidFill>
                <a:latin typeface="Aptos"/>
                <a:ea typeface="Aptos"/>
                <a:cs typeface="Aptos"/>
              </a:rPr>
              <a:t>Microsoft Defender XDR · Formación técnica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883E4E-36E2-41B4-A4D3-38E3C569FDB8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914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19 / 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73BA3-7E1E-4C0A-9767-5CDD1FCA2667}"/>
              </a:ext>
            </a:extLst>
          </p:cNvPr>
          <p:cNvSpPr>
            <a:spLocks noGrp="1"/>
          </p:cNvSpPr>
          <p:nvPr/>
        </p:nvSpPr>
        <p:spPr>
          <a:xfrm>
            <a:off x="714375" y="1952625"/>
            <a:ext cx="2524125" cy="2381250"/>
          </a:xfrm>
          <a:prstGeom prst="rect">
            <a:avLst/>
          </a:prstGeom>
          <a:solidFill>
            <a:srgbClr val="F5F9FC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6CF9F4-3717-4801-A02C-CB6EDB7F3AFC}"/>
              </a:ext>
            </a:extLst>
          </p:cNvPr>
          <p:cNvSpPr>
            <a:spLocks noGrp="1"/>
          </p:cNvSpPr>
          <p:nvPr/>
        </p:nvSpPr>
        <p:spPr>
          <a:xfrm>
            <a:off x="714375" y="1952625"/>
            <a:ext cx="2524125" cy="85725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7C9D00-D0E4-471E-A309-AD07947E80AE}"/>
              </a:ext>
            </a:extLst>
          </p:cNvPr>
          <p:cNvSpPr>
            <a:spLocks noGrp="1"/>
          </p:cNvSpPr>
          <p:nvPr/>
        </p:nvSpPr>
        <p:spPr>
          <a:xfrm>
            <a:off x="904875" y="2324100"/>
            <a:ext cx="2143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DESCUBRIR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924DC4-491A-42EA-AB18-82C29F36EDB9}"/>
              </a:ext>
            </a:extLst>
          </p:cNvPr>
          <p:cNvSpPr>
            <a:spLocks noGrp="1"/>
          </p:cNvSpPr>
          <p:nvPr/>
        </p:nvSpPr>
        <p:spPr>
          <a:xfrm>
            <a:off x="981075" y="3009900"/>
            <a:ext cx="19907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Shadow IT y patrones de uso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387139-6CA6-429F-83C0-B011616CB22D}"/>
              </a:ext>
            </a:extLst>
          </p:cNvPr>
          <p:cNvSpPr>
            <a:spLocks noGrp="1"/>
          </p:cNvSpPr>
          <p:nvPr/>
        </p:nvSpPr>
        <p:spPr>
          <a:xfrm>
            <a:off x="1238250" y="3905250"/>
            <a:ext cx="1476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Shadow IT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39C342-6CF3-4251-B162-5DA453A0512F}"/>
              </a:ext>
            </a:extLst>
          </p:cNvPr>
          <p:cNvSpPr>
            <a:spLocks noGrp="1"/>
          </p:cNvSpPr>
          <p:nvPr/>
        </p:nvSpPr>
        <p:spPr>
          <a:xfrm>
            <a:off x="3524250" y="1952625"/>
            <a:ext cx="2524125" cy="2381250"/>
          </a:xfrm>
          <a:prstGeom prst="rect">
            <a:avLst/>
          </a:prstGeom>
          <a:solidFill>
            <a:srgbClr val="F5F9FC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8BD596-D959-42B2-B948-23342EFE9E4E}"/>
              </a:ext>
            </a:extLst>
          </p:cNvPr>
          <p:cNvSpPr>
            <a:spLocks noGrp="1"/>
          </p:cNvSpPr>
          <p:nvPr/>
        </p:nvSpPr>
        <p:spPr>
          <a:xfrm>
            <a:off x="3524250" y="1952625"/>
            <a:ext cx="2524125" cy="85725"/>
          </a:xfrm>
          <a:prstGeom prst="rect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92F4EA-FD94-40DD-BA67-2F6C4ED7FF41}"/>
              </a:ext>
            </a:extLst>
          </p:cNvPr>
          <p:cNvSpPr>
            <a:spLocks noGrp="1"/>
          </p:cNvSpPr>
          <p:nvPr/>
        </p:nvSpPr>
        <p:spPr>
          <a:xfrm>
            <a:off x="3714750" y="2324100"/>
            <a:ext cx="2143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rPr>
              <a:t>PROTEGER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FD2FBB-219D-44B4-A0F8-39A03DFEEE5C}"/>
              </a:ext>
            </a:extLst>
          </p:cNvPr>
          <p:cNvSpPr>
            <a:spLocks noGrp="1"/>
          </p:cNvSpPr>
          <p:nvPr/>
        </p:nvSpPr>
        <p:spPr>
          <a:xfrm>
            <a:off x="3790950" y="3009900"/>
            <a:ext cx="19907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Información sensible en cloud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4990E6-732F-4E9C-A55B-EBCED475C16D}"/>
              </a:ext>
            </a:extLst>
          </p:cNvPr>
          <p:cNvSpPr>
            <a:spLocks noGrp="1"/>
          </p:cNvSpPr>
          <p:nvPr/>
        </p:nvSpPr>
        <p:spPr>
          <a:xfrm>
            <a:off x="4048125" y="3905250"/>
            <a:ext cx="1476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07C4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7C41"/>
                </a:solidFill>
                <a:latin typeface="Aptos"/>
                <a:ea typeface="Aptos"/>
                <a:cs typeface="Aptos"/>
              </a:rPr>
              <a:t>Datos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A46B5F-8430-4D85-BEE1-95474CC76630}"/>
              </a:ext>
            </a:extLst>
          </p:cNvPr>
          <p:cNvSpPr>
            <a:spLocks noGrp="1"/>
          </p:cNvSpPr>
          <p:nvPr/>
        </p:nvSpPr>
        <p:spPr>
          <a:xfrm>
            <a:off x="6334125" y="1952625"/>
            <a:ext cx="2524125" cy="2381250"/>
          </a:xfrm>
          <a:prstGeom prst="rect">
            <a:avLst/>
          </a:prstGeom>
          <a:solidFill>
            <a:srgbClr val="F5F9FC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398170-3A00-44E7-B1E7-2254782B9B17}"/>
              </a:ext>
            </a:extLst>
          </p:cNvPr>
          <p:cNvSpPr>
            <a:spLocks noGrp="1"/>
          </p:cNvSpPr>
          <p:nvPr/>
        </p:nvSpPr>
        <p:spPr>
          <a:xfrm>
            <a:off x="6334125" y="1952625"/>
            <a:ext cx="2524125" cy="85725"/>
          </a:xfrm>
          <a:prstGeom prst="rect">
            <a:avLst/>
          </a:prstGeom>
          <a:solidFill>
            <a:srgbClr val="C42B1C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DAAF08-DA7C-4785-8BDB-292774C8BE88}"/>
              </a:ext>
            </a:extLst>
          </p:cNvPr>
          <p:cNvSpPr>
            <a:spLocks noGrp="1"/>
          </p:cNvSpPr>
          <p:nvPr/>
        </p:nvSpPr>
        <p:spPr>
          <a:xfrm>
            <a:off x="6524625" y="2324100"/>
            <a:ext cx="2143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C42B1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C42B1C"/>
                </a:solidFill>
                <a:latin typeface="Aptos Display"/>
                <a:ea typeface="Aptos Display"/>
                <a:cs typeface="Aptos Display"/>
              </a:rPr>
              <a:t>DETECTAR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5D6CDD-7CAA-4F53-B7BF-8EDC8FFDD4B5}"/>
              </a:ext>
            </a:extLst>
          </p:cNvPr>
          <p:cNvSpPr>
            <a:spLocks noGrp="1"/>
          </p:cNvSpPr>
          <p:nvPr/>
        </p:nvSpPr>
        <p:spPr>
          <a:xfrm>
            <a:off x="6600825" y="3009900"/>
            <a:ext cx="19907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Anomalías, ransomware y cuentas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BDB7AE-3702-4186-8976-0C0F8D7E2031}"/>
              </a:ext>
            </a:extLst>
          </p:cNvPr>
          <p:cNvSpPr>
            <a:spLocks noGrp="1"/>
          </p:cNvSpPr>
          <p:nvPr/>
        </p:nvSpPr>
        <p:spPr>
          <a:xfrm>
            <a:off x="6858000" y="3905250"/>
            <a:ext cx="1476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C42B1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42B1C"/>
                </a:solidFill>
                <a:latin typeface="Aptos"/>
                <a:ea typeface="Aptos"/>
                <a:cs typeface="Aptos"/>
              </a:rPr>
              <a:t>Amenazas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E282D7-5B9B-4C0C-B0B7-700DF30CCF40}"/>
              </a:ext>
            </a:extLst>
          </p:cNvPr>
          <p:cNvSpPr>
            <a:spLocks noGrp="1"/>
          </p:cNvSpPr>
          <p:nvPr/>
        </p:nvSpPr>
        <p:spPr>
          <a:xfrm>
            <a:off x="9144000" y="1952625"/>
            <a:ext cx="2524125" cy="2381250"/>
          </a:xfrm>
          <a:prstGeom prst="rect">
            <a:avLst/>
          </a:prstGeom>
          <a:solidFill>
            <a:srgbClr val="F5F9FC"/>
          </a:solidFill>
          <a:ln w="9525">
            <a:solidFill>
              <a:srgbClr val="C8D7E5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94CBBD-2F07-4E2E-A0A6-8BFD0E4900BD}"/>
              </a:ext>
            </a:extLst>
          </p:cNvPr>
          <p:cNvSpPr>
            <a:spLocks noGrp="1"/>
          </p:cNvSpPr>
          <p:nvPr/>
        </p:nvSpPr>
        <p:spPr>
          <a:xfrm>
            <a:off x="9144000" y="1952625"/>
            <a:ext cx="2524125" cy="85725"/>
          </a:xfrm>
          <a:prstGeom prst="rect">
            <a:avLst/>
          </a:prstGeom>
          <a:solidFill>
            <a:srgbClr val="C87B00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78843B-785B-4AB2-B892-60232892E16F}"/>
              </a:ext>
            </a:extLst>
          </p:cNvPr>
          <p:cNvSpPr>
            <a:spLocks noGrp="1"/>
          </p:cNvSpPr>
          <p:nvPr/>
        </p:nvSpPr>
        <p:spPr>
          <a:xfrm>
            <a:off x="9334500" y="2324100"/>
            <a:ext cx="2143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C87B0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C87B00"/>
                </a:solidFill>
                <a:latin typeface="Aptos Display"/>
                <a:ea typeface="Aptos Display"/>
                <a:cs typeface="Aptos Display"/>
              </a:rPr>
              <a:t>EVALUAR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5C2493-652A-47BF-B201-333DBC8784D9}"/>
              </a:ext>
            </a:extLst>
          </p:cNvPr>
          <p:cNvSpPr>
            <a:spLocks noGrp="1"/>
          </p:cNvSpPr>
          <p:nvPr/>
        </p:nvSpPr>
        <p:spPr>
          <a:xfrm>
            <a:off x="9410700" y="3009900"/>
            <a:ext cx="19907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Riesgo y cumplimiento de apps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955E18-3DD0-41C2-BD38-86874204ED52}"/>
              </a:ext>
            </a:extLst>
          </p:cNvPr>
          <p:cNvSpPr>
            <a:spLocks noGrp="1"/>
          </p:cNvSpPr>
          <p:nvPr/>
        </p:nvSpPr>
        <p:spPr>
          <a:xfrm>
            <a:off x="9667875" y="3905250"/>
            <a:ext cx="1476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C87B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7B00"/>
                </a:solidFill>
                <a:latin typeface="Aptos"/>
                <a:ea typeface="Aptos"/>
                <a:cs typeface="Aptos"/>
              </a:rPr>
              <a:t>Compliance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9903A2-F826-40B2-A653-DDAC06466357}"/>
              </a:ext>
            </a:extLst>
          </p:cNvPr>
          <p:cNvSpPr>
            <a:spLocks noGrp="1"/>
          </p:cNvSpPr>
          <p:nvPr/>
        </p:nvSpPr>
        <p:spPr>
          <a:xfrm>
            <a:off x="1524000" y="4762500"/>
            <a:ext cx="9144000" cy="647700"/>
          </a:xfrm>
          <a:prstGeom prst="rect">
            <a:avLst/>
          </a:prstGeom>
          <a:solidFill>
            <a:srgbClr val="163A5F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2457D3E-629B-4C98-8E05-CDA4EF0CF4B5}"/>
              </a:ext>
            </a:extLst>
          </p:cNvPr>
          <p:cNvSpPr>
            <a:spLocks noGrp="1"/>
          </p:cNvSpPr>
          <p:nvPr/>
        </p:nvSpPr>
        <p:spPr>
          <a:xfrm>
            <a:off x="1762125" y="4953000"/>
            <a:ext cx="866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Cloud Discovery  ·  API connectors  ·  logs  ·  reverse proxy  ·  Conditional Access App Control</a:t>
            </a:r>
          </a:p>
        </p:txBody>
      </p:sp>
    </p:spTree>
    <p:extLst>
      <p:ext uri="{BB962C8B-B14F-4D97-AF65-F5344CB8AC3E}">
        <p14:creationId xmlns:p14="http://schemas.microsoft.com/office/powerpoint/2010/main" val="38962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9849EBE-8F0B-45C2-B6BD-E15AE1EEBE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021B9D-11AD-4100-9DDB-BBDE15DBC7A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OPERACIÓN UNIFICADA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78F0A9-1AB6-482D-9945-BF85E3FD5C7B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Informes y roles convierten telemetría en acción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C7FAC3-CB2F-4AFC-8BA4-D96B9A5E1AD5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904BD8-DAB5-470C-98F5-D5ACBDBBBC63}"/>
              </a:ext>
            </a:extLst>
          </p:cNvPr>
          <p:cNvSpPr>
            <a:spLocks noGrp="1"/>
          </p:cNvSpPr>
          <p:nvPr/>
        </p:nvSpPr>
        <p:spPr>
          <a:xfrm>
            <a:off x="11191875" y="323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A20FA0-35C4-4F92-87D7-504C0631D60C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C8D7E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CD74BE-D273-4D06-9322-0195E827BB73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A1"/>
                </a:solidFill>
                <a:latin typeface="Aptos"/>
                <a:ea typeface="Aptos"/>
                <a:cs typeface="Aptos"/>
              </a:rPr>
              <a:t>Microsoft Defender XDR · Formación técnica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E36BC1-791B-4058-8932-6CD910A61D57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914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7A8DA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A8DA1"/>
                </a:solidFill>
                <a:latin typeface="Aptos"/>
                <a:ea typeface="Aptos"/>
                <a:cs typeface="Aptos"/>
              </a:rPr>
              <a:t>20 / 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8E177B-9753-4338-9CB5-C1BDD96E8481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3333750" cy="1524000"/>
          </a:xfrm>
          <a:prstGeom prst="rect">
            <a:avLst/>
          </a:prstGeom>
          <a:solidFill>
            <a:srgbClr val="F5F9FC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A682DD-AA51-4C1B-9245-6BA2F95B082E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3333750" cy="762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E26872-13D9-43D4-92EA-C8FB096493E5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SECURITY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1CBE30-9C54-47F7-AD4A-EF65A6FE938F}"/>
              </a:ext>
            </a:extLst>
          </p:cNvPr>
          <p:cNvSpPr>
            <a:spLocks noGrp="1"/>
          </p:cNvSpPr>
          <p:nvPr/>
        </p:nvSpPr>
        <p:spPr>
          <a:xfrm>
            <a:off x="990600" y="2647950"/>
            <a:ext cx="2724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Identidades · datos · dispositivos · apps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6B1EA1-447F-4EE7-8F7D-D828B5003EC2}"/>
              </a:ext>
            </a:extLst>
          </p:cNvPr>
          <p:cNvSpPr>
            <a:spLocks noGrp="1"/>
          </p:cNvSpPr>
          <p:nvPr/>
        </p:nvSpPr>
        <p:spPr>
          <a:xfrm>
            <a:off x="4400550" y="1790700"/>
            <a:ext cx="3333750" cy="1524000"/>
          </a:xfrm>
          <a:prstGeom prst="rect">
            <a:avLst/>
          </a:prstGeom>
          <a:solidFill>
            <a:srgbClr val="F5F9FC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F59D5E-F644-4D45-BB22-4E5E8F29E555}"/>
              </a:ext>
            </a:extLst>
          </p:cNvPr>
          <p:cNvSpPr>
            <a:spLocks noGrp="1"/>
          </p:cNvSpPr>
          <p:nvPr/>
        </p:nvSpPr>
        <p:spPr>
          <a:xfrm>
            <a:off x="4400550" y="1790700"/>
            <a:ext cx="3333750" cy="76200"/>
          </a:xfrm>
          <a:prstGeom prst="rect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BA575-BD75-4015-A2A9-D0BC58BB9AA1}"/>
              </a:ext>
            </a:extLst>
          </p:cNvPr>
          <p:cNvSpPr>
            <a:spLocks noGrp="1"/>
          </p:cNvSpPr>
          <p:nvPr/>
        </p:nvSpPr>
        <p:spPr>
          <a:xfrm>
            <a:off x="4572000" y="213360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7C41"/>
                </a:solidFill>
                <a:latin typeface="Aptos Display"/>
                <a:ea typeface="Aptos Display"/>
                <a:cs typeface="Aptos Display"/>
              </a:rPr>
              <a:t>EMAIL Y COLABORACIÓN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4C710B-8639-4CE3-B7D5-F11DF01BB1DE}"/>
              </a:ext>
            </a:extLst>
          </p:cNvPr>
          <p:cNvSpPr>
            <a:spLocks noGrp="1"/>
          </p:cNvSpPr>
          <p:nvPr/>
        </p:nvSpPr>
        <p:spPr>
          <a:xfrm>
            <a:off x="4705350" y="2647950"/>
            <a:ext cx="2724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Malware · flujo · URL · spoof · envíos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41DB8F-9108-4FC3-8AA9-CBAEFAE7DD96}"/>
              </a:ext>
            </a:extLst>
          </p:cNvPr>
          <p:cNvSpPr>
            <a:spLocks noGrp="1"/>
          </p:cNvSpPr>
          <p:nvPr/>
        </p:nvSpPr>
        <p:spPr>
          <a:xfrm>
            <a:off x="8115300" y="1790700"/>
            <a:ext cx="3333750" cy="1524000"/>
          </a:xfrm>
          <a:prstGeom prst="rect">
            <a:avLst/>
          </a:prstGeom>
          <a:solidFill>
            <a:srgbClr val="F5F9FC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A14679-CA32-4B4E-95E6-19AD61E7DBD5}"/>
              </a:ext>
            </a:extLst>
          </p:cNvPr>
          <p:cNvSpPr>
            <a:spLocks noGrp="1"/>
          </p:cNvSpPr>
          <p:nvPr/>
        </p:nvSpPr>
        <p:spPr>
          <a:xfrm>
            <a:off x="8115300" y="1790700"/>
            <a:ext cx="3333750" cy="76200"/>
          </a:xfrm>
          <a:prstGeom prst="rect">
            <a:avLst/>
          </a:prstGeom>
          <a:solidFill>
            <a:srgbClr val="163A5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B3E97-CBE3-4133-BEE2-5D5A44F741A5}"/>
              </a:ext>
            </a:extLst>
          </p:cNvPr>
          <p:cNvSpPr>
            <a:spLocks noGrp="1"/>
          </p:cNvSpPr>
          <p:nvPr/>
        </p:nvSpPr>
        <p:spPr>
          <a:xfrm>
            <a:off x="8286750" y="213360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63A5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3A5F"/>
                </a:solidFill>
                <a:latin typeface="Aptos Display"/>
                <a:ea typeface="Aptos Display"/>
                <a:cs typeface="Aptos Display"/>
              </a:rPr>
              <a:t>ENDPOINTS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733E0C-5AC7-47E6-9C64-5B0B57A3B00C}"/>
              </a:ext>
            </a:extLst>
          </p:cNvPr>
          <p:cNvSpPr>
            <a:spLocks noGrp="1"/>
          </p:cNvSpPr>
          <p:nvPr/>
        </p:nvSpPr>
        <p:spPr>
          <a:xfrm>
            <a:off x="8420100" y="2647950"/>
            <a:ext cx="2724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Amenazas · salud · vulnerabilidades · web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C62446-F831-49C1-A3DE-31899136D831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ROLES DE LECTURA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98B082-3B29-46F2-8061-7C650DF778BB}"/>
              </a:ext>
            </a:extLst>
          </p:cNvPr>
          <p:cNvSpPr>
            <a:spLocks noGrp="1"/>
          </p:cNvSpPr>
          <p:nvPr/>
        </p:nvSpPr>
        <p:spPr>
          <a:xfrm>
            <a:off x="742950" y="4143375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Organization Management  ·  Security Administrator  ·  Security Reader  ·  Global Reader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A122CD-F511-4F8A-8BE5-A7CB342A59DB}"/>
              </a:ext>
            </a:extLst>
          </p:cNvPr>
          <p:cNvSpPr>
            <a:spLocks noGrp="1"/>
          </p:cNvSpPr>
          <p:nvPr/>
        </p:nvSpPr>
        <p:spPr>
          <a:xfrm>
            <a:off x="1428750" y="4857750"/>
            <a:ext cx="9334500" cy="819150"/>
          </a:xfrm>
          <a:prstGeom prst="rect">
            <a:avLst/>
          </a:prstGeom>
          <a:solidFill>
            <a:srgbClr val="107C41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54AE23-2DCE-4A84-A0A9-2026A1E9BB14}"/>
              </a:ext>
            </a:extLst>
          </p:cNvPr>
          <p:cNvSpPr>
            <a:spLocks noGrp="1"/>
          </p:cNvSpPr>
          <p:nvPr/>
        </p:nvSpPr>
        <p:spPr>
          <a:xfrm>
            <a:off x="1809750" y="5057775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PREVENIR  →  DETECTAR  →  INVESTIGAR  →  REMEDIAR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6E1025-6D59-456E-AD80-56A33B0311D5}"/>
              </a:ext>
            </a:extLst>
          </p:cNvPr>
          <p:cNvSpPr>
            <a:spLocks noGrp="1"/>
          </p:cNvSpPr>
          <p:nvPr/>
        </p:nvSpPr>
        <p:spPr>
          <a:xfrm>
            <a:off x="1809750" y="54102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Una sola vista operativa para correo, identidades, endpoints y aplicaciones cloud</a:t>
            </a:r>
          </a:p>
        </p:txBody>
      </p:sp>
    </p:spTree>
    <p:extLst>
      <p:ext uri="{BB962C8B-B14F-4D97-AF65-F5344CB8AC3E}">
        <p14:creationId xmlns:p14="http://schemas.microsoft.com/office/powerpoint/2010/main" val="179348172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2012-07-30T22:48:03Z</dcterms:created>
  <dcterms:modified xsi:type="dcterms:W3CDTF">2026-08-27T02:36:41Z</dcterms:modified>
</cp:coreProperties>
</file>
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6T18:01:01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D56F9-19CB-4B55-9669-CEA4927AA8B6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1B1CD-10CE-4A9A-9DDD-FBC5999E7B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3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A451589-71CF-4024-B349-8D5A9F091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81A1DA-A7B2-46DD-B8B8-C528F45A489C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9213E-0647-40B7-8C44-DAF2E1177720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190500" cy="68580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AC765-92D2-4460-B534-1D31D5B10A3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FORMACIÓN TÉCNICA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8665F-ED51-4E4F-8968-5483997517E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524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Sincronización de</a:t>
            </a:r>
          </a:p>
          <a:p>
            <a:pPr algn="l">
              <a:lnSpc>
                <a:spcPct val="92000"/>
              </a:lnSpc>
              <a:buNone/>
              <a:def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directorios con</a:t>
            </a:r>
          </a:p>
          <a:p>
            <a:pPr algn="l">
              <a:lnSpc>
                <a:spcPct val="92000"/>
              </a:lnSpc>
              <a:buNone/>
              <a:def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Microsoft 365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24F8F-C9B3-4CF3-A6D2-C2C990495B20}"/>
              </a:ext>
            </a:extLst>
          </p:cNvPr>
          <p:cNvSpPr>
            <a:spLocks noGrp="1"/>
          </p:cNvSpPr>
          <p:nvPr/>
        </p:nvSpPr>
        <p:spPr>
          <a:xfrm>
            <a:off x="723900" y="4114800"/>
            <a:ext cx="733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Microsoft Entra Connect Sync · Microsoft Entra Cloud Sync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356DC12-0F41-4444-AB88-F6CE0BC2A4A3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5334000" cy="0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1781B3-9C1F-436D-9EF8-848926DF6C3E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59"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Preparación, arquitectura, autenticación y operación segura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0EFA93-D08D-452B-A6FB-34853929B7E4}"/>
              </a:ext>
            </a:extLst>
          </p:cNvPr>
          <p:cNvSpPr>
            <a:spLocks noGrp="1"/>
          </p:cNvSpPr>
          <p:nvPr/>
        </p:nvSpPr>
        <p:spPr>
          <a:xfrm>
            <a:off x="9429750" y="1143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34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Microsoft Entra 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4BA6D-0DD5-4636-BC2F-553648319A51}"/>
              </a:ext>
            </a:extLst>
          </p:cNvPr>
          <p:cNvSpPr>
            <a:spLocks noGrp="1"/>
          </p:cNvSpPr>
          <p:nvPr/>
        </p:nvSpPr>
        <p:spPr>
          <a:xfrm>
            <a:off x="942975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Identidad híbrida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B1CA04-F601-4E47-A36F-7892B6932D5D}"/>
              </a:ext>
            </a:extLst>
          </p:cNvPr>
          <p:cNvSpPr>
            <a:spLocks noGrp="1"/>
          </p:cNvSpPr>
          <p:nvPr/>
        </p:nvSpPr>
        <p:spPr>
          <a:xfrm>
            <a:off x="9429750" y="2209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Aprovisionamiento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AC1AD-260C-4C97-8360-F817A0C21374}"/>
              </a:ext>
            </a:extLst>
          </p:cNvPr>
          <p:cNvSpPr>
            <a:spLocks noGrp="1"/>
          </p:cNvSpPr>
          <p:nvPr/>
        </p:nvSpPr>
        <p:spPr>
          <a:xfrm>
            <a:off x="942975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Seguridad Tier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4A5555-E203-47FF-A8C8-16A381946322}"/>
              </a:ext>
            </a:extLst>
          </p:cNvPr>
          <p:cNvSpPr>
            <a:spLocks noGrp="1"/>
          </p:cNvSpPr>
          <p:nvPr/>
        </p:nvSpPr>
        <p:spPr>
          <a:xfrm>
            <a:off x="9429750" y="5810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20 diapositivas</a:t>
            </a:r>
          </a:p>
        </p:txBody>
      </p:sp>
    </p:spTree>
    <p:extLst>
      <p:ext uri="{BB962C8B-B14F-4D97-AF65-F5344CB8AC3E}">
        <p14:creationId xmlns:p14="http://schemas.microsoft.com/office/powerpoint/2010/main" val="167813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5F34BD2-09F0-4CEC-9211-ED28CC6219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0872C-B87B-47C3-8E60-8BE93164BE3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FUNDAMENTOS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D381B-33B9-4E40-BE47-41BF08F555D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Una identidad común conecta personas, directorios y aplicaciones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4B4F2-3FAE-4D8F-8389-BBFC5693191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La sincronización mueve objetos; el aprovisionamiento mantiene su ciclo de vida.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E6B7C44-FEF4-4629-A5A3-BDB93EF6BDC6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89B9E-2105-40E8-8DBA-3CDC609BE441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FBE507-C7D3-4D35-80B6-70C0162C440E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1809750" cy="742950"/>
          </a:xfrm>
          <a:prstGeom prst="rect">
            <a:avLst/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2FADB-4322-4604-AF64-70F2BD9D122B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66675" cy="7429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A481F9-A6DE-4630-97F9-C19E4910C918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543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RR. HH. / LDAP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6F2DA5-F5D1-4ABA-AB8E-F2328B7AF958}"/>
              </a:ext>
            </a:extLst>
          </p:cNvPr>
          <p:cNvSpPr>
            <a:spLocks noGrp="1"/>
          </p:cNvSpPr>
          <p:nvPr/>
        </p:nvSpPr>
        <p:spPr>
          <a:xfrm>
            <a:off x="3276600" y="2190750"/>
            <a:ext cx="2000250" cy="93345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CBA80-92E6-4CF2-A346-0D151F975E0E}"/>
              </a:ext>
            </a:extLst>
          </p:cNvPr>
          <p:cNvSpPr>
            <a:spLocks noGrp="1"/>
          </p:cNvSpPr>
          <p:nvPr/>
        </p:nvSpPr>
        <p:spPr>
          <a:xfrm>
            <a:off x="3276600" y="2190750"/>
            <a:ext cx="66675" cy="933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38290E-B2FF-4449-B9C9-FAE7FC2DCF96}"/>
              </a:ext>
            </a:extLst>
          </p:cNvPr>
          <p:cNvSpPr>
            <a:spLocks noGrp="1"/>
          </p:cNvSpPr>
          <p:nvPr/>
        </p:nvSpPr>
        <p:spPr>
          <a:xfrm>
            <a:off x="3448050" y="2286000"/>
            <a:ext cx="1733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Active Directory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604A97-A4B3-4062-AE62-2CB4A7003EEC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2000250" cy="93345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B01613-0C93-4A31-9D49-5EB715041D5E}"/>
              </a:ext>
            </a:extLst>
          </p:cNvPr>
          <p:cNvSpPr>
            <a:spLocks noGrp="1"/>
          </p:cNvSpPr>
          <p:nvPr/>
        </p:nvSpPr>
        <p:spPr>
          <a:xfrm>
            <a:off x="6076950" y="2190750"/>
            <a:ext cx="66675" cy="9334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BCADAC-E98F-41A9-B25D-4BBA31DAD52F}"/>
              </a:ext>
            </a:extLst>
          </p:cNvPr>
          <p:cNvSpPr>
            <a:spLocks noGrp="1"/>
          </p:cNvSpPr>
          <p:nvPr/>
        </p:nvSpPr>
        <p:spPr>
          <a:xfrm>
            <a:off x="6248400" y="2286000"/>
            <a:ext cx="1733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Connect Sync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o Cloud Sync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FFE02-DAD8-444D-AE53-50E5C798971A}"/>
              </a:ext>
            </a:extLst>
          </p:cNvPr>
          <p:cNvSpPr>
            <a:spLocks noGrp="1"/>
          </p:cNvSpPr>
          <p:nvPr/>
        </p:nvSpPr>
        <p:spPr>
          <a:xfrm>
            <a:off x="8877300" y="2190750"/>
            <a:ext cx="2000250" cy="93345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D531D-6AD6-4EA1-8F63-8505CBB185F4}"/>
              </a:ext>
            </a:extLst>
          </p:cNvPr>
          <p:cNvSpPr>
            <a:spLocks noGrp="1"/>
          </p:cNvSpPr>
          <p:nvPr/>
        </p:nvSpPr>
        <p:spPr>
          <a:xfrm>
            <a:off x="8877300" y="2190750"/>
            <a:ext cx="66675" cy="933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3353FB-2627-4C25-90C5-DB83DC8BC6ED}"/>
              </a:ext>
            </a:extLst>
          </p:cNvPr>
          <p:cNvSpPr>
            <a:spLocks noGrp="1"/>
          </p:cNvSpPr>
          <p:nvPr/>
        </p:nvSpPr>
        <p:spPr>
          <a:xfrm>
            <a:off x="9048750" y="2286000"/>
            <a:ext cx="1733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Microsoft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Entra ID</a:t>
            </a:r>
          </a:p>
        </p:txBody>
      </p:sp>
      <p:cxnSp>
        <p:nvCxnSpPr>
          <p:cNvPr id="19" name="Straight Arrow Connector 18"/>
          <p:cNvCxnSpPr>
            <a:stCxn id="7" idx="3"/>
            <a:endCxn id="10" idx="1"/>
          </p:cNvCxnSpPr>
          <p:nvPr/>
        </p:nvCxnSpPr>
        <p:spPr>
          <a:xfrm>
            <a:off x="2552700" y="2657475"/>
            <a:ext cx="723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20" name="Straight Arrow Connector 19"/>
          <p:cNvCxnSpPr>
            <a:stCxn id="10" idx="3"/>
            <a:endCxn id="13" idx="1"/>
          </p:cNvCxnSpPr>
          <p:nvPr/>
        </p:nvCxnSpPr>
        <p:spPr>
          <a:xfrm>
            <a:off x="5276850" y="2657475"/>
            <a:ext cx="8001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21" name="Straight Arrow Connector 20"/>
          <p:cNvCxnSpPr>
            <a:stCxn id="13" idx="3"/>
            <a:endCxn id="16" idx="1"/>
          </p:cNvCxnSpPr>
          <p:nvPr/>
        </p:nvCxnSpPr>
        <p:spPr>
          <a:xfrm>
            <a:off x="8077200" y="2657475"/>
            <a:ext cx="8001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F386E-69B3-4497-AD76-1FEFC53C7B52}"/>
              </a:ext>
            </a:extLst>
          </p:cNvPr>
          <p:cNvSpPr>
            <a:spLocks noGrp="1"/>
          </p:cNvSpPr>
          <p:nvPr/>
        </p:nvSpPr>
        <p:spPr>
          <a:xfrm>
            <a:off x="7239000" y="4267200"/>
            <a:ext cx="3638550" cy="704850"/>
          </a:xfrm>
          <a:prstGeom prst="rect">
            <a:avLst/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8138B4-A053-4ADE-90FB-FC5EEAB80309}"/>
              </a:ext>
            </a:extLst>
          </p:cNvPr>
          <p:cNvSpPr>
            <a:spLocks noGrp="1"/>
          </p:cNvSpPr>
          <p:nvPr/>
        </p:nvSpPr>
        <p:spPr>
          <a:xfrm>
            <a:off x="7239000" y="4267200"/>
            <a:ext cx="66675" cy="7048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EF9D5-ADAA-491E-B482-E11499E33DF7}"/>
              </a:ext>
            </a:extLst>
          </p:cNvPr>
          <p:cNvSpPr>
            <a:spLocks noGrp="1"/>
          </p:cNvSpPr>
          <p:nvPr/>
        </p:nvSpPr>
        <p:spPr>
          <a:xfrm>
            <a:off x="7410450" y="4362450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Microsoft 365 · SaaS · apps locales</a:t>
            </a:r>
          </a:p>
        </p:txBody>
      </p:sp>
      <p:cxnSp>
        <p:nvCxnSpPr>
          <p:cNvPr id="25" name="Connector: Elbow 24"/>
          <p:cNvCxnSpPr>
            <a:stCxn id="16" idx="2"/>
            <a:endCxn id="22" idx="0"/>
          </p:cNvCxnSpPr>
          <p:nvPr/>
        </p:nvCxnSpPr>
        <p:spPr>
          <a:xfrm flipH="1">
            <a:off x="9058275" y="3124200"/>
            <a:ext cx="819150" cy="11430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16A34A"/>
            </a:solidFill>
            <a:prstDash val="solid"/>
            <a:tailEnd type="arrow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FD19C84-92F0-417C-A7D1-5D415A18DAD6}"/>
              </a:ext>
            </a:extLst>
          </p:cNvPr>
          <p:cNvSpPr>
            <a:spLocks noGrp="1"/>
          </p:cNvSpPr>
          <p:nvPr/>
        </p:nvSpPr>
        <p:spPr>
          <a:xfrm>
            <a:off x="3276600" y="4267200"/>
            <a:ext cx="2286000" cy="704850"/>
          </a:xfrm>
          <a:prstGeom prst="rect">
            <a:avLst/>
          </a:prstGeom>
          <a:solidFill>
            <a:srgbClr val="FFFBE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EB50EA-B161-44C0-A7BA-78133D8F1E04}"/>
              </a:ext>
            </a:extLst>
          </p:cNvPr>
          <p:cNvSpPr>
            <a:spLocks noGrp="1"/>
          </p:cNvSpPr>
          <p:nvPr/>
        </p:nvSpPr>
        <p:spPr>
          <a:xfrm>
            <a:off x="3276600" y="4267200"/>
            <a:ext cx="66675" cy="7048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1C9D96-1DAC-4F3B-B078-A6527D1482E6}"/>
              </a:ext>
            </a:extLst>
          </p:cNvPr>
          <p:cNvSpPr>
            <a:spLocks noGrp="1"/>
          </p:cNvSpPr>
          <p:nvPr/>
        </p:nvSpPr>
        <p:spPr>
          <a:xfrm>
            <a:off x="3448050" y="43624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Writeback específico</a:t>
            </a:r>
          </a:p>
        </p:txBody>
      </p:sp>
      <p:cxnSp>
        <p:nvCxnSpPr>
          <p:cNvPr id="29" name="Connector: Elbow 28"/>
          <p:cNvCxnSpPr>
            <a:stCxn id="16" idx="1"/>
            <a:endCxn id="26" idx="3"/>
          </p:cNvCxnSpPr>
          <p:nvPr/>
        </p:nvCxnSpPr>
        <p:spPr>
          <a:xfrm flipH="1">
            <a:off x="5562600" y="2657475"/>
            <a:ext cx="3314700" cy="1962150"/>
          </a:xfrm>
          <a:prstGeom prst="bentConnector5">
            <a:avLst>
              <a:gd name="adj1" fmla="val 6897"/>
              <a:gd name="adj2" fmla="val 29612"/>
              <a:gd name="adj3" fmla="val 52874"/>
            </a:avLst>
          </a:prstGeom>
          <a:ln w="19050">
            <a:solidFill>
              <a:srgbClr val="F59E0B"/>
            </a:solidFill>
            <a:prstDash val="dash"/>
            <a:tailEnd type="arrow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F16D607-ECEF-4F25-BBE4-681D36A5B406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2647A"/>
                </a:solidFill>
                <a:latin typeface="Aptos"/>
                <a:ea typeface="Aptos"/>
                <a:cs typeface="Aptos"/>
              </a:rPr>
              <a:t>Flujo habitual: AD local → Entra ID. Algunas funciones escriben objetos o contraseñas de vuelta.</a:t>
            </a:r>
          </a:p>
        </p:txBody>
      </p:sp>
    </p:spTree>
    <p:extLst>
      <p:ext uri="{BB962C8B-B14F-4D97-AF65-F5344CB8AC3E}">
        <p14:creationId xmlns:p14="http://schemas.microsoft.com/office/powerpoint/2010/main" val="110873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8F98CBB-C0B5-4565-AABF-B01E5167DD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BB692-CB06-47B5-98EE-630A449DF0B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PLAN DE DESPLIEGUE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0ECB99-B7F7-4E1E-B268-82C3BDB3407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49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El despliegue se construye en cuatro fases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6FD3D2-EC4A-42BC-8B14-776727C8EFA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El ritmo puede ser 30, 60, 90 días o más según complejidad y licencias.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79FC20F-4875-4BEF-B621-2B48AFDE375C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54AA2-B233-4ED5-984E-5557471354E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BAA2493-D44E-4DFB-890D-637B6FD1FE7C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9810750" cy="0"/>
          </a:xfrm>
          <a:prstGeom prst="line">
            <a:avLst/>
          </a:prstGeom>
          <a:noFill/>
          <a:ln w="476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404F3-A339-41C3-995E-C0C31516C7B9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381000" cy="381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A70512-D877-49B6-9DA1-91893D2A3224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99222F-19AC-4E33-ABDC-A80C96B96BCE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Base de seguridad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0B1AA-3123-4788-9A2A-35CD6AB10008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2143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Cuentas de emergencia, mínimo privilegio, MFA, CA, SSPR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6A4F60-38A8-4A9E-B6C5-9FF38FDA5FA4}"/>
              </a:ext>
            </a:extLst>
          </p:cNvPr>
          <p:cNvSpPr>
            <a:spLocks noGrp="1"/>
          </p:cNvSpPr>
          <p:nvPr/>
        </p:nvSpPr>
        <p:spPr>
          <a:xfrm>
            <a:off x="3781425" y="3143250"/>
            <a:ext cx="381000" cy="3810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EEFCC7-9110-4EBB-90B6-AE0788A78B1A}"/>
              </a:ext>
            </a:extLst>
          </p:cNvPr>
          <p:cNvSpPr>
            <a:spLocks noGrp="1"/>
          </p:cNvSpPr>
          <p:nvPr/>
        </p:nvSpPr>
        <p:spPr>
          <a:xfrm>
            <a:off x="3781425" y="3219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8A8116-F0F1-426B-B9A5-E3B8DA1AF00A}"/>
              </a:ext>
            </a:extLst>
          </p:cNvPr>
          <p:cNvSpPr>
            <a:spLocks noGrp="1"/>
          </p:cNvSpPr>
          <p:nvPr/>
        </p:nvSpPr>
        <p:spPr>
          <a:xfrm>
            <a:off x="3781425" y="38290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Usuarios y dispositivos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1C22AD-A584-4CC1-836B-4B56D5C23C11}"/>
              </a:ext>
            </a:extLst>
          </p:cNvPr>
          <p:cNvSpPr>
            <a:spLocks noGrp="1"/>
          </p:cNvSpPr>
          <p:nvPr/>
        </p:nvSpPr>
        <p:spPr>
          <a:xfrm>
            <a:off x="3781425" y="4457700"/>
            <a:ext cx="2143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Importación, sincronización, PHS, invitados, passwordless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B7F5A3-9E97-4499-AFC5-535DDE2F4DAB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381000" cy="3810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1CD8A-A34D-4D2F-B45E-B54797D20F0B}"/>
              </a:ext>
            </a:extLst>
          </p:cNvPr>
          <p:cNvSpPr>
            <a:spLocks noGrp="1"/>
          </p:cNvSpPr>
          <p:nvPr/>
        </p:nvSpPr>
        <p:spPr>
          <a:xfrm>
            <a:off x="6496050" y="3219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05040A-E51D-4DFF-9E93-57B0F755B297}"/>
              </a:ext>
            </a:extLst>
          </p:cNvPr>
          <p:cNvSpPr>
            <a:spLocks noGrp="1"/>
          </p:cNvSpPr>
          <p:nvPr/>
        </p:nvSpPr>
        <p:spPr>
          <a:xfrm>
            <a:off x="6496050" y="38290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Aplicaciones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418B90-7733-48FE-AD0D-B248A6DFA0AC}"/>
              </a:ext>
            </a:extLst>
          </p:cNvPr>
          <p:cNvSpPr>
            <a:spLocks noGrp="1"/>
          </p:cNvSpPr>
          <p:nvPr/>
        </p:nvSpPr>
        <p:spPr>
          <a:xfrm>
            <a:off x="6496050" y="4457700"/>
            <a:ext cx="2143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Inventario, galería Entra, Application Proxy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C3E468-54BC-4FA0-8D42-20DD6C9BE18B}"/>
              </a:ext>
            </a:extLst>
          </p:cNvPr>
          <p:cNvSpPr>
            <a:spLocks noGrp="1"/>
          </p:cNvSpPr>
          <p:nvPr/>
        </p:nvSpPr>
        <p:spPr>
          <a:xfrm>
            <a:off x="9210675" y="3143250"/>
            <a:ext cx="381000" cy="3810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249B3-BCE6-4C39-BBEA-D711CE218B0E}"/>
              </a:ext>
            </a:extLst>
          </p:cNvPr>
          <p:cNvSpPr>
            <a:spLocks noGrp="1"/>
          </p:cNvSpPr>
          <p:nvPr/>
        </p:nvSpPr>
        <p:spPr>
          <a:xfrm>
            <a:off x="9210675" y="3219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3E5E75-D45E-4E9C-8572-87E5F1F32D3C}"/>
              </a:ext>
            </a:extLst>
          </p:cNvPr>
          <p:cNvSpPr>
            <a:spLocks noGrp="1"/>
          </p:cNvSpPr>
          <p:nvPr/>
        </p:nvSpPr>
        <p:spPr>
          <a:xfrm>
            <a:off x="9210675" y="38290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Gobierno y ciclo de vida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8E07DD-DD9F-477A-9A5B-B008170E2C08}"/>
              </a:ext>
            </a:extLst>
          </p:cNvPr>
          <p:cNvSpPr>
            <a:spLocks noGrp="1"/>
          </p:cNvSpPr>
          <p:nvPr/>
        </p:nvSpPr>
        <p:spPr>
          <a:xfrm>
            <a:off x="9210675" y="4457700"/>
            <a:ext cx="2143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PIM, revisiones de acceso, grupos dinámicos, HR provisioning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8A5C53-F288-41AE-A636-DC56050CB567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00250" cy="2667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EA9040-27A9-4C1E-9137-907DBD9A94CC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DE SINCRONIZAR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3651ED-9716-46D2-A8A1-9881B51CCE5E}"/>
              </a:ext>
            </a:extLst>
          </p:cNvPr>
          <p:cNvSpPr>
            <a:spLocks noGrp="1"/>
          </p:cNvSpPr>
          <p:nvPr/>
        </p:nvSpPr>
        <p:spPr>
          <a:xfrm>
            <a:off x="2952750" y="1971675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02"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La seguridad no es una fase posterior: es el prerrequisito.</a:t>
            </a:r>
          </a:p>
        </p:txBody>
      </p:sp>
    </p:spTree>
    <p:extLst>
      <p:ext uri="{BB962C8B-B14F-4D97-AF65-F5344CB8AC3E}">
        <p14:creationId xmlns:p14="http://schemas.microsoft.com/office/powerpoint/2010/main" val="96501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8EDD78D-5859-4166-8AAF-91243CB7C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EB5574-3E0D-481A-9A91-27A74B8BC70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FASE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7A45DA-6804-45EE-AD96-DB6C8965EDD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La seguridad debe existir antes de importar usuarios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D9F1B-302B-43F1-A9A6-42A4641356F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Combine controles gratuitos con capacidades P1/P2 según el riesgo.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DF03E72-801C-4B3B-B206-DDD82B07DB68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F6E9B-9D53-4D05-B2CE-37ACC56FB12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994A2-DB56-4250-9410-762E1C41C2EB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1123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A3521D0-7B17-4C24-96AB-2E4B47C684E6}"/>
              </a:ext>
            </a:extLst>
          </p:cNvPr>
          <p:cNvSpPr>
            <a:spLocks noGrp="1"/>
          </p:cNvSpPr>
          <p:nvPr/>
        </p:nvSpPr>
        <p:spPr>
          <a:xfrm>
            <a:off x="2038350" y="2114550"/>
            <a:ext cx="0" cy="8953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DFC3B7-5D0E-4FB0-90F7-A70A1675E45E}"/>
              </a:ext>
            </a:extLst>
          </p:cNvPr>
          <p:cNvSpPr>
            <a:spLocks noGrp="1"/>
          </p:cNvSpPr>
          <p:nvPr/>
        </p:nvSpPr>
        <p:spPr>
          <a:xfrm>
            <a:off x="2324100" y="203835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2–4 cuentas Global Admin cloud-only para emergencia; roles mínimos; recomendaciones de contraseña; sin caducidad periódica cloud-only.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59EA7-545F-41FB-B51B-133202E65516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1123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07096D6-C33C-4EF8-B873-681C479AEB3F}"/>
              </a:ext>
            </a:extLst>
          </p:cNvPr>
          <p:cNvSpPr>
            <a:spLocks noGrp="1"/>
          </p:cNvSpPr>
          <p:nvPr/>
        </p:nvSpPr>
        <p:spPr>
          <a:xfrm>
            <a:off x="2038350" y="3371850"/>
            <a:ext cx="0" cy="895350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D8D07-3109-4EAE-BBB2-7015E1AFBF67}"/>
              </a:ext>
            </a:extLst>
          </p:cNvPr>
          <p:cNvSpPr>
            <a:spLocks noGrp="1"/>
          </p:cNvSpPr>
          <p:nvPr/>
        </p:nvSpPr>
        <p:spPr>
          <a:xfrm>
            <a:off x="2324100" y="329565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SSPR; lista de contraseñas prohibidas; Password Protection local; Smart Lockout; bloqueo de autenticación heredada; MFA con Conditional Access; registro combinado.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284C3-B927-4641-AD8A-B9C5C4A89C46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123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AF56CCC-8130-4902-A327-AD57686939E3}"/>
              </a:ext>
            </a:extLst>
          </p:cNvPr>
          <p:cNvSpPr>
            <a:spLocks noGrp="1"/>
          </p:cNvSpPr>
          <p:nvPr/>
        </p:nvSpPr>
        <p:spPr>
          <a:xfrm>
            <a:off x="2038350" y="4629150"/>
            <a:ext cx="0" cy="895350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9E0790-8B8E-43CF-AA5E-68EBEE48544A}"/>
              </a:ext>
            </a:extLst>
          </p:cNvPr>
          <p:cNvSpPr>
            <a:spLocks noGrp="1"/>
          </p:cNvSpPr>
          <p:nvPr/>
        </p:nvSpPr>
        <p:spPr>
          <a:xfrm>
            <a:off x="2324100" y="455295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Privileged Identity Management; detección de inicios riesgosos y credenciales comprometidas; respuestas automáticas basadas en riesgo.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FC12DF-6FC0-4260-A813-8EB044AD3BAA}"/>
              </a:ext>
            </a:extLst>
          </p:cNvPr>
          <p:cNvSpPr>
            <a:spLocks noGrp="1"/>
          </p:cNvSpPr>
          <p:nvPr/>
        </p:nvSpPr>
        <p:spPr>
          <a:xfrm>
            <a:off x="723900" y="5867400"/>
            <a:ext cx="10382250" cy="361950"/>
          </a:xfrm>
          <a:prstGeom prst="rect">
            <a:avLst/>
          </a:prstGeom>
          <a:solidFill>
            <a:srgbClr val="FEF2F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50BACC-2C22-4315-99EC-7D9C98BE0877}"/>
              </a:ext>
            </a:extLst>
          </p:cNvPr>
          <p:cNvSpPr>
            <a:spLocks noGrp="1"/>
          </p:cNvSpPr>
          <p:nvPr/>
        </p:nvSpPr>
        <p:spPr>
          <a:xfrm>
            <a:off x="895350" y="5943600"/>
            <a:ext cx="1000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Bloquee autenticación heredada y exija MFA antes de ampliar el perímetro de identidades.</a:t>
            </a:r>
          </a:p>
        </p:txBody>
      </p:sp>
    </p:spTree>
    <p:extLst>
      <p:ext uri="{BB962C8B-B14F-4D97-AF65-F5344CB8AC3E}">
        <p14:creationId xmlns:p14="http://schemas.microsoft.com/office/powerpoint/2010/main" val="113046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21F3A18-3C55-4D88-A64D-D17AF0370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9D28C-ADD9-4D01-B69D-A309974E750F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FASE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39A2EE-36ED-4229-9203-549DCC0F5E9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Sincronice identidades y prepare los dispositivos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246C0-A1FB-45B0-A9A9-01E62332E4A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La secuencia reduce retrabajo y mantiene una ruta de recuperación.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4A56EAD-571F-45FB-ACA6-3B05AABC2DF9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1BD2D-5516-422C-9615-E0BA1ED4FDA0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17427-4FA5-414A-A57E-11B6EB8192B5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9FD38-560F-495F-876C-C6B4AA8FBE58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5B34A45-790A-45A8-80F7-145F050E9B58}"/>
              </a:ext>
            </a:extLst>
          </p:cNvPr>
          <p:cNvSpPr>
            <a:spLocks noGrp="1"/>
          </p:cNvSpPr>
          <p:nvPr/>
        </p:nvSpPr>
        <p:spPr>
          <a:xfrm>
            <a:off x="1276350" y="2552700"/>
            <a:ext cx="1190625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24D944-AAC4-4EFD-BAFD-0C9E58A49B89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Instalar motor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2284D-D2A0-4BB2-8F3D-75EFA66EBBAA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Connect Sync o Cloud 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A2D57E-29AE-4C1B-A991-4A92D11A60D8}"/>
              </a:ext>
            </a:extLst>
          </p:cNvPr>
          <p:cNvSpPr>
            <a:spLocks noGrp="1"/>
          </p:cNvSpPr>
          <p:nvPr/>
        </p:nvSpPr>
        <p:spPr>
          <a:xfrm>
            <a:off x="2533650" y="234315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035E4-477B-42F2-B963-E5987B400744}"/>
              </a:ext>
            </a:extLst>
          </p:cNvPr>
          <p:cNvSpPr>
            <a:spLocks noGrp="1"/>
          </p:cNvSpPr>
          <p:nvPr/>
        </p:nvSpPr>
        <p:spPr>
          <a:xfrm>
            <a:off x="25336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33A0FBE-7E1F-45C7-90F8-760345F53CF9}"/>
              </a:ext>
            </a:extLst>
          </p:cNvPr>
          <p:cNvSpPr>
            <a:spLocks noGrp="1"/>
          </p:cNvSpPr>
          <p:nvPr/>
        </p:nvSpPr>
        <p:spPr>
          <a:xfrm>
            <a:off x="3028950" y="2552700"/>
            <a:ext cx="1190625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6A53A3-CD5D-4B83-8380-9F681A2C461E}"/>
              </a:ext>
            </a:extLst>
          </p:cNvPr>
          <p:cNvSpPr>
            <a:spLocks noGrp="1"/>
          </p:cNvSpPr>
          <p:nvPr/>
        </p:nvSpPr>
        <p:spPr>
          <a:xfrm>
            <a:off x="25336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Activar PHS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98C908-3752-4B9D-B7F0-564A2C66BA3D}"/>
              </a:ext>
            </a:extLst>
          </p:cNvPr>
          <p:cNvSpPr>
            <a:spLocks noGrp="1"/>
          </p:cNvSpPr>
          <p:nvPr/>
        </p:nvSpPr>
        <p:spPr>
          <a:xfrm>
            <a:off x="25336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Base de autenticación resiliente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83811E-A089-45AB-8C60-D6B0158CA265}"/>
              </a:ext>
            </a:extLst>
          </p:cNvPr>
          <p:cNvSpPr>
            <a:spLocks noGrp="1"/>
          </p:cNvSpPr>
          <p:nvPr/>
        </p:nvSpPr>
        <p:spPr>
          <a:xfrm>
            <a:off x="4286250" y="23431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99D872-6BD7-4699-8355-A02A4B00E990}"/>
              </a:ext>
            </a:extLst>
          </p:cNvPr>
          <p:cNvSpPr>
            <a:spLocks noGrp="1"/>
          </p:cNvSpPr>
          <p:nvPr/>
        </p:nvSpPr>
        <p:spPr>
          <a:xfrm>
            <a:off x="42862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4F0AC48-0748-42C1-B03F-67E96CE5F618}"/>
              </a:ext>
            </a:extLst>
          </p:cNvPr>
          <p:cNvSpPr>
            <a:spLocks noGrp="1"/>
          </p:cNvSpPr>
          <p:nvPr/>
        </p:nvSpPr>
        <p:spPr>
          <a:xfrm>
            <a:off x="4781550" y="2552700"/>
            <a:ext cx="1190625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40B7A5-4486-4292-A338-075B961B2D94}"/>
              </a:ext>
            </a:extLst>
          </p:cNvPr>
          <p:cNvSpPr>
            <a:spLocks noGrp="1"/>
          </p:cNvSpPr>
          <p:nvPr/>
        </p:nvSpPr>
        <p:spPr>
          <a:xfrm>
            <a:off x="42862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Habilitar writeback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EBFBA8-11E6-496F-AD74-B8F231464CFE}"/>
              </a:ext>
            </a:extLst>
          </p:cNvPr>
          <p:cNvSpPr>
            <a:spLocks noGrp="1"/>
          </p:cNvSpPr>
          <p:nvPr/>
        </p:nvSpPr>
        <p:spPr>
          <a:xfrm>
            <a:off x="42862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P1 cuando SSPR debe llegar a 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71B92D-8FA1-4270-BDF0-CC945580615E}"/>
              </a:ext>
            </a:extLst>
          </p:cNvPr>
          <p:cNvSpPr>
            <a:spLocks noGrp="1"/>
          </p:cNvSpPr>
          <p:nvPr/>
        </p:nvSpPr>
        <p:spPr>
          <a:xfrm>
            <a:off x="6038850" y="23431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6AC501-1F31-4B04-9B05-1E93D299BA2E}"/>
              </a:ext>
            </a:extLst>
          </p:cNvPr>
          <p:cNvSpPr>
            <a:spLocks noGrp="1"/>
          </p:cNvSpPr>
          <p:nvPr/>
        </p:nvSpPr>
        <p:spPr>
          <a:xfrm>
            <a:off x="60388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525A3FE-209D-4D34-935C-9094E2728FDD}"/>
              </a:ext>
            </a:extLst>
          </p:cNvPr>
          <p:cNvSpPr>
            <a:spLocks noGrp="1"/>
          </p:cNvSpPr>
          <p:nvPr/>
        </p:nvSpPr>
        <p:spPr>
          <a:xfrm>
            <a:off x="6534150" y="2552700"/>
            <a:ext cx="1190625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D652EE-9EDA-4500-80FE-E49600B80EB7}"/>
              </a:ext>
            </a:extLst>
          </p:cNvPr>
          <p:cNvSpPr>
            <a:spLocks noGrp="1"/>
          </p:cNvSpPr>
          <p:nvPr/>
        </p:nvSpPr>
        <p:spPr>
          <a:xfrm>
            <a:off x="60388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Monitorizar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430073-8BC2-4592-9898-2294DD6E907C}"/>
              </a:ext>
            </a:extLst>
          </p:cNvPr>
          <p:cNvSpPr>
            <a:spLocks noGrp="1"/>
          </p:cNvSpPr>
          <p:nvPr/>
        </p:nvSpPr>
        <p:spPr>
          <a:xfrm>
            <a:off x="60388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Connect Health para Connect/AD FS/DC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91B6F3-D741-4BE7-87CE-7CEA197109BB}"/>
              </a:ext>
            </a:extLst>
          </p:cNvPr>
          <p:cNvSpPr>
            <a:spLocks noGrp="1"/>
          </p:cNvSpPr>
          <p:nvPr/>
        </p:nvSpPr>
        <p:spPr>
          <a:xfrm>
            <a:off x="7791450" y="23431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8F0C01-E8D2-4FD0-B170-C9D155AB6391}"/>
              </a:ext>
            </a:extLst>
          </p:cNvPr>
          <p:cNvSpPr>
            <a:spLocks noGrp="1"/>
          </p:cNvSpPr>
          <p:nvPr/>
        </p:nvSpPr>
        <p:spPr>
          <a:xfrm>
            <a:off x="77914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C4127CA-803E-4D6D-9523-7FCF038CFEC0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1190625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31DC2-B979-471A-983E-0911323DD0BB}"/>
              </a:ext>
            </a:extLst>
          </p:cNvPr>
          <p:cNvSpPr>
            <a:spLocks noGrp="1"/>
          </p:cNvSpPr>
          <p:nvPr/>
        </p:nvSpPr>
        <p:spPr>
          <a:xfrm>
            <a:off x="77914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Gobernar acceso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93D7B9-28B3-4B38-AE4A-86618C7F84DB}"/>
              </a:ext>
            </a:extLst>
          </p:cNvPr>
          <p:cNvSpPr>
            <a:spLocks noGrp="1"/>
          </p:cNvSpPr>
          <p:nvPr/>
        </p:nvSpPr>
        <p:spPr>
          <a:xfrm>
            <a:off x="77914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Licencias por grupos, invitados y dispositivos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FDB339-5128-4A06-814E-3EACE9959526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82EA61-3FB5-4697-95A4-C4289C7A4FCA}"/>
              </a:ext>
            </a:extLst>
          </p:cNvPr>
          <p:cNvSpPr>
            <a:spLocks noGrp="1"/>
          </p:cNvSpPr>
          <p:nvPr/>
        </p:nvSpPr>
        <p:spPr>
          <a:xfrm>
            <a:off x="9544050" y="2438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30544C-0565-4A4A-9C4D-27D5D4B1FD4A}"/>
              </a:ext>
            </a:extLst>
          </p:cNvPr>
          <p:cNvSpPr>
            <a:spLocks noGrp="1"/>
          </p:cNvSpPr>
          <p:nvPr/>
        </p:nvSpPr>
        <p:spPr>
          <a:xfrm>
            <a:off x="9544050" y="29908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Modernizar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3E0DAF-C84C-44EB-9763-8B286A32513F}"/>
              </a:ext>
            </a:extLst>
          </p:cNvPr>
          <p:cNvSpPr>
            <a:spLocks noGrp="1"/>
          </p:cNvSpPr>
          <p:nvPr/>
        </p:nvSpPr>
        <p:spPr>
          <a:xfrm>
            <a:off x="9544050" y="3562350"/>
            <a:ext cx="1504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Windows Hello y métodos passwordless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BEEC26-CB94-466D-B01D-F3A565C2C8EF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10287000" cy="74295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646BFE-4159-4C4D-8CE3-A1E3CAF81B86}"/>
              </a:ext>
            </a:extLst>
          </p:cNvPr>
          <p:cNvSpPr>
            <a:spLocks noGrp="1"/>
          </p:cNvSpPr>
          <p:nvPr/>
        </p:nvSpPr>
        <p:spPr>
          <a:xfrm>
            <a:off x="990600" y="52863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07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Licencias clave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B035B-DA9B-40E3-BE0F-02B16A191280}"/>
              </a:ext>
            </a:extLst>
          </p:cNvPr>
          <p:cNvSpPr>
            <a:spLocks noGrp="1"/>
          </p:cNvSpPr>
          <p:nvPr/>
        </p:nvSpPr>
        <p:spPr>
          <a:xfrm>
            <a:off x="2609850" y="525780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27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Free: sincronización + PHS  ·  P1: password writeback, Connect Health, grupos, passwordless</a:t>
            </a:r>
          </a:p>
        </p:txBody>
      </p:sp>
    </p:spTree>
    <p:extLst>
      <p:ext uri="{BB962C8B-B14F-4D97-AF65-F5344CB8AC3E}">
        <p14:creationId xmlns:p14="http://schemas.microsoft.com/office/powerpoint/2010/main" val="18431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1216DC5-4ABF-4B0C-B7C8-E2CE8D8D98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6C335-1152-4A8E-A48E-1D3CC06DAD7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FASES 3–4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DDA319-AFE4-4AEC-B252-091F5DDF8BE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Integre aplicaciones y gobierne los privilegios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9877F-659C-4129-B443-31FAE2C435C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La identidad híbrida entrega valor cuando controla acceso y ciclo de vida.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00E3AE3-E2D3-466F-A325-1D97F9BC952F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A50DB8-A517-4371-93BA-E06868F51B2E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9C4A6-3334-4D49-BBE8-70CC6925E6DD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FASE 3 · APLICACIONES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4FE4CC6-3C47-48A8-98A3-624933A73EDE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476250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A7BE1-6DB3-4CA5-8F24-2B475D075D08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1732EC-1A43-4B7F-8A95-913F9CF34067}"/>
              </a:ext>
            </a:extLst>
          </p:cNvPr>
          <p:cNvSpPr>
            <a:spLocks noGrp="1"/>
          </p:cNvSpPr>
          <p:nvPr/>
        </p:nvSpPr>
        <p:spPr>
          <a:xfrm>
            <a:off x="1009650" y="26479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Inventariar apps locales, SaaS y de negocio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8A2BC-BF0A-4C68-8731-2437FC296A41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2B732B-3403-4EC1-A0F6-4A59884042D5}"/>
              </a:ext>
            </a:extLst>
          </p:cNvPr>
          <p:cNvSpPr>
            <a:spLocks noGrp="1"/>
          </p:cNvSpPr>
          <p:nvPr/>
        </p:nvSpPr>
        <p:spPr>
          <a:xfrm>
            <a:off x="1009650" y="32004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Integrar aplicaciones de la galería de Entra 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1B2B61-9D21-47F5-BFE2-D1A32C31197C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3EDD19-9BF8-4BC8-A2D5-0234FDDC8EFA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Publicar apps locales con Application Proxy (P1)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A7081B-B9C9-41DC-8187-652B0C838540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CFEEF5-C692-4939-874D-88C96BF914B0}"/>
              </a:ext>
            </a:extLst>
          </p:cNvPr>
          <p:cNvSpPr>
            <a:spLocks noGrp="1"/>
          </p:cNvSpPr>
          <p:nvPr/>
        </p:nvSpPr>
        <p:spPr>
          <a:xfrm>
            <a:off x="1009650" y="43053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Determinar qué apps deben quedar bajo Entra 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BD90-AAF6-4BD4-A383-82D093F9EEA6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FASE 4 · GOBIERNO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DF859AF-003C-4972-B374-95C29AB8436C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476250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FA25B6-794A-4CA4-A11E-9064CD816E97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9E78CC-4F51-4E89-A73D-46C83DBF93F0}"/>
              </a:ext>
            </a:extLst>
          </p:cNvPr>
          <p:cNvSpPr>
            <a:spLocks noGrp="1"/>
          </p:cNvSpPr>
          <p:nvPr/>
        </p:nvSpPr>
        <p:spPr>
          <a:xfrm>
            <a:off x="6724650" y="26479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Retirar roles permanentes de cuentas diarias con PIM (P2)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61E8A5-439D-4252-8120-F9331986EA92}"/>
              </a:ext>
            </a:extLst>
          </p:cNvPr>
          <p:cNvSpPr>
            <a:spLocks noGrp="1"/>
          </p:cNvSpPr>
          <p:nvPr/>
        </p:nvSpPr>
        <p:spPr>
          <a:xfrm>
            <a:off x="6477000" y="32004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92C295-ABAF-4621-B972-FDB96DE4D24A}"/>
              </a:ext>
            </a:extLst>
          </p:cNvPr>
          <p:cNvSpPr>
            <a:spLocks noGrp="1"/>
          </p:cNvSpPr>
          <p:nvPr/>
        </p:nvSpPr>
        <p:spPr>
          <a:xfrm>
            <a:off x="6724650" y="32004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Revisar acceso privilegiado periódicamente (P2)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FE9E0E-55BD-4E9D-BDB8-982D5079CDA6}"/>
              </a:ext>
            </a:extLst>
          </p:cNvPr>
          <p:cNvSpPr>
            <a:spLocks noGrp="1"/>
          </p:cNvSpPr>
          <p:nvPr/>
        </p:nvSpPr>
        <p:spPr>
          <a:xfrm>
            <a:off x="6477000" y="37528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F29F25-228C-4246-8597-908617E1D2B0}"/>
              </a:ext>
            </a:extLst>
          </p:cNvPr>
          <p:cNvSpPr>
            <a:spLocks noGrp="1"/>
          </p:cNvSpPr>
          <p:nvPr/>
        </p:nvSpPr>
        <p:spPr>
          <a:xfrm>
            <a:off x="6724650" y="37528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Crear grupos dinámicos por atributos (P1)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B40C7-9D05-4290-8A72-98D11882BB2A}"/>
              </a:ext>
            </a:extLst>
          </p:cNvPr>
          <p:cNvSpPr>
            <a:spLocks noGrp="1"/>
          </p:cNvSpPr>
          <p:nvPr/>
        </p:nvSpPr>
        <p:spPr>
          <a:xfrm>
            <a:off x="6477000" y="43053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557C41-5489-4E30-9DFB-1CFCE4457EE2}"/>
              </a:ext>
            </a:extLst>
          </p:cNvPr>
          <p:cNvSpPr>
            <a:spLocks noGrp="1"/>
          </p:cNvSpPr>
          <p:nvPr/>
        </p:nvSpPr>
        <p:spPr>
          <a:xfrm>
            <a:off x="6724650" y="43053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Automatizar altas/bajas desde RR. HH. (P1)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3D8F22-DD07-464D-BDC2-F33759CD334A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10477500" cy="419100"/>
          </a:xfrm>
          <a:prstGeom prst="rect">
            <a:avLst/>
          </a:prstGeom>
          <a:solidFill>
            <a:srgbClr val="F0FDF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967A3A-C946-4969-8874-C40EAECE07E8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1009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Resultado: la persona correcta accede al recurso correcto, en el momento correcto.</a:t>
            </a:r>
          </a:p>
        </p:txBody>
      </p:sp>
    </p:spTree>
    <p:extLst>
      <p:ext uri="{BB962C8B-B14F-4D97-AF65-F5344CB8AC3E}">
        <p14:creationId xmlns:p14="http://schemas.microsoft.com/office/powerpoint/2010/main" val="150790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83F290-2FCC-4EC8-944E-8C2A10DB7B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72CD4-FB95-4DC4-83DB-AC755B23DCD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APROVISIONAMIENTO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0045C-148F-421C-9EE4-8C5374EECF7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El ciclo de vida y la fuente de autoridad definen quién puede editar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D9EB9-B8AF-4FA8-8C53-770A310758B4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Al activar sincronización, los objetos sincronizados se administran desde el directorio local.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29C179A-2752-414D-9577-F3CD3B03BB10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5A521-86E8-4329-84D0-2F5399BFAED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B0A90-E0C8-4D4B-9090-7FDDF31E3939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000250" cy="971550"/>
          </a:xfrm>
          <a:prstGeom prst="rect">
            <a:avLst/>
          </a:prstGeom>
          <a:solidFill>
            <a:srgbClr val="FFFBE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2C0C6-33EA-4525-A70D-15CDDA4F9072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66675" cy="9715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599B7-7B93-4E53-8FD4-EE079C0F5DBE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733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Fuente de autoridad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AD local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57D0FF-E015-4BD0-A9D5-31F9D08F02D6}"/>
              </a:ext>
            </a:extLst>
          </p:cNvPr>
          <p:cNvSpPr>
            <a:spLocks noGrp="1"/>
          </p:cNvSpPr>
          <p:nvPr/>
        </p:nvSpPr>
        <p:spPr>
          <a:xfrm>
            <a:off x="3657600" y="2381250"/>
            <a:ext cx="1905000" cy="78105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526F80-005C-4044-ADA2-609430F9B203}"/>
              </a:ext>
            </a:extLst>
          </p:cNvPr>
          <p:cNvSpPr>
            <a:spLocks noGrp="1"/>
          </p:cNvSpPr>
          <p:nvPr/>
        </p:nvSpPr>
        <p:spPr>
          <a:xfrm>
            <a:off x="3657600" y="2381250"/>
            <a:ext cx="66675" cy="781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16EFAB-C221-4045-AE76-5225234D9A95}"/>
              </a:ext>
            </a:extLst>
          </p:cNvPr>
          <p:cNvSpPr>
            <a:spLocks noGrp="1"/>
          </p:cNvSpPr>
          <p:nvPr/>
        </p:nvSpPr>
        <p:spPr>
          <a:xfrm>
            <a:off x="3829050" y="24765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1 · Crear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C4F1F3-A31A-4143-A4DD-A883F18DB34E}"/>
              </a:ext>
            </a:extLst>
          </p:cNvPr>
          <p:cNvSpPr>
            <a:spLocks noGrp="1"/>
          </p:cNvSpPr>
          <p:nvPr/>
        </p:nvSpPr>
        <p:spPr>
          <a:xfrm>
            <a:off x="6457950" y="2381250"/>
            <a:ext cx="1905000" cy="78105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6AA083-92B6-4340-BD89-9F2F2BFFE2C3}"/>
              </a:ext>
            </a:extLst>
          </p:cNvPr>
          <p:cNvSpPr>
            <a:spLocks noGrp="1"/>
          </p:cNvSpPr>
          <p:nvPr/>
        </p:nvSpPr>
        <p:spPr>
          <a:xfrm>
            <a:off x="6457950" y="2381250"/>
            <a:ext cx="66675" cy="7810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561D44-0478-46A6-8B57-17E133D40270}"/>
              </a:ext>
            </a:extLst>
          </p:cNvPr>
          <p:cNvSpPr>
            <a:spLocks noGrp="1"/>
          </p:cNvSpPr>
          <p:nvPr/>
        </p:nvSpPr>
        <p:spPr>
          <a:xfrm>
            <a:off x="6629400" y="24765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2 · Mantener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E8651D-24F4-4054-A0C3-6D506AA05606}"/>
              </a:ext>
            </a:extLst>
          </p:cNvPr>
          <p:cNvSpPr>
            <a:spLocks noGrp="1"/>
          </p:cNvSpPr>
          <p:nvPr/>
        </p:nvSpPr>
        <p:spPr>
          <a:xfrm>
            <a:off x="9201150" y="2381250"/>
            <a:ext cx="1905000" cy="781050"/>
          </a:xfrm>
          <a:prstGeom prst="rect">
            <a:avLst/>
          </a:prstGeom>
          <a:solidFill>
            <a:srgbClr val="FEF2F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1DABC-BABB-4EDD-9B2B-BDE8EDEAEED1}"/>
              </a:ext>
            </a:extLst>
          </p:cNvPr>
          <p:cNvSpPr>
            <a:spLocks noGrp="1"/>
          </p:cNvSpPr>
          <p:nvPr/>
        </p:nvSpPr>
        <p:spPr>
          <a:xfrm>
            <a:off x="9201150" y="2381250"/>
            <a:ext cx="66675" cy="7810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2BEE89-84D2-46BB-B8EA-94E68B366546}"/>
              </a:ext>
            </a:extLst>
          </p:cNvPr>
          <p:cNvSpPr>
            <a:spLocks noGrp="1"/>
          </p:cNvSpPr>
          <p:nvPr/>
        </p:nvSpPr>
        <p:spPr>
          <a:xfrm>
            <a:off x="9372600" y="24765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3 · Retirar</a:t>
            </a:r>
          </a:p>
        </p:txBody>
      </p:sp>
      <p:cxnSp>
        <p:nvCxnSpPr>
          <p:cNvPr id="19" name="Straight Arrow Connector 18"/>
          <p:cNvCxnSpPr>
            <a:stCxn id="7" idx="3"/>
            <a:endCxn id="10" idx="1"/>
          </p:cNvCxnSpPr>
          <p:nvPr/>
        </p:nvCxnSpPr>
        <p:spPr>
          <a:xfrm>
            <a:off x="2857500" y="2771775"/>
            <a:ext cx="800100" cy="0"/>
          </a:xfrm>
          <a:prstGeom prst="straightConnector1">
            <a:avLst/>
          </a:prstGeom>
          <a:ln w="28575">
            <a:solidFill>
              <a:srgbClr val="F59E0B"/>
            </a:solidFill>
            <a:prstDash val="solid"/>
            <a:tailEnd type="arrow" w="sm" len="sm"/>
          </a:ln>
        </p:spPr>
      </p:cxnSp>
      <p:cxnSp>
        <p:nvCxnSpPr>
          <p:cNvPr id="20" name="Straight Arrow Connector 19"/>
          <p:cNvCxnSpPr>
            <a:stCxn id="10" idx="3"/>
            <a:endCxn id="13" idx="1"/>
          </p:cNvCxnSpPr>
          <p:nvPr/>
        </p:nvCxnSpPr>
        <p:spPr>
          <a:xfrm>
            <a:off x="5562600" y="2771775"/>
            <a:ext cx="89535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21" name="Straight Arrow Connector 20"/>
          <p:cNvCxnSpPr>
            <a:stCxn id="13" idx="3"/>
            <a:endCxn id="16" idx="1"/>
          </p:cNvCxnSpPr>
          <p:nvPr/>
        </p:nvCxnSpPr>
        <p:spPr>
          <a:xfrm>
            <a:off x="8362950" y="2771775"/>
            <a:ext cx="8382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09654D5-B97E-49AD-A1D8-9C1FEC60ECDA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395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TRES DOMINIOS DE APROVISIONAMIENTO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BDF97-CB6C-48A1-89E0-FE07CF92476F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RR. HH.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7D00DB-8D5B-41E4-BE68-F2DDA079F887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72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Alta y datos maestros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80B51E-F3D9-4885-BCFE-0F3EE54A9DBF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Directorios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67D8F6-4BC5-4BFF-8475-604E6CAC39E3}"/>
              </a:ext>
            </a:extLst>
          </p:cNvPr>
          <p:cNvSpPr>
            <a:spLocks noGrp="1"/>
          </p:cNvSpPr>
          <p:nvPr/>
        </p:nvSpPr>
        <p:spPr>
          <a:xfrm>
            <a:off x="3714750" y="48768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AD local ↔ Entra ID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C2A33-6A3A-45B6-831F-9DBE1C7E9B19}"/>
              </a:ext>
            </a:extLst>
          </p:cNvPr>
          <p:cNvSpPr>
            <a:spLocks noGrp="1"/>
          </p:cNvSpPr>
          <p:nvPr/>
        </p:nvSpPr>
        <p:spPr>
          <a:xfrm>
            <a:off x="6572250" y="44767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Aplicaciones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7FE79-DF12-4C78-8A81-EB6CB3E09509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Asignación y retirada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AB7102-B1BD-43BB-82D4-362D17658A68}"/>
              </a:ext>
            </a:extLst>
          </p:cNvPr>
          <p:cNvSpPr>
            <a:spLocks noGrp="1"/>
          </p:cNvSpPr>
          <p:nvPr/>
        </p:nvSpPr>
        <p:spPr>
          <a:xfrm>
            <a:off x="9429750" y="44767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25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Compromiso a largo plazo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9D667C-4B5A-4448-8E8E-D5E625B67E24}"/>
              </a:ext>
            </a:extLst>
          </p:cNvPr>
          <p:cNvSpPr>
            <a:spLocks noGrp="1"/>
          </p:cNvSpPr>
          <p:nvPr/>
        </p:nvSpPr>
        <p:spPr>
          <a:xfrm>
            <a:off x="9429750" y="487680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924"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Planifique desactivación y reactivación.</a:t>
            </a:r>
          </a:p>
        </p:txBody>
      </p:sp>
    </p:spTree>
    <p:extLst>
      <p:ext uri="{BB962C8B-B14F-4D97-AF65-F5344CB8AC3E}">
        <p14:creationId xmlns:p14="http://schemas.microsoft.com/office/powerpoint/2010/main" val="151387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70F1177-C170-421C-9303-D322995855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5276AF-956C-4B6E-8C31-2EA93F0D8B2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PREPARACIÓN DE 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6F720-46C7-4CAC-9F62-146C80E92FD6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La calidad del AD local determina la calidad del tenant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F95C9-ADA7-485B-B27A-F6621F1D21F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Defina autoridad, limpie atributos y habilite auditoría antes del primer ciclo.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BAFB041-99C1-48A4-9242-A662A6EA03B4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EC1EC-861F-4302-AD4C-2541DC8B7CF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24ADE8-67F8-42D8-8664-D548D54B91AA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0000"/>
              </a:lnSpc>
              <a:buNone/>
              <a:defRPr sz="39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2E58AE-4639-458D-811C-8AEC4F7656DC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frentes previos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90C7C3E-9D61-4F86-93EB-72A34A89A446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0" cy="23812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A0382-DD6B-4C84-B88D-64BBC4048AAD}"/>
              </a:ext>
            </a:extLst>
          </p:cNvPr>
          <p:cNvSpPr>
            <a:spLocks noGrp="1"/>
          </p:cNvSpPr>
          <p:nvPr/>
        </p:nvSpPr>
        <p:spPr>
          <a:xfrm>
            <a:off x="3619500" y="21336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02"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Fuente de autoridad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BF3EF-0DD7-4C5C-8C44-8AD5CC7E77B4}"/>
              </a:ext>
            </a:extLst>
          </p:cNvPr>
          <p:cNvSpPr>
            <a:spLocks noGrp="1"/>
          </p:cNvSpPr>
          <p:nvPr/>
        </p:nvSpPr>
        <p:spPr>
          <a:xfrm>
            <a:off x="3619500" y="2724150"/>
            <a:ext cx="2190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Ubicación original de administración de usuarios y grupos.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EF9A326-1370-49E4-804A-0980CD2E7D5C}"/>
              </a:ext>
            </a:extLst>
          </p:cNvPr>
          <p:cNvSpPr>
            <a:spLocks noGrp="1"/>
          </p:cNvSpPr>
          <p:nvPr/>
        </p:nvSpPr>
        <p:spPr>
          <a:xfrm>
            <a:off x="6048375" y="2190750"/>
            <a:ext cx="0" cy="2381250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D99FF1-24D9-4AA3-8C82-F4F834BF367D}"/>
              </a:ext>
            </a:extLst>
          </p:cNvPr>
          <p:cNvSpPr>
            <a:spLocks noGrp="1"/>
          </p:cNvSpPr>
          <p:nvPr/>
        </p:nvSpPr>
        <p:spPr>
          <a:xfrm>
            <a:off x="6238875" y="21336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Limpieza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6901BB-93DB-4852-9312-ECC732E19304}"/>
              </a:ext>
            </a:extLst>
          </p:cNvPr>
          <p:cNvSpPr>
            <a:spLocks noGrp="1"/>
          </p:cNvSpPr>
          <p:nvPr/>
        </p:nvSpPr>
        <p:spPr>
          <a:xfrm>
            <a:off x="6238875" y="2724150"/>
            <a:ext cx="2190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Duplicados, vacíos, formatos inválidos y caracteres cuestionables.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8299F14-CED7-4E30-A588-62ACA9745C35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0" cy="2381250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9ABEA6-9389-422C-A7CD-D650FAB76071}"/>
              </a:ext>
            </a:extLst>
          </p:cNvPr>
          <p:cNvSpPr>
            <a:spLocks noGrp="1"/>
          </p:cNvSpPr>
          <p:nvPr/>
        </p:nvSpPr>
        <p:spPr>
          <a:xfrm>
            <a:off x="8858250" y="21336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Auditoría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E84A32-9510-4E89-A0CA-1F2CB84FAA87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190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Trazabilidad de cambios y responsables antes de sincronizar.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AD78A3-25A4-44B2-84AD-B0A7604C1EB1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60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ATRIBUTOS QUE DEBEN REVISARSE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891C24-26F2-44EA-ABE5-8A2277F639A8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— proxyAddresses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6BFB87-E8B3-4CBD-A242-A93B71038096}"/>
              </a:ext>
            </a:extLst>
          </p:cNvPr>
          <p:cNvSpPr>
            <a:spLocks noGrp="1"/>
          </p:cNvSpPr>
          <p:nvPr/>
        </p:nvSpPr>
        <p:spPr>
          <a:xfrm>
            <a:off x="4257675" y="51054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— userPrincipalName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B04133-8EAB-400A-8512-38B1EA6F61A7}"/>
              </a:ext>
            </a:extLst>
          </p:cNvPr>
          <p:cNvSpPr>
            <a:spLocks noGrp="1"/>
          </p:cNvSpPr>
          <p:nvPr/>
        </p:nvSpPr>
        <p:spPr>
          <a:xfrm>
            <a:off x="7734300" y="51054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— givenName / sn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7DFA6E-DB6F-4FB7-BEC3-C242B592D2DB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— sAMAccountName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6FABAF-9478-4977-BB4A-22351AE20268}"/>
              </a:ext>
            </a:extLst>
          </p:cNvPr>
          <p:cNvSpPr>
            <a:spLocks noGrp="1"/>
          </p:cNvSpPr>
          <p:nvPr/>
        </p:nvSpPr>
        <p:spPr>
          <a:xfrm>
            <a:off x="4257675" y="5524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— displayName / mail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6AD0C5-14E5-4271-BE5B-A0A55EA57F14}"/>
              </a:ext>
            </a:extLst>
          </p:cNvPr>
          <p:cNvSpPr>
            <a:spLocks noGrp="1"/>
          </p:cNvSpPr>
          <p:nvPr/>
        </p:nvSpPr>
        <p:spPr>
          <a:xfrm>
            <a:off x="7734300" y="5524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— mailNickname</a:t>
            </a:r>
          </a:p>
        </p:txBody>
      </p:sp>
    </p:spTree>
    <p:extLst>
      <p:ext uri="{BB962C8B-B14F-4D97-AF65-F5344CB8AC3E}">
        <p14:creationId xmlns:p14="http://schemas.microsoft.com/office/powerpoint/2010/main" val="121561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1411D99-FA59-46FE-8A08-FF959154D0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FD97B-50BB-4DDC-A554-BCF9670F3C2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UPN SUFFIX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6DFBA4-5F4D-480A-9DA8-DE2C463AF47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Un UPN enrutable reduce fricción de inicio de sesión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D636F5-4341-4453-9ED4-F3E770EB5C6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27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Alinee el nombre de inicio de sesión con el dominio verificado y, preferentemente, con el SMTP principal.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1ABB679-F5F3-41A4-A212-EC41FFA9B386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CE53C-AE50-4238-A2C2-398A51D6A2C9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B9DE6A-ED53-47A6-AA17-5A3D860564E9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RECOMENDADO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4794D-33C0-4406-B9FD-4C8ACE7F604E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514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usuario@contoso.com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5C4E38-039C-45ED-8AF2-ADAC44694D30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Dominio DNS enrutable y verificado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F3BFD-2FA7-48D2-9B0C-8A71DFC36F35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EVITAR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38070-288C-4E34-ADDC-DDB86A8EA5D9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usuario@adatum.local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06934-1356-4F9B-A1D1-7A56BD84BEB5}"/>
              </a:ext>
            </a:extLst>
          </p:cNvPr>
          <p:cNvSpPr>
            <a:spLocks noGrp="1"/>
          </p:cNvSpPr>
          <p:nvPr/>
        </p:nvSpPr>
        <p:spPr>
          <a:xfrm>
            <a:off x="6572250" y="32004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83"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Puede transformarse en adatum.onmicrosoft.com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3F5CAD7-F38D-44C4-9151-7B5554FB80D1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0" cy="203835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8DDCFC-28AE-4689-99B9-03B2ABB56BEE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382250" cy="110490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6151D4-B322-4C73-98B6-C6DAEE7F0D2C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Regla práctica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E42B8-1D7C-49C0-A380-F07DAC8C7582}"/>
              </a:ext>
            </a:extLst>
          </p:cNvPr>
          <p:cNvSpPr>
            <a:spLocks noGrp="1"/>
          </p:cNvSpPr>
          <p:nvPr/>
        </p:nvSpPr>
        <p:spPr>
          <a:xfrm>
            <a:off x="2647950" y="426720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Use la dirección SMTP principal como UPN. Si cambia el sufijo local, revise aplicaciones que dependan del UPN anterior.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35220-158E-43B4-B450-C72D755FC327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10382250" cy="381000"/>
          </a:xfrm>
          <a:prstGeom prst="rect">
            <a:avLst/>
          </a:prstGeom>
          <a:solidFill>
            <a:srgbClr val="FFFBE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DC7DC3-1289-4882-9602-70158DDE9641}"/>
              </a:ext>
            </a:extLst>
          </p:cNvPr>
          <p:cNvSpPr>
            <a:spLocks noGrp="1"/>
          </p:cNvSpPr>
          <p:nvPr/>
        </p:nvSpPr>
        <p:spPr>
          <a:xfrm>
            <a:off x="933450" y="555307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2400E"/>
                </a:solidFill>
                <a:latin typeface="Aptos"/>
                <a:ea typeface="Aptos"/>
                <a:cs typeface="Aptos"/>
              </a:rPr>
              <a:t>Si la licencia se asignó antes de verificar el dominio, corrija el UPN cloud con PowerShell.</a:t>
            </a:r>
          </a:p>
        </p:txBody>
      </p:sp>
    </p:spTree>
    <p:extLst>
      <p:ext uri="{BB962C8B-B14F-4D97-AF65-F5344CB8AC3E}">
        <p14:creationId xmlns:p14="http://schemas.microsoft.com/office/powerpoint/2010/main" val="1540336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D29308D-6558-4954-9F81-CCF5A7EEC6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8CA89-7DE2-4003-A54B-74784F7D7A4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IDFIX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7AD84-046A-4369-8DAF-2B8A4A530FC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IdFix convierte errores de sincronización en cambios controlados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7204A5-FCC8-4955-ADFF-50F6DB412A9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Escanee el bosque, revise cada propuesta y conserve una ruta de reversión.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CFB25E1-7AD2-44A4-999E-B61DFDB257EE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4BA89-8980-4A79-AD0E-A6060698436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8CC77-42BD-4692-8A1D-135D81E73E57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000250" cy="68580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FA6D40-63D3-4FDC-9537-5E6761E20E23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72A4E-E205-4BA3-984A-784FE295E273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1733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7AC3F-3CF5-4BB7-8B54-2E5F3DFA7BAF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Consulta todos los dominios del bosque autenticado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DBB9F-7F0F-45C5-A063-CC6198A07C46}"/>
              </a:ext>
            </a:extLst>
          </p:cNvPr>
          <p:cNvSpPr>
            <a:spLocks noGrp="1"/>
          </p:cNvSpPr>
          <p:nvPr/>
        </p:nvSpPr>
        <p:spPr>
          <a:xfrm>
            <a:off x="3486150" y="2381250"/>
            <a:ext cx="2000250" cy="68580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F6DE0D-0C94-48E6-AC64-C980D7F1116D}"/>
              </a:ext>
            </a:extLst>
          </p:cNvPr>
          <p:cNvSpPr>
            <a:spLocks noGrp="1"/>
          </p:cNvSpPr>
          <p:nvPr/>
        </p:nvSpPr>
        <p:spPr>
          <a:xfrm>
            <a:off x="3486150" y="2381250"/>
            <a:ext cx="66675" cy="6858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588604-9115-4AC6-B000-5EC204BE4FDE}"/>
              </a:ext>
            </a:extLst>
          </p:cNvPr>
          <p:cNvSpPr>
            <a:spLocks noGrp="1"/>
          </p:cNvSpPr>
          <p:nvPr/>
        </p:nvSpPr>
        <p:spPr>
          <a:xfrm>
            <a:off x="3657600" y="2476500"/>
            <a:ext cx="1733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E9B3CE-8D64-4EBD-8181-03A12CFDBF46}"/>
              </a:ext>
            </a:extLst>
          </p:cNvPr>
          <p:cNvSpPr>
            <a:spLocks noGrp="1"/>
          </p:cNvSpPr>
          <p:nvPr/>
        </p:nvSpPr>
        <p:spPr>
          <a:xfrm>
            <a:off x="3486150" y="3276600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Muestra atributos que producirían errores</a:t>
            </a:r>
          </a:p>
        </p:txBody>
      </p:sp>
      <p:cxnSp>
        <p:nvCxnSpPr>
          <p:cNvPr id="15" name="Straight Arrow Connector 14"/>
          <p:cNvCxnSpPr>
            <a:stCxn id="7" idx="3"/>
            <a:endCxn id="11" idx="1"/>
          </p:cNvCxnSpPr>
          <p:nvPr/>
        </p:nvCxnSpPr>
        <p:spPr>
          <a:xfrm>
            <a:off x="2762250" y="2724150"/>
            <a:ext cx="723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arrow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8BBB53A-5ECC-4870-ADB0-149269D509D0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00250" cy="68580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B7242-0968-40E4-9897-ED4A23CF64A7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7DE25-1B88-424E-9C7C-CD1505593A75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1733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D64BE8-8502-4CE8-A409-5BF03BA0FC2D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El administrador confirma los objetos a modificar</a:t>
            </a:r>
          </a:p>
        </p:txBody>
      </p:sp>
      <p:cxnSp>
        <p:nvCxnSpPr>
          <p:cNvPr id="20" name="Straight Arrow Connector 19"/>
          <p:cNvCxnSpPr>
            <a:stCxn id="11" idx="3"/>
            <a:endCxn id="16" idx="1"/>
          </p:cNvCxnSpPr>
          <p:nvPr/>
        </p:nvCxnSpPr>
        <p:spPr>
          <a:xfrm>
            <a:off x="5486400" y="2724150"/>
            <a:ext cx="723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arrow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458E541-4FFA-46FB-BD4C-581AB08B065A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2000250" cy="68580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EF1D2E-1BEF-4B1A-9C71-CDF9B22FE818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66675" cy="6858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0ECECE-2B51-4BE7-8ADD-C4BA0C30662C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1733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23099-A796-41B8-BA4D-FEA9AB1E7B68}"/>
              </a:ext>
            </a:extLst>
          </p:cNvPr>
          <p:cNvSpPr>
            <a:spLocks noGrp="1"/>
          </p:cNvSpPr>
          <p:nvPr/>
        </p:nvSpPr>
        <p:spPr>
          <a:xfrm>
            <a:off x="8934450" y="3276600"/>
            <a:ext cx="209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Deshace actualizaciones confirmadas</a:t>
            </a:r>
          </a:p>
        </p:txBody>
      </p:sp>
      <p:cxnSp>
        <p:nvCxnSpPr>
          <p:cNvPr id="25" name="Straight Arrow Connector 24"/>
          <p:cNvCxnSpPr>
            <a:stCxn id="16" idx="3"/>
            <a:endCxn id="21" idx="1"/>
          </p:cNvCxnSpPr>
          <p:nvPr/>
        </p:nvCxnSpPr>
        <p:spPr>
          <a:xfrm>
            <a:off x="8210550" y="2724150"/>
            <a:ext cx="723900" cy="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  <a:tailEnd type="arrow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579C115-9DE2-443E-985C-57218432C058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CAPACIDADES OPERATIVAS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D3BBF7-4938-42FD-8DBF-E3385E2A9EF7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Save to File  ·  Import CSV por distinguishedName  ·  verbose logging  ·  exclusiones del sistema  ·  multi-tenant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2CE8E-D837-4A9E-8382-4BEECD3DE00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Precaución: IdFix permite actualizaciones masivas. Revise y apruebe antes de confirmar.</a:t>
            </a:r>
          </a:p>
        </p:txBody>
      </p:sp>
    </p:spTree>
    <p:extLst>
      <p:ext uri="{BB962C8B-B14F-4D97-AF65-F5344CB8AC3E}">
        <p14:creationId xmlns:p14="http://schemas.microsoft.com/office/powerpoint/2010/main" val="1957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BD3E802-3015-410D-9E64-D68454F48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C9F7E3-1B48-415D-B528-B2E2DEC607DA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SELECCIÓN DE HERRAMIENTA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2EFC4-7D2C-414E-AD17-F69C113811A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La topología decide entre Connect Sync y Cloud Sync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40F59-598A-40D1-A420-B82099288B2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Elija por requisitos de atributos, objetos, bosques, operación y writeback.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02AEF22-4E92-44B3-80C2-116A3617296D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76C43D-FB6F-401D-9F81-8818E750D529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C74B9-6E00-4C2C-94EB-71EA3B5AA748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Microsoft Entra Connect Sync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D1288C9-DF49-48E1-898E-127244F86814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4572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05B99-799D-4EE9-9E81-7E7FFB4897FC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761DD4-A503-4D51-8249-DB3C09E9AD3A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Control avanzado de atributos y reglas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17ABD-AE3A-4700-962B-C476749243F1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094F2-D57A-4CB9-AD46-5AD3D77D2E1E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Dispositivos, device/group writeback y Exchange híbrido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EF7C4-B900-4277-85DC-A3BE307A50DB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C888ED-C4C7-4084-B543-254CDCE4FEDE}"/>
              </a:ext>
            </a:extLst>
          </p:cNvPr>
          <p:cNvSpPr>
            <a:spLocks noGrp="1"/>
          </p:cNvSpPr>
          <p:nvPr/>
        </p:nvSpPr>
        <p:spPr>
          <a:xfrm>
            <a:off x="1028700" y="40957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LDAP y grandes volúmenes sin límite por dominio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F59E0-EB17-439F-A851-78F2EAAAB3FE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08537-E087-417B-A094-E811CC21649C}"/>
              </a:ext>
            </a:extLst>
          </p:cNvPr>
          <p:cNvSpPr>
            <a:spLocks noGrp="1"/>
          </p:cNvSpPr>
          <p:nvPr/>
        </p:nvSpPr>
        <p:spPr>
          <a:xfrm>
            <a:off x="1028700" y="47053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Mayor infraestructura, SQL y mantenimiento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3726DC-D56B-4304-B1DA-BCCFD3BC52DD}"/>
              </a:ext>
            </a:extLst>
          </p:cNvPr>
          <p:cNvSpPr>
            <a:spLocks noGrp="1"/>
          </p:cNvSpPr>
          <p:nvPr/>
        </p:nvSpPr>
        <p:spPr>
          <a:xfrm>
            <a:off x="6553200" y="21145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Microsoft Entra Cloud Sync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F3355E7-9DFA-4BC3-AB62-31839AF32A38}"/>
              </a:ext>
            </a:extLst>
          </p:cNvPr>
          <p:cNvSpPr>
            <a:spLocks noGrp="1"/>
          </p:cNvSpPr>
          <p:nvPr/>
        </p:nvSpPr>
        <p:spPr>
          <a:xfrm>
            <a:off x="6553200" y="2590800"/>
            <a:ext cx="45720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D953FD-EDB2-446E-AAB9-E0151221B2A4}"/>
              </a:ext>
            </a:extLst>
          </p:cNvPr>
          <p:cNvSpPr>
            <a:spLocks noGrp="1"/>
          </p:cNvSpPr>
          <p:nvPr/>
        </p:nvSpPr>
        <p:spPr>
          <a:xfrm>
            <a:off x="6553200" y="28765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2602EC-ED47-4656-B62C-3F63BE5741C9}"/>
              </a:ext>
            </a:extLst>
          </p:cNvPr>
          <p:cNvSpPr>
            <a:spLocks noGrp="1"/>
          </p:cNvSpPr>
          <p:nvPr/>
        </p:nvSpPr>
        <p:spPr>
          <a:xfrm>
            <a:off x="6800850" y="28765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Agentes ligeros y configuración cloud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52647F-EA9A-452A-8831-39A955F317D5}"/>
              </a:ext>
            </a:extLst>
          </p:cNvPr>
          <p:cNvSpPr>
            <a:spLocks noGrp="1"/>
          </p:cNvSpPr>
          <p:nvPr/>
        </p:nvSpPr>
        <p:spPr>
          <a:xfrm>
            <a:off x="6553200" y="34861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05589F-E37E-42C1-9AE8-D1BCE43C144A}"/>
              </a:ext>
            </a:extLst>
          </p:cNvPr>
          <p:cNvSpPr>
            <a:spLocks noGrp="1"/>
          </p:cNvSpPr>
          <p:nvPr/>
        </p:nvSpPr>
        <p:spPr>
          <a:xfrm>
            <a:off x="6800850" y="34861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Bosques desconectados sin conectividad entre ellos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5A341E-F631-43DF-9E58-89EE5AD56021}"/>
              </a:ext>
            </a:extLst>
          </p:cNvPr>
          <p:cNvSpPr>
            <a:spLocks noGrp="1"/>
          </p:cNvSpPr>
          <p:nvPr/>
        </p:nvSpPr>
        <p:spPr>
          <a:xfrm>
            <a:off x="6553200" y="40957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F591A4-86D4-453B-845B-458FC022FFF8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Varios agentes para alta disponibilidad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9DBA0-CB71-4346-9707-4C853F1D8041}"/>
              </a:ext>
            </a:extLst>
          </p:cNvPr>
          <p:cNvSpPr>
            <a:spLocks noGrp="1"/>
          </p:cNvSpPr>
          <p:nvPr/>
        </p:nvSpPr>
        <p:spPr>
          <a:xfrm>
            <a:off x="6553200" y="4705350"/>
            <a:ext cx="171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1C07D9-998A-470F-9C5D-C8B70E12E43E}"/>
              </a:ext>
            </a:extLst>
          </p:cNvPr>
          <p:cNvSpPr>
            <a:spLocks noGrp="1"/>
          </p:cNvSpPr>
          <p:nvPr/>
        </p:nvSpPr>
        <p:spPr>
          <a:xfrm>
            <a:off x="6800850" y="4705350"/>
            <a:ext cx="441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Hasta 150.000 objetos por dominio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C169B8-4331-4837-9ED3-D55FF8636308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10344150" cy="361950"/>
          </a:xfrm>
          <a:prstGeom prst="rect">
            <a:avLst/>
          </a:prstGeom>
          <a:solidFill>
            <a:srgbClr val="F0FDF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1835AD-B8B4-4678-8F6F-E5A9FC560F22}"/>
              </a:ext>
            </a:extLst>
          </p:cNvPr>
          <p:cNvSpPr>
            <a:spLocks noGrp="1"/>
          </p:cNvSpPr>
          <p:nvPr/>
        </p:nvSpPr>
        <p:spPr>
          <a:xfrm>
            <a:off x="933450" y="580072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Puede coexistir: asigne cada objeto al scope de una sola herramienta.</a:t>
            </a:r>
          </a:p>
        </p:txBody>
      </p:sp>
    </p:spTree>
    <p:extLst>
      <p:ext uri="{BB962C8B-B14F-4D97-AF65-F5344CB8AC3E}">
        <p14:creationId xmlns:p14="http://schemas.microsoft.com/office/powerpoint/2010/main" val="134953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BAB5951-0244-4215-8F44-5CB33AF145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23D311-5807-4E71-AE42-60EE78AF654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ARQUITECTURA DE CONNECT SYNC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614C4-DF09-411C-BD1B-A2C3E909A75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Connect Sync ejecuta el motor de identidad dentro del entorno local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DE2D2-1D52-4908-94DB-B97938F0488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La configuración y el aprovisionamiento viven en el servidor de sincronización.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CD235E7-CCDE-43B1-9070-E353DB28F017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7A0C0-CB53-49DD-B113-B84ED2F2982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86A119-5083-4FD1-B4E0-6C32BD4EDD7B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095500" cy="95250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FC361-2BA3-41CE-B6E7-2C860CC12878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66675" cy="952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B3C664-7353-485C-8831-B5FA677BE0DC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828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AD DS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uno o varios bosques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6DF8A-2618-4E59-B632-D66EEA6E0639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2476500" cy="133350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21311-0027-4477-845A-305D898F9374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66675" cy="13335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A7F9E-7501-4556-A47A-597642D54D4D}"/>
              </a:ext>
            </a:extLst>
          </p:cNvPr>
          <p:cNvSpPr>
            <a:spLocks noGrp="1"/>
          </p:cNvSpPr>
          <p:nvPr/>
        </p:nvSpPr>
        <p:spPr>
          <a:xfrm>
            <a:off x="4267200" y="2381250"/>
            <a:ext cx="2209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Servidor Connect Sync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Sync engine + reglas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9696EB-994F-4088-987E-B16280503716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2476500" cy="838200"/>
          </a:xfrm>
          <a:prstGeom prst="rect">
            <a:avLst/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FC3477-107B-44D5-B040-E2E4E51A1F2D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66675" cy="838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B727CB-3E2B-481A-AD5A-123EB581DF4C}"/>
              </a:ext>
            </a:extLst>
          </p:cNvPr>
          <p:cNvSpPr>
            <a:spLocks noGrp="1"/>
          </p:cNvSpPr>
          <p:nvPr/>
        </p:nvSpPr>
        <p:spPr>
          <a:xfrm>
            <a:off x="4267200" y="4572000"/>
            <a:ext cx="2209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698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SQL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LocalDB o SQL Server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84765-E5ED-4283-B7BB-6084E370D017}"/>
              </a:ext>
            </a:extLst>
          </p:cNvPr>
          <p:cNvSpPr>
            <a:spLocks noGrp="1"/>
          </p:cNvSpPr>
          <p:nvPr/>
        </p:nvSpPr>
        <p:spPr>
          <a:xfrm>
            <a:off x="7848600" y="2476500"/>
            <a:ext cx="2476500" cy="95250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333BB-FE9D-4794-96B0-A5F487010A43}"/>
              </a:ext>
            </a:extLst>
          </p:cNvPr>
          <p:cNvSpPr>
            <a:spLocks noGrp="1"/>
          </p:cNvSpPr>
          <p:nvPr/>
        </p:nvSpPr>
        <p:spPr>
          <a:xfrm>
            <a:off x="7848600" y="2476500"/>
            <a:ext cx="66675" cy="952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1F15AD-5EE0-44EF-AF08-CFF4E2A1605C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09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Microsoft Entra ID</a:t>
            </a:r>
          </a:p>
        </p:txBody>
      </p:sp>
      <p:cxnSp>
        <p:nvCxnSpPr>
          <p:cNvPr id="19" name="Straight Arrow Connector 18"/>
          <p:cNvCxnSpPr>
            <a:stCxn id="7" idx="3"/>
            <a:endCxn id="10" idx="1"/>
          </p:cNvCxnSpPr>
          <p:nvPr/>
        </p:nvCxnSpPr>
        <p:spPr>
          <a:xfrm>
            <a:off x="2876550" y="2952750"/>
            <a:ext cx="12192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20" name="Straight Arrow Connector 19"/>
          <p:cNvCxnSpPr>
            <a:stCxn id="10" idx="3"/>
            <a:endCxn id="16" idx="1"/>
          </p:cNvCxnSpPr>
          <p:nvPr/>
        </p:nvCxnSpPr>
        <p:spPr>
          <a:xfrm>
            <a:off x="6572250" y="2952750"/>
            <a:ext cx="127635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cxnSp>
        <p:nvCxnSpPr>
          <p:cNvPr id="21" name="Straight Arrow Connector 20"/>
          <p:cNvCxnSpPr>
            <a:stCxn id="10" idx="2"/>
            <a:endCxn id="13" idx="0"/>
          </p:cNvCxnSpPr>
          <p:nvPr/>
        </p:nvCxnSpPr>
        <p:spPr>
          <a:xfrm>
            <a:off x="5334000" y="3619500"/>
            <a:ext cx="0" cy="857250"/>
          </a:xfrm>
          <a:prstGeom prst="straightConnector1">
            <a:avLst/>
          </a:prstGeom>
          <a:ln w="28575">
            <a:solidFill>
              <a:srgbClr val="F59E0B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C228894-0BBB-4E35-B063-E2EE1E836307}"/>
              </a:ext>
            </a:extLst>
          </p:cNvPr>
          <p:cNvSpPr>
            <a:spLocks noGrp="1"/>
          </p:cNvSpPr>
          <p:nvPr/>
        </p:nvSpPr>
        <p:spPr>
          <a:xfrm>
            <a:off x="7848600" y="4476750"/>
            <a:ext cx="2476500" cy="838200"/>
          </a:xfrm>
          <a:prstGeom prst="rect">
            <a:avLst/>
          </a:prstGeom>
          <a:solidFill>
            <a:srgbClr val="F0FDF4"/>
          </a:solidFill>
          <a:ln w="14288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08AC8E-A72B-422B-8BAB-B0BEB3055E3F}"/>
              </a:ext>
            </a:extLst>
          </p:cNvPr>
          <p:cNvSpPr>
            <a:spLocks noGrp="1"/>
          </p:cNvSpPr>
          <p:nvPr/>
        </p:nvSpPr>
        <p:spPr>
          <a:xfrm>
            <a:off x="7848600" y="4476750"/>
            <a:ext cx="66675" cy="8382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5C6499-C375-4754-B594-8955DC16A301}"/>
              </a:ext>
            </a:extLst>
          </p:cNvPr>
          <p:cNvSpPr>
            <a:spLocks noGrp="1"/>
          </p:cNvSpPr>
          <p:nvPr/>
        </p:nvSpPr>
        <p:spPr>
          <a:xfrm>
            <a:off x="8020050" y="4572000"/>
            <a:ext cx="2209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947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Connect Health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monitorización centralizada</a:t>
            </a:r>
          </a:p>
        </p:txBody>
      </p:sp>
      <p:cxnSp>
        <p:nvCxnSpPr>
          <p:cNvPr id="25" name="Connector: Elbow 24"/>
          <p:cNvCxnSpPr>
            <a:stCxn id="10" idx="2"/>
            <a:endCxn id="22" idx="1"/>
          </p:cNvCxnSpPr>
          <p:nvPr/>
        </p:nvCxnSpPr>
        <p:spPr>
          <a:xfrm>
            <a:off x="5334000" y="3619500"/>
            <a:ext cx="2514600" cy="1276350"/>
          </a:xfrm>
          <a:prstGeom prst="bentConnector5">
            <a:avLst>
              <a:gd name="adj1" fmla="val 0"/>
              <a:gd name="adj2" fmla="val 17910"/>
              <a:gd name="adj3" fmla="val 90909"/>
            </a:avLst>
          </a:prstGeom>
          <a:ln w="19050">
            <a:solidFill>
              <a:srgbClr val="16A34A"/>
            </a:solidFill>
            <a:prstDash val="dash"/>
            <a:tailEnd type="arrow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4FBB187-47A9-4C3B-9DF9-0B28D7896DED}"/>
              </a:ext>
            </a:extLst>
          </p:cNvPr>
          <p:cNvSpPr>
            <a:spLocks noGrp="1"/>
          </p:cNvSpPr>
          <p:nvPr/>
        </p:nvSpPr>
        <p:spPr>
          <a:xfrm>
            <a:off x="8896350" y="3771900"/>
            <a:ext cx="1428750" cy="2667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68E0C5-3966-4D56-ACD6-04740E0B40B3}"/>
              </a:ext>
            </a:extLst>
          </p:cNvPr>
          <p:cNvSpPr>
            <a:spLocks noGrp="1"/>
          </p:cNvSpPr>
          <p:nvPr/>
        </p:nvSpPr>
        <p:spPr>
          <a:xfrm>
            <a:off x="8972550" y="381000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 SALIENTE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BCE2BD-45A3-4989-AD1E-536C0FEA8D86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2647A"/>
                </a:solidFill>
                <a:latin typeface="Aptos"/>
                <a:ea typeface="Aptos"/>
                <a:cs typeface="Aptos"/>
              </a:rPr>
              <a:t>Instalación habitual: servidor dedicado unido al dominio. Puede instalarse en un DC, pero debe tratarse como Tier 0.</a:t>
            </a:r>
          </a:p>
        </p:txBody>
      </p:sp>
    </p:spTree>
    <p:extLst>
      <p:ext uri="{BB962C8B-B14F-4D97-AF65-F5344CB8AC3E}">
        <p14:creationId xmlns:p14="http://schemas.microsoft.com/office/powerpoint/2010/main" val="653526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8F88246-9479-4909-A22F-B69736DEC9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D8E494-BB89-4620-AB7C-20E8895ECB5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CAPACIDADES DE CONNECT SYNC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5609E5-721A-497D-812C-FE34C281C3B7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Connect Sync aporta control profundo y writeback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5A6AF-067E-4A3E-B337-4322145461F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Express acelera lo simple; Custom cubre topologías y requisitos avanzados.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6730F11-A33E-432A-91FA-888A40070E27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F95E2-37A6-4F67-AC3F-769110A8B87E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6725B-146F-4933-8125-151FE0D2C3CB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Filtering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4D2894B-EDF8-484A-90CF-9EF82F04557C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87B190-2F50-40A0-AC76-81F7D9DF1C26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Dominios, OUs y atributos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4FDC93-4B0B-4EDA-A13C-5FA6DFA33442}"/>
              </a:ext>
            </a:extLst>
          </p:cNvPr>
          <p:cNvSpPr>
            <a:spLocks noGrp="1"/>
          </p:cNvSpPr>
          <p:nvPr/>
        </p:nvSpPr>
        <p:spPr>
          <a:xfrm>
            <a:off x="4257675" y="20955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PHS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D6DDFD1-7076-41CA-9952-CD167F6E3758}"/>
              </a:ext>
            </a:extLst>
          </p:cNvPr>
          <p:cNvSpPr>
            <a:spLocks noGrp="1"/>
          </p:cNvSpPr>
          <p:nvPr/>
        </p:nvSpPr>
        <p:spPr>
          <a:xfrm>
            <a:off x="4257675" y="255270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9D2D9-EA0E-4C24-B40B-CC57E220D0B9}"/>
              </a:ext>
            </a:extLst>
          </p:cNvPr>
          <p:cNvSpPr>
            <a:spLocks noGrp="1"/>
          </p:cNvSpPr>
          <p:nvPr/>
        </p:nvSpPr>
        <p:spPr>
          <a:xfrm>
            <a:off x="4257675" y="270510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Hash del hash de contraseña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804F1-338D-42B1-B5DB-D2699A9FFD1B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Password writeback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6F4F0CB-17D5-4EFA-8A7C-8C1A191EA931}"/>
              </a:ext>
            </a:extLst>
          </p:cNvPr>
          <p:cNvSpPr>
            <a:spLocks noGrp="1"/>
          </p:cNvSpPr>
          <p:nvPr/>
        </p:nvSpPr>
        <p:spPr>
          <a:xfrm>
            <a:off x="7734300" y="255270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CCFDE-385A-49D0-B874-C2FE07A61812}"/>
              </a:ext>
            </a:extLst>
          </p:cNvPr>
          <p:cNvSpPr>
            <a:spLocks noGrp="1"/>
          </p:cNvSpPr>
          <p:nvPr/>
        </p:nvSpPr>
        <p:spPr>
          <a:xfrm>
            <a:off x="7734300" y="270510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Cambios cloud → AD local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46C48-492A-459E-92A7-54599F2464C7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Device writeback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FE77BBD-4C51-48E9-88C5-9C491B843AB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B47AE9-44D5-4670-B7E1-BA92B6DB5C7F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Dispositivos Entra → 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3C950-76B3-42B5-9ACF-5ACF7FA713DD}"/>
              </a:ext>
            </a:extLst>
          </p:cNvPr>
          <p:cNvSpPr>
            <a:spLocks noGrp="1"/>
          </p:cNvSpPr>
          <p:nvPr/>
        </p:nvSpPr>
        <p:spPr>
          <a:xfrm>
            <a:off x="4257675" y="35623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Delete protection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7F3F6BD-AC50-43BD-8C15-C71B54C342B3}"/>
              </a:ext>
            </a:extLst>
          </p:cNvPr>
          <p:cNvSpPr>
            <a:spLocks noGrp="1"/>
          </p:cNvSpPr>
          <p:nvPr/>
        </p:nvSpPr>
        <p:spPr>
          <a:xfrm>
            <a:off x="4257675" y="401955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E922C8-5C68-44A3-A0E9-C832DEE5277C}"/>
              </a:ext>
            </a:extLst>
          </p:cNvPr>
          <p:cNvSpPr>
            <a:spLocks noGrp="1"/>
          </p:cNvSpPr>
          <p:nvPr/>
        </p:nvSpPr>
        <p:spPr>
          <a:xfrm>
            <a:off x="4257675" y="417195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500 eliminaciones por ejecución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7C9549-0A2E-4535-B976-7520B26E2262}"/>
              </a:ext>
            </a:extLst>
          </p:cNvPr>
          <p:cNvSpPr>
            <a:spLocks noGrp="1"/>
          </p:cNvSpPr>
          <p:nvPr/>
        </p:nvSpPr>
        <p:spPr>
          <a:xfrm>
            <a:off x="7734300" y="35623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Automatic upgrade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AD9CE56-A08D-4776-B643-BA278A53DB07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29527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7417F2-5255-4C37-98E3-A8199D5CB699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3000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Activo por defecto con Express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FA010901-7DD5-4749-811D-808CBAE57EC4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10287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117597-7C4C-4CA4-8DC1-FF2298DF83F3}"/>
              </a:ext>
            </a:extLst>
          </p:cNvPr>
          <p:cNvSpPr>
            <a:spLocks noGrp="1"/>
          </p:cNvSpPr>
          <p:nvPr/>
        </p:nvSpPr>
        <p:spPr>
          <a:xfrm>
            <a:off x="781050" y="54483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6A34A"/>
                </a:solidFill>
                <a:latin typeface="Aptos"/>
                <a:ea typeface="Aptos"/>
                <a:cs typeface="Aptos"/>
              </a:rPr>
              <a:t>Express Settings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59895B-98A8-4129-BCD0-548504FE992C}"/>
              </a:ext>
            </a:extLst>
          </p:cNvPr>
          <p:cNvSpPr>
            <a:spLocks noGrp="1"/>
          </p:cNvSpPr>
          <p:nvPr/>
        </p:nvSpPr>
        <p:spPr>
          <a:xfrm>
            <a:off x="2971800" y="546735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22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Escenarios sencillos y despliegue rápido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7CA332-E85E-4010-83E9-47C55B66C1AE}"/>
              </a:ext>
            </a:extLst>
          </p:cNvPr>
          <p:cNvSpPr>
            <a:spLocks noGrp="1"/>
          </p:cNvSpPr>
          <p:nvPr/>
        </p:nvSpPr>
        <p:spPr>
          <a:xfrm>
            <a:off x="6381750" y="5448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4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7C3AED"/>
                </a:solidFill>
                <a:latin typeface="Aptos"/>
                <a:ea typeface="Aptos"/>
                <a:cs typeface="Aptos"/>
              </a:rPr>
              <a:t>Custom Settings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95FEDB-C528-4856-ACA7-DF8D2F5FACE5}"/>
              </a:ext>
            </a:extLst>
          </p:cNvPr>
          <p:cNvSpPr>
            <a:spLocks noGrp="1"/>
          </p:cNvSpPr>
          <p:nvPr/>
        </p:nvSpPr>
        <p:spPr>
          <a:xfrm>
            <a:off x="8477250" y="54102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18"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Múltiples bosques, proxy, cuentas o funciones opcionales</a:t>
            </a:r>
          </a:p>
        </p:txBody>
      </p:sp>
    </p:spTree>
    <p:extLst>
      <p:ext uri="{BB962C8B-B14F-4D97-AF65-F5344CB8AC3E}">
        <p14:creationId xmlns:p14="http://schemas.microsoft.com/office/powerpoint/2010/main" val="627339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B3B7BF1-AFAD-4DC3-AF8E-1FE7813A3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94999C-3CA8-4D63-8B1A-80A82175CBC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ESCALA Y PLATAFORMA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B03111-DDBA-471B-BF31-E7DC34EA9F7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Los límites de objetos definen SQL y hardware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C2A91-DA9B-417D-9B6E-25452DAADBE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 partir de 100.000 objetos, use SQL Server completo y aumente memoria y disco.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B3DCB8B-0D34-450A-9205-5CE17D221046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1C94E-B8FF-4582-A00F-F2FFFADA795B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762000" y="2000250"/>
          <a:ext cx="6572252" cy="3619497"/>
        </p:xfrm>
        <a:graphic>
          <a:graphicData uri="http://schemas.openxmlformats.org/drawingml/2006/table">
            <a:tbl>
              <a:tblPr/>
              <a:tblGrid>
                <a:gridCol w="1643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Objetos AD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CPU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RAM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Disco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&lt; 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10.000–50.000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50.000–100.000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100.000–300.000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32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300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300.000–600.000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450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&gt; 600.000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1,6 GHz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32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500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03F0057-CDBC-4C71-968D-8A935F184440}"/>
              </a:ext>
            </a:extLst>
          </p:cNvPr>
          <p:cNvSpPr>
            <a:spLocks noGrp="1"/>
          </p:cNvSpPr>
          <p:nvPr/>
        </p:nvSpPr>
        <p:spPr>
          <a:xfrm>
            <a:off x="8096250" y="205740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0000"/>
              </a:lnSpc>
              <a:buNone/>
              <a:defRPr sz="39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50k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AB0CC-7F16-43EA-AF66-A771E52F278D}"/>
              </a:ext>
            </a:extLst>
          </p:cNvPr>
          <p:cNvSpPr>
            <a:spLocks noGrp="1"/>
          </p:cNvSpPr>
          <p:nvPr/>
        </p:nvSpPr>
        <p:spPr>
          <a:xfrm>
            <a:off x="8096250" y="26098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objetos por tenant inicial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7E207-A770-4E43-8D68-BF223F74ED68}"/>
              </a:ext>
            </a:extLst>
          </p:cNvPr>
          <p:cNvSpPr>
            <a:spLocks noGrp="1"/>
          </p:cNvSpPr>
          <p:nvPr/>
        </p:nvSpPr>
        <p:spPr>
          <a:xfrm>
            <a:off x="8096250" y="33337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0000"/>
              </a:lnSpc>
              <a:buNone/>
              <a:defRPr sz="3900" b="1" i="0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300k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40864-1D39-4BAC-8A93-E3E0FD3EACB9}"/>
              </a:ext>
            </a:extLst>
          </p:cNvPr>
          <p:cNvSpPr>
            <a:spLocks noGrp="1"/>
          </p:cNvSpPr>
          <p:nvPr/>
        </p:nvSpPr>
        <p:spPr>
          <a:xfrm>
            <a:off x="8096250" y="38862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tras verificar dominio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8853C-A24C-4583-92DC-5DCDB98255A5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0000"/>
              </a:lnSpc>
              <a:buNone/>
              <a:defRPr sz="3900" b="1" i="0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10 GB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2D317-7BB6-4811-B207-5D483CCAAEAC}"/>
              </a:ext>
            </a:extLst>
          </p:cNvPr>
          <p:cNvSpPr>
            <a:spLocks noGrp="1"/>
          </p:cNvSpPr>
          <p:nvPr/>
        </p:nvSpPr>
        <p:spPr>
          <a:xfrm>
            <a:off x="8096250" y="51816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límite SQL Express ≈ 100k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54CD11-4C7A-4FF5-BA48-A534F25BB9C3}"/>
              </a:ext>
            </a:extLst>
          </p:cNvPr>
          <p:cNvSpPr>
            <a:spLocks noGrp="1"/>
          </p:cNvSpPr>
          <p:nvPr/>
        </p:nvSpPr>
        <p:spPr>
          <a:xfrm>
            <a:off x="8096250" y="5810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917"/>
          </a:bodyPr>
          <a:lstStyle/>
          <a:p>
            <a:pPr algn="l">
              <a:lnSpc>
                <a:spcPct val="100000"/>
              </a:lnSpc>
              <a:buNone/>
              <a:defRPr sz="1200" b="0" i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52647A"/>
                </a:solidFill>
                <a:latin typeface="Aptos"/>
                <a:ea typeface="Aptos"/>
                <a:cs typeface="Aptos"/>
              </a:rPr>
              <a:t>Más de 500.000 objetos requiere una licencia Microsoft 365, Entra Premium o EMS.</a:t>
            </a:r>
          </a:p>
        </p:txBody>
      </p:sp>
    </p:spTree>
    <p:extLst>
      <p:ext uri="{BB962C8B-B14F-4D97-AF65-F5344CB8AC3E}">
        <p14:creationId xmlns:p14="http://schemas.microsoft.com/office/powerpoint/2010/main" val="125750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516DBFB-B1FC-42F7-BF4F-7BCA54141B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71EB8D-189E-40B7-A1E9-5045A74716EF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OPERACIÓN SEGURA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3BC56A-0BC4-4202-9FD8-C1F2C5A2DDC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El servidor de sincronización es Tier 0 y depende de conectividad estable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03F80-FB11-4BAF-BFDB-3908077FAF6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Proteja el plano de control y elimine fallos previsibles de red.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E48CAB8-48CA-49D7-975C-BE382FC34CDD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CE915-54A7-44A6-9D14-92931E55738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ADAA8-4E13-420F-BA19-DC948307BEA3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SERVIDOR Y CUENTAS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CD7E0-4CCD-45A4-A4ED-56B60F0DC065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D40D75-480D-4FF4-AA85-48A8EC34A58A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Global Administrator o Hybrid Identity Administrator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46FD37-CA35-498E-9B61-DFAF1237D2C0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2AB5A-0C14-487D-9E46-AC1618483E3F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Enterprise Administrator para Express o actualización de DirSync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39E11-5F07-4A64-BA99-666F11C16645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E2C0B-C941-475A-8DA7-CBC7DC9B10A3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PowerShell RemoteSigned durante la instalación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F4BB2-95C5-41DD-90F4-EAFD9EB722D8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8D5D9B-E905-4B0C-BBBD-CB3BD28A6F05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AD Recycle Bin recomendado; DC escribible, no RODC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AA423-F488-4B33-9EDB-29DF228EA67B}"/>
              </a:ext>
            </a:extLst>
          </p:cNvPr>
          <p:cNvSpPr>
            <a:spLocks noGrp="1"/>
          </p:cNvSpPr>
          <p:nvPr/>
        </p:nvSpPr>
        <p:spPr>
          <a:xfrm>
            <a:off x="6477000" y="20574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RED Y PROTOCOLO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9D58E9-6EC2-4736-898B-E4C627DD3D97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0661DD-8426-40CF-8850-2EEE1B7ECA65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DNS para intranet, Internet, AD y endpoints Entra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9EF55-675E-4430-9131-71A36DEE745B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E8A75-2650-45A8-861E-9AC2DF2577E7}"/>
              </a:ext>
            </a:extLst>
          </p:cNvPr>
          <p:cNvSpPr>
            <a:spLocks noGrp="1"/>
          </p:cNvSpPr>
          <p:nvPr/>
        </p:nvSpPr>
        <p:spPr>
          <a:xfrm>
            <a:off x="6724650" y="29337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Conectividad con todos los dominios y raíces de bosque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93F34-D34A-41E4-844E-B9D465112125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408E80-CFB7-4E74-B0FD-64A1F785D719}"/>
              </a:ext>
            </a:extLst>
          </p:cNvPr>
          <p:cNvSpPr>
            <a:spLocks noGrp="1"/>
          </p:cNvSpPr>
          <p:nvPr/>
        </p:nvSpPr>
        <p:spPr>
          <a:xfrm>
            <a:off x="6724650" y="34861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TLS 1.2 obligatorio; TLS 1.0/1.1 no soportados en v2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5CA59-4C87-4851-A8F5-90A9210E0295}"/>
              </a:ext>
            </a:extLst>
          </p:cNvPr>
          <p:cNvSpPr>
            <a:spLocks noGrp="1"/>
          </p:cNvSpPr>
          <p:nvPr/>
        </p:nvSpPr>
        <p:spPr>
          <a:xfrm>
            <a:off x="6477000" y="40386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35B0A-673B-439F-A3C7-4FD539115C8A}"/>
              </a:ext>
            </a:extLst>
          </p:cNvPr>
          <p:cNvSpPr>
            <a:spLocks noGrp="1"/>
          </p:cNvSpPr>
          <p:nvPr/>
        </p:nvSpPr>
        <p:spPr>
          <a:xfrm>
            <a:off x="6724650" y="40386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Proxy idle timeout ≥ 6 minutos; respuesta cloud puede tardar 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611C7A-D09F-4D4E-9501-5B0A72FBBF65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10458450" cy="495300"/>
          </a:xfrm>
          <a:prstGeom prst="rect">
            <a:avLst/>
          </a:prstGeom>
          <a:solidFill>
            <a:srgbClr val="FEF2F2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289333-7390-441A-AA21-4084C61901AC}"/>
              </a:ext>
            </a:extLst>
          </p:cNvPr>
          <p:cNvSpPr>
            <a:spLocks noGrp="1"/>
          </p:cNvSpPr>
          <p:nvPr/>
        </p:nvSpPr>
        <p:spPr>
          <a:xfrm>
            <a:off x="933450" y="5572125"/>
            <a:ext cx="1015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97"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DC2626"/>
                </a:solidFill>
                <a:latin typeface="Aptos"/>
                <a:ea typeface="Aptos"/>
                <a:cs typeface="Aptos"/>
              </a:rPr>
              <a:t>Trate Connect Sync como activo del plano de control: mínimo acceso administrativo, endurecimiento y monitorización.</a:t>
            </a:r>
          </a:p>
        </p:txBody>
      </p:sp>
    </p:spTree>
    <p:extLst>
      <p:ext uri="{BB962C8B-B14F-4D97-AF65-F5344CB8AC3E}">
        <p14:creationId xmlns:p14="http://schemas.microsoft.com/office/powerpoint/2010/main" val="1973841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9667885-B29B-4D03-BD20-509DA2699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E39353-DB6B-49A1-BE8F-B435D130AA8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ARQUITECTURA DE CLOUD SYNC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AC7283-2A8F-4D1E-A0B5-4C985ED8A134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Cloud Sync desplaza la configuración a la nube y reduce el footprint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C69F3-6267-462E-9F0C-46CD1733378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Los agentes locales actúan como puente; el servicio cloud ejecuta el aprovisionamiento.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B329FD6-8C27-4207-8627-36699C41428B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CF645-19D1-4C53-858D-B725DC29855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A66BB-D1C2-416E-8270-B964180E5B99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1619250" cy="66675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D044F-B8BA-4399-B641-2911A64C6D70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66675" cy="666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C095A-720D-49BE-84AE-AA5FC45B86BB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352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Bosque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96CC7-0F76-4540-9B6C-C8A4033B63EB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1809750" cy="83820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C1625A-BC1B-49BE-A6CB-63A93E79D85D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66675" cy="838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9571D-1BBD-4B20-93E0-290C5F5A31A5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1543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Bosque B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aislado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FD779-1EA2-4356-9FD9-7325BC495B95}"/>
              </a:ext>
            </a:extLst>
          </p:cNvPr>
          <p:cNvSpPr>
            <a:spLocks noGrp="1"/>
          </p:cNvSpPr>
          <p:nvPr/>
        </p:nvSpPr>
        <p:spPr>
          <a:xfrm>
            <a:off x="3238500" y="2324100"/>
            <a:ext cx="1619250" cy="66675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3EB15-BCE8-4588-8A5F-9CF1E94FD479}"/>
              </a:ext>
            </a:extLst>
          </p:cNvPr>
          <p:cNvSpPr>
            <a:spLocks noGrp="1"/>
          </p:cNvSpPr>
          <p:nvPr/>
        </p:nvSpPr>
        <p:spPr>
          <a:xfrm>
            <a:off x="3238500" y="2324100"/>
            <a:ext cx="66675" cy="6667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B896F-3742-40DD-BFDC-1433CC0B5281}"/>
              </a:ext>
            </a:extLst>
          </p:cNvPr>
          <p:cNvSpPr>
            <a:spLocks noGrp="1"/>
          </p:cNvSpPr>
          <p:nvPr/>
        </p:nvSpPr>
        <p:spPr>
          <a:xfrm>
            <a:off x="3409950" y="2419350"/>
            <a:ext cx="1352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Agente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E9B8E-1AA5-4620-BC22-D9EA3B3596AA}"/>
              </a:ext>
            </a:extLst>
          </p:cNvPr>
          <p:cNvSpPr>
            <a:spLocks noGrp="1"/>
          </p:cNvSpPr>
          <p:nvPr/>
        </p:nvSpPr>
        <p:spPr>
          <a:xfrm>
            <a:off x="3238500" y="3733800"/>
            <a:ext cx="1619250" cy="66675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414A59-663E-4397-8BC9-F3622E488120}"/>
              </a:ext>
            </a:extLst>
          </p:cNvPr>
          <p:cNvSpPr>
            <a:spLocks noGrp="1"/>
          </p:cNvSpPr>
          <p:nvPr/>
        </p:nvSpPr>
        <p:spPr>
          <a:xfrm>
            <a:off x="3238500" y="3733800"/>
            <a:ext cx="66675" cy="6667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69BA4-85C8-448A-8DF0-04C1A1036E50}"/>
              </a:ext>
            </a:extLst>
          </p:cNvPr>
          <p:cNvSpPr>
            <a:spLocks noGrp="1"/>
          </p:cNvSpPr>
          <p:nvPr/>
        </p:nvSpPr>
        <p:spPr>
          <a:xfrm>
            <a:off x="3409950" y="3829050"/>
            <a:ext cx="1352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Agente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59BA29-64D5-4059-BEDF-A315AC3673CB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2476500" cy="1123950"/>
          </a:xfrm>
          <a:prstGeom prst="rect">
            <a:avLst/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04CF77-1EB7-454A-88E6-D78137C87814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66675" cy="11239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0FC167-31B2-441F-BEEF-073CE43BAE63}"/>
              </a:ext>
            </a:extLst>
          </p:cNvPr>
          <p:cNvSpPr>
            <a:spLocks noGrp="1"/>
          </p:cNvSpPr>
          <p:nvPr/>
        </p:nvSpPr>
        <p:spPr>
          <a:xfrm>
            <a:off x="6362700" y="2819400"/>
            <a:ext cx="2209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Servicio de aprovisionamiento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Microsoft Entra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2792E4-DD0A-49DA-865D-E43D1568C3F7}"/>
              </a:ext>
            </a:extLst>
          </p:cNvPr>
          <p:cNvSpPr>
            <a:spLocks noGrp="1"/>
          </p:cNvSpPr>
          <p:nvPr/>
        </p:nvSpPr>
        <p:spPr>
          <a:xfrm>
            <a:off x="9620250" y="2895600"/>
            <a:ext cx="1714500" cy="781050"/>
          </a:xfrm>
          <a:prstGeom prst="rect">
            <a:avLst/>
          </a:prstGeom>
          <a:solidFill>
            <a:srgbClr val="F0FDF4"/>
          </a:solidFill>
          <a:ln w="14288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F3AE95-F61D-4BF7-B020-CC76C6ED25E6}"/>
              </a:ext>
            </a:extLst>
          </p:cNvPr>
          <p:cNvSpPr>
            <a:spLocks noGrp="1"/>
          </p:cNvSpPr>
          <p:nvPr/>
        </p:nvSpPr>
        <p:spPr>
          <a:xfrm>
            <a:off x="9620250" y="2895600"/>
            <a:ext cx="66675" cy="7810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6C4571-98D0-4048-9656-FE128BC15687}"/>
              </a:ext>
            </a:extLst>
          </p:cNvPr>
          <p:cNvSpPr>
            <a:spLocks noGrp="1"/>
          </p:cNvSpPr>
          <p:nvPr/>
        </p:nvSpPr>
        <p:spPr>
          <a:xfrm>
            <a:off x="9791700" y="299085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Tenant Entra ID</a:t>
            </a:r>
          </a:p>
        </p:txBody>
      </p:sp>
      <p:cxnSp>
        <p:nvCxnSpPr>
          <p:cNvPr id="25" name="Straight Arrow Connector 24"/>
          <p:cNvCxnSpPr>
            <a:stCxn id="7" idx="3"/>
            <a:endCxn id="13" idx="1"/>
          </p:cNvCxnSpPr>
          <p:nvPr/>
        </p:nvCxnSpPr>
        <p:spPr>
          <a:xfrm>
            <a:off x="2362200" y="2657475"/>
            <a:ext cx="8763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26" name="Straight Arrow Connector 25"/>
          <p:cNvCxnSpPr>
            <a:stCxn id="10" idx="3"/>
            <a:endCxn id="16" idx="1"/>
          </p:cNvCxnSpPr>
          <p:nvPr/>
        </p:nvCxnSpPr>
        <p:spPr>
          <a:xfrm flipV="1">
            <a:off x="2552700" y="4067175"/>
            <a:ext cx="685800" cy="8572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27" name="Connector: Elbow 26"/>
          <p:cNvCxnSpPr>
            <a:stCxn id="13" idx="3"/>
            <a:endCxn id="19" idx="1"/>
          </p:cNvCxnSpPr>
          <p:nvPr/>
        </p:nvCxnSpPr>
        <p:spPr>
          <a:xfrm>
            <a:off x="4857750" y="2657475"/>
            <a:ext cx="13335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cxnSp>
        <p:nvCxnSpPr>
          <p:cNvPr id="28" name="Connector: Elbow 27"/>
          <p:cNvCxnSpPr>
            <a:stCxn id="16" idx="3"/>
            <a:endCxn id="19" idx="1"/>
          </p:cNvCxnSpPr>
          <p:nvPr/>
        </p:nvCxnSpPr>
        <p:spPr>
          <a:xfrm flipV="1">
            <a:off x="4857750" y="3286125"/>
            <a:ext cx="1333500" cy="781050"/>
          </a:xfrm>
          <a:prstGeom prst="bentConnector3">
            <a:avLst>
              <a:gd name="adj1" fmla="val 50000"/>
            </a:avLst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cxnSp>
        <p:nvCxnSpPr>
          <p:cNvPr id="29" name="Straight Arrow Connector 28"/>
          <p:cNvCxnSpPr>
            <a:stCxn id="19" idx="3"/>
            <a:endCxn id="22" idx="1"/>
          </p:cNvCxnSpPr>
          <p:nvPr/>
        </p:nvCxnSpPr>
        <p:spPr>
          <a:xfrm>
            <a:off x="8667750" y="3286125"/>
            <a:ext cx="952500" cy="0"/>
          </a:xfrm>
          <a:prstGeom prst="straightConnector1">
            <a:avLst/>
          </a:prstGeom>
          <a:ln w="28575">
            <a:solidFill>
              <a:srgbClr val="16A34A"/>
            </a:solidFill>
            <a:prstDash val="solid"/>
            <a:tailEnd type="arrow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2D82F10-2E45-44F7-B247-222FE4985B49}"/>
              </a:ext>
            </a:extLst>
          </p:cNvPr>
          <p:cNvSpPr>
            <a:spLocks noGrp="1"/>
          </p:cNvSpPr>
          <p:nvPr/>
        </p:nvSpPr>
        <p:spPr>
          <a:xfrm>
            <a:off x="6419850" y="4133850"/>
            <a:ext cx="2095500" cy="2667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DD35B9-781F-4A21-AA72-86654770CAD8}"/>
              </a:ext>
            </a:extLst>
          </p:cNvPr>
          <p:cNvSpPr>
            <a:spLocks noGrp="1"/>
          </p:cNvSpPr>
          <p:nvPr/>
        </p:nvSpPr>
        <p:spPr>
          <a:xfrm>
            <a:off x="6496050" y="417195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CONFIGURACIÓN CLOUD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49BDBA-7A24-43F3-9F10-71908C2B48E0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1126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3 agentes activos recomendados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E240D7-8658-4770-B5ED-0E9A3BC906AB}"/>
              </a:ext>
            </a:extLst>
          </p:cNvPr>
          <p:cNvSpPr>
            <a:spLocks noGrp="1"/>
          </p:cNvSpPr>
          <p:nvPr/>
        </p:nvSpPr>
        <p:spPr>
          <a:xfrm>
            <a:off x="4000500" y="5276850"/>
            <a:ext cx="714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Failover automático; no hay load balancing: un agente procesa cada vez.</a:t>
            </a:r>
          </a:p>
        </p:txBody>
      </p:sp>
    </p:spTree>
    <p:extLst>
      <p:ext uri="{BB962C8B-B14F-4D97-AF65-F5344CB8AC3E}">
        <p14:creationId xmlns:p14="http://schemas.microsoft.com/office/powerpoint/2010/main" val="125580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3602E20-A674-4AB3-9BAA-125124E50F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3FFF8-6C7D-4BA3-B42E-16FE3F9A3F6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CLOUD SYNC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8D191-790E-4F29-9205-6AB00E30FFD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Cloud Sync simplifica bosques desconectados, pero exige identidad única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FEF250-C419-47E4-816B-8A993F9BDB2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Cada objeto debe existir una sola vez y quedar en el scope de una sola herramienta.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103DFC8-E77B-4CA9-ADD5-8524FC8E5355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90D3BA-8213-4C0B-8064-3C73FC7517A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306F6-A5A1-4C9B-ACC9-9BD398E8AF3C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TOPOLOGÍAS ADMITIDAS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3A52E7-C3EC-4697-8327-66D5746D997E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4A30C4-C2BD-4054-AC60-7EB7CF7F1BD1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Un bosque → un tenant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DC0C5-F9DF-4132-B70D-1938351129F1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AA80B-DE88-4E11-83D2-9C9BF595C7DC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Varios bosques → un tenant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A3F5E-DCA4-4B32-B60F-34D81B547A50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639D5-F794-46EC-A823-88295BAD311F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Connect Sync existente + nuevo bosque Cloud Sync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3EDA4-1A70-4F48-8719-E6D39A65BBD3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5FD620-EC62-41D8-9426-31B55959675C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Piloto de Cloud Sync en un bosque híbrido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84C4-B855-417C-BCDC-39184B9381FD}"/>
              </a:ext>
            </a:extLst>
          </p:cNvPr>
          <p:cNvSpPr>
            <a:spLocks noGrp="1"/>
          </p:cNvSpPr>
          <p:nvPr/>
        </p:nvSpPr>
        <p:spPr>
          <a:xfrm>
            <a:off x="6477000" y="20574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PRERREQUISITOS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09AD96-6D43-4CF6-84C4-94841BD7F9C1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F63EFA-3635-483C-B5F9-670FE38F97B5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gMSA creada con credenciales Domain/Enterprise Admin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282125-6070-409F-B814-9D20A1992AE3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E3833-8EDE-4F14-A4A6-EB133055C274}"/>
              </a:ext>
            </a:extLst>
          </p:cNvPr>
          <p:cNvSpPr>
            <a:spLocks noGrp="1"/>
          </p:cNvSpPr>
          <p:nvPr/>
        </p:nvSpPr>
        <p:spPr>
          <a:xfrm>
            <a:off x="6724650" y="29337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Hybrid Identity Administrator no invitado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1F7A1A-F45F-4A17-AF47-11E222BC503B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1C0AD4-1344-49DC-9E6E-1625B8126695}"/>
              </a:ext>
            </a:extLst>
          </p:cNvPr>
          <p:cNvSpPr>
            <a:spLocks noGrp="1"/>
          </p:cNvSpPr>
          <p:nvPr/>
        </p:nvSpPr>
        <p:spPr>
          <a:xfrm>
            <a:off x="6724650" y="348615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Windows Server 2016 o posterior; servidor Tier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D8F613-FF3C-4604-AAD2-97518E2F0A39}"/>
              </a:ext>
            </a:extLst>
          </p:cNvPr>
          <p:cNvSpPr>
            <a:spLocks noGrp="1"/>
          </p:cNvSpPr>
          <p:nvPr/>
        </p:nvSpPr>
        <p:spPr>
          <a:xfrm>
            <a:off x="6477000" y="4038600"/>
            <a:ext cx="171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961E04-4A9B-42F5-9D6A-4308D038A91A}"/>
              </a:ext>
            </a:extLst>
          </p:cNvPr>
          <p:cNvSpPr>
            <a:spLocks noGrp="1"/>
          </p:cNvSpPr>
          <p:nvPr/>
        </p:nvSpPr>
        <p:spPr>
          <a:xfrm>
            <a:off x="6724650" y="4038600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Tres agentes activos recomendados + firewall permitido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6B5C42-F576-4E98-984D-448A6258DED5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10458450" cy="533400"/>
          </a:xfrm>
          <a:prstGeom prst="rect">
            <a:avLst/>
          </a:prstGeom>
          <a:solidFill>
            <a:srgbClr val="FFFBEB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4C7CC7-D5B4-4EC4-8EB2-179F8E4E4440}"/>
              </a:ext>
            </a:extLst>
          </p:cNvPr>
          <p:cNvSpPr>
            <a:spLocks noGrp="1"/>
          </p:cNvSpPr>
          <p:nvPr/>
        </p:nvSpPr>
        <p:spPr>
          <a:xfrm>
            <a:off x="933450" y="5562600"/>
            <a:ext cx="10153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418"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92400E"/>
                </a:solidFill>
                <a:latin typeface="Aptos"/>
                <a:ea typeface="Aptos"/>
                <a:cs typeface="Aptos"/>
              </a:rPr>
              <a:t>Source anchor automático: ms-DS-ConsistencyGuid si existe; en caso contrario ObjectGUID. No se puede cambiar.</a:t>
            </a:r>
          </a:p>
        </p:txBody>
      </p:sp>
    </p:spTree>
    <p:extLst>
      <p:ext uri="{BB962C8B-B14F-4D97-AF65-F5344CB8AC3E}">
        <p14:creationId xmlns:p14="http://schemas.microsoft.com/office/powerpoint/2010/main" val="287261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A86125D-9C19-43AF-A430-896D34F1BE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E8EB8-F3F0-4298-8B31-852E0AD218FF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COMPARACIÓN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331BC-13BF-4088-A97B-70F96632B8C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La comparación práctica revela una frontera clara de capacidades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D3B0E-C76B-42C7-B072-44886861FF0F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Cloud Sync optimiza simplicidad y resiliencia; Connect Sync conserva la máxima profundidad.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60AA407-7A25-45FE-A184-271082D5F567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10F4F-5131-4FA5-9271-181A442C99F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762000" y="1924050"/>
          <a:ext cx="7239000" cy="5176752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Criterio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Connect Sync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Cloud Sync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Bosques desconectados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06B6D4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Agente ligero / config cloud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06B6D4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LDAP y atributos AD personalizados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Dispositivos y device writeback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PHS / password writeback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06B6D4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Pass-through Authentication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Group / Exchange hybrid writeback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Filtrado por atributo avanzado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Hasta 150.000 objetos por dominio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06B6D4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Objetos ilimitados por dominio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87B0129-181E-4F6A-A9B2-D3D06C91E5D2}"/>
              </a:ext>
            </a:extLst>
          </p:cNvPr>
          <p:cNvSpPr>
            <a:spLocks noGrp="1"/>
          </p:cNvSpPr>
          <p:nvPr/>
        </p:nvSpPr>
        <p:spPr>
          <a:xfrm>
            <a:off x="8420100" y="20764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21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Elija Connect Sync si necesita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A8D7A5-C066-4A24-9EAD-2C46C3405D38}"/>
              </a:ext>
            </a:extLst>
          </p:cNvPr>
          <p:cNvSpPr>
            <a:spLocks noGrp="1"/>
          </p:cNvSpPr>
          <p:nvPr/>
        </p:nvSpPr>
        <p:spPr>
          <a:xfrm>
            <a:off x="8420100" y="25146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0FC9E-2053-408C-8EC4-9F43B8084A5B}"/>
              </a:ext>
            </a:extLst>
          </p:cNvPr>
          <p:cNvSpPr>
            <a:spLocks noGrp="1"/>
          </p:cNvSpPr>
          <p:nvPr/>
        </p:nvSpPr>
        <p:spPr>
          <a:xfrm>
            <a:off x="8667750" y="25146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Objetos de dispositivo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790404-8508-40FB-B7B1-0A94CF19F10F}"/>
              </a:ext>
            </a:extLst>
          </p:cNvPr>
          <p:cNvSpPr>
            <a:spLocks noGrp="1"/>
          </p:cNvSpPr>
          <p:nvPr/>
        </p:nvSpPr>
        <p:spPr>
          <a:xfrm>
            <a:off x="8420100" y="29718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7056BB-7EBF-4A8B-8ED3-9BA9DB7E920B}"/>
              </a:ext>
            </a:extLst>
          </p:cNvPr>
          <p:cNvSpPr>
            <a:spLocks noGrp="1"/>
          </p:cNvSpPr>
          <p:nvPr/>
        </p:nvSpPr>
        <p:spPr>
          <a:xfrm>
            <a:off x="8667750" y="29718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Writeback avanzado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154F9A-5094-4B05-9810-3D886C3A78F9}"/>
              </a:ext>
            </a:extLst>
          </p:cNvPr>
          <p:cNvSpPr>
            <a:spLocks noGrp="1"/>
          </p:cNvSpPr>
          <p:nvPr/>
        </p:nvSpPr>
        <p:spPr>
          <a:xfrm>
            <a:off x="8420100" y="34290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957015-E416-4D2A-8DA2-08F8F93D5393}"/>
              </a:ext>
            </a:extLst>
          </p:cNvPr>
          <p:cNvSpPr>
            <a:spLocks noGrp="1"/>
          </p:cNvSpPr>
          <p:nvPr/>
        </p:nvSpPr>
        <p:spPr>
          <a:xfrm>
            <a:off x="8667750" y="34290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LDAP / reglas complejas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FF4E4-E260-4F6F-AF83-162C4C3BD6D1}"/>
              </a:ext>
            </a:extLst>
          </p:cNvPr>
          <p:cNvSpPr>
            <a:spLocks noGrp="1"/>
          </p:cNvSpPr>
          <p:nvPr/>
        </p:nvSpPr>
        <p:spPr>
          <a:xfrm>
            <a:off x="8420100" y="38862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466654-E88D-46E2-A494-FC478FA9F93A}"/>
              </a:ext>
            </a:extLst>
          </p:cNvPr>
          <p:cNvSpPr>
            <a:spLocks noGrp="1"/>
          </p:cNvSpPr>
          <p:nvPr/>
        </p:nvSpPr>
        <p:spPr>
          <a:xfrm>
            <a:off x="8667750" y="38862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Escala sin límite por dominio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72A22C-8634-445F-80B4-7979ECE4FE90}"/>
              </a:ext>
            </a:extLst>
          </p:cNvPr>
          <p:cNvSpPr>
            <a:spLocks noGrp="1"/>
          </p:cNvSpPr>
          <p:nvPr/>
        </p:nvSpPr>
        <p:spPr>
          <a:xfrm>
            <a:off x="8420100" y="44767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652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Elija Cloud Sync si prioriza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AFBBD-1D77-46F8-81D2-30BE4D42F5B9}"/>
              </a:ext>
            </a:extLst>
          </p:cNvPr>
          <p:cNvSpPr>
            <a:spLocks noGrp="1"/>
          </p:cNvSpPr>
          <p:nvPr/>
        </p:nvSpPr>
        <p:spPr>
          <a:xfrm>
            <a:off x="8420100" y="49149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FCB24A-454F-4D52-B083-C75C9BA6C425}"/>
              </a:ext>
            </a:extLst>
          </p:cNvPr>
          <p:cNvSpPr>
            <a:spLocks noGrp="1"/>
          </p:cNvSpPr>
          <p:nvPr/>
        </p:nvSpPr>
        <p:spPr>
          <a:xfrm>
            <a:off x="8667750" y="49149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Bosques desconectados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5C05C7-111C-4492-A4AD-AD36258BA8D3}"/>
              </a:ext>
            </a:extLst>
          </p:cNvPr>
          <p:cNvSpPr>
            <a:spLocks noGrp="1"/>
          </p:cNvSpPr>
          <p:nvPr/>
        </p:nvSpPr>
        <p:spPr>
          <a:xfrm>
            <a:off x="8420100" y="53721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EE343E-DA04-4841-80B8-8B57A003D282}"/>
              </a:ext>
            </a:extLst>
          </p:cNvPr>
          <p:cNvSpPr>
            <a:spLocks noGrp="1"/>
          </p:cNvSpPr>
          <p:nvPr/>
        </p:nvSpPr>
        <p:spPr>
          <a:xfrm>
            <a:off x="8667750" y="53721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Menor infraestructura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96CE14-7CB7-4E18-8CAB-7A795938034B}"/>
              </a:ext>
            </a:extLst>
          </p:cNvPr>
          <p:cNvSpPr>
            <a:spLocks noGrp="1"/>
          </p:cNvSpPr>
          <p:nvPr/>
        </p:nvSpPr>
        <p:spPr>
          <a:xfrm>
            <a:off x="8420100" y="58293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6B6D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BE4915-B18E-471E-ADF6-1422CF0AAE4F}"/>
              </a:ext>
            </a:extLst>
          </p:cNvPr>
          <p:cNvSpPr>
            <a:spLocks noGrp="1"/>
          </p:cNvSpPr>
          <p:nvPr/>
        </p:nvSpPr>
        <p:spPr>
          <a:xfrm>
            <a:off x="8667750" y="58293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HA con agentes ligeros</a:t>
            </a:r>
          </a:p>
        </p:txBody>
      </p:sp>
    </p:spTree>
    <p:extLst>
      <p:ext uri="{BB962C8B-B14F-4D97-AF65-F5344CB8AC3E}">
        <p14:creationId xmlns:p14="http://schemas.microsoft.com/office/powerpoint/2010/main" val="324577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676DC98-FD3B-4225-BD1D-42699041F6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03832-AD31-4400-8A59-879F577A5F8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AUTENTICACIÓN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83B49-CCD7-4E03-90C6-D01229C20283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PHS es la base resiliente; PTA o federación responden a requisitos específicos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6C6739-BC00-4307-9F9C-88657DF003B3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La elección de sincronización y la elección de autenticación están relacionadas, pero no son lo mismo.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3D5450B-47E9-4EAE-9CED-E30F1421518F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39015-1FE4-4407-91E3-4E4F717F7EB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8FF45D-2E3B-4344-B316-3794FD6199FF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2381250" cy="1047750"/>
          </a:xfrm>
          <a:prstGeom prst="rect">
            <a:avLst/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1C3DC-2C31-4301-BD3F-F4BAA2D197CE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66675" cy="1047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EE44B-637B-473D-A799-5068EFCA20BA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2114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286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¿Se acepta almacenar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el hash del hash en Entra?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92150-58F9-48C1-89D4-E651B066356A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2381250" cy="914400"/>
          </a:xfrm>
          <a:prstGeom prst="rect">
            <a:avLst/>
          </a:prstGeom>
          <a:solidFill>
            <a:srgbClr val="F0FDF4"/>
          </a:solidFill>
          <a:ln w="14288">
            <a:solidFill>
              <a:srgbClr val="16A34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0BD70-BE19-45DA-A3B4-ED3D456D705C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66675" cy="9144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CA155F-7762-4968-840B-4389E7251ECD}"/>
              </a:ext>
            </a:extLst>
          </p:cNvPr>
          <p:cNvSpPr>
            <a:spLocks noGrp="1"/>
          </p:cNvSpPr>
          <p:nvPr/>
        </p:nvSpPr>
        <p:spPr>
          <a:xfrm>
            <a:off x="4457700" y="2076450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PHS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Recomendado como base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6189B9-1481-4F81-8164-B31E9B3CACE1}"/>
              </a:ext>
            </a:extLst>
          </p:cNvPr>
          <p:cNvSpPr>
            <a:spLocks noGrp="1"/>
          </p:cNvSpPr>
          <p:nvPr/>
        </p:nvSpPr>
        <p:spPr>
          <a:xfrm>
            <a:off x="4286250" y="3695700"/>
            <a:ext cx="1143000" cy="609600"/>
          </a:xfrm>
          <a:prstGeom prst="rect">
            <a:avLst/>
          </a:prstGeom>
          <a:solidFill>
            <a:srgbClr val="FEF2F2"/>
          </a:solidFill>
          <a:ln w="14288">
            <a:solidFill>
              <a:srgbClr val="DC262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0E37D-4849-4EC5-BD61-5FE324543D87}"/>
              </a:ext>
            </a:extLst>
          </p:cNvPr>
          <p:cNvSpPr>
            <a:spLocks noGrp="1"/>
          </p:cNvSpPr>
          <p:nvPr/>
        </p:nvSpPr>
        <p:spPr>
          <a:xfrm>
            <a:off x="4286250" y="3695700"/>
            <a:ext cx="66675" cy="6096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0502AD-1F86-4E39-ABF1-30C397D54BFC}"/>
              </a:ext>
            </a:extLst>
          </p:cNvPr>
          <p:cNvSpPr>
            <a:spLocks noGrp="1"/>
          </p:cNvSpPr>
          <p:nvPr/>
        </p:nvSpPr>
        <p:spPr>
          <a:xfrm>
            <a:off x="4457700" y="3790950"/>
            <a:ext cx="87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488F77-13CC-4BF9-8F45-C87BA77A3B65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2095500" cy="914400"/>
          </a:xfrm>
          <a:prstGeom prst="rect">
            <a:avLst/>
          </a:prstGeom>
          <a:solidFill>
            <a:srgbClr val="ECFEFF"/>
          </a:solidFill>
          <a:ln w="14288">
            <a:solidFill>
              <a:srgbClr val="06B6D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085E0A-759D-4172-9D9A-303C70633E9E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66675" cy="9144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5BAA9F-D26E-4566-9C01-F9847047BD29}"/>
              </a:ext>
            </a:extLst>
          </p:cNvPr>
          <p:cNvSpPr>
            <a:spLocks noGrp="1"/>
          </p:cNvSpPr>
          <p:nvPr/>
        </p:nvSpPr>
        <p:spPr>
          <a:xfrm>
            <a:off x="7505700" y="3371850"/>
            <a:ext cx="1828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PTA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Validación directa en 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25B4AF-0272-4585-A304-46931248DF54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1619250" cy="914400"/>
          </a:xfrm>
          <a:prstGeom prst="rect">
            <a:avLst/>
          </a:prstGeom>
          <a:solidFill>
            <a:srgbClr val="FFFBE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B52C1B-1FDF-4AAA-84F9-4C9A6B299A1D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66675" cy="9144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988020-6F40-409D-8038-27BD5E056E4F}"/>
              </a:ext>
            </a:extLst>
          </p:cNvPr>
          <p:cNvSpPr>
            <a:spLocks noGrp="1"/>
          </p:cNvSpPr>
          <p:nvPr/>
        </p:nvSpPr>
        <p:spPr>
          <a:xfrm>
            <a:off x="10077450" y="3371850"/>
            <a:ext cx="1352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5397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Federación / AD FS</a:t>
            </a: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Requisitos específicos</a:t>
            </a:r>
          </a:p>
        </p:txBody>
      </p:sp>
      <p:cxnSp>
        <p:nvCxnSpPr>
          <p:cNvPr id="22" name="Connector: Elbow 21"/>
          <p:cNvCxnSpPr>
            <a:stCxn id="7" idx="3"/>
            <a:endCxn id="10" idx="1"/>
          </p:cNvCxnSpPr>
          <p:nvPr/>
        </p:nvCxnSpPr>
        <p:spPr>
          <a:xfrm flipV="1">
            <a:off x="3143250" y="2438400"/>
            <a:ext cx="1143000" cy="447675"/>
          </a:xfrm>
          <a:prstGeom prst="bentConnector3">
            <a:avLst>
              <a:gd name="adj1" fmla="val 80000"/>
            </a:avLst>
          </a:prstGeom>
          <a:ln w="28575">
            <a:solidFill>
              <a:srgbClr val="16A34A"/>
            </a:solidFill>
            <a:prstDash val="solid"/>
            <a:tailEnd type="arrow" w="sm" len="sm"/>
          </a:ln>
        </p:spPr>
      </p:cxnSp>
      <p:cxnSp>
        <p:nvCxnSpPr>
          <p:cNvPr id="23" name="Connector: Elbow 22"/>
          <p:cNvCxnSpPr>
            <a:stCxn id="7" idx="3"/>
            <a:endCxn id="13" idx="1"/>
          </p:cNvCxnSpPr>
          <p:nvPr/>
        </p:nvCxnSpPr>
        <p:spPr>
          <a:xfrm>
            <a:off x="3143250" y="2886075"/>
            <a:ext cx="1143000" cy="1114425"/>
          </a:xfrm>
          <a:prstGeom prst="bentConnector3">
            <a:avLst>
              <a:gd name="adj1" fmla="val 50000"/>
            </a:avLst>
          </a:prstGeom>
          <a:ln w="28575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24" name="Straight Arrow Connector 23"/>
          <p:cNvCxnSpPr>
            <a:stCxn id="13" idx="3"/>
            <a:endCxn id="16" idx="1"/>
          </p:cNvCxnSpPr>
          <p:nvPr/>
        </p:nvCxnSpPr>
        <p:spPr>
          <a:xfrm flipV="1">
            <a:off x="5429250" y="3733800"/>
            <a:ext cx="1905000" cy="26670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arrow" w="sm" len="sm"/>
          </a:ln>
        </p:spPr>
      </p:cxnSp>
      <p:cxnSp>
        <p:nvCxnSpPr>
          <p:cNvPr id="25" name="Straight Arrow Connector 24"/>
          <p:cNvCxnSpPr>
            <a:stCxn id="16" idx="3"/>
            <a:endCxn id="19" idx="1"/>
          </p:cNvCxnSpPr>
          <p:nvPr/>
        </p:nvCxnSpPr>
        <p:spPr>
          <a:xfrm>
            <a:off x="9429750" y="3733800"/>
            <a:ext cx="476250" cy="0"/>
          </a:xfrm>
          <a:prstGeom prst="straightConnector1">
            <a:avLst/>
          </a:prstGeom>
          <a:ln w="19050">
            <a:solidFill>
              <a:srgbClr val="F59E0B"/>
            </a:solidFill>
            <a:prstDash val="dash"/>
            <a:tailEnd type="arrow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5BCC564-113F-450A-89E7-21AE1C934740}"/>
              </a:ext>
            </a:extLst>
          </p:cNvPr>
          <p:cNvSpPr>
            <a:spLocks noGrp="1"/>
          </p:cNvSpPr>
          <p:nvPr/>
        </p:nvSpPr>
        <p:spPr>
          <a:xfrm>
            <a:off x="3238500" y="2076450"/>
            <a:ext cx="514350" cy="2667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27C1A3-2CD7-48DB-B3E9-241F1FC63C89}"/>
              </a:ext>
            </a:extLst>
          </p:cNvPr>
          <p:cNvSpPr>
            <a:spLocks noGrp="1"/>
          </p:cNvSpPr>
          <p:nvPr/>
        </p:nvSpPr>
        <p:spPr>
          <a:xfrm>
            <a:off x="3314700" y="21145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SÍ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B239B6-7A14-42CA-A460-612C784B7DBD}"/>
              </a:ext>
            </a:extLst>
          </p:cNvPr>
          <p:cNvSpPr>
            <a:spLocks noGrp="1"/>
          </p:cNvSpPr>
          <p:nvPr/>
        </p:nvSpPr>
        <p:spPr>
          <a:xfrm>
            <a:off x="3238500" y="3886200"/>
            <a:ext cx="514350" cy="2667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EB8F3-E411-4FF0-A518-E2CBA5D12EFB}"/>
              </a:ext>
            </a:extLst>
          </p:cNvPr>
          <p:cNvSpPr>
            <a:spLocks noGrp="1"/>
          </p:cNvSpPr>
          <p:nvPr/>
        </p:nvSpPr>
        <p:spPr>
          <a:xfrm>
            <a:off x="3314700" y="39243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15ABB8-ECE4-495C-B721-1E1357C0C9B9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0763250" cy="83820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D32355-BD57-4042-858F-09F3364D9B19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398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Recomendación operativa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356E4F-FCDE-4A90-85A3-78F767BA06FF}"/>
              </a:ext>
            </a:extLst>
          </p:cNvPr>
          <p:cNvSpPr>
            <a:spLocks noGrp="1"/>
          </p:cNvSpPr>
          <p:nvPr/>
        </p:nvSpPr>
        <p:spPr>
          <a:xfrm>
            <a:off x="3429000" y="5200650"/>
            <a:ext cx="771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Mantenga PHS habilitado como ruta de recuperación incluso si utiliza PTA o federación, cuando la política lo permita.</a:t>
            </a:r>
          </a:p>
        </p:txBody>
      </p:sp>
    </p:spTree>
    <p:extLst>
      <p:ext uri="{BB962C8B-B14F-4D97-AF65-F5344CB8AC3E}">
        <p14:creationId xmlns:p14="http://schemas.microsoft.com/office/powerpoint/2010/main" val="974483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D7163E4-CC91-4EC3-851A-DEDF10430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2D7028-976C-4CDD-97B2-5F38CB75E58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98603E-B140-4FAD-B9FE-E1B4096307A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082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72B4D"/>
                </a:solidFill>
                <a:latin typeface="Aptos Display"/>
                <a:ea typeface="Aptos Display"/>
                <a:cs typeface="Aptos Display"/>
              </a:rPr>
              <a:t>Una implementación segura sigue siete decisiones verificables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A0FF6-7480-40B4-999E-CBD21144DDB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Use esta secuencia como checklist antes del paso a producción.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04270DC-4D1B-4C0F-9BA7-CE6992284032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82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6679D-45A8-42A0-8EFE-23E72D57122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 i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2647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4046A-01D7-46E8-A49B-99F89B265855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89147-9F6A-46C2-B25A-DCCF61E3EB53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6489C4-1C05-484E-9ADB-25B1BD8982B6}"/>
              </a:ext>
            </a:extLst>
          </p:cNvPr>
          <p:cNvSpPr>
            <a:spLocks noGrp="1"/>
          </p:cNvSpPr>
          <p:nvPr/>
        </p:nvSpPr>
        <p:spPr>
          <a:xfrm>
            <a:off x="1409700" y="198120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03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Asegurar el tenant antes de importar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51C70C-3FAE-4FC4-BCD8-BF362EE872F9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09466-94D3-4DBF-B415-C5D3A92ED6A3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3ADB00-769D-4EB7-AEAC-7C746614113E}"/>
              </a:ext>
            </a:extLst>
          </p:cNvPr>
          <p:cNvSpPr>
            <a:spLocks noGrp="1"/>
          </p:cNvSpPr>
          <p:nvPr/>
        </p:nvSpPr>
        <p:spPr>
          <a:xfrm>
            <a:off x="1409700" y="287655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76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Definir fuente de autoridad y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61656-284D-4667-A1BD-C494EF84C320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89CF2B-9C14-4A64-B496-40D61A3B36C8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8F1A00-2934-4F84-A571-CACE930818FD}"/>
              </a:ext>
            </a:extLst>
          </p:cNvPr>
          <p:cNvSpPr>
            <a:spLocks noGrp="1"/>
          </p:cNvSpPr>
          <p:nvPr/>
        </p:nvSpPr>
        <p:spPr>
          <a:xfrm>
            <a:off x="1409700" y="377190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Limpiar AD, UPN e IdFix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E8F95E-EB50-43C5-8D02-4C846DCC99C0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419100" cy="419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0F831-4155-4BA5-AD15-2D728247455B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6748CF-095E-4F31-8A02-1549A2408613}"/>
              </a:ext>
            </a:extLst>
          </p:cNvPr>
          <p:cNvSpPr>
            <a:spLocks noGrp="1"/>
          </p:cNvSpPr>
          <p:nvPr/>
        </p:nvSpPr>
        <p:spPr>
          <a:xfrm>
            <a:off x="1409700" y="466725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03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Elegir Connect Sync, Cloud Sync o coexistencia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CC9A9-1B3B-4FAE-BF47-08457FE68DA1}"/>
              </a:ext>
            </a:extLst>
          </p:cNvPr>
          <p:cNvSpPr>
            <a:spLocks noGrp="1"/>
          </p:cNvSpPr>
          <p:nvPr/>
        </p:nvSpPr>
        <p:spPr>
          <a:xfrm>
            <a:off x="6162675" y="20002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2D8556-D242-42E4-9BBF-50E730A000C0}"/>
              </a:ext>
            </a:extLst>
          </p:cNvPr>
          <p:cNvSpPr>
            <a:spLocks noGrp="1"/>
          </p:cNvSpPr>
          <p:nvPr/>
        </p:nvSpPr>
        <p:spPr>
          <a:xfrm>
            <a:off x="6162675" y="20955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3DD798-A496-42D4-A1D0-BD9D8C9532B1}"/>
              </a:ext>
            </a:extLst>
          </p:cNvPr>
          <p:cNvSpPr>
            <a:spLocks noGrp="1"/>
          </p:cNvSpPr>
          <p:nvPr/>
        </p:nvSpPr>
        <p:spPr>
          <a:xfrm>
            <a:off x="6791325" y="198120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Seleccionar PHS, PTA o federación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D5EE0F-AB15-4239-8837-EFC60B60A6EC}"/>
              </a:ext>
            </a:extLst>
          </p:cNvPr>
          <p:cNvSpPr>
            <a:spLocks noGrp="1"/>
          </p:cNvSpPr>
          <p:nvPr/>
        </p:nvSpPr>
        <p:spPr>
          <a:xfrm>
            <a:off x="6162675" y="289560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821E1-A228-412F-94B1-0356B7A42990}"/>
              </a:ext>
            </a:extLst>
          </p:cNvPr>
          <p:cNvSpPr>
            <a:spLocks noGrp="1"/>
          </p:cNvSpPr>
          <p:nvPr/>
        </p:nvSpPr>
        <p:spPr>
          <a:xfrm>
            <a:off x="6162675" y="29908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755FFC-3D04-4A99-8469-32F850EDFB17}"/>
              </a:ext>
            </a:extLst>
          </p:cNvPr>
          <p:cNvSpPr>
            <a:spLocks noGrp="1"/>
          </p:cNvSpPr>
          <p:nvPr/>
        </p:nvSpPr>
        <p:spPr>
          <a:xfrm>
            <a:off x="6791325" y="287655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03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Dimensionar SQL, servidores, agentes y red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E2B8F6-D1A5-49CE-B2EF-1EF8C5B9232B}"/>
              </a:ext>
            </a:extLst>
          </p:cNvPr>
          <p:cNvSpPr>
            <a:spLocks noGrp="1"/>
          </p:cNvSpPr>
          <p:nvPr/>
        </p:nvSpPr>
        <p:spPr>
          <a:xfrm>
            <a:off x="6162675" y="3790950"/>
            <a:ext cx="419100" cy="4191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B9A126-C1D8-44A5-82D5-2D70F4A1DEBC}"/>
              </a:ext>
            </a:extLst>
          </p:cNvPr>
          <p:cNvSpPr>
            <a:spLocks noGrp="1"/>
          </p:cNvSpPr>
          <p:nvPr/>
        </p:nvSpPr>
        <p:spPr>
          <a:xfrm>
            <a:off x="6162675" y="38862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068E8F-4D4C-4E92-B53D-FAF421640876}"/>
              </a:ext>
            </a:extLst>
          </p:cNvPr>
          <p:cNvSpPr>
            <a:spLocks noGrp="1"/>
          </p:cNvSpPr>
          <p:nvPr/>
        </p:nvSpPr>
        <p:spPr>
          <a:xfrm>
            <a:off x="6791325" y="3771900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03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Monitorizar, revisar privilegios y automatizar ciclo de vida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ED3972E-73CE-4AAD-839F-B2A23B840C1F}"/>
              </a:ext>
            </a:extLst>
          </p:cNvPr>
          <p:cNvSpPr>
            <a:spLocks noGrp="1"/>
          </p:cNvSpPr>
          <p:nvPr/>
        </p:nvSpPr>
        <p:spPr>
          <a:xfrm>
            <a:off x="781050" y="5791200"/>
            <a:ext cx="103822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9A9E36-5C8E-42A1-B548-6E1B18BD254D}"/>
              </a:ext>
            </a:extLst>
          </p:cNvPr>
          <p:cNvSpPr>
            <a:spLocks noGrp="1"/>
          </p:cNvSpPr>
          <p:nvPr/>
        </p:nvSpPr>
        <p:spPr>
          <a:xfrm>
            <a:off x="781050" y="5962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09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Identidad híbrida bien diseñada = productividad + resiliencia + gobierno</a:t>
            </a:r>
          </a:p>
        </p:txBody>
      </p:sp>
    </p:spTree>
    <p:extLst>
      <p:ext uri="{BB962C8B-B14F-4D97-AF65-F5344CB8AC3E}">
        <p14:creationId xmlns:p14="http://schemas.microsoft.com/office/powerpoint/2010/main" val="420496224"/>
      </p:ext>
    </p:extLst>
  </p:cSld>
  <p:clrMapOvr>
    <a:masterClrMapping/>
  </p:clrMapOvr>
</p:sld>
</file>

<file path=ppt/theme/theme1.xml><?xml version="1.0" encoding="utf-8"?>
<a:theme xmlns:a="http://schemas.openxmlformats.org/drawingml/2006/main" name="Entra Technical Light">
  <a:themeElements>
    <a:clrScheme name="Entra Technical Light">
      <a:dk1>
        <a:srgbClr val="111827"/>
      </a:dk1>
      <a:lt1>
        <a:srgbClr val="FFFFFF"/>
      </a:lt1>
      <a:dk2>
        <a:srgbClr val="334155"/>
      </a:dk2>
      <a:lt2>
        <a:srgbClr val="E2E8F0"/>
      </a:lt2>
      <a:accent1>
        <a:srgbClr val="2563EB"/>
      </a:accent1>
      <a:accent2>
        <a:srgbClr val="06B6D4"/>
      </a:accent2>
      <a:accent3>
        <a:srgbClr val="16A34A"/>
      </a:accent3>
      <a:accent4>
        <a:srgbClr val="F59E0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ntra Technical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Entra Technical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2026-08-26T18:07:05Z</dcterms:modified>
</cp:coreProperties>
</file>
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08-25T18:47:58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E2338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88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365 · ADMINISTRACIÓN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Monitorear la salud del tenant</a:t>
            </a:r>
            <a:endParaRPr lang="en-US" sz="3600" dirty="0"/>
          </a:p>
        </p:txBody>
      </p:sp>
      <p:sp>
        <p:nvSpPr>
          <p:cNvPr id="5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1005840" cy="4572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992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FD0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Health, Adoption Score, Usage Analytics, conectividad de red, Backup y respuesta ante incidentes.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AGENDA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Contenido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25786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087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· Service Health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1947672"/>
            <a:ext cx="22128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dashboard, alertas críticas, estados del servicio y notificaciones.</a:t>
            </a:r>
            <a:endParaRPr lang="en-US" sz="100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325880"/>
            <a:ext cx="25786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325880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5576" y="15087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· Adoption Score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65576" y="1947672"/>
            <a:ext cx="22128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Experiencias de personas y tecnología, benchmarks y categorías.</a:t>
            </a:r>
            <a:endParaRPr lang="en-US" sz="100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325880"/>
            <a:ext cx="25786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325880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5087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Usage Analytics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45352" y="1947672"/>
            <a:ext cx="22128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 de actividad, aplicación de Power BI y privacidad de datos.</a:t>
            </a:r>
            <a:endParaRPr lang="en-US" sz="1000" dirty="0"/>
          </a:p>
        </p:txBody>
      </p:sp>
      <p:sp>
        <p:nvSpPr>
          <p:cNvPr id="2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44368"/>
            <a:ext cx="25786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2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44368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12724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Network Connectivity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3566160"/>
            <a:ext cx="22128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Assessments, insights y configuración de ubicaciones.</a:t>
            </a:r>
            <a:endParaRPr lang="en-US" sz="1000" dirty="0"/>
          </a:p>
        </p:txBody>
      </p:sp>
      <p:sp>
        <p:nvSpPr>
          <p:cNvPr id="2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944368"/>
            <a:ext cx="25786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2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944368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65576" y="312724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Microsoft 365 Backup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65576" y="3566160"/>
            <a:ext cx="22128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Protección, pricing pay-as-you-go y tiempos de restauración.</a:t>
            </a:r>
            <a:endParaRPr lang="en-US" sz="1000" dirty="0"/>
          </a:p>
        </p:txBody>
      </p:sp>
      <p:sp>
        <p:nvSpPr>
          <p:cNvPr id="2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944368"/>
            <a:ext cx="25786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2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944368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312724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Incidentes y soporte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45352" y="3566160"/>
            <a:ext cx="22128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de respuesta, severidades y service requests.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 ble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822960" cy="5143500"/>
          </a:xfrm>
          <a:prstGeom prst="rect">
            <a:avLst/>
          </a:prstGeom>
          <a:solidFill>
            <a:srgbClr val="0E2338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34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450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 HEALTH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23042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Salud de los servicios</a:t>
            </a:r>
            <a:endParaRPr lang="en-US" sz="2600" dirty="0"/>
          </a:p>
        </p:txBody>
      </p:sp>
      <p:sp>
        <p:nvSpPr>
          <p:cNvPr id="6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91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FC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Health dashboard del Microsoft 365 admin center concentra el estado, las alertas y el uso del entorno.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365 ADMIN CENTER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Health dashboard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 resumida de la salud del entorno Microsoft 365. La página Health informa el estado de los servicios online y el mantenimiento previsto.</a:t>
            </a:r>
            <a:endParaRPr lang="en-US" sz="115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00200"/>
            <a:ext cx="149595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00200"/>
            <a:ext cx="149595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83080"/>
            <a:ext cx="1130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Servicios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2221992"/>
            <a:ext cx="113019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y disponibilidad actual de las aplicaciones y servicios.</a:t>
            </a:r>
            <a:endParaRPr lang="en-US" sz="950" dirty="0"/>
          </a:p>
        </p:txBody>
      </p:sp>
      <p:sp>
        <p:nvSpPr>
          <p:cNvPr id="13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3470" y="1600200"/>
            <a:ext cx="149595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3470" y="1600200"/>
            <a:ext cx="149595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46350" y="1783080"/>
            <a:ext cx="1130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Alertas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46350" y="2221992"/>
            <a:ext cx="113019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Incidentes generales de servicio y problemas de facturación.</a:t>
            </a:r>
            <a:endParaRPr lang="en-US" sz="95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4021" y="1600200"/>
            <a:ext cx="149595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4021" y="1600200"/>
            <a:ext cx="149595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06901" y="1783080"/>
            <a:ext cx="1130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Uso diario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006901" y="2221992"/>
            <a:ext cx="113019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Actividad promedio de los productos del tenant.</a:t>
            </a:r>
            <a:endParaRPr lang="en-US" sz="950" dirty="0"/>
          </a:p>
        </p:txBody>
      </p:sp>
      <p:sp>
        <p:nvSpPr>
          <p:cNvPr id="21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4571" y="1600200"/>
            <a:ext cx="149595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2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4571" y="1600200"/>
            <a:ext cx="149595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7451" y="1783080"/>
            <a:ext cx="1130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Licencias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7451" y="2221992"/>
            <a:ext cx="113019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Utilización de las licencias asignadas frente a las disponibles.</a:t>
            </a:r>
            <a:endParaRPr lang="en-US" sz="950" dirty="0"/>
          </a:p>
        </p:txBody>
      </p:sp>
      <p:sp>
        <p:nvSpPr>
          <p:cNvPr id="2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45122" y="1600200"/>
            <a:ext cx="149595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2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45122" y="1600200"/>
            <a:ext cx="149595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28002" y="1783080"/>
            <a:ext cx="1130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Acciones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28002" y="2221992"/>
            <a:ext cx="113019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Recomendaciones para mejorar la salud de la organización.</a:t>
            </a:r>
            <a:endParaRPr lang="en-US" sz="950" dirty="0"/>
          </a:p>
        </p:txBody>
      </p:sp>
      <p:sp>
        <p:nvSpPr>
          <p:cNvPr id="29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3767328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existen alertas críticas, el dashboard muestra un indicador verde.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HEALTH DASHBOARD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Alertas críticas y estado de uso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5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3931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9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3931920" cy="50292"/>
          </a:xfrm>
          <a:prstGeom prst="rect">
            <a:avLst/>
          </a:prstGeom>
          <a:solidFill>
            <a:srgbClr val="BF44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41732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Critical alerts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1810512"/>
            <a:ext cx="35295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Incidentes generales de servicio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Problemas de facturación, como una tarjeta de crédito próxima a vencer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 verde cuando no hay alertas activas</a:t>
            </a:r>
            <a:endParaRPr lang="en-US" sz="11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234440"/>
            <a:ext cx="3931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3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234440"/>
            <a:ext cx="3931920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41732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 health and usage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5295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actual de una selección de aplicaciones y servicios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diario promedio y utilización de licencias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Advisories de los servicios que no están en estado Healthy</a:t>
            </a:r>
            <a:endParaRPr lang="en-US" sz="1100" dirty="0"/>
          </a:p>
        </p:txBody>
      </p:sp>
      <p:sp>
        <p:nvSpPr>
          <p:cNvPr id="16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767328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 visuales: ✓ servicio saludable · X servicio no disponible · ! servicio degradado.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DEFINICIONES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Estados de Service Health (1 de 2)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285292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Estado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Definición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Investigating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conoce un posible problema y recopila información sobre su alcance e impacto.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degradation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Existe un problema que afecta el uso del servicio o una funcionalidad: lentitud o interrupciones intermitentes.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interruption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problema impide a los usuarios acceder al servicio; es significativo y reproducible.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Restoring service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identificó la causa y Microsoft aplica la acción correctiva para recuperar el servicio.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Extended recovery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Corregido para la mayoría de los usuarios, pero recuperar todos los sistemas puede llevar tiempo. También indica una solución temporal.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DEFINICIONES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Estados de Service Health (2 de 2)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2377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Estado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Definición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Investigation suspended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necesita información adicional de los clientes para continuar investigando.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restored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acción correctiva resolvió el problema y el servicio volvió a un estado saludable.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False positive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servicio funciona correctamente: no hubo impacto o el origen del incidente era externo.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Post-incident report published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publicó un informe posterior al incidente con la causa raíz y los próximos pasos.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94760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94760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3813048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mismo servicio puede presentar estados diferentes según la ubicación del tenant.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HEALTH DASHBOARD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Recommended actions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dashboard sugiere acciones concretas para mejorar la seguridad y la adopción de la organización.</a:t>
            </a:r>
            <a:endParaRPr lang="en-US" sz="115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00200"/>
            <a:ext cx="257860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00200"/>
            <a:ext cx="2578608" cy="50292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83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Activate multifactor authentication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2221992"/>
            <a:ext cx="22128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Muestra cuántas cuentas administrativas tienen MFA habilitado y abre el asistente para activarlo.</a:t>
            </a:r>
            <a:endParaRPr lang="en-US" sz="1000" dirty="0"/>
          </a:p>
        </p:txBody>
      </p:sp>
      <p:sp>
        <p:nvSpPr>
          <p:cNvPr id="13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600200"/>
            <a:ext cx="257860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600200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5576" y="1783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Enable monthly updates for Office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65576" y="2221992"/>
            <a:ext cx="22128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 si Office está configurado para recibir actualizaciones con la frecuencia recomendada.</a:t>
            </a:r>
            <a:endParaRPr lang="en-US" sz="100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600200"/>
            <a:ext cx="257860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600200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1783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 OneDrive training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45352" y="2221992"/>
            <a:ext cx="22128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Comparte capacitación sobre OneDrive para impulsar su uso y mejorar la recuperación ante ransomware o fallos del dispositivo.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DISPONIBILIDAD DE TODOS LOS SERVICIOS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Página Service Health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50" dirty="0"/>
          </a:p>
        </p:txBody>
      </p:sp>
      <p:sp>
        <p:nvSpPr>
          <p:cNvPr id="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257860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087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Overview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19476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Problemas activos y estado de todos los servicios.</a:t>
            </a:r>
            <a:endParaRPr lang="en-US" sz="100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325880"/>
            <a:ext cx="257860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325880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5576" y="15087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Issue History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65576" y="19476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Historial de incidentes y advisories, con filtro de los últimos siete días.</a:t>
            </a:r>
            <a:endParaRPr lang="en-US" sz="100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325880"/>
            <a:ext cx="257860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325880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5087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Reported Issues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45352" y="19476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Problemas reportados por el tenant y su estado actual.</a:t>
            </a:r>
            <a:endParaRPr lang="en-US" sz="1000" dirty="0"/>
          </a:p>
        </p:txBody>
      </p:sp>
      <p:sp>
        <p:nvSpPr>
          <p:cNvPr id="20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26080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26080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2944368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an issue permite comunicar a Microsoft un problema que no aparece en Service Health; Microsoft analiza otros reportes y determina si el origen está en su servicio.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5661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vista puede personalizarse para mostrar únicamente determinados servicios. La app móvil Microsoft 365 Admin también permite consultar Service Health y recibir notificaciones push.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 HEALTH &gt; ISSUE HISTORY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Notificaciones por email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16736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86968" y="1280160"/>
            <a:ext cx="7754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 a Service health &gt; Issue history</a:t>
            </a:r>
            <a:endParaRPr lang="en-US" sz="1100" dirty="0"/>
          </a:p>
        </p:txBody>
      </p:sp>
      <p:sp>
        <p:nvSpPr>
          <p:cNvPr id="11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00784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86968" y="1664208"/>
            <a:ext cx="7754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Customize</a:t>
            </a:r>
            <a:endParaRPr lang="en-US" sz="1100" dirty="0"/>
          </a:p>
        </p:txBody>
      </p:sp>
      <p:sp>
        <p:nvSpPr>
          <p:cNvPr id="14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084832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6968" y="2048256"/>
            <a:ext cx="7754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la pestaña Email</a:t>
            </a:r>
            <a:endParaRPr lang="en-US" sz="1100" dirty="0"/>
          </a:p>
        </p:txBody>
      </p:sp>
      <p:sp>
        <p:nvSpPr>
          <p:cNvPr id="17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68880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6968" y="2432304"/>
            <a:ext cx="7754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Activar Send me email notifications about service health</a:t>
            </a:r>
            <a:endParaRPr lang="en-US" sz="1100" dirty="0"/>
          </a:p>
        </p:txBody>
      </p:sp>
      <p:sp>
        <p:nvSpPr>
          <p:cNvPr id="2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6968" y="2816352"/>
            <a:ext cx="7754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 hasta dos direcciones, incidentes o advisories y los servicios de interés</a:t>
            </a:r>
            <a:endParaRPr lang="en-US" sz="1100" dirty="0"/>
          </a:p>
        </p:txBody>
      </p:sp>
      <p:sp>
        <p:nvSpPr>
          <p:cNvPr id="23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36976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6968" y="3200400"/>
            <a:ext cx="7754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Save</a:t>
            </a:r>
            <a:endParaRPr lang="en-US" sz="1100" dirty="0"/>
          </a:p>
        </p:txBody>
      </p:sp>
      <p:sp>
        <p:nvSpPr>
          <p:cNvPr id="26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3858768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límite de dos direcciones es por cuenta de administrador. Manage notifications for this issue configura avisos para un incidente individual.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 ble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822960" cy="5143500"/>
          </a:xfrm>
          <a:prstGeom prst="rect">
            <a:avLst/>
          </a:prstGeom>
          <a:solidFill>
            <a:srgbClr val="0E2338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34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450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ADOPTION SCORE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23042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Medir la adopción</a:t>
            </a:r>
            <a:endParaRPr lang="en-US" sz="2600" dirty="0"/>
          </a:p>
        </p:txBody>
      </p:sp>
      <p:sp>
        <p:nvSpPr>
          <p:cNvPr id="6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91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FC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Experiencias de personas y de tecnología, con benchmarks comparativos entre tenants.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VISIÓN GENERAL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Adoption Score: áreas y benchmarks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2578608" cy="105156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6245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áreas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18013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experiences y Technology experiences</a:t>
            </a:r>
            <a:endParaRPr lang="en-US" sz="950" dirty="0"/>
          </a:p>
        </p:txBody>
      </p:sp>
      <p:sp>
        <p:nvSpPr>
          <p:cNvPr id="11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234440"/>
            <a:ext cx="2578608" cy="105156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136245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 puntos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9856" y="18013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recomendado de Network Connectivity</a:t>
            </a:r>
            <a:endParaRPr lang="en-US" sz="950" dirty="0"/>
          </a:p>
        </p:txBody>
      </p:sp>
      <p:sp>
        <p:nvSpPr>
          <p:cNvPr id="14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234440"/>
            <a:ext cx="2578608" cy="105156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36245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meses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99632" y="18013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history por categoría</a:t>
            </a:r>
            <a:endParaRPr lang="en-US" sz="95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87168"/>
            <a:ext cx="25786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87168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67004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Score breakdown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3108960"/>
            <a:ext cx="22128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Desglose del score mediante benchmarks de las áreas de experiencia de personas y tecnología.</a:t>
            </a:r>
            <a:endParaRPr lang="en-US" sz="1000" dirty="0"/>
          </a:p>
        </p:txBody>
      </p:sp>
      <p:sp>
        <p:nvSpPr>
          <p:cNvPr id="21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487168"/>
            <a:ext cx="25786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2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487168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65576" y="267004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Score history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65576" y="3108960"/>
            <a:ext cx="22128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Evolución del score de cada categoría durante los últimos seis meses.</a:t>
            </a:r>
            <a:endParaRPr lang="en-US" sz="1000" dirty="0"/>
          </a:p>
        </p:txBody>
      </p:sp>
      <p:sp>
        <p:nvSpPr>
          <p:cNvPr id="2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487168"/>
            <a:ext cx="25786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2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487168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267004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Category details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45352" y="3108960"/>
            <a:ext cx="22128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principal, métricas de soporte, investigación relacionada y acciones recomendadas.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0416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benchmark de Endpoint Analytics incluye objetivos de rendimiento de inicio del dispositivo y configuraciones de software recomendadas, basados en valores medianos entre tenants.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CATEGORY DETAILS PAGES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Categorías del Adoption Score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18973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9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54864" cy="868680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3444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Content collaboration</a:t>
            </a:r>
            <a:endParaRPr lang="en-US" sz="1100" dirty="0"/>
          </a:p>
        </p:txBody>
      </p:sp>
      <p:sp>
        <p:nvSpPr>
          <p:cNvPr id="11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3180" y="1234440"/>
            <a:ext cx="18973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2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3180" y="1234440"/>
            <a:ext cx="54864" cy="868680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6060" y="123444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14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234440"/>
            <a:ext cx="18973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5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234440"/>
            <a:ext cx="54864" cy="868680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3444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Meetings</a:t>
            </a:r>
            <a:endParaRPr lang="en-US" sz="1100" dirty="0"/>
          </a:p>
        </p:txBody>
      </p:sp>
      <p:sp>
        <p:nvSpPr>
          <p:cNvPr id="17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3700" y="1234440"/>
            <a:ext cx="18973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8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3700" y="1234440"/>
            <a:ext cx="54864" cy="868680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6580" y="123444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Mobility</a:t>
            </a:r>
            <a:endParaRPr lang="en-US" sz="1100" dirty="0"/>
          </a:p>
        </p:txBody>
      </p:sp>
      <p:sp>
        <p:nvSpPr>
          <p:cNvPr id="20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21992"/>
            <a:ext cx="18973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1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21992"/>
            <a:ext cx="54864" cy="868680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221992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Teamwork</a:t>
            </a:r>
            <a:endParaRPr lang="en-US" sz="1100" dirty="0"/>
          </a:p>
        </p:txBody>
      </p:sp>
      <p:sp>
        <p:nvSpPr>
          <p:cNvPr id="23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3180" y="2221992"/>
            <a:ext cx="18973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4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3180" y="2221992"/>
            <a:ext cx="54864" cy="868680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6060" y="2221992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365 Apps health</a:t>
            </a:r>
            <a:endParaRPr lang="en-US" sz="1100" dirty="0"/>
          </a:p>
        </p:txBody>
      </p:sp>
      <p:sp>
        <p:nvSpPr>
          <p:cNvPr id="26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221992"/>
            <a:ext cx="18973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7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221992"/>
            <a:ext cx="54864" cy="868680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221992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Endpoint Analytics</a:t>
            </a:r>
            <a:endParaRPr lang="en-US" sz="1100" dirty="0"/>
          </a:p>
        </p:txBody>
      </p:sp>
      <p:sp>
        <p:nvSpPr>
          <p:cNvPr id="29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3328416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página de categoría reúne el insight principal, las métricas de soporte, la investigación relacionada y las acciones recomendadas.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9502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usuarios pueden consultar sus propios insights de productividad desde MyAnalytics.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ADOPTION SCORE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Informes, grupos y mensajes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257860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087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resilience report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1947672"/>
            <a:ext cx="22128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Informe temporal sobre el impacto del trabajo remoto en la colaboración, la comunicación, el equilibrio con la vida personal y la toma de decisiones en reuniones remotas.</a:t>
            </a:r>
            <a:endParaRPr lang="en-US" sz="100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325880"/>
            <a:ext cx="257860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325880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5576" y="15087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Group level aggregates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65576" y="1947672"/>
            <a:ext cx="22128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Analizan el rendimiento de distintos grupos con información de Microsoft Entra ID: comparar la adopción entre grupos, identificar los de buen desempeño y aislar un grupo específico.</a:t>
            </a:r>
            <a:endParaRPr lang="en-US" sz="100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325880"/>
            <a:ext cx="257860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325880"/>
            <a:ext cx="2578608" cy="50292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5087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Organizational messages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45352" y="1947672"/>
            <a:ext cx="221284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Mensajes para fomentar la adopción de OneDrive, SharePoint, Teams Chat, @mentions en Outlook y cloud attachments en Outlook.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 ble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822960" cy="5143500"/>
          </a:xfrm>
          <a:prstGeom prst="rect">
            <a:avLst/>
          </a:prstGeom>
          <a:solidFill>
            <a:srgbClr val="0E2338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34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450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USAGE ANALYTICS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23042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Analizar el uso</a:t>
            </a:r>
            <a:endParaRPr lang="en-US" sz="2600" dirty="0"/>
          </a:p>
        </p:txBody>
      </p:sp>
      <p:sp>
        <p:nvSpPr>
          <p:cNvPr id="6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91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FC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dashboard cross-product de 12 meses, ampliable con la aplicación de plantilla de Power BI.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QUÉ PERMITE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365 Usage Analytics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Visualizar y analizar los datos de uso de Microsoft 365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reportes personalizados y compartir insights en la organización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Analizar cómo regiones o departamentos específicos utilizan Microsoft 365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Combinar el uso con información de Active Directory: departamento, ubicación y otras propiedades</a:t>
            </a:r>
            <a:endParaRPr lang="en-US" sz="1200" dirty="0"/>
          </a:p>
        </p:txBody>
      </p:sp>
      <p:sp>
        <p:nvSpPr>
          <p:cNvPr id="9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234440"/>
            <a:ext cx="3063240" cy="82296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325880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meses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742432" y="1655064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Visión cross-product del dashboard predefinido</a:t>
            </a:r>
            <a:endParaRPr lang="en-US" sz="900" dirty="0"/>
          </a:p>
        </p:txBody>
      </p:sp>
      <p:sp>
        <p:nvSpPr>
          <p:cNvPr id="12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194560"/>
            <a:ext cx="3063240" cy="82296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2286000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a 8 días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742432" y="2615184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Latencia de actualización del servicio backend</a:t>
            </a:r>
            <a:endParaRPr lang="en-US" sz="900" dirty="0"/>
          </a:p>
        </p:txBody>
      </p:sp>
      <p:sp>
        <p:nvSpPr>
          <p:cNvPr id="15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3154680"/>
            <a:ext cx="3063240" cy="82296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3246120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Semanal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742432" y="3575304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Frecuencia de actualización en Power BI tras la carga inicial</a:t>
            </a:r>
            <a:endParaRPr lang="en-US" sz="900" dirty="0"/>
          </a:p>
        </p:txBody>
      </p:sp>
      <p:sp>
        <p:nvSpPr>
          <p:cNvPr id="18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60520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4178808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información específica de usuarios corresponde al último mes calendario completo. Los datos están en Activity reports y, opcionalmente, en la aplicación de Power BI.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VENTANAS DE DATOS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 center frente a Power BI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23774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Aspecto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Microsoft 365 admin center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Aplicación de Power BI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Periodo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Últimos 7, 30, 90 o 180 días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Datos mensuales de hasta 12 meses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Detalle por usuario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Según el reporte de actividad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Solo el último mes completo, para usuarios licenciados con actividad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Requisito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 administrativo en el admin center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 BI Pro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Datos combinados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Datos de uso de Microsoft 365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Uso combinado con atributos de Active Directory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3858768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datos subyacentes coinciden con los Activity reports; cambia la profundidad temporal y el nivel de detalle disponible.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REQUIERE GLOBAL ADMINISTRATOR Y POWER BI PRO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Habilitar y conectar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Habilitar Usage Analytics</a:t>
            </a:r>
            <a:endParaRPr lang="en-US" sz="1250" dirty="0"/>
          </a:p>
        </p:txBody>
      </p:sp>
      <p:sp>
        <p:nvSpPr>
          <p:cNvPr id="9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86968" y="148132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admin center &gt; Reports &gt; Usage</a:t>
            </a:r>
            <a:endParaRPr lang="en-US" sz="1050" dirty="0"/>
          </a:p>
        </p:txBody>
      </p:sp>
      <p:sp>
        <p:nvSpPr>
          <p:cNvPr id="12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75104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6968" y="193852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Buscar Microsoft 365 usage analytics y elegir Get started</a:t>
            </a:r>
            <a:endParaRPr lang="en-US" sz="1050" dirty="0"/>
          </a:p>
        </p:txBody>
      </p:sp>
      <p:sp>
        <p:nvSpPr>
          <p:cNvPr id="1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32304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6968" y="239572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Activar Make organizational usage data available…</a:t>
            </a:r>
            <a:endParaRPr lang="en-US" sz="1050" dirty="0"/>
          </a:p>
        </p:txBody>
      </p:sp>
      <p:sp>
        <p:nvSpPr>
          <p:cNvPr id="18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9504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6968" y="285292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Save y actualizar la página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Iniciar la aplicación de Power BI</a:t>
            </a:r>
            <a:endParaRPr lang="en-US" sz="1250" dirty="0"/>
          </a:p>
        </p:txBody>
      </p:sp>
      <p:sp>
        <p:nvSpPr>
          <p:cNvPr id="22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517904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93208" y="148132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Copiar el tenant ID y seleccionar Go to Power BI</a:t>
            </a:r>
            <a:endParaRPr lang="en-US" sz="1050" dirty="0"/>
          </a:p>
        </p:txBody>
      </p:sp>
      <p:sp>
        <p:nvSpPr>
          <p:cNvPr id="2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975104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93208" y="193852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Apps &gt; Get apps, instalar Microsoft 365 Usage Analytics</a:t>
            </a:r>
            <a:endParaRPr lang="en-US" sz="1050" dirty="0"/>
          </a:p>
        </p:txBody>
      </p:sp>
      <p:sp>
        <p:nvSpPr>
          <p:cNvPr id="28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432304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93208" y="239572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your data e introducir el tenant ID sin guiones</a:t>
            </a:r>
            <a:endParaRPr lang="en-US" sz="1050" dirty="0"/>
          </a:p>
        </p:txBody>
      </p:sp>
      <p:sp>
        <p:nvSpPr>
          <p:cNvPr id="31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889504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93208" y="285292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Mantener la actualización diaria, autenticar con OAuth2 y conectar</a:t>
            </a:r>
            <a:endParaRPr lang="en-US" sz="1050" dirty="0"/>
          </a:p>
        </p:txBody>
      </p:sp>
      <p:sp>
        <p:nvSpPr>
          <p:cNvPr id="34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2578608" cy="96012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55701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48 horas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40080" y="39959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Recopilación inicial de datos tras el opt-in</a:t>
            </a:r>
            <a:endParaRPr lang="en-US" sz="950" dirty="0"/>
          </a:p>
        </p:txBody>
      </p:sp>
      <p:sp>
        <p:nvSpPr>
          <p:cNvPr id="37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3429000"/>
            <a:ext cx="2578608" cy="96012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9856" y="355701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2–30 min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419856" y="39959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 inicial del dashboard de Power BI</a:t>
            </a:r>
            <a:endParaRPr lang="en-US" sz="950" dirty="0"/>
          </a:p>
        </p:txBody>
      </p:sp>
      <p:sp>
        <p:nvSpPr>
          <p:cNvPr id="40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3429000"/>
            <a:ext cx="2578608" cy="96012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355701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Día 5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199632" y="39959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Detalle por usuario del mes calendario siguiente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CONTENIDO DE LA APLICACIÓN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Reportes principales de Power BI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149595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149595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17320"/>
            <a:ext cx="1130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1856232"/>
            <a:ext cx="113019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Adopción, uso, movilidad, comunicación, colaboración y almacenamiento del último mes completo.</a:t>
            </a:r>
            <a:endParaRPr lang="en-US" sz="95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3470" y="1234440"/>
            <a:ext cx="149595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3470" y="1234440"/>
            <a:ext cx="149595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46350" y="1417320"/>
            <a:ext cx="1130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365 Overview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46350" y="1856232"/>
            <a:ext cx="113019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Adoption, Usage, Communication, Collaboration, Storage y Mobility a lo largo de 12 meses.</a:t>
            </a:r>
            <a:endParaRPr lang="en-US" sz="95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4021" y="1234440"/>
            <a:ext cx="149595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4021" y="1234440"/>
            <a:ext cx="149595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6901" y="1417320"/>
            <a:ext cx="1130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Activation and Licensing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06901" y="1856232"/>
            <a:ext cx="113019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Activaciones de planes y dispositivos, tipos de licencia y distribución mensual.</a:t>
            </a:r>
            <a:endParaRPr lang="en-US" sz="950" dirty="0"/>
          </a:p>
        </p:txBody>
      </p:sp>
      <p:sp>
        <p:nvSpPr>
          <p:cNvPr id="2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4571" y="1234440"/>
            <a:ext cx="149595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2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4571" y="1234440"/>
            <a:ext cx="149595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7451" y="1417320"/>
            <a:ext cx="1130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 usage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7451" y="1856232"/>
            <a:ext cx="113019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Exchange, Microsoft 365 Groups, OneDrive, SharePoint, Skype, Teams y Yammer.</a:t>
            </a:r>
            <a:endParaRPr lang="en-US" sz="950" dirty="0"/>
          </a:p>
        </p:txBody>
      </p:sp>
      <p:sp>
        <p:nvSpPr>
          <p:cNvPr id="2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45122" y="1234440"/>
            <a:ext cx="149595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2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45122" y="1234440"/>
            <a:ext cx="1495958" cy="50292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28002" y="1417320"/>
            <a:ext cx="1130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 activity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28002" y="1856232"/>
            <a:ext cx="113019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a nivel de usuario con atributos de Active Directory, incluido Department Adoption.</a:t>
            </a:r>
            <a:endParaRPr lang="en-US" sz="950" dirty="0"/>
          </a:p>
        </p:txBody>
      </p:sp>
      <p:sp>
        <p:nvSpPr>
          <p:cNvPr id="28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73552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73552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3291840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usuario con licencia de Office puede instalar productos en hasta cinco dispositivos; el plan se considera activado tras instalar la aplicación e iniciar sesión.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8587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roles Global Reader y Usage Summary Reports Reader no tienen permisos para visualizar los reportes de actividad de usuarios.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PRIVACIDAD EN LOS REPORTES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Información identificable de usuarios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Desde el 1 de septiembre de 2021 Microsoft oculta de forma predeterminada los nombres identificables de usuarios, grupos y sitios.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Volver a mostrar los nombres</a:t>
            </a:r>
            <a:endParaRPr lang="en-US" sz="1250" dirty="0"/>
          </a:p>
        </p:txBody>
      </p:sp>
      <p:sp>
        <p:nvSpPr>
          <p:cNvPr id="1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56816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86968" y="1920240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center &gt; Settings &gt; Org Settings</a:t>
            </a:r>
            <a:endParaRPr lang="en-US" sz="1050" dirty="0"/>
          </a:p>
        </p:txBody>
      </p:sp>
      <p:sp>
        <p:nvSpPr>
          <p:cNvPr id="13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59152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6968" y="2322576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Services &gt; Reports</a:t>
            </a:r>
            <a:endParaRPr lang="en-US" sz="1050" dirty="0"/>
          </a:p>
        </p:txBody>
      </p:sp>
      <p:sp>
        <p:nvSpPr>
          <p:cNvPr id="16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61488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6968" y="2724912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Desactivar Display concealed user, group, and site names…</a:t>
            </a:r>
            <a:endParaRPr lang="en-US" sz="1050" dirty="0"/>
          </a:p>
        </p:txBody>
      </p:sp>
      <p:sp>
        <p:nvSpPr>
          <p:cNvPr id="19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63824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6968" y="3127248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Save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Alcance de la configuración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09160" y="1956816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admin center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Graph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 admin center</a:t>
            </a:r>
            <a:endParaRPr lang="en-US" sz="1100" dirty="0"/>
          </a:p>
        </p:txBody>
      </p:sp>
      <p:sp>
        <p:nvSpPr>
          <p:cNvPr id="24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03320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03320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3721608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Mostrar información identificable queda registrado como evento en el audit log del portal de Microsoft Purview.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 ble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822960" cy="5143500"/>
          </a:xfrm>
          <a:prstGeom prst="rect">
            <a:avLst/>
          </a:prstGeom>
          <a:solidFill>
            <a:srgbClr val="0E2338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34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450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NETWORK CONNECTIVITY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23042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Conectividad de red</a:t>
            </a:r>
            <a:endParaRPr lang="en-US" sz="2600" dirty="0"/>
          </a:p>
        </p:txBody>
      </p:sp>
      <p:sp>
        <p:nvSpPr>
          <p:cNvPr id="6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91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FC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agregadas de clientes de Office que se traducen en insights, recomendaciones y assessments.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HEALTH &gt; NETWORK CONNECTIVITY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Assessments e insights de red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850" dirty="0"/>
          </a:p>
        </p:txBody>
      </p:sp>
      <p:sp>
        <p:nvSpPr>
          <p:cNvPr id="8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2578608" cy="105156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6245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 a 100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18013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del network assessment por tenant y por ubicación</a:t>
            </a:r>
            <a:endParaRPr lang="en-US" sz="950" dirty="0"/>
          </a:p>
        </p:txBody>
      </p:sp>
      <p:sp>
        <p:nvSpPr>
          <p:cNvPr id="11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234440"/>
            <a:ext cx="2578608" cy="105156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136245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+500 usuarios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9856" y="18013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 de empresa que más se beneficia, con múltiples oficinas</a:t>
            </a:r>
            <a:endParaRPr lang="en-US" sz="950" dirty="0"/>
          </a:p>
        </p:txBody>
      </p:sp>
      <p:sp>
        <p:nvSpPr>
          <p:cNvPr id="14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234440"/>
            <a:ext cx="2578608" cy="105156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36245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WW Commercial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99632" y="18013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soportados; no GCC Moderate, GCC High, DoD ni China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487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Qué aportan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 de arquitectura de red y recomendaciones de rendimiento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 con un assessment ponderado para todo el tenant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Locations con métricas, incidentes y mejora potencial de latencia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487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Acceso y contexto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09160" y="28346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Reader: acceso de lectura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Support Administrator: configura ubicaciones y ajustes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perímetros pensados para navegación web pueden degradar el rendimiento de Microsoft 365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TRES OPCIONES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Configurar la información de ubicaciones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850" dirty="0"/>
          </a:p>
        </p:txBody>
      </p:sp>
      <p:sp>
        <p:nvSpPr>
          <p:cNvPr id="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98448"/>
            <a:ext cx="257860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98448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8132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· Windows Location Services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2212848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Recopilación automática. Requiere dos equipos por ubicación, OneDrive actualizado, consentimiento de ubicación y preferentemente Wi-Fi. Resolución de ciudad, área de 300 × 300 m y una prueba diaria como máximo.</a:t>
            </a:r>
            <a:endParaRPr lang="en-US" sz="100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298448"/>
            <a:ext cx="257860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298448"/>
            <a:ext cx="2578608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5576" y="148132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· Ubicaciones manuales o CSV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65576" y="1920240"/>
            <a:ext cx="2212848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Location Services ni Wi-Fi. Requiere OneDrive actualizado, un equipo y la LAN subnet (rangos RFC1918). Permite varias oficinas por ciudad; la public egress IP actúa como diferenciador secundario.</a:t>
            </a:r>
            <a:endParaRPr lang="en-US" sz="100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298448"/>
            <a:ext cx="257860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298448"/>
            <a:ext cx="2578608" cy="50292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48132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· Connectivity test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45352" y="1920240"/>
            <a:ext cx="2212848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el Microsoft 365 network connectivity test desde un equipo Windows de cada oficina, iniciar sesión y correr el EXE. Los resultados aparecen 2-3 minutos después.</a:t>
            </a:r>
            <a:endParaRPr lang="en-US" sz="1000" dirty="0"/>
          </a:p>
        </p:txBody>
      </p:sp>
      <p:sp>
        <p:nvSpPr>
          <p:cNvPr id="20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94760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94760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813048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primeros datos aparecen tras 24 horas; las ubicaciones descubiertas se conservan 90 días. Las LAN subnets y egress IP deben ser IPv4.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SOLO ACCESIBLES PARA ADMINISTRADORES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Principales Network Insights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850" dirty="0"/>
          </a:p>
        </p:txBody>
      </p:sp>
      <p:sp>
        <p:nvSpPr>
          <p:cNvPr id="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25908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2590800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1732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Backhauled network egress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1856232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Distancia mayor a 500 millas / 800 km entre el usuario y el egress.</a:t>
            </a:r>
            <a:endParaRPr lang="en-US" sz="100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6600" y="1234440"/>
            <a:ext cx="25908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6600" y="1234440"/>
            <a:ext cx="2590800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9480" y="141732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Network intermediary device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59480" y="1856232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Proxies, VPN o dispositivos DLP en tráfico sensible a la latencia.</a:t>
            </a:r>
            <a:endParaRPr lang="en-US" sz="100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0280" y="1234440"/>
            <a:ext cx="25908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0280" y="1234440"/>
            <a:ext cx="2590800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3160" y="141732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Better performance near you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33160" y="1856232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Latencia al menos 10 % mayor que la de tenants cercanos.</a:t>
            </a:r>
            <a:endParaRPr lang="en-US" sz="1000" dirty="0"/>
          </a:p>
        </p:txBody>
      </p:sp>
      <p:sp>
        <p:nvSpPr>
          <p:cNvPr id="2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87752"/>
            <a:ext cx="25908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2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87752"/>
            <a:ext cx="2590800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770632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Exchange front door no óptimo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3209544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Conexión a un front door no óptimo; se recomienda egress local y directo.</a:t>
            </a:r>
            <a:endParaRPr lang="en-US" sz="1000" dirty="0"/>
          </a:p>
        </p:txBody>
      </p:sp>
      <p:sp>
        <p:nvSpPr>
          <p:cNvPr id="2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6600" y="2587752"/>
            <a:ext cx="25908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2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6600" y="2587752"/>
            <a:ext cx="2590800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9480" y="2770632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SharePoint front door no óptimo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59480" y="3209544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Conexión a un front door que no es el más cercano.</a:t>
            </a:r>
            <a:endParaRPr lang="en-US" sz="1000" dirty="0"/>
          </a:p>
        </p:txBody>
      </p:sp>
      <p:sp>
        <p:nvSpPr>
          <p:cNvPr id="2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0280" y="2587752"/>
            <a:ext cx="25908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2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0280" y="2587752"/>
            <a:ext cx="2590800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3160" y="2770632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Low download speed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33160" y="3209544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 de banda hacia SharePoint Online inferior a 1 MBps.</a:t>
            </a:r>
            <a:endParaRPr lang="en-US" sz="1000" dirty="0"/>
          </a:p>
        </p:txBody>
      </p:sp>
      <p:sp>
        <p:nvSpPr>
          <p:cNvPr id="32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94760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94760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" y="3813048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China user optimal network egress recomienda salir por Hong Kong, Japón, Taiwán, Corea del Sur, Singapur o Malasia con WAN privada. Regla general: el egress lo más cerca posible de la oficina.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 ble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822960" cy="5143500"/>
          </a:xfrm>
          <a:prstGeom prst="rect">
            <a:avLst/>
          </a:prstGeom>
          <a:solidFill>
            <a:srgbClr val="0E2338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34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450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365 BACKUP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23042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Proteger y restaurar</a:t>
            </a:r>
            <a:endParaRPr lang="en-US" sz="2600" dirty="0"/>
          </a:p>
        </p:txBody>
      </p:sp>
      <p:sp>
        <p:nvSpPr>
          <p:cNvPr id="6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91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FC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 pay-as-you-go de continuidad del negocio, disponible en todos los entornos comerciales.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CONTINUIDAD DEL NEGOCIO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365 Backup (Preview)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Protege frente 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Ransomware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Eliminación accidental o maliciosa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Sobrescritura accidental o maliciosa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Beneficios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980944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y restauración en horas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completo de sitios de SharePoint y cuentas de OneDrive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Restauración completa o granular de elementos de Exchange mediante búsqueda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consolidada de seguridad y compliance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Arquitectura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09160" y="1481328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backups no abandonan el límite de confianza de Microsoft 365 ni la ubicación geográfica de residencia de datos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inmutables, salvo eliminación explícita mediante offboarding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Utilizan múltiples copias físicamente redundantes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OneDrive, SharePoint y Exchange usan almacenamiento Append-Only frente a sobrescrituras maliciosas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3749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trabaja además con ISV que integran sus aplicaciones con Microsoft 365 Backup Storage, gestionando operación y pago desde la aplicación del partner.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MODELO PAY-AS-YOU-GO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Pricing y rendimiento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850" dirty="0"/>
          </a:p>
        </p:txBody>
      </p:sp>
      <p:sp>
        <p:nvSpPr>
          <p:cNvPr id="8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2578608" cy="100584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3502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$0.15/GB/mes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1773936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Precio de lista por contenido protegido</a:t>
            </a:r>
            <a:endParaRPr lang="en-US" sz="950" dirty="0"/>
          </a:p>
        </p:txBody>
      </p:sp>
      <p:sp>
        <p:nvSpPr>
          <p:cNvPr id="11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207008"/>
            <a:ext cx="2578608" cy="100584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133502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365 días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9856" y="1773936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Periodo cubierto desde que los datos entran en protección</a:t>
            </a:r>
            <a:endParaRPr lang="en-US" sz="950" dirty="0"/>
          </a:p>
        </p:txBody>
      </p:sp>
      <p:sp>
        <p:nvSpPr>
          <p:cNvPr id="14" name="Metric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207008"/>
            <a:ext cx="2578608" cy="1005840"/>
          </a:xfrm>
          <a:prstGeom prst="rect">
            <a:avLst/>
          </a:prstGeom>
          <a:solidFill>
            <a:srgbClr val="0E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33502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24 meses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99632" y="1773936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6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Proyección del pricing calculator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Qué considera el tamaño facturado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72491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Mailboxes, SharePoint sites y OneDrive accounts protegidos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de Recycle Bin y Second-stage Recycle Bin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Mailbox más online archives y deleted items retenidos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Rendimiento esperado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72491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Activación de la política: hasta 60 minutos; restore points, otros 60 minutos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 protection unit de una restore session: menos de una hora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1.000 unidades de 30 GB promedio: restauración completa en menos de 12 horas</a:t>
            </a:r>
            <a:endParaRPr lang="en-US" sz="1050" dirty="0"/>
          </a:p>
        </p:txBody>
      </p:sp>
      <p:sp>
        <p:nvSpPr>
          <p:cNvPr id="21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41648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41648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4059936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 cobran los restore points, el tamaño de las restauraciones ni los costos de Azure API o almacenamiento asociados. El in-place restore es más rápido que restaurar hacia una nueva URL.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 ble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822960" cy="5143500"/>
          </a:xfrm>
          <a:prstGeom prst="rect">
            <a:avLst/>
          </a:prstGeom>
          <a:solidFill>
            <a:srgbClr val="0E2338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34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450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INCIDENTES Y SOPORTE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23042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Responder y escalar</a:t>
            </a:r>
            <a:endParaRPr lang="en-US" sz="2600" dirty="0"/>
          </a:p>
        </p:txBody>
      </p:sp>
      <p:sp>
        <p:nvSpPr>
          <p:cNvPr id="6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91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FC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es un entorno Managed Evergreen: los cambios continuos exigen un plan de respuesta.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CUATRO PASOS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Incident Response Plan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850" dirty="0"/>
          </a:p>
        </p:txBody>
      </p:sp>
      <p:sp>
        <p:nvSpPr>
          <p:cNvPr id="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18973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1897380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08760"/>
            <a:ext cx="1531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· Validar el incidente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1947672"/>
            <a:ext cx="15316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Confirmar que el entorno está afectado. No todos los incidentes impactan a todos los tenants: los self-assessments evitan falsos positivos.</a:t>
            </a:r>
            <a:endParaRPr lang="en-US" sz="100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3180" y="1325880"/>
            <a:ext cx="18973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3180" y="1325880"/>
            <a:ext cx="1897380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66060" y="1508760"/>
            <a:ext cx="1531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· Evaluar la relevancia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66060" y="1947672"/>
            <a:ext cx="15316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Analizar si el servicio afectado impacta las operaciones diarias, junto con los administradores especializados.</a:t>
            </a:r>
            <a:endParaRPr lang="en-US" sz="100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25880"/>
            <a:ext cx="18973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1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25880"/>
            <a:ext cx="1897380" cy="50292"/>
          </a:xfrm>
          <a:prstGeom prst="rect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508760"/>
            <a:ext cx="1531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· Revisar la recuperación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0" y="1947672"/>
            <a:ext cx="15316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Determinar si Microsoft estableció un timeframe. Si no existe, abrir un service request indicando el número del incidente.</a:t>
            </a:r>
            <a:endParaRPr lang="en-US" sz="1000" dirty="0"/>
          </a:p>
        </p:txBody>
      </p:sp>
      <p:sp>
        <p:nvSpPr>
          <p:cNvPr id="2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3700" y="1325880"/>
            <a:ext cx="18973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  <a:effectLst>
            <a:outerShdw blurRad="101600" dist="25400" dir="5400000" algn="bl" rotWithShape="0">
              <a:srgbClr val="0E2338">
                <a:alpha val="10000"/>
              </a:srgbClr>
            </a:outerShdw>
          </a:effectLst>
        </p:spPr>
      </p:sp>
      <p:sp>
        <p:nvSpPr>
          <p:cNvPr id="2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3700" y="1325880"/>
            <a:ext cx="1897380" cy="50292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6580" y="1508760"/>
            <a:ext cx="1531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· Preparar una alternativa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26580" y="1947672"/>
            <a:ext cx="15316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cómo seguir trabajando si la degradación se extiende: servicios cloud alternativos o sistemas locales confiables.</a:t>
            </a:r>
            <a:endParaRPr lang="en-US" sz="1000" dirty="0"/>
          </a:p>
        </p:txBody>
      </p:sp>
      <p:sp>
        <p:nvSpPr>
          <p:cNvPr id="24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3630168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administradores deben revisar continuamente Service Health y utilizar service requests cuando sea necesario.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ALCANCE DEL SOPORTE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Solicitar asistencia a Microsoft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Cobertura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Soporte técnico, presales, billing y subscription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Suscripciones Enterprise, Business, Education y Government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Disponible online desde el portal y por teléfono, en planes pagos y trial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Instalación y configuración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 Online: migración de mailboxes, destinatarios, permisos, forwarding, shared mailboxes y Autodiscover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 Online: permisos, grupos y usuarios externos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Provisioning, dominios, SSO y sincronización de Active Directory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Responsabilidades del administrador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09160" y="1481328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 los servicios y mantiene las cuentas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el contacto principal y está autorizado a enviar service requests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Atiende conectividad, software cliente, movilidad y disponibilidad bajo control de la organización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 de Microsoft Support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09160" y="3127248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Troubleshooting y orientación técnica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Recopila y valida información y coordina la resolución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Ayuda con licencias, facturación, suscripciones, compras y trials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 REQUESTS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Niveles de severidad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8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22677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Severidad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Descripción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Severity A — Critical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Uno o más servicios no están disponibles o son inutilizables. Impacto grave sobre producción, operaciones, deadlines o rentabilidad; puede afectar múltiples usuarios o servicios.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Severity B — High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servicio funciona pero está afectado. Impacto empresarial moderado, tratable en horario laboral; puede afectar parcialmente a un usuario, cliente o servicio.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3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Severity C — Noncritical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Impacto empresarial mínimo. El problema es importante pero no afecta significativamente el servicio o la productividad; puede existir un workaround aceptable.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03320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03320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3721608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los usuarios con roles administrativos pueden acceder al admin center y comunicarse directamente con Microsoft para enviar service requests.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365 ADMIN CENTER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3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Crear un service request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0584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69180"/>
            <a:ext cx="9144000" cy="18288"/>
          </a:xfrm>
          <a:prstGeom prst="rect">
            <a:avLst/>
          </a:prstGeom>
          <a:solidFill>
            <a:srgbClr val="DCE4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874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la salud del tenant · Microsoft 365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92440" y="48874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E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850" dirty="0"/>
          </a:p>
        </p:txBody>
      </p:sp>
      <p:sp>
        <p:nvSpPr>
          <p:cNvPr id="8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62456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86968" y="1325880"/>
            <a:ext cx="7754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Show all en el Microsoft 365 admin center</a:t>
            </a:r>
            <a:endParaRPr lang="en-US" sz="1150" dirty="0"/>
          </a:p>
        </p:txBody>
      </p:sp>
      <p:sp>
        <p:nvSpPr>
          <p:cNvPr id="11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819656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86968" y="1783080"/>
            <a:ext cx="7754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Support</a:t>
            </a:r>
            <a:endParaRPr lang="en-US" sz="1150" dirty="0"/>
          </a:p>
        </p:txBody>
      </p:sp>
      <p:sp>
        <p:nvSpPr>
          <p:cNvPr id="14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76856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7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6968" y="2240280"/>
            <a:ext cx="7754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New service request</a:t>
            </a:r>
            <a:endParaRPr lang="en-US" sz="1150" dirty="0"/>
          </a:p>
        </p:txBody>
      </p:sp>
      <p:sp>
        <p:nvSpPr>
          <p:cNvPr id="17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34056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6968" y="2697480"/>
            <a:ext cx="7754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Completar los campos requeridos y describir el problema en detalle</a:t>
            </a:r>
            <a:endParaRPr lang="en-US" sz="1150" dirty="0"/>
          </a:p>
        </p:txBody>
      </p:sp>
      <p:sp>
        <p:nvSpPr>
          <p:cNvPr id="2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91256"/>
            <a:ext cx="274320" cy="27432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6968" y="3154680"/>
            <a:ext cx="7754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Submit</a:t>
            </a:r>
            <a:endParaRPr lang="en-US" sz="1150" dirty="0"/>
          </a:p>
        </p:txBody>
      </p:sp>
      <p:sp>
        <p:nvSpPr>
          <p:cNvPr id="23" name="Not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8138160" cy="457200"/>
          </a:xfrm>
          <a:prstGeom prst="rect">
            <a:avLst/>
          </a:prstGeom>
          <a:solidFill>
            <a:srgbClr val="E8EF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54864" cy="457200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767328"/>
            <a:ext cx="7754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34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buen nivel de detalle en la descripción acelera el diagnóstico y la asignación de severidad.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3FB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PUNTOS CLAVE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monitoreo continuo, no un chequeo puntual</a:t>
            </a:r>
            <a:endParaRPr lang="en-US" sz="24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822960" cy="41148"/>
          </a:xfrm>
          <a:prstGeom prst="rect">
            <a:avLst/>
          </a:prstGeom>
          <a:solidFill>
            <a:srgbClr val="D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91640"/>
            <a:ext cx="1481328" cy="2011680"/>
          </a:xfrm>
          <a:prstGeom prst="rect">
            <a:avLst/>
          </a:prstGeom>
          <a:solidFill>
            <a:srgbClr val="173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91640"/>
            <a:ext cx="1481328" cy="45720"/>
          </a:xfrm>
          <a:prstGeom prst="rect">
            <a:avLst/>
          </a:prstGeom>
          <a:solidFill>
            <a:srgbClr val="3FB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87452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Vigilar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2240280"/>
            <a:ext cx="1152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dashboard y Service Health con notificaciones por email y en la app móvil.</a:t>
            </a:r>
            <a:endParaRPr lang="en-US" sz="95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7128" y="1691640"/>
            <a:ext cx="1481328" cy="2011680"/>
          </a:xfrm>
          <a:prstGeom prst="rect">
            <a:avLst/>
          </a:prstGeom>
          <a:solidFill>
            <a:srgbClr val="173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7128" y="1691640"/>
            <a:ext cx="1481328" cy="45720"/>
          </a:xfrm>
          <a:prstGeom prst="rect">
            <a:avLst/>
          </a:prstGeom>
          <a:solidFill>
            <a:srgbClr val="3FB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87452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2240280"/>
            <a:ext cx="1152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Score y Usage Analytics para entender adopción y uso real.</a:t>
            </a:r>
            <a:endParaRPr lang="en-US" sz="950" dirty="0"/>
          </a:p>
        </p:txBody>
      </p:sp>
      <p:sp>
        <p:nvSpPr>
          <p:cNvPr id="13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31336" y="1691640"/>
            <a:ext cx="1481328" cy="2011680"/>
          </a:xfrm>
          <a:prstGeom prst="rect">
            <a:avLst/>
          </a:prstGeom>
          <a:solidFill>
            <a:srgbClr val="173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31336" y="1691640"/>
            <a:ext cx="1481328" cy="45720"/>
          </a:xfrm>
          <a:prstGeom prst="rect">
            <a:avLst/>
          </a:prstGeom>
          <a:solidFill>
            <a:srgbClr val="3FB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95928" y="187452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Optimizar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95928" y="2240280"/>
            <a:ext cx="1152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insights para acercar el egress y mejorar la latencia.</a:t>
            </a:r>
            <a:endParaRPr lang="en-US" sz="95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95544" y="1691640"/>
            <a:ext cx="1481328" cy="2011680"/>
          </a:xfrm>
          <a:prstGeom prst="rect">
            <a:avLst/>
          </a:prstGeom>
          <a:solidFill>
            <a:srgbClr val="173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95544" y="1691640"/>
            <a:ext cx="1481328" cy="45720"/>
          </a:xfrm>
          <a:prstGeom prst="rect">
            <a:avLst/>
          </a:prstGeom>
          <a:solidFill>
            <a:srgbClr val="3FB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0136" y="187452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Proteger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0136" y="2240280"/>
            <a:ext cx="1152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Backup para recuperar rápido ante pérdida de datos.</a:t>
            </a:r>
            <a:endParaRPr lang="en-US" sz="950" dirty="0"/>
          </a:p>
        </p:txBody>
      </p:sp>
      <p:sp>
        <p:nvSpPr>
          <p:cNvPr id="21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59752" y="1691640"/>
            <a:ext cx="1481328" cy="2011680"/>
          </a:xfrm>
          <a:prstGeom prst="rect">
            <a:avLst/>
          </a:prstGeom>
          <a:solidFill>
            <a:srgbClr val="173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59752" y="1691640"/>
            <a:ext cx="1481328" cy="45720"/>
          </a:xfrm>
          <a:prstGeom prst="rect">
            <a:avLst/>
          </a:prstGeom>
          <a:solidFill>
            <a:srgbClr val="3FB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24344" y="187452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Responder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24344" y="2240280"/>
            <a:ext cx="1152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de incidentes y service requests con la severidad adecuada.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Service Health de forma continua, documentar el plan de respuesta y escalar con service requests cuando el impacto lo justifique.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2026-08-25T18:49:11Z</dcterms:modified>
</cp:coreProperties>
</file>
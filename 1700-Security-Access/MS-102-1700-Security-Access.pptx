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7T02:27:37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E4DF2-9669-4E73-80B4-76EB108677AB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D7047-CC0A-4C05-91C5-3D103B79C4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3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999D37-0ED1-4AE6-B8F7-514D0ACCB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B15B56-B4C7-463B-94DA-F6F8699E417A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95250" cy="68580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BE153-F985-470C-9803-C90BC3106076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78C45-8FB9-4FF7-9615-A58C3D5DB6D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2390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Seguridad de acceso</a:t>
            </a:r>
          </a:p>
          <a:p>
            <a:pPr>
              <a:defRPr sz="40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de usuarios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57CCBA-D83A-4FA4-99D7-4426D512CD66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695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Identidad, autenticación fuerte, acceso condicional y diagnóstico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8ADFF48-0EEA-4960-B612-D5ADF2C9293C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4000500" cy="0"/>
          </a:xfrm>
          <a:prstGeom prst="line">
            <a:avLst/>
          </a:prstGeom>
          <a:noFill/>
          <a:ln w="47625">
            <a:solidFill>
              <a:srgbClr val="00A4E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3F692D-4C9A-4766-B2C1-DB8A106BD794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Microsoft Entra ID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F96C19-419A-406D-93FB-E332108DDE42}"/>
              </a:ext>
            </a:extLst>
          </p:cNvPr>
          <p:cNvSpPr>
            <a:spLocks noGrp="1"/>
          </p:cNvSpPr>
          <p:nvPr/>
        </p:nvSpPr>
        <p:spPr>
          <a:xfrm>
            <a:off x="8620125" y="1466850"/>
            <a:ext cx="2190750" cy="2190750"/>
          </a:xfrm>
          <a:prstGeom prst="ellipse">
            <a:avLst/>
          </a:prstGeom>
          <a:solidFill>
            <a:srgbClr val="ECF7FC"/>
          </a:solidFill>
          <a:ln w="19050">
            <a:solidFill>
              <a:srgbClr val="B8D7E8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2F42F5-2DD5-40B5-BBDD-30EECF4D3664}"/>
              </a:ext>
            </a:extLst>
          </p:cNvPr>
          <p:cNvSpPr>
            <a:spLocks noGrp="1"/>
          </p:cNvSpPr>
          <p:nvPr/>
        </p:nvSpPr>
        <p:spPr>
          <a:xfrm>
            <a:off x="9096375" y="1943100"/>
            <a:ext cx="1238250" cy="1238250"/>
          </a:xfrm>
          <a:prstGeom prst="ellipse">
            <a:avLst/>
          </a:prstGeom>
          <a:solidFill>
            <a:srgbClr val="D9EEF9"/>
          </a:solidFill>
          <a:ln w="28575">
            <a:solidFill>
              <a:srgbClr val="00A4EF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DE0543-BB84-4AFB-87AB-E8ED407E5AE0}"/>
              </a:ext>
            </a:extLst>
          </p:cNvPr>
          <p:cNvSpPr>
            <a:spLocks noGrp="1"/>
          </p:cNvSpPr>
          <p:nvPr/>
        </p:nvSpPr>
        <p:spPr>
          <a:xfrm>
            <a:off x="9496425" y="2343150"/>
            <a:ext cx="438150" cy="4381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546A624-61AC-4093-9F10-932135EBF54C}"/>
              </a:ext>
            </a:extLst>
          </p:cNvPr>
          <p:cNvSpPr>
            <a:spLocks noGrp="1"/>
          </p:cNvSpPr>
          <p:nvPr/>
        </p:nvSpPr>
        <p:spPr>
          <a:xfrm>
            <a:off x="7810500" y="2562225"/>
            <a:ext cx="3952875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C34844E-1D8F-4FFB-A8C4-A91C984F348C}"/>
              </a:ext>
            </a:extLst>
          </p:cNvPr>
          <p:cNvSpPr>
            <a:spLocks noGrp="1"/>
          </p:cNvSpPr>
          <p:nvPr/>
        </p:nvSpPr>
        <p:spPr>
          <a:xfrm>
            <a:off x="9715500" y="666750"/>
            <a:ext cx="0" cy="400050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A16A5-13E2-4093-B4A2-AFF3B2BAEC53}"/>
              </a:ext>
            </a:extLst>
          </p:cNvPr>
          <p:cNvSpPr>
            <a:spLocks noGrp="1"/>
          </p:cNvSpPr>
          <p:nvPr/>
        </p:nvSpPr>
        <p:spPr>
          <a:xfrm>
            <a:off x="8143875" y="5219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BCCC47-A527-4E00-AC07-7C778FF111E6}"/>
              </a:ext>
            </a:extLst>
          </p:cNvPr>
          <p:cNvSpPr>
            <a:spLocks noGrp="1"/>
          </p:cNvSpPr>
          <p:nvPr/>
        </p:nvSpPr>
        <p:spPr>
          <a:xfrm>
            <a:off x="9848850" y="5219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FF73AF-A494-4449-866B-E6CE7FFC8197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2434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C190C66-BD62-475E-A79C-D334B85921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103164-0398-48DE-93CA-8748AFA9E4D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980887-CE5C-4893-BD63-4888230D68F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 seguridad de acceso es una cadena de decisiones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8D5907-4B04-4D0D-AA6C-C169025810BB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18814-DCE5-4F0D-8E28-77276955369B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445E4-08A6-43CE-930C-D76CC6740195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5C8C5-0BA7-4D8F-BA68-7F064A3A477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Una credencial válida no basta: el acceso seguro combina contexto, control y evidencia.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2A689-2F57-46F7-B6EF-75BF5FFA447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0955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2C8E6D-C0A1-4BE1-9834-17FEAF54CA98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1828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SEÑALES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91C797-2364-4C63-8DED-CB1E953C51A4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Identidad · dispositivo</a:t>
            </a:r>
          </a:p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ubicación · riesgo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36E89-BD9E-41FD-9BD5-836C77129F23}"/>
              </a:ext>
            </a:extLst>
          </p:cNvPr>
          <p:cNvSpPr>
            <a:spLocks noGrp="1"/>
          </p:cNvSpPr>
          <p:nvPr/>
        </p:nvSpPr>
        <p:spPr>
          <a:xfrm>
            <a:off x="2876550" y="27813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8F2A1-7F1C-463D-A4B1-34BE4A23746B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095500" cy="819150"/>
          </a:xfrm>
          <a:prstGeom prst="rect">
            <a:avLst/>
          </a:prstGeom>
          <a:solidFill>
            <a:srgbClr val="0078D4"/>
          </a:solidFill>
          <a:ln w="14288">
            <a:solidFill>
              <a:srgbClr val="0078D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D30AE-97EC-48D2-8793-BE36EB6F4463}"/>
              </a:ext>
            </a:extLst>
          </p:cNvPr>
          <p:cNvSpPr>
            <a:spLocks noGrp="1"/>
          </p:cNvSpPr>
          <p:nvPr/>
        </p:nvSpPr>
        <p:spPr>
          <a:xfrm>
            <a:off x="3467100" y="2705100"/>
            <a:ext cx="1828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6E87B6-2FAF-4242-B236-A64306AB7118}"/>
              </a:ext>
            </a:extLst>
          </p:cNvPr>
          <p:cNvSpPr>
            <a:spLocks noGrp="1"/>
          </p:cNvSpPr>
          <p:nvPr/>
        </p:nvSpPr>
        <p:spPr>
          <a:xfrm>
            <a:off x="3333750" y="359092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Regla si–entonces</a:t>
            </a:r>
          </a:p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y evaluación en tiempo real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1A36E-BED9-4252-B614-A48167128882}"/>
              </a:ext>
            </a:extLst>
          </p:cNvPr>
          <p:cNvSpPr>
            <a:spLocks noGrp="1"/>
          </p:cNvSpPr>
          <p:nvPr/>
        </p:nvSpPr>
        <p:spPr>
          <a:xfrm>
            <a:off x="5543550" y="27813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3188EE-639A-4F0B-B13A-AF890473485F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0955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2FBECF-E074-459E-BB19-C83D98C5DFB8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1828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AE7860-0C71-46A4-B20F-68739AC448D7}"/>
              </a:ext>
            </a:extLst>
          </p:cNvPr>
          <p:cNvSpPr>
            <a:spLocks noGrp="1"/>
          </p:cNvSpPr>
          <p:nvPr/>
        </p:nvSpPr>
        <p:spPr>
          <a:xfrm>
            <a:off x="6000750" y="359092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MFA · bloqueo</a:t>
            </a:r>
          </a:p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dispositivo conforme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243CDF-383E-4946-8BAC-32BBC771BD15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20C948-751A-4E93-B354-87EEAA180480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0955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D85F35-F8FE-4F1A-918A-9B5AC21EE1AA}"/>
              </a:ext>
            </a:extLst>
          </p:cNvPr>
          <p:cNvSpPr>
            <a:spLocks noGrp="1"/>
          </p:cNvSpPr>
          <p:nvPr/>
        </p:nvSpPr>
        <p:spPr>
          <a:xfrm>
            <a:off x="8801100" y="2705100"/>
            <a:ext cx="1828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0E2BDF-5AA1-48B7-B1BC-343A86093A14}"/>
              </a:ext>
            </a:extLst>
          </p:cNvPr>
          <p:cNvSpPr>
            <a:spLocks noGrp="1"/>
          </p:cNvSpPr>
          <p:nvPr/>
        </p:nvSpPr>
        <p:spPr>
          <a:xfrm>
            <a:off x="8667750" y="359092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Registros · auditoría</a:t>
            </a:r>
          </a:p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y respuesta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EE3B25-C3F2-4433-8CD2-BD902A84DD6F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10096500" cy="838200"/>
          </a:xfrm>
          <a:prstGeom prst="rect">
            <a:avLst/>
          </a:prstGeom>
          <a:solidFill>
            <a:srgbClr val="ECF7FC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4C9B94-C66E-4E02-ADC0-A59A995040BB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Objetivo operativo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45397F-F195-4293-A30D-64824D062BEA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923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Permitir el trabajo legítimo y elevar la fricción solo cuando el riesgo lo exige.</a:t>
            </a:r>
          </a:p>
        </p:txBody>
      </p:sp>
    </p:spTree>
    <p:extLst>
      <p:ext uri="{BB962C8B-B14F-4D97-AF65-F5344CB8AC3E}">
        <p14:creationId xmlns:p14="http://schemas.microsoft.com/office/powerpoint/2010/main" val="1729347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4BEB3BF-5565-4D2C-849D-C53F28F122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60CA1-9026-4EB3-9A7F-23980E2003F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PLATAFORMA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657F5-C231-4261-9FD3-BDFFADB3071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Cinco herramientas, una misma capa de identidad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F96FEDD-E66C-46FA-B624-5C669632712F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9AD69-13A0-47E6-87C8-691F7AF6047A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FD0545-73B7-483D-962A-9F4AA1DB4A18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5E9CEF-9BFB-46CE-ACEB-7B07123C2EB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actúa como núcleo; los portales, protocolos y APIs amplían su alcance.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0A4D426-3FAC-4AF8-88F7-0A4C8B07383C}"/>
              </a:ext>
            </a:extLst>
          </p:cNvPr>
          <p:cNvSpPr>
            <a:spLocks noGrp="1"/>
          </p:cNvSpPr>
          <p:nvPr/>
        </p:nvSpPr>
        <p:spPr>
          <a:xfrm>
            <a:off x="3381375" y="3333750"/>
            <a:ext cx="5524500" cy="0"/>
          </a:xfrm>
          <a:prstGeom prst="line">
            <a:avLst/>
          </a:prstGeom>
          <a:noFill/>
          <a:ln w="28575">
            <a:solidFill>
              <a:srgbClr val="B8D7E8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160C0E-3FD2-40D3-B3A2-21B9D9EA136C}"/>
              </a:ext>
            </a:extLst>
          </p:cNvPr>
          <p:cNvSpPr>
            <a:spLocks noGrp="1"/>
          </p:cNvSpPr>
          <p:nvPr/>
        </p:nvSpPr>
        <p:spPr>
          <a:xfrm>
            <a:off x="5372100" y="2362200"/>
            <a:ext cx="1447800" cy="14478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712B2-E5BB-4878-804F-791DE60950D6}"/>
              </a:ext>
            </a:extLst>
          </p:cNvPr>
          <p:cNvSpPr>
            <a:spLocks noGrp="1"/>
          </p:cNvSpPr>
          <p:nvPr/>
        </p:nvSpPr>
        <p:spPr>
          <a:xfrm>
            <a:off x="5505450" y="2924175"/>
            <a:ext cx="1190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A2AF21-1BFB-4428-A386-6862B703653F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Centro M365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34CE78-EF0A-499B-9845-4549B233CAFC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Usuarios · grupos · licencias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D83ED49-955A-4C98-8752-6A6AC7251C9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86000" cy="0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39C63-FC01-47D3-A5A1-C95178FB611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SSO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EEA70-C64E-4F6B-AA30-63E88C353CD2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SAML · OAuth · OIDC · WS-Fed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EBE0292-79B1-4D56-B3F1-8870C7D6B810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2286000" cy="0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9EC9C7-E88F-49B6-B0A7-112B89C074B3}"/>
              </a:ext>
            </a:extLst>
          </p:cNvPr>
          <p:cNvSpPr>
            <a:spLocks noGrp="1"/>
          </p:cNvSpPr>
          <p:nvPr/>
        </p:nvSpPr>
        <p:spPr>
          <a:xfrm>
            <a:off x="8715375" y="2266950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Graph PowerShell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8084B9-825C-4ACB-B329-CA6116F95A37}"/>
              </a:ext>
            </a:extLst>
          </p:cNvPr>
          <p:cNvSpPr>
            <a:spLocks noGrp="1"/>
          </p:cNvSpPr>
          <p:nvPr/>
        </p:nvSpPr>
        <p:spPr>
          <a:xfrm>
            <a:off x="8715375" y="264795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Automatización y RBAC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49D4CA4-42CE-4017-AD47-153FBD096B3A}"/>
              </a:ext>
            </a:extLst>
          </p:cNvPr>
          <p:cNvSpPr>
            <a:spLocks noGrp="1"/>
          </p:cNvSpPr>
          <p:nvPr/>
        </p:nvSpPr>
        <p:spPr>
          <a:xfrm>
            <a:off x="8715375" y="3181350"/>
            <a:ext cx="2286000" cy="0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0703E7-3AB1-444D-9B98-C8D45B065C7A}"/>
              </a:ext>
            </a:extLst>
          </p:cNvPr>
          <p:cNvSpPr>
            <a:spLocks noGrp="1"/>
          </p:cNvSpPr>
          <p:nvPr/>
        </p:nvSpPr>
        <p:spPr>
          <a:xfrm>
            <a:off x="8715375" y="4095750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Microsoft Graph API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2CBEDF-7CE3-412E-AC5A-C20263E5E262}"/>
              </a:ext>
            </a:extLst>
          </p:cNvPr>
          <p:cNvSpPr>
            <a:spLocks noGrp="1"/>
          </p:cNvSpPr>
          <p:nvPr/>
        </p:nvSpPr>
        <p:spPr>
          <a:xfrm>
            <a:off x="8715375" y="4476750"/>
            <a:ext cx="261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Datos y relaciones M365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6EFA1D9-F4E2-4051-B848-109900E3DDE2}"/>
              </a:ext>
            </a:extLst>
          </p:cNvPr>
          <p:cNvSpPr>
            <a:spLocks noGrp="1"/>
          </p:cNvSpPr>
          <p:nvPr/>
        </p:nvSpPr>
        <p:spPr>
          <a:xfrm>
            <a:off x="8715375" y="5010150"/>
            <a:ext cx="2286000" cy="0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28C3DC-E037-4BBE-BF23-DD5F4FA6A5A0}"/>
              </a:ext>
            </a:extLst>
          </p:cNvPr>
          <p:cNvSpPr>
            <a:spLocks noGrp="1"/>
          </p:cNvSpPr>
          <p:nvPr/>
        </p:nvSpPr>
        <p:spPr>
          <a:xfrm>
            <a:off x="3905250" y="488632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Una identidad · múltiples dispositivos y aplicaciones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88770F-1C57-45F9-B0B9-E0B1D91C7C2E}"/>
              </a:ext>
            </a:extLst>
          </p:cNvPr>
          <p:cNvSpPr>
            <a:spLocks noGrp="1"/>
          </p:cNvSpPr>
          <p:nvPr/>
        </p:nvSpPr>
        <p:spPr>
          <a:xfrm>
            <a:off x="3019425" y="5362575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SSO puede abarcar nube y on-premises mediante Application Proxy, Connect Sync o AD FS.</a:t>
            </a:r>
          </a:p>
        </p:txBody>
      </p:sp>
    </p:spTree>
    <p:extLst>
      <p:ext uri="{BB962C8B-B14F-4D97-AF65-F5344CB8AC3E}">
        <p14:creationId xmlns:p14="http://schemas.microsoft.com/office/powerpoint/2010/main" val="16000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C559EF4-4477-4725-8B1B-CC79D4D12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6B102-2DC7-40A1-8ECF-1D4CD476E14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CAF411-48BD-4C11-8023-A35315ECC78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Las contraseñas se protegen mejor sin rotaciones rutinarias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B3FF1CA-3DAF-43D7-935F-5EABCE058FA1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28AA70-DA1B-404A-BE25-B26311D2D0C8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6EBFB-6CF3-48C1-9208-44F53BA6B383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25887-676F-48ED-8072-D3CD22852449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7C1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7C10"/>
                </a:solidFill>
                <a:latin typeface="Aptos"/>
                <a:ea typeface="Aptos"/>
                <a:cs typeface="Aptos"/>
              </a:rPr>
              <a:t>RECOMENDADO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7097B5-4272-4080-905D-14B7ECA0E5BD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83B0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B01"/>
                </a:solidFill>
                <a:latin typeface="Aptos"/>
                <a:ea typeface="Aptos"/>
                <a:cs typeface="Aptos"/>
              </a:rPr>
              <a:t>EXCEPCIÓN CONTROLADA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5A7DF1-21E8-4092-9822-24877319BA0E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No expirar por defecto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BDB9FE-8815-4FC6-9FC3-F879E1E6154E}"/>
              </a:ext>
            </a:extLst>
          </p:cNvPr>
          <p:cNvSpPr>
            <a:spLocks noGrp="1"/>
          </p:cNvSpPr>
          <p:nvPr/>
        </p:nvSpPr>
        <p:spPr>
          <a:xfrm>
            <a:off x="6324600" y="20383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Configurar expiración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B56305-10EC-4E99-8FC8-6F38DA76DF24}"/>
              </a:ext>
            </a:extLst>
          </p:cNvPr>
          <p:cNvSpPr>
            <a:spLocks noGrp="1"/>
          </p:cNvSpPr>
          <p:nvPr/>
        </p:nvSpPr>
        <p:spPr>
          <a:xfrm>
            <a:off x="723900" y="28479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497FA1-FA6A-4793-AECE-B4BC9693F5CA}"/>
              </a:ext>
            </a:extLst>
          </p:cNvPr>
          <p:cNvSpPr>
            <a:spLocks noGrp="1"/>
          </p:cNvSpPr>
          <p:nvPr/>
        </p:nvSpPr>
        <p:spPr>
          <a:xfrm>
            <a:off x="933450" y="2781300"/>
            <a:ext cx="4267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MFA como control principal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FAD59E-52DD-44DE-94AD-FFD17DF528B5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6A921-D199-409A-8D7A-83A03250D595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4267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Password Protection y Smart Lockout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EE21A6-0249-4EF3-9FEA-D16F1B241DD3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5FA2AA-BD17-4D73-8B60-DE8D8B48E83A}"/>
              </a:ext>
            </a:extLst>
          </p:cNvPr>
          <p:cNvSpPr>
            <a:spLocks noGrp="1"/>
          </p:cNvSpPr>
          <p:nvPr/>
        </p:nvSpPr>
        <p:spPr>
          <a:xfrm>
            <a:off x="933450" y="4000500"/>
            <a:ext cx="4267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SSPR para reducir dependencia de soporte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6B9AF3-FEFB-40A7-BB1E-613A50385F27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rPr>
              <a:t>14–730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08C247-8ACF-45E7-B941-77862B8E2DB3}"/>
              </a:ext>
            </a:extLst>
          </p:cNvPr>
          <p:cNvSpPr>
            <a:spLocks noGrp="1"/>
          </p:cNvSpPr>
          <p:nvPr/>
        </p:nvSpPr>
        <p:spPr>
          <a:xfrm>
            <a:off x="6324600" y="34290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días configurables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CCFEC-8F8A-4D8F-97F2-B24F5F5AF3F2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La rotación periódica puede inducir contraseñas débiles o predecibles.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A34C6A1-D6C5-44BB-AC37-9E0B96AA29D4}"/>
              </a:ext>
            </a:extLst>
          </p:cNvPr>
          <p:cNvSpPr>
            <a:spLocks noGrp="1"/>
          </p:cNvSpPr>
          <p:nvPr/>
        </p:nvSpPr>
        <p:spPr>
          <a:xfrm>
            <a:off x="5829300" y="1790700"/>
            <a:ext cx="0" cy="361950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E5BED-89BB-4C8A-8D8A-FF026E03E704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096500" cy="514350"/>
          </a:xfrm>
          <a:prstGeom prst="rect">
            <a:avLst/>
          </a:prstGeom>
          <a:solidFill>
            <a:srgbClr val="D9EEF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051F1F-7C4B-41A8-AB9B-CAA342503539}"/>
              </a:ext>
            </a:extLst>
          </p:cNvPr>
          <p:cNvSpPr>
            <a:spLocks noGrp="1"/>
          </p:cNvSpPr>
          <p:nvPr/>
        </p:nvSpPr>
        <p:spPr>
          <a:xfrm>
            <a:off x="914400" y="5362575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Principio: cambiar la contraseña ante riesgo o compromiso, no por rutina.</a:t>
            </a:r>
          </a:p>
        </p:txBody>
      </p:sp>
    </p:spTree>
    <p:extLst>
      <p:ext uri="{BB962C8B-B14F-4D97-AF65-F5344CB8AC3E}">
        <p14:creationId xmlns:p14="http://schemas.microsoft.com/office/powerpoint/2010/main" val="68777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158141-E0F0-4BD1-8AAB-FF18DEF407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A09D1-5F5A-4CD8-B193-2223E68A718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GOBIERNO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2F785-9058-4740-BF50-66068C2AE8B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Los roles delimitan quién puede restablecer y proteger credenciales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A5A2C3B-D226-4C07-B49F-04450C2D477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AE227-9696-4A2C-952A-9FD8542DCAA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BDFBEA-61BF-4400-BED8-E7C6B5DEC3D2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C6368-53E9-4870-87C4-A7C5D67ABDD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Separar funciones reduce privilegios permanentes y facilita la auditoría.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723900" y="2095500"/>
          <a:ext cx="10287000" cy="314325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Restablecer contraseñas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Protección y políticas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Global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 · todas las 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Security Administrator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Según ámbito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Privileged Role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Según ámbito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User Administrator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Password 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31F5D57-DB23-4C8F-920E-D639E5C66B53}"/>
              </a:ext>
            </a:extLst>
          </p:cNvPr>
          <p:cNvSpPr>
            <a:spLocks noGrp="1"/>
          </p:cNvSpPr>
          <p:nvPr/>
        </p:nvSpPr>
        <p:spPr>
          <a:xfrm>
            <a:off x="723900" y="54673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Aplicar mínimo privilegio y reservar las cuentas Global Administrator para escenarios excepcionales.</a:t>
            </a:r>
          </a:p>
        </p:txBody>
      </p:sp>
    </p:spTree>
    <p:extLst>
      <p:ext uri="{BB962C8B-B14F-4D97-AF65-F5344CB8AC3E}">
        <p14:creationId xmlns:p14="http://schemas.microsoft.com/office/powerpoint/2010/main" val="181044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72B4E47-8A08-46B2-8552-E2ED0F35B1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13D763-D68D-4395-A295-09F81A7400B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941AE-AA5F-4AB9-BD67-5F8290EC78E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Password Protection corta contraseñas previsibles antes del ataque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A4AB158-2183-416F-83AC-00237E8478A5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7AC55-0363-4933-9442-1A0DEE0C37D2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E6552-3EC9-4843-9C89-B207A3628D8D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2B098-C5B3-42CB-A595-DD86AD09793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La validación combina inteligencia global de Microsoft con términos propios de la organización.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B24CC-064F-486B-889D-CB6A544CCB4D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GLOBAL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01B8C-FFBC-420E-A50F-C2F19C1064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Siempre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BD5752-006D-4832-AEA7-083D19FC32DB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activa en el tenant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B6E55F-974C-49E3-9241-26F7CC557963}"/>
              </a:ext>
            </a:extLst>
          </p:cNvPr>
          <p:cNvSpPr>
            <a:spLocks noGrp="1"/>
          </p:cNvSpPr>
          <p:nvPr/>
        </p:nvSpPr>
        <p:spPr>
          <a:xfrm>
            <a:off x="742950" y="38004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839817-DEF7-418D-876B-3A77F9B0C8F8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3790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Basada en telemetría de Entra ID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342C7-1987-45F9-B762-D5B2B556B1AC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02033-B489-4EEA-AB30-2F20427862A5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3790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 actualiza continuamente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1699D0-0E64-4336-A6BF-11CFA43FE074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B3235-89FD-4388-B6E5-3270B29B59C5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3790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se publica ni puede deshabilitarse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65A826B-FA29-45A7-AC42-25A02573BD17}"/>
              </a:ext>
            </a:extLst>
          </p:cNvPr>
          <p:cNvSpPr>
            <a:spLocks noGrp="1"/>
          </p:cNvSpPr>
          <p:nvPr/>
        </p:nvSpPr>
        <p:spPr>
          <a:xfrm>
            <a:off x="5391150" y="2095500"/>
            <a:ext cx="0" cy="342900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5FF982-7840-4FDE-93EA-707D34ED351A}"/>
              </a:ext>
            </a:extLst>
          </p:cNvPr>
          <p:cNvSpPr>
            <a:spLocks noGrp="1"/>
          </p:cNvSpPr>
          <p:nvPr/>
        </p:nvSpPr>
        <p:spPr>
          <a:xfrm>
            <a:off x="5943600" y="2133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PERSONALIZADA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C09370-FD44-405F-9F89-98AC8C8A6EE9}"/>
              </a:ext>
            </a:extLst>
          </p:cNvPr>
          <p:cNvSpPr>
            <a:spLocks noGrp="1"/>
          </p:cNvSpPr>
          <p:nvPr/>
        </p:nvSpPr>
        <p:spPr>
          <a:xfrm>
            <a:off x="5943600" y="247650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1.000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9992A5-237D-4518-A068-BB384AFC0EA8}"/>
              </a:ext>
            </a:extLst>
          </p:cNvPr>
          <p:cNvSpPr>
            <a:spLocks noGrp="1"/>
          </p:cNvSpPr>
          <p:nvPr/>
        </p:nvSpPr>
        <p:spPr>
          <a:xfrm>
            <a:off x="5943600" y="31242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términos máximos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1B189E-BD6F-49F4-9BE5-B026BC786AEE}"/>
              </a:ext>
            </a:extLst>
          </p:cNvPr>
          <p:cNvSpPr>
            <a:spLocks noGrp="1"/>
          </p:cNvSpPr>
          <p:nvPr/>
        </p:nvSpPr>
        <p:spPr>
          <a:xfrm>
            <a:off x="5943600" y="38004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68FD0-39CB-45C2-84B6-3634B5218F10}"/>
              </a:ext>
            </a:extLst>
          </p:cNvPr>
          <p:cNvSpPr>
            <a:spLocks noGrp="1"/>
          </p:cNvSpPr>
          <p:nvPr/>
        </p:nvSpPr>
        <p:spPr>
          <a:xfrm>
            <a:off x="6153150" y="3733800"/>
            <a:ext cx="4552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Marcas, productos, ubicaciones y términos internos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4A7E8B-9CC5-4DB1-9FFE-F7CE6288A6B4}"/>
              </a:ext>
            </a:extLst>
          </p:cNvPr>
          <p:cNvSpPr>
            <a:spLocks noGrp="1"/>
          </p:cNvSpPr>
          <p:nvPr/>
        </p:nvSpPr>
        <p:spPr>
          <a:xfrm>
            <a:off x="5943600" y="423862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A93E19-7D2B-471F-ADC5-88D251CF382E}"/>
              </a:ext>
            </a:extLst>
          </p:cNvPr>
          <p:cNvSpPr>
            <a:spLocks noGrp="1"/>
          </p:cNvSpPr>
          <p:nvPr/>
        </p:nvSpPr>
        <p:spPr>
          <a:xfrm>
            <a:off x="6153150" y="4171950"/>
            <a:ext cx="4552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Detecta mayúsculas y sustituciones comunes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DC03A3-1EB1-4251-8687-834A4BAC23A5}"/>
              </a:ext>
            </a:extLst>
          </p:cNvPr>
          <p:cNvSpPr>
            <a:spLocks noGrp="1"/>
          </p:cNvSpPr>
          <p:nvPr/>
        </p:nvSpPr>
        <p:spPr>
          <a:xfrm>
            <a:off x="5943600" y="46767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D494C2-462D-463F-B868-65E367FD5099}"/>
              </a:ext>
            </a:extLst>
          </p:cNvPr>
          <p:cNvSpPr>
            <a:spLocks noGrp="1"/>
          </p:cNvSpPr>
          <p:nvPr/>
        </p:nvSpPr>
        <p:spPr>
          <a:xfrm>
            <a:off x="6153150" y="4610100"/>
            <a:ext cx="4552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Longitud de términos: 4–16 caracteres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F38842-D6BB-49CB-BEC9-3416C81D60B3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9944100" cy="361950"/>
          </a:xfrm>
          <a:prstGeom prst="rect">
            <a:avLst/>
          </a:prstGeom>
          <a:solidFill>
            <a:srgbClr val="D83B01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7D4FF0-EDC7-4995-AE22-947526E7EC8B}"/>
              </a:ext>
            </a:extLst>
          </p:cNvPr>
          <p:cNvSpPr>
            <a:spLocks noGrp="1"/>
          </p:cNvSpPr>
          <p:nvPr/>
        </p:nvSpPr>
        <p:spPr>
          <a:xfrm>
            <a:off x="914400" y="55530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Mitiga password spray: pocas contraseñas débiles contra muchas cuentas.</a:t>
            </a:r>
          </a:p>
        </p:txBody>
      </p:sp>
    </p:spTree>
    <p:extLst>
      <p:ext uri="{BB962C8B-B14F-4D97-AF65-F5344CB8AC3E}">
        <p14:creationId xmlns:p14="http://schemas.microsoft.com/office/powerpoint/2010/main" val="136508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B3D10E6-9E45-45BB-8293-CF2E5C6F84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DA811-98EA-4559-BA1A-CC53BA48878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RECUPERACIÓN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E790E3-E9EC-4958-B493-198B9B7791D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SSPR reduce soporte sin perder control híbrido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0A83400-7F3B-4C96-8FA6-1E3135343DCE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4B66F-CB05-4906-9340-999DADA6CE11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94CF5-E77D-4E11-BCEB-BB200A211EB9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08587-5650-456A-9E73-E6C95469ED1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El autoservicio debe habilitarse explícitamente para todos o para grupos seleccionados.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FC6A4-799A-48DF-BDFD-51D6A017FC41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2381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9AF59C-7CEF-4C9E-9001-E463D0A6E81B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14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  Solicitud del usuario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B2215A-B48A-4C20-B70C-ABE8B509D392}"/>
              </a:ext>
            </a:extLst>
          </p:cNvPr>
          <p:cNvSpPr>
            <a:spLocks noGrp="1"/>
          </p:cNvSpPr>
          <p:nvPr/>
        </p:nvSpPr>
        <p:spPr>
          <a:xfrm>
            <a:off x="3733800" y="2266950"/>
            <a:ext cx="2095500" cy="685800"/>
          </a:xfrm>
          <a:prstGeom prst="rect">
            <a:avLst/>
          </a:prstGeom>
          <a:solidFill>
            <a:srgbClr val="D9EEF9"/>
          </a:solidFill>
          <a:ln w="14288">
            <a:solidFill>
              <a:srgbClr val="00A4E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6C5351-4355-49FD-AD77-19BAF63AFD26}"/>
              </a:ext>
            </a:extLst>
          </p:cNvPr>
          <p:cNvSpPr>
            <a:spLocks noGrp="1"/>
          </p:cNvSpPr>
          <p:nvPr/>
        </p:nvSpPr>
        <p:spPr>
          <a:xfrm>
            <a:off x="3867150" y="24003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2  Verificación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91B2E6-4816-435C-A849-274C8089F215}"/>
              </a:ext>
            </a:extLst>
          </p:cNvPr>
          <p:cNvSpPr>
            <a:spLocks noGrp="1"/>
          </p:cNvSpPr>
          <p:nvPr/>
        </p:nvSpPr>
        <p:spPr>
          <a:xfrm>
            <a:off x="6457950" y="2266950"/>
            <a:ext cx="22860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771C99-493E-4663-94ED-1885C6194B83}"/>
              </a:ext>
            </a:extLst>
          </p:cNvPr>
          <p:cNvSpPr>
            <a:spLocks noGrp="1"/>
          </p:cNvSpPr>
          <p:nvPr/>
        </p:nvSpPr>
        <p:spPr>
          <a:xfrm>
            <a:off x="6591300" y="24003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3  Nueva contraseña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1BA04-9FD9-4FE4-B6F4-199BADA0B676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1809750" cy="685800"/>
          </a:xfrm>
          <a:prstGeom prst="rect">
            <a:avLst/>
          </a:prstGeom>
          <a:solidFill>
            <a:srgbClr val="ECF7FC"/>
          </a:solidFill>
          <a:ln w="14288">
            <a:solidFill>
              <a:srgbClr val="0078D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E77F2-C8B8-4002-B374-FBA2180A1231}"/>
              </a:ext>
            </a:extLst>
          </p:cNvPr>
          <p:cNvSpPr>
            <a:spLocks noGrp="1"/>
          </p:cNvSpPr>
          <p:nvPr/>
        </p:nvSpPr>
        <p:spPr>
          <a:xfrm>
            <a:off x="9505950" y="2400300"/>
            <a:ext cx="1543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4  Writeback</a:t>
            </a:r>
          </a:p>
        </p:txBody>
      </p:sp>
      <p:cxnSp>
        <p:nvCxnSpPr>
          <p:cNvPr id="16" name="Straight Arrow Connector 15"/>
          <p:cNvCxnSpPr>
            <a:stCxn id="8" idx="3"/>
            <a:endCxn id="10" idx="1"/>
          </p:cNvCxnSpPr>
          <p:nvPr/>
        </p:nvCxnSpPr>
        <p:spPr>
          <a:xfrm>
            <a:off x="3105150" y="2609850"/>
            <a:ext cx="62865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17" name="Straight Arrow Connector 16"/>
          <p:cNvCxnSpPr>
            <a:stCxn id="10" idx="3"/>
            <a:endCxn id="12" idx="1"/>
          </p:cNvCxnSpPr>
          <p:nvPr/>
        </p:nvCxnSpPr>
        <p:spPr>
          <a:xfrm>
            <a:off x="5829300" y="2609850"/>
            <a:ext cx="62865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18" name="Straight Arrow Connector 17"/>
          <p:cNvCxnSpPr>
            <a:stCxn id="12" idx="3"/>
            <a:endCxn id="14" idx="1"/>
          </p:cNvCxnSpPr>
          <p:nvPr/>
        </p:nvCxnSpPr>
        <p:spPr>
          <a:xfrm>
            <a:off x="8743950" y="2609850"/>
            <a:ext cx="62865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419FA2-7108-4003-AC6B-A9FA1610169B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Correo alternativo · llamada · SMS · preguntas de seguridad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25C4A3-D6CF-4CD0-8219-19896F316A80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Administradores: dos métodos y sin preguntas de seguridad.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3EA83A7-5538-41FF-B218-C799536B1C11}"/>
              </a:ext>
            </a:extLst>
          </p:cNvPr>
          <p:cNvSpPr>
            <a:spLocks noGrp="1"/>
          </p:cNvSpPr>
          <p:nvPr/>
        </p:nvSpPr>
        <p:spPr>
          <a:xfrm>
            <a:off x="6134100" y="3352800"/>
            <a:ext cx="0" cy="169545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46A3C9-F636-402C-B956-8346D241F050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Escenario híbrido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31FC70-D1E8-4B55-B939-05AACADDC5FB}"/>
              </a:ext>
            </a:extLst>
          </p:cNvPr>
          <p:cNvSpPr>
            <a:spLocks noGrp="1"/>
          </p:cNvSpPr>
          <p:nvPr/>
        </p:nvSpPr>
        <p:spPr>
          <a:xfrm>
            <a:off x="6591300" y="37719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Entra Connect Sync + password writeback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0CB91C-C6AF-428B-BF7A-DFD68B6ECC72}"/>
              </a:ext>
            </a:extLst>
          </p:cNvPr>
          <p:cNvSpPr>
            <a:spLocks noGrp="1"/>
          </p:cNvSpPr>
          <p:nvPr/>
        </p:nvSpPr>
        <p:spPr>
          <a:xfrm>
            <a:off x="6591300" y="4286250"/>
            <a:ext cx="409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Requiere licencias Entra ID Premium para devolver el cambio a AD DS local.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D63C2D-1B85-4FDB-B85E-3A3C542BDB28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10458450" cy="4572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87FE30-7C1F-4FD9-AB96-633CD77AC63E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 writeback, SSPR se limita a identidades en la nube no vinculadas a AD DS.</a:t>
            </a:r>
          </a:p>
        </p:txBody>
      </p:sp>
    </p:spTree>
    <p:extLst>
      <p:ext uri="{BB962C8B-B14F-4D97-AF65-F5344CB8AC3E}">
        <p14:creationId xmlns:p14="http://schemas.microsoft.com/office/powerpoint/2010/main" val="32673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36FBE40-6B7D-4B42-9C4E-9CEF23D3D2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86C952-98C6-4AF8-843E-AFF075D2BBC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DEFENSA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86F1F-DDF7-40E8-88F6-37A6F5E0FBA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Smart Lockout frena fuerza bruta sin penalizar tanto al usuario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6B03AAC-4506-4071-AA9D-E337F962460B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A5131-BE67-45D5-BE9A-B030E3276AC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DC866-14BC-4FAC-B863-D16ABF7A17A9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F3C81-570A-4D29-A194-88018B6BAAB1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7B0BB-35BC-4ACF-8858-4D2AE455DCE6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intentos fallidos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0E0E6E-32BA-408F-BA02-56D85DA854E1}"/>
              </a:ext>
            </a:extLst>
          </p:cNvPr>
          <p:cNvSpPr>
            <a:spLocks noGrp="1"/>
          </p:cNvSpPr>
          <p:nvPr/>
        </p:nvSpPr>
        <p:spPr>
          <a:xfrm>
            <a:off x="3476625" y="18859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5F7ABB-C76E-48F4-A273-0E01DEC0F46F}"/>
              </a:ext>
            </a:extLst>
          </p:cNvPr>
          <p:cNvSpPr>
            <a:spLocks noGrp="1"/>
          </p:cNvSpPr>
          <p:nvPr/>
        </p:nvSpPr>
        <p:spPr>
          <a:xfrm>
            <a:off x="3476625" y="25336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segundos iniciales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A40D1-5814-4A1B-B01A-92F7F98A2150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4A96C5-D850-486B-918F-07A545F51D21}"/>
              </a:ext>
            </a:extLst>
          </p:cNvPr>
          <p:cNvSpPr>
            <a:spLocks noGrp="1"/>
          </p:cNvSpPr>
          <p:nvPr/>
        </p:nvSpPr>
        <p:spPr>
          <a:xfrm>
            <a:off x="6191250" y="25336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contraseñas fallidas recordadas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C6067-8D01-49C6-B895-8D480D15BAE8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971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El bloqueo aumenta desde el intento 11; repetir la misma contraseña incorrecta no vuelve a incrementar el contador.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7B43083-11E5-4A28-B464-12C74BEEC570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971550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1A8139-C6A3-465F-8E03-D6AC318A3502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Con PTA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3834E3-BCD3-46C8-8A7D-EA5013E50BDB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BC7A94-E8CF-40CE-852B-A37690C84D16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645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Umbral de Entra menor que el umbral de AD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A86FFE-DD7B-4C22-A3C6-BA65AE6A8415}"/>
              </a:ext>
            </a:extLst>
          </p:cNvPr>
          <p:cNvSpPr>
            <a:spLocks noGrp="1"/>
          </p:cNvSpPr>
          <p:nvPr/>
        </p:nvSpPr>
        <p:spPr>
          <a:xfrm>
            <a:off x="781050" y="513397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83B1AE-7F3C-42ED-A120-FE354C756150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645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Duración de Entra mayor que el contador de reinicio de AD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6B01D1-6394-4BD1-81A1-0EE1127A0CC4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76200" cy="7620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FE54F6-7F9E-4FE8-BA07-6D7BB2C9D67D}"/>
              </a:ext>
            </a:extLst>
          </p:cNvPr>
          <p:cNvSpPr>
            <a:spLocks noGrp="1"/>
          </p:cNvSpPr>
          <p:nvPr/>
        </p:nvSpPr>
        <p:spPr>
          <a:xfrm>
            <a:off x="990600" y="5429250"/>
            <a:ext cx="6457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está disponible el rastreo por hash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19EC60-CE8B-424F-8531-D0F3F1147154}"/>
              </a:ext>
            </a:extLst>
          </p:cNvPr>
          <p:cNvSpPr>
            <a:spLocks noGrp="1"/>
          </p:cNvSpPr>
          <p:nvPr/>
        </p:nvSpPr>
        <p:spPr>
          <a:xfrm>
            <a:off x="8172450" y="4438650"/>
            <a:ext cx="2324100" cy="1085850"/>
          </a:xfrm>
          <a:prstGeom prst="rect">
            <a:avLst/>
          </a:prstGeom>
          <a:solidFill>
            <a:srgbClr val="ECF7FC"/>
          </a:solidFill>
          <a:ln w="14288">
            <a:solidFill>
              <a:srgbClr val="00A4E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CE1599-72D0-49B3-906B-C828B18B4B6B}"/>
              </a:ext>
            </a:extLst>
          </p:cNvPr>
          <p:cNvSpPr>
            <a:spLocks noGrp="1"/>
          </p:cNvSpPr>
          <p:nvPr/>
        </p:nvSpPr>
        <p:spPr>
          <a:xfrm>
            <a:off x="8420100" y="45910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Siempre</a:t>
            </a:r>
          </a:p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activo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0E6220-8BFD-49D7-93D4-48BE096E8FDD}"/>
              </a:ext>
            </a:extLst>
          </p:cNvPr>
          <p:cNvSpPr>
            <a:spLocks noGrp="1"/>
          </p:cNvSpPr>
          <p:nvPr/>
        </p:nvSpPr>
        <p:spPr>
          <a:xfrm>
            <a:off x="8420100" y="51435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Personalizar valores</a:t>
            </a:r>
          </a:p>
          <a:p>
            <a:pPr>
              <a:defRPr sz="10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requiere licencia paga</a:t>
            </a:r>
          </a:p>
        </p:txBody>
      </p:sp>
    </p:spTree>
    <p:extLst>
      <p:ext uri="{BB962C8B-B14F-4D97-AF65-F5344CB8AC3E}">
        <p14:creationId xmlns:p14="http://schemas.microsoft.com/office/powerpoint/2010/main" val="107533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30FA6E8-0238-4A9B-B8A3-BF9AE3B2C0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1AD29-F8E2-4BB1-AE20-2EA4AA25855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ACCESO CONDICIONAL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1FCA8-56F7-4AD4-924A-A9026D79BC6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Acceso condicional convierte señales en decisiones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A8103D5-D606-4625-B689-3CC928E29A22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ECCC6-B2BA-48DB-AF5A-AB1133E6DCD8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1F13F-E1BC-4A5A-9268-9AC2FAD970D7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8E1C3-B498-4861-BA00-8A7207FB84E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Se evalúa después del primer factor y aplica reglas “si–entonces” al recurso solicitado.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6FA8A-8EF0-4DCF-BDC3-8520C0D7AE9B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143000" cy="1143000"/>
          </a:xfrm>
          <a:prstGeom prst="rect">
            <a:avLst/>
          </a:prstGeom>
          <a:solidFill>
            <a:srgbClr val="0078D4"/>
          </a:solidFill>
          <a:ln w="14288">
            <a:solidFill>
              <a:srgbClr val="0078D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59DBE7-8B7F-4B9C-87F8-6936B16A67A4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876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96202-5B87-45E3-9F28-443D356AF94A}"/>
              </a:ext>
            </a:extLst>
          </p:cNvPr>
          <p:cNvSpPr>
            <a:spLocks noGrp="1"/>
          </p:cNvSpPr>
          <p:nvPr/>
        </p:nvSpPr>
        <p:spPr>
          <a:xfrm>
            <a:off x="3238500" y="2571750"/>
            <a:ext cx="2476500" cy="1143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01DB10-2C26-401B-AE24-9CB192FE98FB}"/>
              </a:ext>
            </a:extLst>
          </p:cNvPr>
          <p:cNvSpPr>
            <a:spLocks noGrp="1"/>
          </p:cNvSpPr>
          <p:nvPr/>
        </p:nvSpPr>
        <p:spPr>
          <a:xfrm>
            <a:off x="3371850" y="2705100"/>
            <a:ext cx="2209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Usuario + contexto</a:t>
            </a:r>
          </a:p>
          <a:p>
            <a:pPr>
              <a:defRPr sz="16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+ recurso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F339C-0C4E-4588-B2C3-B71D6856DC31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1809750" cy="1143000"/>
          </a:xfrm>
          <a:prstGeom prst="rect">
            <a:avLst/>
          </a:prstGeom>
          <a:solidFill>
            <a:srgbClr val="00A4EF"/>
          </a:solidFill>
          <a:ln w="14288">
            <a:solidFill>
              <a:srgbClr val="00A4E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876C2-0761-4FA2-A496-E77276C14246}"/>
              </a:ext>
            </a:extLst>
          </p:cNvPr>
          <p:cNvSpPr>
            <a:spLocks noGrp="1"/>
          </p:cNvSpPr>
          <p:nvPr/>
        </p:nvSpPr>
        <p:spPr>
          <a:xfrm>
            <a:off x="6991350" y="2705100"/>
            <a:ext cx="15430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ENTONCES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59523D-5BBE-4BAF-980C-617C4DDBC56A}"/>
              </a:ext>
            </a:extLst>
          </p:cNvPr>
          <p:cNvSpPr>
            <a:spLocks noGrp="1"/>
          </p:cNvSpPr>
          <p:nvPr/>
        </p:nvSpPr>
        <p:spPr>
          <a:xfrm>
            <a:off x="9810750" y="2571750"/>
            <a:ext cx="1619250" cy="11430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92E3D7-9BA1-4799-95E5-E23C69EFF08C}"/>
              </a:ext>
            </a:extLst>
          </p:cNvPr>
          <p:cNvSpPr>
            <a:spLocks noGrp="1"/>
          </p:cNvSpPr>
          <p:nvPr/>
        </p:nvSpPr>
        <p:spPr>
          <a:xfrm>
            <a:off x="9944100" y="2705100"/>
            <a:ext cx="13525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Bloquear</a:t>
            </a:r>
          </a:p>
          <a:p>
            <a:pPr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 conceder con controles</a:t>
            </a:r>
          </a:p>
        </p:txBody>
      </p:sp>
      <p:cxnSp>
        <p:nvCxnSpPr>
          <p:cNvPr id="16" name="Straight Arrow Connector 15"/>
          <p:cNvCxnSpPr>
            <a:stCxn id="8" idx="3"/>
            <a:endCxn id="10" idx="1"/>
          </p:cNvCxnSpPr>
          <p:nvPr/>
        </p:nvCxnSpPr>
        <p:spPr>
          <a:xfrm>
            <a:off x="2095500" y="3143250"/>
            <a:ext cx="1143000" cy="0"/>
          </a:xfrm>
          <a:prstGeom prst="straightConnector1">
            <a:avLst/>
          </a:prstGeom>
          <a:ln w="28575">
            <a:solidFill>
              <a:srgbClr val="00A4EF"/>
            </a:solidFill>
            <a:prstDash val="solid"/>
            <a:tailEnd type="triangle" w="sm" len="sm"/>
          </a:ln>
        </p:spPr>
      </p:cxnSp>
      <p:cxnSp>
        <p:nvCxnSpPr>
          <p:cNvPr id="17" name="Straight Arrow Connector 16"/>
          <p:cNvCxnSpPr>
            <a:stCxn id="10" idx="3"/>
            <a:endCxn id="12" idx="1"/>
          </p:cNvCxnSpPr>
          <p:nvPr/>
        </p:nvCxnSpPr>
        <p:spPr>
          <a:xfrm>
            <a:off x="5715000" y="3143250"/>
            <a:ext cx="1143000" cy="0"/>
          </a:xfrm>
          <a:prstGeom prst="straightConnector1">
            <a:avLst/>
          </a:prstGeom>
          <a:ln w="28575">
            <a:solidFill>
              <a:srgbClr val="00A4EF"/>
            </a:solidFill>
            <a:prstDash val="solid"/>
            <a:tailEnd type="triangle" w="sm" len="sm"/>
          </a:ln>
        </p:spPr>
      </p:cxnSp>
      <p:cxnSp>
        <p:nvCxnSpPr>
          <p:cNvPr id="18" name="Straight Arrow Connector 17"/>
          <p:cNvCxnSpPr>
            <a:stCxn id="12" idx="3"/>
            <a:endCxn id="14" idx="1"/>
          </p:cNvCxnSpPr>
          <p:nvPr/>
        </p:nvCxnSpPr>
        <p:spPr>
          <a:xfrm>
            <a:off x="8667750" y="3143250"/>
            <a:ext cx="1143000" cy="0"/>
          </a:xfrm>
          <a:prstGeom prst="straightConnector1">
            <a:avLst/>
          </a:prstGeom>
          <a:ln w="28575">
            <a:solidFill>
              <a:srgbClr val="00A4EF"/>
            </a:solidFill>
            <a:prstDash val="solid"/>
            <a:tailEnd type="triangle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24257DA-8F9A-4281-8AA0-CF0CF6E27BF0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0DA75D-A62F-4418-86A9-D173E8AA1B95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Si el usuario accede a nómina, exigir MFA y dispositivo conforme.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6C2BD-D115-4F09-A4D5-6B0EA1B9B724}"/>
              </a:ext>
            </a:extLst>
          </p:cNvPr>
          <p:cNvSpPr>
            <a:spLocks noGrp="1"/>
          </p:cNvSpPr>
          <p:nvPr/>
        </p:nvSpPr>
        <p:spPr>
          <a:xfrm>
            <a:off x="952500" y="527685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D83B0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3B01"/>
                </a:solidFill>
                <a:latin typeface="Aptos"/>
                <a:ea typeface="Aptos"/>
                <a:cs typeface="Aptos"/>
              </a:rPr>
              <a:t>No reemplaza defensas contra ataques DoS.</a:t>
            </a:r>
          </a:p>
        </p:txBody>
      </p:sp>
    </p:spTree>
    <p:extLst>
      <p:ext uri="{BB962C8B-B14F-4D97-AF65-F5344CB8AC3E}">
        <p14:creationId xmlns:p14="http://schemas.microsoft.com/office/powerpoint/2010/main" val="69862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C5C29F9-D539-4CF3-A967-C3D5B33B9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E7013-30A5-4CD3-A075-AE843C66A11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ACCESO CONDICIONAL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C1D4A-B1FA-4B6B-8769-4349F75AB77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Una política se diseña de izquierda a derecha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465E9DB-8DFB-486A-B1BB-BE900F8F3C53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6E6CE-CD41-45A1-9A19-7C214A8E801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592063-EC0E-43C1-B835-1531C17F8E29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273DC-24F7-4939-8C3D-080FDADE584D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F76AE-03FF-4544-8317-F0235FA3F44C}"/>
              </a:ext>
            </a:extLst>
          </p:cNvPr>
          <p:cNvSpPr>
            <a:spLocks noGrp="1"/>
          </p:cNvSpPr>
          <p:nvPr/>
        </p:nvSpPr>
        <p:spPr>
          <a:xfrm>
            <a:off x="1276350" y="20002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ASIGNACIONES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A7B42F6-1857-44C9-89A3-49B690C46967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230505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42E238-6D19-44E1-8961-B3A327E5B5B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3812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Usuarios y grupos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Recursos objetivo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Red / ubicaciones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98CB1-FC19-4780-8044-1A5CF93588D8}"/>
              </a:ext>
            </a:extLst>
          </p:cNvPr>
          <p:cNvSpPr>
            <a:spLocks noGrp="1"/>
          </p:cNvSpPr>
          <p:nvPr/>
        </p:nvSpPr>
        <p:spPr>
          <a:xfrm>
            <a:off x="3067050" y="32099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B8D7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7E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09A59-B4DC-4011-9D87-C24251F3CA93}"/>
              </a:ext>
            </a:extLst>
          </p:cNvPr>
          <p:cNvSpPr>
            <a:spLocks noGrp="1"/>
          </p:cNvSpPr>
          <p:nvPr/>
        </p:nvSpPr>
        <p:spPr>
          <a:xfrm>
            <a:off x="3448050" y="1924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B881B-8D7E-455B-A10B-1869C1ED9B95}"/>
              </a:ext>
            </a:extLst>
          </p:cNvPr>
          <p:cNvSpPr>
            <a:spLocks noGrp="1"/>
          </p:cNvSpPr>
          <p:nvPr/>
        </p:nvSpPr>
        <p:spPr>
          <a:xfrm>
            <a:off x="4038600" y="20002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CONDICIONES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62F1860-7F7B-4760-ACE5-BCD4232B88A5}"/>
              </a:ext>
            </a:extLst>
          </p:cNvPr>
          <p:cNvSpPr>
            <a:spLocks noGrp="1"/>
          </p:cNvSpPr>
          <p:nvPr/>
        </p:nvSpPr>
        <p:spPr>
          <a:xfrm>
            <a:off x="3448050" y="2552700"/>
            <a:ext cx="230505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EB0C08-3A88-4602-B81E-33748F96DB6C}"/>
              </a:ext>
            </a:extLst>
          </p:cNvPr>
          <p:cNvSpPr>
            <a:spLocks noGrp="1"/>
          </p:cNvSpPr>
          <p:nvPr/>
        </p:nvSpPr>
        <p:spPr>
          <a:xfrm>
            <a:off x="3448050" y="2800350"/>
            <a:ext cx="23812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Riesgo de inicio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Plataforma y estado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Información del dispositivo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D3EB5-04AC-406B-B53F-320CCE89F5CF}"/>
              </a:ext>
            </a:extLst>
          </p:cNvPr>
          <p:cNvSpPr>
            <a:spLocks noGrp="1"/>
          </p:cNvSpPr>
          <p:nvPr/>
        </p:nvSpPr>
        <p:spPr>
          <a:xfrm>
            <a:off x="5829300" y="32099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B8D7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7E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3B4A50-0724-402A-BD46-B8413675C8CA}"/>
              </a:ext>
            </a:extLst>
          </p:cNvPr>
          <p:cNvSpPr>
            <a:spLocks noGrp="1"/>
          </p:cNvSpPr>
          <p:nvPr/>
        </p:nvSpPr>
        <p:spPr>
          <a:xfrm>
            <a:off x="6210300" y="1924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2622E-A657-447E-ADE8-28555D88020F}"/>
              </a:ext>
            </a:extLst>
          </p:cNvPr>
          <p:cNvSpPr>
            <a:spLocks noGrp="1"/>
          </p:cNvSpPr>
          <p:nvPr/>
        </p:nvSpPr>
        <p:spPr>
          <a:xfrm>
            <a:off x="6800850" y="20002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3EC767B-5075-4717-93AC-A2BCB5CA901D}"/>
              </a:ext>
            </a:extLst>
          </p:cNvPr>
          <p:cNvSpPr>
            <a:spLocks noGrp="1"/>
          </p:cNvSpPr>
          <p:nvPr/>
        </p:nvSpPr>
        <p:spPr>
          <a:xfrm>
            <a:off x="6210300" y="2552700"/>
            <a:ext cx="230505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446798-3B05-4AF7-96D8-879536ED917A}"/>
              </a:ext>
            </a:extLst>
          </p:cNvPr>
          <p:cNvSpPr>
            <a:spLocks noGrp="1"/>
          </p:cNvSpPr>
          <p:nvPr/>
        </p:nvSpPr>
        <p:spPr>
          <a:xfrm>
            <a:off x="6210300" y="2800350"/>
            <a:ext cx="23812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MFA / strength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Dispositivo conforme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Controles de sesión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C8EC1B-5495-4E8B-AE98-4FF4E133E5E0}"/>
              </a:ext>
            </a:extLst>
          </p:cNvPr>
          <p:cNvSpPr>
            <a:spLocks noGrp="1"/>
          </p:cNvSpPr>
          <p:nvPr/>
        </p:nvSpPr>
        <p:spPr>
          <a:xfrm>
            <a:off x="8591550" y="32099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B8D7E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7E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C4E44A-57FF-4EF6-B0AB-B5F5FC531193}"/>
              </a:ext>
            </a:extLst>
          </p:cNvPr>
          <p:cNvSpPr>
            <a:spLocks noGrp="1"/>
          </p:cNvSpPr>
          <p:nvPr/>
        </p:nvSpPr>
        <p:spPr>
          <a:xfrm>
            <a:off x="8972550" y="1924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86E54-53E2-4092-847F-D449EBAC40AC}"/>
              </a:ext>
            </a:extLst>
          </p:cNvPr>
          <p:cNvSpPr>
            <a:spLocks noGrp="1"/>
          </p:cNvSpPr>
          <p:nvPr/>
        </p:nvSpPr>
        <p:spPr>
          <a:xfrm>
            <a:off x="9563100" y="20002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DFE0ABB-EAB6-49A3-86F3-75A2E8E7904F}"/>
              </a:ext>
            </a:extLst>
          </p:cNvPr>
          <p:cNvSpPr>
            <a:spLocks noGrp="1"/>
          </p:cNvSpPr>
          <p:nvPr/>
        </p:nvSpPr>
        <p:spPr>
          <a:xfrm>
            <a:off x="8972550" y="2552700"/>
            <a:ext cx="230505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437BA2-215C-4621-A734-6817C526E33C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3812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Solo informe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Activado</a:t>
            </a:r>
          </a:p>
          <a:p>
            <a:pPr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Desactivado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2537B5-4DC6-4E8A-8A98-423E1C02A818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306050" cy="742950"/>
          </a:xfrm>
          <a:prstGeom prst="rect">
            <a:avLst/>
          </a:prstGeom>
          <a:solidFill>
            <a:srgbClr val="ECF7F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B5A1D4-3B23-4F2D-B997-DDDE63A0F771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Ubicaciones con nombre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C900C-9332-4743-B5E3-779196285A65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962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Hasta 195 ubicaciones · 2.000 rangos IP por ubicación · rangos CIDR mayores a /8</a:t>
            </a:r>
          </a:p>
        </p:txBody>
      </p:sp>
    </p:spTree>
    <p:extLst>
      <p:ext uri="{BB962C8B-B14F-4D97-AF65-F5344CB8AC3E}">
        <p14:creationId xmlns:p14="http://schemas.microsoft.com/office/powerpoint/2010/main" val="59663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3968660-7441-4338-BECD-6985C8F15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9C9852-8891-42C9-A138-04FC38FA6B4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ACCESO CONDICIONAL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747FF-2767-4D55-A808-FFF73F53418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Las señales combinan identidad, red, dispositivo, app y riesgo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E7CA251-72C7-4811-9249-9C2C9E307C0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9EA9BD-9CA1-4CB5-A944-A4359BF8C18F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29F7D-A9C3-4C76-BBB8-1742D6592EAE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5E535F-D2AE-4FFD-AC31-B992032B2AE9}"/>
              </a:ext>
            </a:extLst>
          </p:cNvPr>
          <p:cNvSpPr>
            <a:spLocks noGrp="1"/>
          </p:cNvSpPr>
          <p:nvPr/>
        </p:nvSpPr>
        <p:spPr>
          <a:xfrm>
            <a:off x="4953000" y="2381250"/>
            <a:ext cx="2095500" cy="209550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5E882E-1F47-4FCF-A874-D5FA357B87B9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524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DECISIÓN</a:t>
            </a:r>
          </a:p>
          <a:p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 ACCESO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A1DD1-103B-4BE6-A47F-549F1A7FC6B6}"/>
              </a:ext>
            </a:extLst>
          </p:cNvPr>
          <p:cNvSpPr>
            <a:spLocks noGrp="1"/>
          </p:cNvSpPr>
          <p:nvPr/>
        </p:nvSpPr>
        <p:spPr>
          <a:xfrm>
            <a:off x="762000" y="18859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9AF5F-1575-4951-8E0E-155D41898C66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Usuario · grupo · rol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0BF2915-429B-4E9A-A227-183BD3DAA7DB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257175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4879AB-EA7F-4D4A-B860-68EA60017AE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694B4-97F6-4620-863A-5A8616B204DC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IP · país · ubicación confiable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5A94568-0FCD-4DBF-8FB1-C85CCB4B0E7F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257175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54B961-313B-4D07-B5BF-2508FAD60434}"/>
              </a:ext>
            </a:extLst>
          </p:cNvPr>
          <p:cNvSpPr>
            <a:spLocks noGrp="1"/>
          </p:cNvSpPr>
          <p:nvPr/>
        </p:nvSpPr>
        <p:spPr>
          <a:xfrm>
            <a:off x="8248650" y="18859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DISPOSITIVO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B52485-89F3-4E95-A48F-5F3C5BC307C4}"/>
              </a:ext>
            </a:extLst>
          </p:cNvPr>
          <p:cNvSpPr>
            <a:spLocks noGrp="1"/>
          </p:cNvSpPr>
          <p:nvPr/>
        </p:nvSpPr>
        <p:spPr>
          <a:xfrm>
            <a:off x="8248650" y="21717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Plataforma · conformidad · unión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4843BDE-E61D-418B-A340-41C2FA104CE2}"/>
              </a:ext>
            </a:extLst>
          </p:cNvPr>
          <p:cNvSpPr>
            <a:spLocks noGrp="1"/>
          </p:cNvSpPr>
          <p:nvPr/>
        </p:nvSpPr>
        <p:spPr>
          <a:xfrm>
            <a:off x="8248650" y="2724150"/>
            <a:ext cx="257175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A73802-FD48-43AC-8855-311DDA43F2C8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APLICACIÓN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116D70-8754-406B-B099-DFF3EA4585B2}"/>
              </a:ext>
            </a:extLst>
          </p:cNvPr>
          <p:cNvSpPr>
            <a:spLocks noGrp="1"/>
          </p:cNvSpPr>
          <p:nvPr/>
        </p:nvSpPr>
        <p:spPr>
          <a:xfrm>
            <a:off x="8248650" y="4381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Recurso · cliente · contexto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F6234326-D925-45B7-B5C8-94130D69D3DC}"/>
              </a:ext>
            </a:extLst>
          </p:cNvPr>
          <p:cNvSpPr>
            <a:spLocks noGrp="1"/>
          </p:cNvSpPr>
          <p:nvPr/>
        </p:nvSpPr>
        <p:spPr>
          <a:xfrm>
            <a:off x="8248650" y="4933950"/>
            <a:ext cx="257175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33AA1-B1E2-45CC-8CB7-A968ADC5EA38}"/>
              </a:ext>
            </a:extLst>
          </p:cNvPr>
          <p:cNvSpPr>
            <a:spLocks noGrp="1"/>
          </p:cNvSpPr>
          <p:nvPr/>
        </p:nvSpPr>
        <p:spPr>
          <a:xfrm>
            <a:off x="4048125" y="50958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RIESGO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8B03AF-7EEB-4919-BD5E-0043EAB800DD}"/>
              </a:ext>
            </a:extLst>
          </p:cNvPr>
          <p:cNvSpPr>
            <a:spLocks noGrp="1"/>
          </p:cNvSpPr>
          <p:nvPr/>
        </p:nvSpPr>
        <p:spPr>
          <a:xfrm>
            <a:off x="4048125" y="5381625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Entra ID Protection · tiempo real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3E77669-B7D4-4CF5-8367-B3A8B288E8E6}"/>
              </a:ext>
            </a:extLst>
          </p:cNvPr>
          <p:cNvSpPr>
            <a:spLocks noGrp="1"/>
          </p:cNvSpPr>
          <p:nvPr/>
        </p:nvSpPr>
        <p:spPr>
          <a:xfrm>
            <a:off x="4048125" y="5934075"/>
            <a:ext cx="2571750" cy="0"/>
          </a:xfrm>
          <a:prstGeom prst="line">
            <a:avLst/>
          </a:prstGeom>
          <a:noFill/>
          <a:ln w="19050">
            <a:solidFill>
              <a:srgbClr val="B8D7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3BAF97-C060-475E-91EC-2927B7EBD515}"/>
              </a:ext>
            </a:extLst>
          </p:cNvPr>
          <p:cNvSpPr>
            <a:spLocks noGrp="1"/>
          </p:cNvSpPr>
          <p:nvPr/>
        </p:nvSpPr>
        <p:spPr>
          <a:xfrm>
            <a:off x="2571750" y="58102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Defender for Endpoint e Intune aportan estado de cumplimiento para bloquear equipos o apps no administrados.</a:t>
            </a:r>
          </a:p>
        </p:txBody>
      </p:sp>
    </p:spTree>
    <p:extLst>
      <p:ext uri="{BB962C8B-B14F-4D97-AF65-F5344CB8AC3E}">
        <p14:creationId xmlns:p14="http://schemas.microsoft.com/office/powerpoint/2010/main" val="154700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F2C8513-1D4A-4BED-824C-839B9A0CA9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C95F5F-136A-4C9F-A0BE-B97F89BB762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4299D-BC17-4FCB-88BB-78AA6A2B617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Report-only permite desplegar controles sin interrumpir el negocio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2478966-6142-4F7B-91BD-D050E8B9D824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56C64-DF93-4DD6-B180-03B46E95845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A11DD-F082-409A-A90F-439B0B96890A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515B0F-DE0C-4FE4-BFC8-24B86257099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Primero observar; después endurecer. La telemetría evita bloqueos inesperados.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FC4CE8-F9E9-4A16-8F64-9F05DB937CE3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514350" cy="5143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35E26-5534-4477-9FD6-DE9FB35D96F2}"/>
              </a:ext>
            </a:extLst>
          </p:cNvPr>
          <p:cNvSpPr>
            <a:spLocks noGrp="1"/>
          </p:cNvSpPr>
          <p:nvPr/>
        </p:nvSpPr>
        <p:spPr>
          <a:xfrm>
            <a:off x="895350" y="23717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3EF47E-9C13-4F68-94B2-80EE1D40EAF5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DISEÑAR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2C75A7-D472-45FE-95F5-EDAB4B2F87B3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Definir alcance, exclusiones y cuentas de emergencia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929F93C-A8B9-497B-882B-CE8E788FF40D}"/>
              </a:ext>
            </a:extLst>
          </p:cNvPr>
          <p:cNvSpPr>
            <a:spLocks noGrp="1"/>
          </p:cNvSpPr>
          <p:nvPr/>
        </p:nvSpPr>
        <p:spPr>
          <a:xfrm>
            <a:off x="1276350" y="2524125"/>
            <a:ext cx="2133600" cy="0"/>
          </a:xfrm>
          <a:prstGeom prst="line">
            <a:avLst/>
          </a:prstGeom>
          <a:noFill/>
          <a:ln w="28575">
            <a:solidFill>
              <a:srgbClr val="B8D7E8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AEC458-3178-46B9-AE64-2D5B70B7E6BF}"/>
              </a:ext>
            </a:extLst>
          </p:cNvPr>
          <p:cNvSpPr>
            <a:spLocks noGrp="1"/>
          </p:cNvSpPr>
          <p:nvPr/>
        </p:nvSpPr>
        <p:spPr>
          <a:xfrm>
            <a:off x="3438525" y="2266950"/>
            <a:ext cx="514350" cy="514350"/>
          </a:xfrm>
          <a:prstGeom prst="ellipse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1410D-0585-4741-BD1D-BFEDA4D18CCF}"/>
              </a:ext>
            </a:extLst>
          </p:cNvPr>
          <p:cNvSpPr>
            <a:spLocks noGrp="1"/>
          </p:cNvSpPr>
          <p:nvPr/>
        </p:nvSpPr>
        <p:spPr>
          <a:xfrm>
            <a:off x="3609975" y="23717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1B39A6-0F6C-44D5-BC84-79A07FD11DFD}"/>
              </a:ext>
            </a:extLst>
          </p:cNvPr>
          <p:cNvSpPr>
            <a:spLocks noGrp="1"/>
          </p:cNvSpPr>
          <p:nvPr/>
        </p:nvSpPr>
        <p:spPr>
          <a:xfrm>
            <a:off x="3438525" y="2990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SOLO INFORME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A9EAA4-0EB6-400C-AA1D-BFB0592934F9}"/>
              </a:ext>
            </a:extLst>
          </p:cNvPr>
          <p:cNvSpPr>
            <a:spLocks noGrp="1"/>
          </p:cNvSpPr>
          <p:nvPr/>
        </p:nvSpPr>
        <p:spPr>
          <a:xfrm>
            <a:off x="3438525" y="3352800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Evaluar resultados en los registros de inicio de sesión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000C210-ADF1-4AF9-AE60-5628919CAEB1}"/>
              </a:ext>
            </a:extLst>
          </p:cNvPr>
          <p:cNvSpPr>
            <a:spLocks noGrp="1"/>
          </p:cNvSpPr>
          <p:nvPr/>
        </p:nvSpPr>
        <p:spPr>
          <a:xfrm>
            <a:off x="3990975" y="2524125"/>
            <a:ext cx="2133600" cy="0"/>
          </a:xfrm>
          <a:prstGeom prst="line">
            <a:avLst/>
          </a:prstGeom>
          <a:noFill/>
          <a:ln w="28575">
            <a:solidFill>
              <a:srgbClr val="B8D7E8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A538FF-580E-4416-BE56-543C918AD08B}"/>
              </a:ext>
            </a:extLst>
          </p:cNvPr>
          <p:cNvSpPr>
            <a:spLocks noGrp="1"/>
          </p:cNvSpPr>
          <p:nvPr/>
        </p:nvSpPr>
        <p:spPr>
          <a:xfrm>
            <a:off x="6153150" y="2266950"/>
            <a:ext cx="514350" cy="5143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59C4CD-90CC-4BF2-B7E7-38CE290A5FEA}"/>
              </a:ext>
            </a:extLst>
          </p:cNvPr>
          <p:cNvSpPr>
            <a:spLocks noGrp="1"/>
          </p:cNvSpPr>
          <p:nvPr/>
        </p:nvSpPr>
        <p:spPr>
          <a:xfrm>
            <a:off x="6324600" y="23717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B70B5F-E742-4075-A592-FE7FFDCE9ED7}"/>
              </a:ext>
            </a:extLst>
          </p:cNvPr>
          <p:cNvSpPr>
            <a:spLocks noGrp="1"/>
          </p:cNvSpPr>
          <p:nvPr/>
        </p:nvSpPr>
        <p:spPr>
          <a:xfrm>
            <a:off x="6153150" y="2990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7338B7-A55D-49C9-85BB-8124883CCB71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Activar para un grupo representativo y medir fricción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658CF27F-0FF8-44E7-8E38-01F8880769D2}"/>
              </a:ext>
            </a:extLst>
          </p:cNvPr>
          <p:cNvSpPr>
            <a:spLocks noGrp="1"/>
          </p:cNvSpPr>
          <p:nvPr/>
        </p:nvSpPr>
        <p:spPr>
          <a:xfrm>
            <a:off x="6705600" y="2524125"/>
            <a:ext cx="2133600" cy="0"/>
          </a:xfrm>
          <a:prstGeom prst="line">
            <a:avLst/>
          </a:prstGeom>
          <a:noFill/>
          <a:ln w="28575">
            <a:solidFill>
              <a:srgbClr val="B8D7E8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629CAF-A834-4E92-B4A9-946C9140DA12}"/>
              </a:ext>
            </a:extLst>
          </p:cNvPr>
          <p:cNvSpPr>
            <a:spLocks noGrp="1"/>
          </p:cNvSpPr>
          <p:nvPr/>
        </p:nvSpPr>
        <p:spPr>
          <a:xfrm>
            <a:off x="8867775" y="2266950"/>
            <a:ext cx="514350" cy="514350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F5F34D-84CB-4F20-8210-6384508CDF6E}"/>
              </a:ext>
            </a:extLst>
          </p:cNvPr>
          <p:cNvSpPr>
            <a:spLocks noGrp="1"/>
          </p:cNvSpPr>
          <p:nvPr/>
        </p:nvSpPr>
        <p:spPr>
          <a:xfrm>
            <a:off x="9039225" y="23717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5EDFB7-503A-47A6-BA87-BB0652CE506D}"/>
              </a:ext>
            </a:extLst>
          </p:cNvPr>
          <p:cNvSpPr>
            <a:spLocks noGrp="1"/>
          </p:cNvSpPr>
          <p:nvPr/>
        </p:nvSpPr>
        <p:spPr>
          <a:xfrm>
            <a:off x="8867775" y="2990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370DF5-0BDC-4B40-9D9F-B68E985709C5}"/>
              </a:ext>
            </a:extLst>
          </p:cNvPr>
          <p:cNvSpPr>
            <a:spLocks noGrp="1"/>
          </p:cNvSpPr>
          <p:nvPr/>
        </p:nvSpPr>
        <p:spPr>
          <a:xfrm>
            <a:off x="8867775" y="3352800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Extender por oleadas y mantener seguimiento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252EF3-7E20-4E93-8ECA-529F5B1E214B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10429875" cy="6667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55DE0E-7699-4DA7-8CAB-C581F3BD6BA5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Patrón seguro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D901D6-EBCE-46DD-B17E-F5DA3FBCC7B2}"/>
              </a:ext>
            </a:extLst>
          </p:cNvPr>
          <p:cNvSpPr>
            <a:spLocks noGrp="1"/>
          </p:cNvSpPr>
          <p:nvPr/>
        </p:nvSpPr>
        <p:spPr>
          <a:xfrm>
            <a:off x="933450" y="5276850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 activar una política amplia sin revisar primero su impacto en report-only.</a:t>
            </a:r>
          </a:p>
        </p:txBody>
      </p:sp>
    </p:spTree>
    <p:extLst>
      <p:ext uri="{BB962C8B-B14F-4D97-AF65-F5344CB8AC3E}">
        <p14:creationId xmlns:p14="http://schemas.microsoft.com/office/powerpoint/2010/main" val="187897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B2BCFB-A88D-4D94-ABE4-AE1749F90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639F0-0263-4D08-B700-45B873182AF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MFA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9942D4-779D-4751-A549-636B9F35B72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MFA debe aplicarse con el mecanismo correcto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B353B5E-D50F-43B9-961E-57F63B4A8061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5095DE-EFC0-4F95-BAAE-B584E753480D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50AED-274B-452A-B04B-FDA17F68F1CB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79D3D-0229-4449-90B6-DCF9F5E022FF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Acceso condicional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A7641-3CA5-41D9-AB2C-7AE4E1F6962A}"/>
              </a:ext>
            </a:extLst>
          </p:cNvPr>
          <p:cNvSpPr>
            <a:spLocks noGrp="1"/>
          </p:cNvSpPr>
          <p:nvPr/>
        </p:nvSpPr>
        <p:spPr>
          <a:xfrm>
            <a:off x="3352800" y="20574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7C1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7C10"/>
                </a:solidFill>
                <a:latin typeface="Aptos"/>
                <a:ea typeface="Aptos"/>
                <a:cs typeface="Aptos"/>
              </a:rPr>
              <a:t>Recomendado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FFE72-3363-4C1E-BBAB-5B5375530D3D}"/>
              </a:ext>
            </a:extLst>
          </p:cNvPr>
          <p:cNvSpPr>
            <a:spLocks noGrp="1"/>
          </p:cNvSpPr>
          <p:nvPr/>
        </p:nvSpPr>
        <p:spPr>
          <a:xfrm>
            <a:off x="5143500" y="20383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Granular por grupo, app, dispositivo y riesgo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F82398-491B-4BF6-AAFF-13366AB956B4}"/>
              </a:ext>
            </a:extLst>
          </p:cNvPr>
          <p:cNvSpPr>
            <a:spLocks noGrp="1"/>
          </p:cNvSpPr>
          <p:nvPr/>
        </p:nvSpPr>
        <p:spPr>
          <a:xfrm>
            <a:off x="9334500" y="20383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P1/P2 o suites compatibles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1FB4630-2955-4AFD-8DB8-492B2F2F2597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104203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5F0D34-4635-44E9-B2B6-0405966BB93D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Security Defaults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C9D00C-8F74-4F1E-A10B-1CD88BFAC735}"/>
              </a:ext>
            </a:extLst>
          </p:cNvPr>
          <p:cNvSpPr>
            <a:spLocks noGrp="1"/>
          </p:cNvSpPr>
          <p:nvPr/>
        </p:nvSpPr>
        <p:spPr>
          <a:xfrm>
            <a:off x="3352800" y="3219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Inicio rápido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F54CB-C583-4A7E-9463-3B3CF1EDD8BA}"/>
              </a:ext>
            </a:extLst>
          </p:cNvPr>
          <p:cNvSpPr>
            <a:spLocks noGrp="1"/>
          </p:cNvSpPr>
          <p:nvPr/>
        </p:nvSpPr>
        <p:spPr>
          <a:xfrm>
            <a:off x="5143500" y="320040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Todo o nada; MFA y bloqueo de legado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35CA5-A6C7-4B9D-B0E8-697453688EF9}"/>
              </a:ext>
            </a:extLst>
          </p:cNvPr>
          <p:cNvSpPr>
            <a:spLocks noGrp="1"/>
          </p:cNvSpPr>
          <p:nvPr/>
        </p:nvSpPr>
        <p:spPr>
          <a:xfrm>
            <a:off x="9334500" y="32004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Entra Free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63FA6BC1-12F5-40D2-AD61-7CE3059037DF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104203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85664D-EE9C-46D9-8E3B-7308998F8A86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MFA por usuario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F585EE-8F45-4FB3-9D74-651AF9A92A2E}"/>
              </a:ext>
            </a:extLst>
          </p:cNvPr>
          <p:cNvSpPr>
            <a:spLocks noGrp="1"/>
          </p:cNvSpPr>
          <p:nvPr/>
        </p:nvSpPr>
        <p:spPr>
          <a:xfrm>
            <a:off x="3352800" y="43815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83B0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B01"/>
                </a:solidFill>
                <a:latin typeface="Aptos"/>
                <a:ea typeface="Aptos"/>
                <a:cs typeface="Aptos"/>
              </a:rPr>
              <a:t>Legado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5F3AF6-A665-426B-9C1A-163497730BE1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Gestión individual, menor contexto y escalabilidad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9C03C-4AE1-4650-93CF-5ACD94571A0B}"/>
              </a:ext>
            </a:extLst>
          </p:cNvPr>
          <p:cNvSpPr>
            <a:spLocks noGrp="1"/>
          </p:cNvSpPr>
          <p:nvPr/>
        </p:nvSpPr>
        <p:spPr>
          <a:xfrm>
            <a:off x="9334500" y="43624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No recomendado a escala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A862537-FA10-4AF6-AC96-03A9EFC2D79C}"/>
              </a:ext>
            </a:extLst>
          </p:cNvPr>
          <p:cNvSpPr>
            <a:spLocks noGrp="1"/>
          </p:cNvSpPr>
          <p:nvPr/>
        </p:nvSpPr>
        <p:spPr>
          <a:xfrm>
            <a:off x="723900" y="5200650"/>
            <a:ext cx="104203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4DA1D1-B090-4CDB-93D8-B756A79D294F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Métodos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0698B8-7382-461D-91DD-C8F29359A8B8}"/>
              </a:ext>
            </a:extLst>
          </p:cNvPr>
          <p:cNvSpPr>
            <a:spLocks noGrp="1"/>
          </p:cNvSpPr>
          <p:nvPr/>
        </p:nvSpPr>
        <p:spPr>
          <a:xfrm>
            <a:off x="1809750" y="559117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Authenticator · SMS/llamada · OATH · TOTP · claves FIDO2</a:t>
            </a:r>
          </a:p>
        </p:txBody>
      </p:sp>
    </p:spTree>
    <p:extLst>
      <p:ext uri="{BB962C8B-B14F-4D97-AF65-F5344CB8AC3E}">
        <p14:creationId xmlns:p14="http://schemas.microsoft.com/office/powerpoint/2010/main" val="199853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A287B6E-9100-41D6-8F47-BF09F27A57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BD3BD0-D68E-41C6-B991-82F9A1B9ABD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MFA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E45D8-2F7B-4835-88E4-0F4E6AD41F9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Authentication strength eleva MFA a resistencia frente a phishing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132BC0-70AC-4DD8-AFFB-2C3B489B8840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709C1-FFA1-4D02-841D-EEB68670C32E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CA231-F79F-4C5F-831C-25C42627FE46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DFC95-E2EC-460E-BAF9-BBD29A4793E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La política especifica qué combinaciones registradas son válidas para cada recurso.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C0AEF-926C-4F44-BBFC-F4846F12DFDE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2857500" cy="819150"/>
          </a:xfrm>
          <a:prstGeom prst="rect">
            <a:avLst/>
          </a:prstGeom>
          <a:solidFill>
            <a:srgbClr val="D9EE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F4993A-FDDF-4FCD-9290-68435D203A46}"/>
              </a:ext>
            </a:extLst>
          </p:cNvPr>
          <p:cNvSpPr>
            <a:spLocks noGrp="1"/>
          </p:cNvSpPr>
          <p:nvPr/>
        </p:nvSpPr>
        <p:spPr>
          <a:xfrm>
            <a:off x="1085850" y="46101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MFA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66A22-3987-4F92-A385-670168A9A2E6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243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Dos o más factores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6030D6-450B-41C5-BE3E-236D79313C23}"/>
              </a:ext>
            </a:extLst>
          </p:cNvPr>
          <p:cNvSpPr>
            <a:spLocks noGrp="1"/>
          </p:cNvSpPr>
          <p:nvPr/>
        </p:nvSpPr>
        <p:spPr>
          <a:xfrm>
            <a:off x="3638550" y="3657600"/>
            <a:ext cx="3429000" cy="1200150"/>
          </a:xfrm>
          <a:prstGeom prst="rect">
            <a:avLst/>
          </a:prstGeom>
          <a:solidFill>
            <a:srgbClr val="BFEAF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EE9A3B-9ECB-40F0-90CD-E4B56190477D}"/>
              </a:ext>
            </a:extLst>
          </p:cNvPr>
          <p:cNvSpPr>
            <a:spLocks noGrp="1"/>
          </p:cNvSpPr>
          <p:nvPr/>
        </p:nvSpPr>
        <p:spPr>
          <a:xfrm>
            <a:off x="3848100" y="3848100"/>
            <a:ext cx="300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MFA sin contraseña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C25DDA-187B-4D55-A8AA-754EA3888D88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3009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Biometría o claves FIDO2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9BE764-9750-4094-AA5C-38748AAD9D16}"/>
              </a:ext>
            </a:extLst>
          </p:cNvPr>
          <p:cNvSpPr>
            <a:spLocks noGrp="1"/>
          </p:cNvSpPr>
          <p:nvPr/>
        </p:nvSpPr>
        <p:spPr>
          <a:xfrm>
            <a:off x="6972300" y="2895600"/>
            <a:ext cx="4286250" cy="15811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3E45E-456C-4535-B17A-5EDF4D5F17F7}"/>
              </a:ext>
            </a:extLst>
          </p:cNvPr>
          <p:cNvSpPr>
            <a:spLocks noGrp="1"/>
          </p:cNvSpPr>
          <p:nvPr/>
        </p:nvSpPr>
        <p:spPr>
          <a:xfrm>
            <a:off x="7181850" y="3086100"/>
            <a:ext cx="3867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MFA resistente a phishing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ECABD-28BC-483F-9B6A-7512CB338410}"/>
              </a:ext>
            </a:extLst>
          </p:cNvPr>
          <p:cNvSpPr>
            <a:spLocks noGrp="1"/>
          </p:cNvSpPr>
          <p:nvPr/>
        </p:nvSpPr>
        <p:spPr>
          <a:xfrm>
            <a:off x="7181850" y="3429000"/>
            <a:ext cx="3867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FIDO2 y Windows Hello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2D04DE-6C59-40E4-8C6E-8467B9F78B03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Método permitido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1D26AF-AC6D-4A1E-97F8-A274A801782F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96D563-1310-4C94-A80D-50BD6F65C50A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Método registrado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710042-A830-4397-BF5C-66CE651212AF}"/>
              </a:ext>
            </a:extLst>
          </p:cNvPr>
          <p:cNvSpPr>
            <a:spLocks noGrp="1"/>
          </p:cNvSpPr>
          <p:nvPr/>
        </p:nvSpPr>
        <p:spPr>
          <a:xfrm>
            <a:off x="6134100" y="23050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4682BE-160B-4EC1-8DE6-EBC6E9BBD25A}"/>
              </a:ext>
            </a:extLst>
          </p:cNvPr>
          <p:cNvSpPr>
            <a:spLocks noGrp="1"/>
          </p:cNvSpPr>
          <p:nvPr/>
        </p:nvSpPr>
        <p:spPr>
          <a:xfrm>
            <a:off x="6743700" y="23241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Política del recurso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885CB-651F-4DBE-9A9B-62205420DC44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83B01"/>
                </a:solidFill>
                <a:latin typeface="Aptos Display"/>
                <a:ea typeface="Aptos Display"/>
                <a:cs typeface="Aptos Display"/>
              </a:rPr>
              <a:t>Sin método compatible: registro combinado o bloqueo.</a:t>
            </a:r>
          </a:p>
        </p:txBody>
      </p:sp>
    </p:spTree>
    <p:extLst>
      <p:ext uri="{BB962C8B-B14F-4D97-AF65-F5344CB8AC3E}">
        <p14:creationId xmlns:p14="http://schemas.microsoft.com/office/powerpoint/2010/main" val="1646071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1360165-4299-45A9-BE1F-227A35617E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52478-D65F-4C90-A83C-72FF331A71A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PASSWORDLESS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AC3E97-22DE-400E-B1DF-FBECB8BDE54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Passwordless desplaza el secreto compartido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687F655-C2BE-422C-AEC2-F56286F62D7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CBB94-658E-4CDE-8C50-A7A2894BBC54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6B649-A5D5-4A93-81D6-2E7752F7BC53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3C724-59CB-42E1-BCFA-CEF4A55478A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La autenticación se vincula al dispositivo, al hardware o a una clave criptográfica resistente al phishing.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9CC4AA-D56E-4C57-9E8A-00941E5D2F83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97DA4D-F51E-451E-B151-234B62F07817}"/>
              </a:ext>
            </a:extLst>
          </p:cNvPr>
          <p:cNvSpPr>
            <a:spLocks noGrp="1"/>
          </p:cNvSpPr>
          <p:nvPr/>
        </p:nvSpPr>
        <p:spPr>
          <a:xfrm>
            <a:off x="1257300" y="207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Windows Hello for Business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DA20D5-54A5-46C4-BD9A-FA2E4912759D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PIN o biometría local + TPM · SSO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79D0971-A02D-49A5-82C2-B61CB5D1271C}"/>
              </a:ext>
            </a:extLst>
          </p:cNvPr>
          <p:cNvSpPr>
            <a:spLocks noGrp="1"/>
          </p:cNvSpPr>
          <p:nvPr/>
        </p:nvSpPr>
        <p:spPr>
          <a:xfrm>
            <a:off x="1257300" y="2476500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906C9-4CD0-46DF-A777-71CC6FFBD071}"/>
              </a:ext>
            </a:extLst>
          </p:cNvPr>
          <p:cNvSpPr>
            <a:spLocks noGrp="1"/>
          </p:cNvSpPr>
          <p:nvPr/>
        </p:nvSpPr>
        <p:spPr>
          <a:xfrm>
            <a:off x="723900" y="26574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91165-07D6-49FC-9E88-806CAE1CBEF8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Microsoft Authenticator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5FCADE-E96D-4B85-90C0-4B3FEA4D88CD}"/>
              </a:ext>
            </a:extLst>
          </p:cNvPr>
          <p:cNvSpPr>
            <a:spLocks noGrp="1"/>
          </p:cNvSpPr>
          <p:nvPr/>
        </p:nvSpPr>
        <p:spPr>
          <a:xfrm>
            <a:off x="4305300" y="2657475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Push con coincidencia de número y biometría/PIN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6E390D9-7001-4881-B687-461F1636C543}"/>
              </a:ext>
            </a:extLst>
          </p:cNvPr>
          <p:cNvSpPr>
            <a:spLocks noGrp="1"/>
          </p:cNvSpPr>
          <p:nvPr/>
        </p:nvSpPr>
        <p:spPr>
          <a:xfrm>
            <a:off x="1257300" y="30575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7B284F-3A9E-4D7E-87BF-42F62195BB56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CC85DE-E180-4FCB-81A5-C70A933686E4}"/>
              </a:ext>
            </a:extLst>
          </p:cNvPr>
          <p:cNvSpPr>
            <a:spLocks noGrp="1"/>
          </p:cNvSpPr>
          <p:nvPr/>
        </p:nvSpPr>
        <p:spPr>
          <a:xfrm>
            <a:off x="1257300" y="3238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Passkeys FIDO2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E2003-CF5B-46C7-B188-E40DB8DF1084}"/>
              </a:ext>
            </a:extLst>
          </p:cNvPr>
          <p:cNvSpPr>
            <a:spLocks noGrp="1"/>
          </p:cNvSpPr>
          <p:nvPr/>
        </p:nvSpPr>
        <p:spPr>
          <a:xfrm>
            <a:off x="4305300" y="3238500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USB, Bluetooth o NFC · WebAuthn · escenarios sin teléfono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EEF064F-7BA8-41D9-B1CE-53B3B24A2AD6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6F9FE-2F14-49AB-A349-A84E2E549E29}"/>
              </a:ext>
            </a:extLst>
          </p:cNvPr>
          <p:cNvSpPr>
            <a:spLocks noGrp="1"/>
          </p:cNvSpPr>
          <p:nvPr/>
        </p:nvSpPr>
        <p:spPr>
          <a:xfrm>
            <a:off x="723900" y="38195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5B2E00-E88F-43A8-80B5-6E6B6A3A4A15}"/>
              </a:ext>
            </a:extLst>
          </p:cNvPr>
          <p:cNvSpPr>
            <a:spLocks noGrp="1"/>
          </p:cNvSpPr>
          <p:nvPr/>
        </p:nvSpPr>
        <p:spPr>
          <a:xfrm>
            <a:off x="1257300" y="38195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Platform Credential macOS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EBBC00-00FF-4984-AA82-833F51D1935F}"/>
              </a:ext>
            </a:extLst>
          </p:cNvPr>
          <p:cNvSpPr>
            <a:spLocks noGrp="1"/>
          </p:cNvSpPr>
          <p:nvPr/>
        </p:nvSpPr>
        <p:spPr>
          <a:xfrm>
            <a:off x="4305300" y="3819525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SSOe + enclave seguro + Touch ID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3E4BD2B-B967-4631-9793-120D3EAC2368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B35749-AC9B-4C9D-B354-BC3517C71F9F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E87829-4BC4-4245-8AC4-7C7A23DF4E94}"/>
              </a:ext>
            </a:extLst>
          </p:cNvPr>
          <p:cNvSpPr>
            <a:spLocks noGrp="1"/>
          </p:cNvSpPr>
          <p:nvPr/>
        </p:nvSpPr>
        <p:spPr>
          <a:xfrm>
            <a:off x="1257300" y="44005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Platform SSO + SmartCard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350E6B-7F7C-4299-9F7D-A4ACED8FF523}"/>
              </a:ext>
            </a:extLst>
          </p:cNvPr>
          <p:cNvSpPr>
            <a:spLocks noGrp="1"/>
          </p:cNvSpPr>
          <p:nvPr/>
        </p:nvSpPr>
        <p:spPr>
          <a:xfrm>
            <a:off x="4305300" y="4400550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Certificado y token físico administrado por MDM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480CC86-A3D2-437A-B021-278CCC7DA422}"/>
              </a:ext>
            </a:extLst>
          </p:cNvPr>
          <p:cNvSpPr>
            <a:spLocks noGrp="1"/>
          </p:cNvSpPr>
          <p:nvPr/>
        </p:nvSpPr>
        <p:spPr>
          <a:xfrm>
            <a:off x="1257300" y="4800600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080F05-8D47-4CC5-9F8E-CA3EEF8BF1CC}"/>
              </a:ext>
            </a:extLst>
          </p:cNvPr>
          <p:cNvSpPr>
            <a:spLocks noGrp="1"/>
          </p:cNvSpPr>
          <p:nvPr/>
        </p:nvSpPr>
        <p:spPr>
          <a:xfrm>
            <a:off x="723900" y="49815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A4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4E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037C22-8A38-4068-B5DC-BA80840939ED}"/>
              </a:ext>
            </a:extLst>
          </p:cNvPr>
          <p:cNvSpPr>
            <a:spLocks noGrp="1"/>
          </p:cNvSpPr>
          <p:nvPr/>
        </p:nvSpPr>
        <p:spPr>
          <a:xfrm>
            <a:off x="1257300" y="49815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CBA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B0F07B-7F8F-49DC-B150-6C5CA1215B97}"/>
              </a:ext>
            </a:extLst>
          </p:cNvPr>
          <p:cNvSpPr>
            <a:spLocks noGrp="1"/>
          </p:cNvSpPr>
          <p:nvPr/>
        </p:nvSpPr>
        <p:spPr>
          <a:xfrm>
            <a:off x="4305300" y="4981575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Certificados X.509 directos contra Entra ID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B67D68B0-CEEF-4216-B826-8A7823E95500}"/>
              </a:ext>
            </a:extLst>
          </p:cNvPr>
          <p:cNvSpPr>
            <a:spLocks noGrp="1"/>
          </p:cNvSpPr>
          <p:nvPr/>
        </p:nvSpPr>
        <p:spPr>
          <a:xfrm>
            <a:off x="1257300" y="53816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FC36C1-0F87-4C85-9D86-AB4586BB3B0B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42A199-FD5A-4F51-B538-5EB70F35B0B2}"/>
              </a:ext>
            </a:extLst>
          </p:cNvPr>
          <p:cNvSpPr>
            <a:spLocks noGrp="1"/>
          </p:cNvSpPr>
          <p:nvPr/>
        </p:nvSpPr>
        <p:spPr>
          <a:xfrm>
            <a:off x="1809750" y="56769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Menos secretos reutilizables, menos replay y menor superficie de phishing.</a:t>
            </a:r>
          </a:p>
        </p:txBody>
      </p:sp>
    </p:spTree>
    <p:extLst>
      <p:ext uri="{BB962C8B-B14F-4D97-AF65-F5344CB8AC3E}">
        <p14:creationId xmlns:p14="http://schemas.microsoft.com/office/powerpoint/2010/main" val="1947613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AC99131-DDA8-41F8-9820-914EB74D21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F861CA-D324-470A-87A4-A11D05DF58A8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PTA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98135-4D1B-4CE3-92CE-F2A8D5470B2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PTA valida en AD local sin publicar infraestructura entrante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6B2C7A4-CCAC-4D25-AE59-D1896792B66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55ABF-1E21-4223-A3FB-1A5BAB3EB6EA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633E6-DB6A-4A7B-9AA4-2A53C71EF0E2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2CFF40-F2BF-4F5F-9178-7551C39AEB6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El agente usa comunicación saliente y valida la contraseña en tiempo real contra AD 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F4496-D80D-448D-945B-80F56BC7FE89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714500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ABE2A-31D0-45A0-993D-5A08597EC184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1447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Usuario</a:t>
            </a:r>
          </a:p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Microsoft 365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87EC20-7C21-44A0-AEFD-E17840BFF23A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1714500" cy="876300"/>
          </a:xfrm>
          <a:prstGeom prst="rect">
            <a:avLst/>
          </a:prstGeom>
          <a:solidFill>
            <a:srgbClr val="0078D4"/>
          </a:solidFill>
          <a:ln w="14288">
            <a:solidFill>
              <a:srgbClr val="0078D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610D5A-E7C7-4FF6-940F-5644679ADCA5}"/>
              </a:ext>
            </a:extLst>
          </p:cNvPr>
          <p:cNvSpPr>
            <a:spLocks noGrp="1"/>
          </p:cNvSpPr>
          <p:nvPr/>
        </p:nvSpPr>
        <p:spPr>
          <a:xfrm>
            <a:off x="3238500" y="2533650"/>
            <a:ext cx="1447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Microsoft</a:t>
            </a:r>
          </a:p>
          <a:p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 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CC8E5-1635-4398-9EAC-034652F301A5}"/>
              </a:ext>
            </a:extLst>
          </p:cNvPr>
          <p:cNvSpPr>
            <a:spLocks noGrp="1"/>
          </p:cNvSpPr>
          <p:nvPr/>
        </p:nvSpPr>
        <p:spPr>
          <a:xfrm>
            <a:off x="5543550" y="2400300"/>
            <a:ext cx="1714500" cy="876300"/>
          </a:xfrm>
          <a:prstGeom prst="rect">
            <a:avLst/>
          </a:prstGeom>
          <a:solidFill>
            <a:srgbClr val="ECF7FC"/>
          </a:solidFill>
          <a:ln w="14288">
            <a:solidFill>
              <a:srgbClr val="00A4E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90B48-ED9D-4406-B451-D8B68268252C}"/>
              </a:ext>
            </a:extLst>
          </p:cNvPr>
          <p:cNvSpPr>
            <a:spLocks noGrp="1"/>
          </p:cNvSpPr>
          <p:nvPr/>
        </p:nvSpPr>
        <p:spPr>
          <a:xfrm>
            <a:off x="5676900" y="2533650"/>
            <a:ext cx="1447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Cola del</a:t>
            </a:r>
          </a:p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conector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CEB91-EC99-46F5-81C1-3328F8D1C659}"/>
              </a:ext>
            </a:extLst>
          </p:cNvPr>
          <p:cNvSpPr>
            <a:spLocks noGrp="1"/>
          </p:cNvSpPr>
          <p:nvPr/>
        </p:nvSpPr>
        <p:spPr>
          <a:xfrm>
            <a:off x="7981950" y="2400300"/>
            <a:ext cx="1714500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B8D7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AFAE9-6B95-40B3-BDC0-7EBECA96BB10}"/>
              </a:ext>
            </a:extLst>
          </p:cNvPr>
          <p:cNvSpPr>
            <a:spLocks noGrp="1"/>
          </p:cNvSpPr>
          <p:nvPr/>
        </p:nvSpPr>
        <p:spPr>
          <a:xfrm>
            <a:off x="8115300" y="2533650"/>
            <a:ext cx="1447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Agente PTA</a:t>
            </a:r>
          </a:p>
          <a:p>
            <a:pPr>
              <a:defRPr sz="1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on-premises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47EAB-8BEC-4AED-A539-060180F6B454}"/>
              </a:ext>
            </a:extLst>
          </p:cNvPr>
          <p:cNvSpPr>
            <a:spLocks noGrp="1"/>
          </p:cNvSpPr>
          <p:nvPr/>
        </p:nvSpPr>
        <p:spPr>
          <a:xfrm>
            <a:off x="10420350" y="2400300"/>
            <a:ext cx="1143000" cy="876300"/>
          </a:xfrm>
          <a:prstGeom prst="rect">
            <a:avLst/>
          </a:prstGeom>
          <a:solidFill>
            <a:srgbClr val="17324D"/>
          </a:solidFill>
          <a:ln w="14288">
            <a:solidFill>
              <a:srgbClr val="17324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FA9B5A-3CCB-4077-9A74-63FEB31FD316}"/>
              </a:ext>
            </a:extLst>
          </p:cNvPr>
          <p:cNvSpPr>
            <a:spLocks noGrp="1"/>
          </p:cNvSpPr>
          <p:nvPr/>
        </p:nvSpPr>
        <p:spPr>
          <a:xfrm>
            <a:off x="10553700" y="2533650"/>
            <a:ext cx="876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 DS</a:t>
            </a:r>
          </a:p>
        </p:txBody>
      </p:sp>
      <p:cxnSp>
        <p:nvCxnSpPr>
          <p:cNvPr id="18" name="Straight Arrow Connector 17"/>
          <p:cNvCxnSpPr>
            <a:stCxn id="8" idx="3"/>
            <a:endCxn id="10" idx="1"/>
          </p:cNvCxnSpPr>
          <p:nvPr/>
        </p:nvCxnSpPr>
        <p:spPr>
          <a:xfrm>
            <a:off x="2381250" y="2838450"/>
            <a:ext cx="72390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19" name="Straight Arrow Connector 18"/>
          <p:cNvCxnSpPr>
            <a:stCxn id="10" idx="3"/>
            <a:endCxn id="12" idx="1"/>
          </p:cNvCxnSpPr>
          <p:nvPr/>
        </p:nvCxnSpPr>
        <p:spPr>
          <a:xfrm>
            <a:off x="4819650" y="2838450"/>
            <a:ext cx="72390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20" name="Straight Arrow Connector 19"/>
          <p:cNvCxnSpPr>
            <a:stCxn id="12" idx="3"/>
            <a:endCxn id="14" idx="1"/>
          </p:cNvCxnSpPr>
          <p:nvPr/>
        </p:nvCxnSpPr>
        <p:spPr>
          <a:xfrm>
            <a:off x="7258050" y="2838450"/>
            <a:ext cx="72390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cxnSp>
        <p:nvCxnSpPr>
          <p:cNvPr id="21" name="Straight Arrow Connector 20"/>
          <p:cNvCxnSpPr>
            <a:stCxn id="14" idx="3"/>
            <a:endCxn id="16" idx="1"/>
          </p:cNvCxnSpPr>
          <p:nvPr/>
        </p:nvCxnSpPr>
        <p:spPr>
          <a:xfrm>
            <a:off x="9696450" y="2838450"/>
            <a:ext cx="723900" cy="0"/>
          </a:xfrm>
          <a:prstGeom prst="straightConnector1">
            <a:avLst/>
          </a:prstGeom>
          <a:ln w="19050">
            <a:solidFill>
              <a:srgbClr val="00A4EF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688C3-3FA2-4434-B388-01DFF06225CB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ALTA DISPONIBILIDAD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B2F0EE-A508-4D6A-8772-4C9ACE3C8A40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Desplegar un agente adicional en otro servidor.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6A76E7-B9D3-4453-B382-BFEB9C653518}"/>
              </a:ext>
            </a:extLst>
          </p:cNvPr>
          <p:cNvSpPr>
            <a:spLocks noGrp="1"/>
          </p:cNvSpPr>
          <p:nvPr/>
        </p:nvSpPr>
        <p:spPr>
          <a:xfrm>
            <a:off x="6115050" y="39433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83B0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B01"/>
                </a:solidFill>
                <a:latin typeface="Aptos"/>
                <a:ea typeface="Aptos"/>
                <a:cs typeface="Aptos"/>
              </a:rPr>
              <a:t>RESILIENCIA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13CEA9-666C-40CD-8A3D-84D61054A2E8}"/>
              </a:ext>
            </a:extLst>
          </p:cNvPr>
          <p:cNvSpPr>
            <a:spLocks noGrp="1"/>
          </p:cNvSpPr>
          <p:nvPr/>
        </p:nvSpPr>
        <p:spPr>
          <a:xfrm>
            <a:off x="6115050" y="42672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Mantener PHS habilitado como opción de conmutación.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7163AA-0C88-47A9-A6D4-E8165FE7A486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896600" cy="514350"/>
          </a:xfrm>
          <a:prstGeom prst="rect">
            <a:avLst/>
          </a:prstGeom>
          <a:solidFill>
            <a:srgbClr val="ECF7F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BA2B87-2184-4111-B1EB-F45369FD7944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Más simple que AD FS · agente unido al dominio · sin red perimetral entrante</a:t>
            </a:r>
          </a:p>
        </p:txBody>
      </p:sp>
    </p:spTree>
    <p:extLst>
      <p:ext uri="{BB962C8B-B14F-4D97-AF65-F5344CB8AC3E}">
        <p14:creationId xmlns:p14="http://schemas.microsoft.com/office/powerpoint/2010/main" val="1699839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C79299-3A2E-4AE3-8765-52B486FB75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0ABCD6-B32A-472A-9BDE-CEDE95E8DDF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CONFIGURACIÓN 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5AAB0D-C708-476D-8A44-32CB57CD3EB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Security Defaults y Conditional Access no se combinan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25D9BB3-C28F-4662-8124-D71BAA42B82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D602-DB19-4750-B5B0-8B628D065D5C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2658B-AC47-4C8B-B25B-A092AD3C2D86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704850" y="1962150"/>
          <a:ext cx="10439400" cy="3257550"/>
        </p:xfrm>
        <a:graphic>
          <a:graphicData uri="http://schemas.openxmlformats.org/drawingml/2006/table">
            <a:tbl>
              <a:tblPr/>
              <a:tblGrid>
                <a:gridCol w="34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Criterio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Security Defaults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Conditional Access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Licencia típica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Entra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Entra P1/P2 o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Alcance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Todo el tenant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Granular y contextual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Métodos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Decididos por el servicio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Authentication strengths y controles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Exclusiones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EC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Uso recomendado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Inicio rápido / TI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Entornos con requisitos diferenciados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662E019-A854-45B1-8BDA-2B0543B5AA24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83B0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3B01"/>
                </a:solidFill>
                <a:latin typeface="Aptos"/>
                <a:ea typeface="Aptos"/>
                <a:cs typeface="Aptos"/>
              </a:rPr>
              <a:t>Transición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389A6-149B-41FD-B9B3-39B2C950443F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Deshabilitar Security Defaults antes de activar políticas de acceso condicional.</a:t>
            </a:r>
          </a:p>
        </p:txBody>
      </p:sp>
    </p:spTree>
    <p:extLst>
      <p:ext uri="{BB962C8B-B14F-4D97-AF65-F5344CB8AC3E}">
        <p14:creationId xmlns:p14="http://schemas.microsoft.com/office/powerpoint/2010/main" val="1399217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6949AE-A309-4F43-AFD2-232023271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4EDDC-5605-4DB9-9118-7DB451EE066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REGISTROS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F8BC9E-92A2-4448-B7B1-6B3ABDA7A5F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Los registros separan cuatro patrones de inicio de sesión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DE1BA2-40FF-4328-8C8F-409D658D3C86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87373-F1F3-4A0B-8416-DD00ABD22E80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D6E5E-C645-48A2-B527-76724E61D8E9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843572-0822-4D2B-92E0-76E2000DCC41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587FB-BAFE-4201-BD85-CA5566700386}"/>
              </a:ext>
            </a:extLst>
          </p:cNvPr>
          <p:cNvSpPr>
            <a:spLocks noGrp="1"/>
          </p:cNvSpPr>
          <p:nvPr/>
        </p:nvSpPr>
        <p:spPr>
          <a:xfrm>
            <a:off x="1371600" y="19526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INTERACTIVO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E2ED3-E62B-4B98-911E-9D1049AED0BC}"/>
              </a:ext>
            </a:extLst>
          </p:cNvPr>
          <p:cNvSpPr>
            <a:spLocks noGrp="1"/>
          </p:cNvSpPr>
          <p:nvPr/>
        </p:nvSpPr>
        <p:spPr>
          <a:xfrm>
            <a:off x="3848100" y="1952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El usuario aporta un factor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951ED-1169-44B5-9143-81FCFB6C6EEA}"/>
              </a:ext>
            </a:extLst>
          </p:cNvPr>
          <p:cNvSpPr>
            <a:spLocks noGrp="1"/>
          </p:cNvSpPr>
          <p:nvPr/>
        </p:nvSpPr>
        <p:spPr>
          <a:xfrm>
            <a:off x="7334250" y="19526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Contraseña · MFA · biometría · QR · federación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0E21B2F-6281-4B13-B695-6971A9ABD380}"/>
              </a:ext>
            </a:extLst>
          </p:cNvPr>
          <p:cNvSpPr>
            <a:spLocks noGrp="1"/>
          </p:cNvSpPr>
          <p:nvPr/>
        </p:nvSpPr>
        <p:spPr>
          <a:xfrm>
            <a:off x="1371600" y="25622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6BCD1-351E-4469-A97C-F9CC8058F345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C2C72-B43A-4C28-905C-EF3804906A30}"/>
              </a:ext>
            </a:extLst>
          </p:cNvPr>
          <p:cNvSpPr>
            <a:spLocks noGrp="1"/>
          </p:cNvSpPr>
          <p:nvPr/>
        </p:nvSpPr>
        <p:spPr>
          <a:xfrm>
            <a:off x="1371600" y="29051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NO INTERACTIVO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692841-E63A-41E0-8C85-5EF25C2597E8}"/>
              </a:ext>
            </a:extLst>
          </p:cNvPr>
          <p:cNvSpPr>
            <a:spLocks noGrp="1"/>
          </p:cNvSpPr>
          <p:nvPr/>
        </p:nvSpPr>
        <p:spPr>
          <a:xfrm>
            <a:off x="3848100" y="2905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 app renueva tokens en segundo plano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FC39C-5885-49C1-8A26-0F1E76AF57EE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Refresh token · SSO · FOCI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53C9004-C0C3-4156-95BD-94FB0E9E13FF}"/>
              </a:ext>
            </a:extLst>
          </p:cNvPr>
          <p:cNvSpPr>
            <a:spLocks noGrp="1"/>
          </p:cNvSpPr>
          <p:nvPr/>
        </p:nvSpPr>
        <p:spPr>
          <a:xfrm>
            <a:off x="1371600" y="35147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39750D-EA1C-4465-8EC0-51905CE2FBEB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61C661-C8D8-4779-AB84-8D77F5546933}"/>
              </a:ext>
            </a:extLst>
          </p:cNvPr>
          <p:cNvSpPr>
            <a:spLocks noGrp="1"/>
          </p:cNvSpPr>
          <p:nvPr/>
        </p:nvSpPr>
        <p:spPr>
          <a:xfrm>
            <a:off x="1371600" y="38576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SERVICE PRINCIPAL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7365E6-BFCD-405B-A516-DB75F2ACC9FE}"/>
              </a:ext>
            </a:extLst>
          </p:cNvPr>
          <p:cNvSpPr>
            <a:spLocks noGrp="1"/>
          </p:cNvSpPr>
          <p:nvPr/>
        </p:nvSpPr>
        <p:spPr>
          <a:xfrm>
            <a:off x="3848100" y="3857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 aplicación usa su propia credencial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094924-68AA-4337-B19D-16C1FED89A2C}"/>
              </a:ext>
            </a:extLst>
          </p:cNvPr>
          <p:cNvSpPr>
            <a:spLocks noGrp="1"/>
          </p:cNvSpPr>
          <p:nvPr/>
        </p:nvSpPr>
        <p:spPr>
          <a:xfrm>
            <a:off x="7334250" y="38576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Certificado o client secret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1E611AD-48EF-4313-BC21-E6DDC4AE6072}"/>
              </a:ext>
            </a:extLst>
          </p:cNvPr>
          <p:cNvSpPr>
            <a:spLocks noGrp="1"/>
          </p:cNvSpPr>
          <p:nvPr/>
        </p:nvSpPr>
        <p:spPr>
          <a:xfrm>
            <a:off x="1371600" y="44672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76EB06-59A7-4A52-A9D5-674E6456A140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19DEB8-06D5-45E4-821A-85BF50A17ED1}"/>
              </a:ext>
            </a:extLst>
          </p:cNvPr>
          <p:cNvSpPr>
            <a:spLocks noGrp="1"/>
          </p:cNvSpPr>
          <p:nvPr/>
        </p:nvSpPr>
        <p:spPr>
          <a:xfrm>
            <a:off x="1371600" y="48101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MANAGED IDENTITY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E76A0E-AE07-40E0-98C5-12B986BFDAA9}"/>
              </a:ext>
            </a:extLst>
          </p:cNvPr>
          <p:cNvSpPr>
            <a:spLocks noGrp="1"/>
          </p:cNvSpPr>
          <p:nvPr/>
        </p:nvSpPr>
        <p:spPr>
          <a:xfrm>
            <a:off x="3848100" y="4810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Azure gestiona la credencial del recurso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A719F5-24FD-40F7-A1A3-FE92C749B40A}"/>
              </a:ext>
            </a:extLst>
          </p:cNvPr>
          <p:cNvSpPr>
            <a:spLocks noGrp="1"/>
          </p:cNvSpPr>
          <p:nvPr/>
        </p:nvSpPr>
        <p:spPr>
          <a:xfrm>
            <a:off x="7334250" y="48101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VM u otro recurso solicita un token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AA64227-A8E3-4E66-BFC8-82B6521642AB}"/>
              </a:ext>
            </a:extLst>
          </p:cNvPr>
          <p:cNvSpPr>
            <a:spLocks noGrp="1"/>
          </p:cNvSpPr>
          <p:nvPr/>
        </p:nvSpPr>
        <p:spPr>
          <a:xfrm>
            <a:off x="1371600" y="5419725"/>
            <a:ext cx="9620250" cy="0"/>
          </a:xfrm>
          <a:prstGeom prst="line">
            <a:avLst/>
          </a:prstGeom>
          <a:noFill/>
          <a:ln w="9525">
            <a:solidFill>
              <a:srgbClr val="B8D7E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FDC34A-8BBB-45E4-8E98-13EEBFBA9A59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0287000" cy="342900"/>
          </a:xfrm>
          <a:prstGeom prst="rect">
            <a:avLst/>
          </a:prstGeom>
          <a:solidFill>
            <a:srgbClr val="D9EEF9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D6F562-7F8A-4750-8408-8C9CF267FAA9}"/>
              </a:ext>
            </a:extLst>
          </p:cNvPr>
          <p:cNvSpPr>
            <a:spLocks noGrp="1"/>
          </p:cNvSpPr>
          <p:nvPr/>
        </p:nvSpPr>
        <p:spPr>
          <a:xfrm>
            <a:off x="895350" y="5886450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Las entradas son generadas por el sistema y no se pueden modificar ni eliminar.</a:t>
            </a:r>
          </a:p>
        </p:txBody>
      </p:sp>
    </p:spTree>
    <p:extLst>
      <p:ext uri="{BB962C8B-B14F-4D97-AF65-F5344CB8AC3E}">
        <p14:creationId xmlns:p14="http://schemas.microsoft.com/office/powerpoint/2010/main" val="1811675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5E3A9A1-CC75-4579-B717-562147B85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68FB7-F085-4806-90FF-2F40D8D3ACE2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DIAGNÓSTICO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E7F44-5E06-4C10-BF7B-38DCB1D8171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Investigar fallos exige seguir identidad, cliente, recurso y decisión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C9A98E0-D6FE-47FB-BA3C-2F1001DAD5D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44895A-3727-4B76-B522-DF6761534D43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69659-4561-4B0D-AEA8-3D2F0FE170CF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E37A1-5531-45A0-A3D1-0F70F185E5D3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C2254-7487-45CD-9613-05AEB4175E12}"/>
              </a:ext>
            </a:extLst>
          </p:cNvPr>
          <p:cNvSpPr>
            <a:spLocks noGrp="1"/>
          </p:cNvSpPr>
          <p:nvPr/>
        </p:nvSpPr>
        <p:spPr>
          <a:xfrm>
            <a:off x="1295400" y="21336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QUIÉN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E117F06-FD02-44E7-9F97-B1F48ACDDC4C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23241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5B5067-D50D-482E-B289-465F6D8EAFCC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2333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Identidad, rol, tenant y tipo de inicio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857F2-8366-4396-BD59-3A4DD26AE734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5DF423-72C7-4418-8663-F9B1A56038E9}"/>
              </a:ext>
            </a:extLst>
          </p:cNvPr>
          <p:cNvSpPr>
            <a:spLocks noGrp="1"/>
          </p:cNvSpPr>
          <p:nvPr/>
        </p:nvSpPr>
        <p:spPr>
          <a:xfrm>
            <a:off x="4019550" y="21336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CÓMO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9D41C1F-4266-41CC-BA0E-B0C71F26DEE6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23241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2C1D44-6FD6-4D9A-8B3D-9080AB5CC509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2333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Aplicación, cliente, protocolo y método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2B8629-E74A-4A44-81D6-66D18946F674}"/>
              </a:ext>
            </a:extLst>
          </p:cNvPr>
          <p:cNvSpPr>
            <a:spLocks noGrp="1"/>
          </p:cNvSpPr>
          <p:nvPr/>
        </p:nvSpPr>
        <p:spPr>
          <a:xfrm>
            <a:off x="6153150" y="20383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DF771-84CC-44B2-84F5-02614E2F5865}"/>
              </a:ext>
            </a:extLst>
          </p:cNvPr>
          <p:cNvSpPr>
            <a:spLocks noGrp="1"/>
          </p:cNvSpPr>
          <p:nvPr/>
        </p:nvSpPr>
        <p:spPr>
          <a:xfrm>
            <a:off x="6743700" y="21336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QUÉ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1CD3B50-F364-495E-9033-2510F7D6D64B}"/>
              </a:ext>
            </a:extLst>
          </p:cNvPr>
          <p:cNvSpPr>
            <a:spLocks noGrp="1"/>
          </p:cNvSpPr>
          <p:nvPr/>
        </p:nvSpPr>
        <p:spPr>
          <a:xfrm>
            <a:off x="6153150" y="2686050"/>
            <a:ext cx="23241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6062B0-537D-4869-B3A2-F2028E63609D}"/>
              </a:ext>
            </a:extLst>
          </p:cNvPr>
          <p:cNvSpPr>
            <a:spLocks noGrp="1"/>
          </p:cNvSpPr>
          <p:nvPr/>
        </p:nvSpPr>
        <p:spPr>
          <a:xfrm>
            <a:off x="6153150" y="2952750"/>
            <a:ext cx="2333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Recurso solicitado y permisos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83CE58-BB90-4C9F-9069-056D4A435587}"/>
              </a:ext>
            </a:extLst>
          </p:cNvPr>
          <p:cNvSpPr>
            <a:spLocks noGrp="1"/>
          </p:cNvSpPr>
          <p:nvPr/>
        </p:nvSpPr>
        <p:spPr>
          <a:xfrm>
            <a:off x="8877300" y="20383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8AE03-7389-4B61-B454-F77A05E1D122}"/>
              </a:ext>
            </a:extLst>
          </p:cNvPr>
          <p:cNvSpPr>
            <a:spLocks noGrp="1"/>
          </p:cNvSpPr>
          <p:nvPr/>
        </p:nvSpPr>
        <p:spPr>
          <a:xfrm>
            <a:off x="9467850" y="21336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POR QUÉ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7BFD843-31D0-4E78-B8F8-1057AEB3B131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23241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5228F9-85DC-4360-8A14-2D8A83D8DF40}"/>
              </a:ext>
            </a:extLst>
          </p:cNvPr>
          <p:cNvSpPr>
            <a:spLocks noGrp="1"/>
          </p:cNvSpPr>
          <p:nvPr/>
        </p:nvSpPr>
        <p:spPr>
          <a:xfrm>
            <a:off x="8877300" y="2952750"/>
            <a:ext cx="2333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Estado, riesgo y resultado de acceso condicional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0A7FF2-69D9-4B00-8493-E6DFE29A69C2}"/>
              </a:ext>
            </a:extLst>
          </p:cNvPr>
          <p:cNvSpPr>
            <a:spLocks noGrp="1"/>
          </p:cNvSpPr>
          <p:nvPr/>
        </p:nvSpPr>
        <p:spPr>
          <a:xfrm>
            <a:off x="704850" y="43624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Tres registros complementarios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EC9901-A4C2-486A-8AE0-6EF6064FE601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3048000" cy="381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8DADDE-604B-46FA-9AA1-7C0EFC3E84FB}"/>
              </a:ext>
            </a:extLst>
          </p:cNvPr>
          <p:cNvSpPr>
            <a:spLocks noGrp="1"/>
          </p:cNvSpPr>
          <p:nvPr/>
        </p:nvSpPr>
        <p:spPr>
          <a:xfrm>
            <a:off x="704850" y="50292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Inicio de sesión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BE2876-DE4D-4F15-89CA-3E82ED5500FF}"/>
              </a:ext>
            </a:extLst>
          </p:cNvPr>
          <p:cNvSpPr>
            <a:spLocks noGrp="1"/>
          </p:cNvSpPr>
          <p:nvPr/>
        </p:nvSpPr>
        <p:spPr>
          <a:xfrm>
            <a:off x="704850" y="53911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Accesos y uso de recursos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248EBF-D415-458A-B4E3-8CAFC9601EF6}"/>
              </a:ext>
            </a:extLst>
          </p:cNvPr>
          <p:cNvSpPr>
            <a:spLocks noGrp="1"/>
          </p:cNvSpPr>
          <p:nvPr/>
        </p:nvSpPr>
        <p:spPr>
          <a:xfrm>
            <a:off x="4133850" y="4838700"/>
            <a:ext cx="3048000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79E5BD-F622-4F7F-8375-CC74192A1C6E}"/>
              </a:ext>
            </a:extLst>
          </p:cNvPr>
          <p:cNvSpPr>
            <a:spLocks noGrp="1"/>
          </p:cNvSpPr>
          <p:nvPr/>
        </p:nvSpPr>
        <p:spPr>
          <a:xfrm>
            <a:off x="4133850" y="50292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Auditoría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5E5CE-220D-43F7-8E34-168518D1EF89}"/>
              </a:ext>
            </a:extLst>
          </p:cNvPr>
          <p:cNvSpPr>
            <a:spLocks noGrp="1"/>
          </p:cNvSpPr>
          <p:nvPr/>
        </p:nvSpPr>
        <p:spPr>
          <a:xfrm>
            <a:off x="4133850" y="53911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Cambios en el tenant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4A33CB-CC8B-47A2-B42D-8CF448905565}"/>
              </a:ext>
            </a:extLst>
          </p:cNvPr>
          <p:cNvSpPr>
            <a:spLocks noGrp="1"/>
          </p:cNvSpPr>
          <p:nvPr/>
        </p:nvSpPr>
        <p:spPr>
          <a:xfrm>
            <a:off x="7562850" y="4838700"/>
            <a:ext cx="3048000" cy="38100"/>
          </a:xfrm>
          <a:prstGeom prst="rect">
            <a:avLst/>
          </a:prstGeom>
          <a:solidFill>
            <a:srgbClr val="00A4E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920A8C-3890-4570-90B7-B8C19FB1C982}"/>
              </a:ext>
            </a:extLst>
          </p:cNvPr>
          <p:cNvSpPr>
            <a:spLocks noGrp="1"/>
          </p:cNvSpPr>
          <p:nvPr/>
        </p:nvSpPr>
        <p:spPr>
          <a:xfrm>
            <a:off x="7562850" y="50292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Aprovisionamiento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64695-96DD-4C4E-8031-0CE8F1E5AF4F}"/>
              </a:ext>
            </a:extLst>
          </p:cNvPr>
          <p:cNvSpPr>
            <a:spLocks noGrp="1"/>
          </p:cNvSpPr>
          <p:nvPr/>
        </p:nvSpPr>
        <p:spPr>
          <a:xfrm>
            <a:off x="7562850" y="53911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Altas y sincronización de objetos</a:t>
            </a:r>
          </a:p>
        </p:txBody>
      </p:sp>
    </p:spTree>
    <p:extLst>
      <p:ext uri="{BB962C8B-B14F-4D97-AF65-F5344CB8AC3E}">
        <p14:creationId xmlns:p14="http://schemas.microsoft.com/office/powerpoint/2010/main" val="41896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8DB3DF5-46F2-4E3A-921C-8ACB6F52D3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69A5A2-A575-47FD-8A36-C9054484A84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5FC84-B222-4B25-96B9-91763FD832A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La implementación segura avanza por capas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1D31C72-8BCB-4537-BABD-C6F8715227C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49000" cy="0"/>
          </a:xfrm>
          <a:prstGeom prst="line">
            <a:avLst/>
          </a:prstGeom>
          <a:noFill/>
          <a:ln w="14288">
            <a:solidFill>
              <a:srgbClr val="B8D7E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A82CB1-1775-41D9-9345-30D15DDE2431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810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879"/>
                </a:solidFill>
                <a:latin typeface="Aptos"/>
                <a:ea typeface="Aptos"/>
                <a:cs typeface="Aptos"/>
              </a:rPr>
              <a:t>Microsoft Entra ID · Formación técnica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B1BBB-9F09-4712-8CF3-7B4C882DFE07}"/>
              </a:ext>
            </a:extLst>
          </p:cNvPr>
          <p:cNvSpPr>
            <a:spLocks noGrp="1"/>
          </p:cNvSpPr>
          <p:nvPr/>
        </p:nvSpPr>
        <p:spPr>
          <a:xfrm>
            <a:off x="1120140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B791E-DE44-48FB-847F-E86385F5B798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EB82A87-1945-446A-B1A2-B3B06869C25A}"/>
              </a:ext>
            </a:extLst>
          </p:cNvPr>
          <p:cNvSpPr>
            <a:spLocks noGrp="1"/>
          </p:cNvSpPr>
          <p:nvPr/>
        </p:nvSpPr>
        <p:spPr>
          <a:xfrm>
            <a:off x="1381125" y="1924050"/>
            <a:ext cx="9525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B6240-BB01-474E-9C84-EA43CE7DE581}"/>
              </a:ext>
            </a:extLst>
          </p:cNvPr>
          <p:cNvSpPr>
            <a:spLocks noGrp="1"/>
          </p:cNvSpPr>
          <p:nvPr/>
        </p:nvSpPr>
        <p:spPr>
          <a:xfrm>
            <a:off x="2552700" y="17907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2E30B-9069-4E9E-89D0-6A2C9989535C}"/>
              </a:ext>
            </a:extLst>
          </p:cNvPr>
          <p:cNvSpPr>
            <a:spLocks noGrp="1"/>
          </p:cNvSpPr>
          <p:nvPr/>
        </p:nvSpPr>
        <p:spPr>
          <a:xfrm>
            <a:off x="4210050" y="179070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Password Protection · Smart Lockout · cuentas de emergencia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DC315-C781-4C84-A038-590B7ED25DB4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5E01E08-378A-4A98-A37D-287F62B655FF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9525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BD76EC-054E-4CAF-A96A-CDC1280EE16E}"/>
              </a:ext>
            </a:extLst>
          </p:cNvPr>
          <p:cNvSpPr>
            <a:spLocks noGrp="1"/>
          </p:cNvSpPr>
          <p:nvPr/>
        </p:nvSpPr>
        <p:spPr>
          <a:xfrm>
            <a:off x="2552700" y="2533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1FE14-21EE-4024-B148-C56F0CAEF4ED}"/>
              </a:ext>
            </a:extLst>
          </p:cNvPr>
          <p:cNvSpPr>
            <a:spLocks noGrp="1"/>
          </p:cNvSpPr>
          <p:nvPr/>
        </p:nvSpPr>
        <p:spPr>
          <a:xfrm>
            <a:off x="4210050" y="25336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SSPR y writeback híbrido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8FAE00-4D3C-46E8-84D2-3CF2D5A0B10E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78D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81274E5-C51D-43DD-AC52-B897D23CC70E}"/>
              </a:ext>
            </a:extLst>
          </p:cNvPr>
          <p:cNvSpPr>
            <a:spLocks noGrp="1"/>
          </p:cNvSpPr>
          <p:nvPr/>
        </p:nvSpPr>
        <p:spPr>
          <a:xfrm>
            <a:off x="1381125" y="3409950"/>
            <a:ext cx="9525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97D249-A37E-454C-B56C-73D74D699CE1}"/>
              </a:ext>
            </a:extLst>
          </p:cNvPr>
          <p:cNvSpPr>
            <a:spLocks noGrp="1"/>
          </p:cNvSpPr>
          <p:nvPr/>
        </p:nvSpPr>
        <p:spPr>
          <a:xfrm>
            <a:off x="2552700" y="3276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FORTALECER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C3A7E-8BF1-490C-9910-D032E67895FD}"/>
              </a:ext>
            </a:extLst>
          </p:cNvPr>
          <p:cNvSpPr>
            <a:spLocks noGrp="1"/>
          </p:cNvSpPr>
          <p:nvPr/>
        </p:nvSpPr>
        <p:spPr>
          <a:xfrm>
            <a:off x="4210050" y="327660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MFA con acceso condicional y strengths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ECC576-6758-4869-9777-3BD8CFB7BB4D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323B66E1-A789-4872-8CC1-8962E83271B0}"/>
              </a:ext>
            </a:extLst>
          </p:cNvPr>
          <p:cNvSpPr>
            <a:spLocks noGrp="1"/>
          </p:cNvSpPr>
          <p:nvPr/>
        </p:nvSpPr>
        <p:spPr>
          <a:xfrm>
            <a:off x="1381125" y="4152900"/>
            <a:ext cx="9525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B41919-CCBC-47E1-862E-C22398DFE002}"/>
              </a:ext>
            </a:extLst>
          </p:cNvPr>
          <p:cNvSpPr>
            <a:spLocks noGrp="1"/>
          </p:cNvSpPr>
          <p:nvPr/>
        </p:nvSpPr>
        <p:spPr>
          <a:xfrm>
            <a:off x="2552700" y="40195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ELIMINAR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E12B5E-2DC2-49C5-97CA-94845D577F4E}"/>
              </a:ext>
            </a:extLst>
          </p:cNvPr>
          <p:cNvSpPr>
            <a:spLocks noGrp="1"/>
          </p:cNvSpPr>
          <p:nvPr/>
        </p:nvSpPr>
        <p:spPr>
          <a:xfrm>
            <a:off x="4210050" y="40195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Passwordless y bloqueo de autenticación heredada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C62E53-C0F9-4924-933C-18002A090371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A4E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2EBB4C4-CFE4-412A-A684-C34339E0CC06}"/>
              </a:ext>
            </a:extLst>
          </p:cNvPr>
          <p:cNvSpPr>
            <a:spLocks noGrp="1"/>
          </p:cNvSpPr>
          <p:nvPr/>
        </p:nvSpPr>
        <p:spPr>
          <a:xfrm>
            <a:off x="1381125" y="4895850"/>
            <a:ext cx="952500" cy="0"/>
          </a:xfrm>
          <a:prstGeom prst="line">
            <a:avLst/>
          </a:prstGeom>
          <a:noFill/>
          <a:ln w="38100">
            <a:solidFill>
              <a:srgbClr val="00A4E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84B652-F88E-4FE1-81EE-7DB974976DE0}"/>
              </a:ext>
            </a:extLst>
          </p:cNvPr>
          <p:cNvSpPr>
            <a:spLocks noGrp="1"/>
          </p:cNvSpPr>
          <p:nvPr/>
        </p:nvSpPr>
        <p:spPr>
          <a:xfrm>
            <a:off x="2552700" y="4762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5368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879"/>
                </a:solidFill>
                <a:latin typeface="Aptos"/>
                <a:ea typeface="Aptos"/>
                <a:cs typeface="Aptos"/>
              </a:rPr>
              <a:t>OPERAR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97266-5895-4B43-B792-290F7CD639FB}"/>
              </a:ext>
            </a:extLst>
          </p:cNvPr>
          <p:cNvSpPr>
            <a:spLocks noGrp="1"/>
          </p:cNvSpPr>
          <p:nvPr/>
        </p:nvSpPr>
        <p:spPr>
          <a:xfrm>
            <a:off x="4210050" y="476250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Registros, report-only y mejora continua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6C39C7-1562-487D-94DD-8E38E8DD82CD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172700" cy="400050"/>
          </a:xfrm>
          <a:prstGeom prst="rect">
            <a:avLst/>
          </a:prstGeom>
          <a:solidFill>
            <a:srgbClr val="0078D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FA367E-9865-4AF9-B331-C123AEB860F5}"/>
              </a:ext>
            </a:extLst>
          </p:cNvPr>
          <p:cNvSpPr>
            <a:spLocks noGrp="1"/>
          </p:cNvSpPr>
          <p:nvPr/>
        </p:nvSpPr>
        <p:spPr>
          <a:xfrm>
            <a:off x="914400" y="5753100"/>
            <a:ext cx="9763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Principio final: acceso mínimo, autenticación fuerte y evidencia siempre disponible.</a:t>
            </a:r>
          </a:p>
        </p:txBody>
      </p:sp>
    </p:spTree>
    <p:extLst>
      <p:ext uri="{BB962C8B-B14F-4D97-AF65-F5344CB8AC3E}">
        <p14:creationId xmlns:p14="http://schemas.microsoft.com/office/powerpoint/2010/main" val="10519005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2026-08-27T02:29:33Z</dcterms:modified>
</cp:coreProperties>
</file>
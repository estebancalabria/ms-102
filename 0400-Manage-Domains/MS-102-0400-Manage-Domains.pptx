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BB8C66-ED22-24D9-42A5-38255374B628}" v="3" dt="2026-08-25T17:59:52.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5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60000"/>
          </a:blip>
          <a:srcRect l="29318" r="29318"/>
          <a:stretch/>
        </p:blipFill>
        <p:spPr>
          <a:xfrm>
            <a:off x="4754880" y="0"/>
            <a:ext cx="4389120" cy="5143500"/>
          </a:xfrm>
          <a:prstGeom prst="rect">
            <a:avLst/>
          </a:prstGeom>
        </p:spPr>
      </p:pic>
      <p:sp>
        <p:nvSpPr>
          <p:cNvPr id="3"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B7C3"/>
          </a:solidFill>
          <a:ln w="12700">
            <a:solidFill>
              <a:srgbClr val="333333"/>
            </a:solidFill>
            <a:prstDash val="solid"/>
          </a:ln>
        </p:spPr>
      </p:sp>
      <p:sp>
        <p:nvSpPr>
          <p:cNvPr id="4" name="Text 1"/>
          <p:cNvSpPr/>
          <p:nvPr/>
        </p:nvSpPr>
        <p:spPr>
          <a:xfrm>
            <a:off x="640080" y="1234440"/>
            <a:ext cx="4206240" cy="274320"/>
          </a:xfrm>
          <a:prstGeom prst="rect">
            <a:avLst/>
          </a:prstGeom>
          <a:noFill/>
          <a:ln/>
        </p:spPr>
        <p:txBody>
          <a:bodyPr wrap="square" lIns="0" tIns="0" rIns="0" bIns="0" rtlCol="0" anchor="ctr"/>
          <a:lstStyle/>
          <a:p>
            <a:pPr marL="0" indent="0">
              <a:buNone/>
            </a:pPr>
            <a:r>
              <a:rPr lang="en-US" sz="1100" b="1" kern="0" spc="250" dirty="0">
                <a:solidFill>
                  <a:srgbClr val="00B7C3"/>
                </a:solidFill>
                <a:latin typeface="Segoe UI" pitchFamily="34" charset="0"/>
                <a:ea typeface="Segoe UI" pitchFamily="34" charset="-122"/>
                <a:cs typeface="Segoe UI" pitchFamily="34" charset="-120"/>
              </a:rPr>
              <a:t>MICROSOFT 365 · MÓDULO DE CAPACITACIÓN</a:t>
            </a:r>
            <a:endParaRPr lang="en-US" sz="1100" dirty="0"/>
          </a:p>
        </p:txBody>
      </p:sp>
      <p:sp>
        <p:nvSpPr>
          <p:cNvPr id="5" name="Text 2"/>
          <p:cNvSpPr/>
          <p:nvPr/>
        </p:nvSpPr>
        <p:spPr>
          <a:xfrm>
            <a:off x="640080" y="1572768"/>
            <a:ext cx="4206240" cy="1554480"/>
          </a:xfrm>
          <a:prstGeom prst="rect">
            <a:avLst/>
          </a:prstGeom>
          <a:noFill/>
          <a:ln/>
        </p:spPr>
        <p:txBody>
          <a:bodyPr wrap="square" lIns="0" tIns="0" rIns="0" bIns="0"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Dominios personalizados en Microsoft 365</a:t>
            </a:r>
            <a:endParaRPr lang="en-US" sz="3200" dirty="0"/>
          </a:p>
        </p:txBody>
      </p:sp>
      <p:sp>
        <p:nvSpPr>
          <p:cNvPr id="6" name="Text 3"/>
          <p:cNvSpPr/>
          <p:nvPr/>
        </p:nvSpPr>
        <p:spPr>
          <a:xfrm>
            <a:off x="640080" y="3154680"/>
            <a:ext cx="4114800" cy="822960"/>
          </a:xfrm>
          <a:prstGeom prst="rect">
            <a:avLst/>
          </a:prstGeom>
          <a:noFill/>
          <a:ln/>
        </p:spPr>
        <p:txBody>
          <a:bodyPr wrap="square" lIns="0" tIns="0" rIns="0" bIns="0" rtlCol="0" anchor="ctr"/>
          <a:lstStyle/>
          <a:p>
            <a:pPr marL="0" indent="0">
              <a:buNone/>
            </a:pPr>
            <a:r>
              <a:rPr lang="en-US" sz="1250" dirty="0">
                <a:solidFill>
                  <a:srgbClr val="BBD2E8"/>
                </a:solidFill>
                <a:latin typeface="Segoe UI" pitchFamily="34" charset="0"/>
                <a:ea typeface="Segoe UI" pitchFamily="34" charset="-122"/>
                <a:cs typeface="Segoe UI" pitchFamily="34" charset="-120"/>
              </a:rPr>
              <a:t>Planificación de dominios y zonas DNS, requisitos de registros y pasos de configuración</a:t>
            </a:r>
            <a:endParaRPr lang="en-US" sz="1250" dirty="0"/>
          </a:p>
        </p:txBody>
      </p:sp>
      <p:sp>
        <p:nvSpPr>
          <p:cNvPr id="7" name="Regla de acento">
            <a:extLst>
              <a:ext uri="{C183D7F6-B498-43B3-948B-1728B52AA6E4}">
                <adec:decorative xmlns:adec="http://schemas.microsoft.com/office/drawing/2017/decorative" val="1"/>
              </a:ext>
            </a:extLst>
          </p:cNvPr>
          <p:cNvSpPr/>
          <p:nvPr/>
        </p:nvSpPr>
        <p:spPr>
          <a:xfrm>
            <a:off x="640080" y="4069080"/>
            <a:ext cx="1097280" cy="41148"/>
          </a:xfrm>
          <a:prstGeom prst="rect">
            <a:avLst/>
          </a:prstGeom>
          <a:solidFill>
            <a:srgbClr val="00B7C3"/>
          </a:solidFill>
          <a:ln w="12700">
            <a:solidFill>
              <a:srgbClr val="333333"/>
            </a:solidFill>
            <a:prstDash val="solid"/>
          </a:ln>
        </p:spPr>
      </p:sp>
      <p:sp>
        <p:nvSpPr>
          <p:cNvPr id="8"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9" name="Text 6"/>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a:t>
            </a:r>
            <a:endParaRPr lang="en-US" sz="900" dirty="0"/>
          </a:p>
        </p:txBody>
      </p:sp>
      <p:sp>
        <p:nvSpPr>
          <p:cNvPr id="10" name="Text 7"/>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CONTEXTO</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Introducción al módulo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71600"/>
            <a:ext cx="8138160" cy="3131820"/>
          </a:xfrm>
          <a:prstGeom prst="rect">
            <a:avLst/>
          </a:prstGeom>
          <a:noFill/>
          <a:ln/>
        </p:spPr>
        <p:txBody>
          <a:bodyPr wrap="square" rtlCol="0" anchor="t"/>
          <a:lstStyle/>
          <a:p>
            <a:pPr marL="342900" indent="-342900">
              <a:spcAft>
                <a:spcPts val="700"/>
              </a:spcAft>
              <a:buSzPct val="100000"/>
              <a:buChar char="•"/>
            </a:pPr>
            <a:r>
              <a:rPr lang="en-US" sz="1400" b="1" dirty="0">
                <a:solidFill>
                  <a:srgbClr val="1B1B1F"/>
                </a:solidFill>
                <a:latin typeface="Segoe UI" pitchFamily="34" charset="0"/>
                <a:ea typeface="Segoe UI" pitchFamily="34" charset="-122"/>
                <a:cs typeface="Segoe UI" pitchFamily="34" charset="-120"/>
              </a:rPr>
              <a:t>Cómo una organización implementa sus servicios de dominio en Microsoft 365, con foco en agregar dominios personalizados.</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Una organización puede necesitar varios nombres de dominio para distintos propósitos, por ejemplo una escritura alternativa que los clientes ya utilizan.</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Los dominios personalizados permiten usar la identidad de marca propia en correos y cuentas, y que los clientes verifiquen quién les escribe (por ejemplo, @contoso.com).</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Se examinan las consideraciones de planificación de un nuevo dominio, incluidos los requisitos de DNS.</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Se revisan los pasos y factores para agregar y configurar el dominio: planificación de zonas DNS y de los registros DNS requeridos.</a:t>
            </a:r>
            <a:endParaRPr lang="en-US" sz="1400" dirty="0"/>
          </a:p>
        </p:txBody>
      </p:sp>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6"/>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a:t>
            </a:r>
            <a:endParaRPr lang="en-US" sz="900" dirty="0"/>
          </a:p>
        </p:txBody>
      </p:sp>
      <p:sp>
        <p:nvSpPr>
          <p:cNvPr id="9" name="Text 7"/>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AGENDA</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Recorrido del módulo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2563368" cy="14973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497330"/>
          </a:xfrm>
          <a:prstGeom prst="rect">
            <a:avLst/>
          </a:prstGeom>
          <a:solidFill>
            <a:srgbClr val="00B7C3"/>
          </a:solidFill>
          <a:ln w="12700">
            <a:solidFill>
              <a:srgbClr val="333333"/>
            </a:solidFill>
            <a:prstDash val="solid"/>
          </a:ln>
        </p:spPr>
      </p:sp>
      <p:sp>
        <p:nvSpPr>
          <p:cNvPr id="8" name="Text 6"/>
          <p:cNvSpPr/>
          <p:nvPr/>
        </p:nvSpPr>
        <p:spPr>
          <a:xfrm>
            <a:off x="731520" y="148132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1. Planificar el dominio</a:t>
            </a:r>
            <a:endParaRPr lang="en-US" sz="1250" dirty="0"/>
          </a:p>
        </p:txBody>
      </p:sp>
      <p:sp>
        <p:nvSpPr>
          <p:cNvPr id="9" name="Text 7"/>
          <p:cNvSpPr/>
          <p:nvPr/>
        </p:nvSpPr>
        <p:spPr>
          <a:xfrm>
            <a:off x="731520" y="176879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Factores a considerar antes de agregar dominios personalizados al tenant.</a:t>
            </a:r>
            <a:endParaRPr lang="en-US" sz="1050" dirty="0"/>
          </a:p>
        </p:txBody>
      </p:sp>
      <p:sp>
        <p:nvSpPr>
          <p:cNvPr id="10" name="Tarjeta">
            <a:extLst>
              <a:ext uri="{C183D7F6-B498-43B3-948B-1728B52AA6E4}">
                <adec:decorative xmlns:adec="http://schemas.microsoft.com/office/drawing/2017/decorative" val="1"/>
              </a:ext>
            </a:extLst>
          </p:cNvPr>
          <p:cNvSpPr/>
          <p:nvPr/>
        </p:nvSpPr>
        <p:spPr>
          <a:xfrm>
            <a:off x="3313176" y="1371600"/>
            <a:ext cx="2563368" cy="14973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3313176" y="1371600"/>
            <a:ext cx="54864" cy="1497330"/>
          </a:xfrm>
          <a:prstGeom prst="rect">
            <a:avLst/>
          </a:prstGeom>
          <a:solidFill>
            <a:srgbClr val="00B7C3"/>
          </a:solidFill>
          <a:ln w="12700">
            <a:solidFill>
              <a:srgbClr val="333333"/>
            </a:solidFill>
            <a:prstDash val="solid"/>
          </a:ln>
        </p:spPr>
      </p:sp>
      <p:sp>
        <p:nvSpPr>
          <p:cNvPr id="12" name="Text 10"/>
          <p:cNvSpPr/>
          <p:nvPr/>
        </p:nvSpPr>
        <p:spPr>
          <a:xfrm>
            <a:off x="3496056" y="148132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2. Planificar zonas DNS</a:t>
            </a:r>
            <a:endParaRPr lang="en-US" sz="1250" dirty="0"/>
          </a:p>
        </p:txBody>
      </p:sp>
      <p:sp>
        <p:nvSpPr>
          <p:cNvPr id="13" name="Text 11"/>
          <p:cNvSpPr/>
          <p:nvPr/>
        </p:nvSpPr>
        <p:spPr>
          <a:xfrm>
            <a:off x="3496056" y="176879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Zona pública, escenarios híbridos, split DNS y traslado completo a la nube.</a:t>
            </a:r>
            <a:endParaRPr lang="en-US" sz="1050" dirty="0"/>
          </a:p>
        </p:txBody>
      </p:sp>
      <p:sp>
        <p:nvSpPr>
          <p:cNvPr id="14" name="Tarjeta">
            <a:extLst>
              <a:ext uri="{C183D7F6-B498-43B3-948B-1728B52AA6E4}">
                <adec:decorative xmlns:adec="http://schemas.microsoft.com/office/drawing/2017/decorative" val="1"/>
              </a:ext>
            </a:extLst>
          </p:cNvPr>
          <p:cNvSpPr/>
          <p:nvPr/>
        </p:nvSpPr>
        <p:spPr>
          <a:xfrm>
            <a:off x="6077712" y="1371600"/>
            <a:ext cx="2563368" cy="14973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6077712" y="1371600"/>
            <a:ext cx="54864" cy="1497330"/>
          </a:xfrm>
          <a:prstGeom prst="rect">
            <a:avLst/>
          </a:prstGeom>
          <a:solidFill>
            <a:srgbClr val="00B7C3"/>
          </a:solidFill>
          <a:ln w="12700">
            <a:solidFill>
              <a:srgbClr val="333333"/>
            </a:solidFill>
            <a:prstDash val="solid"/>
          </a:ln>
        </p:spPr>
      </p:sp>
      <p:sp>
        <p:nvSpPr>
          <p:cNvPr id="16" name="Text 14"/>
          <p:cNvSpPr/>
          <p:nvPr/>
        </p:nvSpPr>
        <p:spPr>
          <a:xfrm>
            <a:off x="6260592" y="148132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3. Registros DNS</a:t>
            </a:r>
            <a:endParaRPr lang="en-US" sz="1250" dirty="0"/>
          </a:p>
        </p:txBody>
      </p:sp>
      <p:sp>
        <p:nvSpPr>
          <p:cNvPr id="17" name="Text 15"/>
          <p:cNvSpPr/>
          <p:nvPr/>
        </p:nvSpPr>
        <p:spPr>
          <a:xfrm>
            <a:off x="6260592" y="176879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TXT, CNAME, MX, SRV y SPF requeridos por cada servicio de Microsoft 365.</a:t>
            </a:r>
            <a:endParaRPr lang="en-US" sz="1050" dirty="0"/>
          </a:p>
        </p:txBody>
      </p:sp>
      <p:sp>
        <p:nvSpPr>
          <p:cNvPr id="18" name="Tarjeta">
            <a:extLst>
              <a:ext uri="{C183D7F6-B498-43B3-948B-1728B52AA6E4}">
                <adec:decorative xmlns:adec="http://schemas.microsoft.com/office/drawing/2017/decorative" val="1"/>
              </a:ext>
            </a:extLst>
          </p:cNvPr>
          <p:cNvSpPr/>
          <p:nvPr/>
        </p:nvSpPr>
        <p:spPr>
          <a:xfrm>
            <a:off x="548640" y="3051810"/>
            <a:ext cx="2563368" cy="14973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548640" y="3051810"/>
            <a:ext cx="54864" cy="1497330"/>
          </a:xfrm>
          <a:prstGeom prst="rect">
            <a:avLst/>
          </a:prstGeom>
          <a:solidFill>
            <a:srgbClr val="00B7C3"/>
          </a:solidFill>
          <a:ln w="12700">
            <a:solidFill>
              <a:srgbClr val="333333"/>
            </a:solidFill>
            <a:prstDash val="solid"/>
          </a:ln>
        </p:spPr>
      </p:sp>
      <p:sp>
        <p:nvSpPr>
          <p:cNvPr id="20" name="Text 18"/>
          <p:cNvSpPr/>
          <p:nvPr/>
        </p:nvSpPr>
        <p:spPr>
          <a:xfrm>
            <a:off x="731520" y="316153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4. Crear el dominio</a:t>
            </a:r>
            <a:endParaRPr lang="en-US" sz="1250" dirty="0"/>
          </a:p>
        </p:txBody>
      </p:sp>
      <p:sp>
        <p:nvSpPr>
          <p:cNvPr id="21" name="Text 19"/>
          <p:cNvSpPr/>
          <p:nvPr/>
        </p:nvSpPr>
        <p:spPr>
          <a:xfrm>
            <a:off x="731520" y="344900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Verificación de propiedad y acceso administrativo al DNS.</a:t>
            </a:r>
            <a:endParaRPr lang="en-US" sz="1050" dirty="0"/>
          </a:p>
        </p:txBody>
      </p:sp>
      <p:sp>
        <p:nvSpPr>
          <p:cNvPr id="22" name="Tarjeta">
            <a:extLst>
              <a:ext uri="{C183D7F6-B498-43B3-948B-1728B52AA6E4}">
                <adec:decorative xmlns:adec="http://schemas.microsoft.com/office/drawing/2017/decorative" val="1"/>
              </a:ext>
            </a:extLst>
          </p:cNvPr>
          <p:cNvSpPr/>
          <p:nvPr/>
        </p:nvSpPr>
        <p:spPr>
          <a:xfrm>
            <a:off x="3313176" y="3051810"/>
            <a:ext cx="2563368" cy="1497330"/>
          </a:xfrm>
          <a:prstGeom prst="rect">
            <a:avLst/>
          </a:prstGeom>
          <a:solidFill>
            <a:srgbClr val="EDF2F8"/>
          </a:solidFill>
          <a:ln w="12700">
            <a:solidFill>
              <a:srgbClr val="333333"/>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3313176" y="3051810"/>
            <a:ext cx="54864" cy="1497330"/>
          </a:xfrm>
          <a:prstGeom prst="rect">
            <a:avLst/>
          </a:prstGeom>
          <a:solidFill>
            <a:srgbClr val="00B7C3"/>
          </a:solidFill>
          <a:ln w="12700">
            <a:solidFill>
              <a:srgbClr val="333333"/>
            </a:solidFill>
            <a:prstDash val="solid"/>
          </a:ln>
        </p:spPr>
      </p:sp>
      <p:sp>
        <p:nvSpPr>
          <p:cNvPr id="24" name="Text 22"/>
          <p:cNvSpPr/>
          <p:nvPr/>
        </p:nvSpPr>
        <p:spPr>
          <a:xfrm>
            <a:off x="3496056" y="316153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5. Paso 1: verificar</a:t>
            </a:r>
            <a:endParaRPr lang="en-US" sz="1250" dirty="0"/>
          </a:p>
        </p:txBody>
      </p:sp>
      <p:sp>
        <p:nvSpPr>
          <p:cNvPr id="25" name="Text 23"/>
          <p:cNvSpPr/>
          <p:nvPr/>
        </p:nvSpPr>
        <p:spPr>
          <a:xfrm>
            <a:off x="3496056" y="344900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Agregar un registro TXT (recomendado) o MX para demostrar la propiedad.</a:t>
            </a:r>
            <a:endParaRPr lang="en-US" sz="1050" dirty="0"/>
          </a:p>
        </p:txBody>
      </p:sp>
      <p:sp>
        <p:nvSpPr>
          <p:cNvPr id="26" name="Tarjeta">
            <a:extLst>
              <a:ext uri="{C183D7F6-B498-43B3-948B-1728B52AA6E4}">
                <adec:decorative xmlns:adec="http://schemas.microsoft.com/office/drawing/2017/decorative" val="1"/>
              </a:ext>
            </a:extLst>
          </p:cNvPr>
          <p:cNvSpPr/>
          <p:nvPr/>
        </p:nvSpPr>
        <p:spPr>
          <a:xfrm>
            <a:off x="6077712" y="3051810"/>
            <a:ext cx="2563368" cy="1497330"/>
          </a:xfrm>
          <a:prstGeom prst="rect">
            <a:avLst/>
          </a:prstGeom>
          <a:solidFill>
            <a:srgbClr val="EDF2F8"/>
          </a:solidFill>
          <a:ln w="12700">
            <a:solidFill>
              <a:srgbClr val="333333"/>
            </a:solidFill>
            <a:prstDash val="solid"/>
          </a:ln>
        </p:spPr>
      </p:sp>
      <p:sp>
        <p:nvSpPr>
          <p:cNvPr id="27" name="Acento de tarjeta">
            <a:extLst>
              <a:ext uri="{C183D7F6-B498-43B3-948B-1728B52AA6E4}">
                <adec:decorative xmlns:adec="http://schemas.microsoft.com/office/drawing/2017/decorative" val="1"/>
              </a:ext>
            </a:extLst>
          </p:cNvPr>
          <p:cNvSpPr/>
          <p:nvPr/>
        </p:nvSpPr>
        <p:spPr>
          <a:xfrm>
            <a:off x="6077712" y="3051810"/>
            <a:ext cx="54864" cy="1497330"/>
          </a:xfrm>
          <a:prstGeom prst="rect">
            <a:avLst/>
          </a:prstGeom>
          <a:solidFill>
            <a:srgbClr val="00B7C3"/>
          </a:solidFill>
          <a:ln w="12700">
            <a:solidFill>
              <a:srgbClr val="333333"/>
            </a:solidFill>
            <a:prstDash val="solid"/>
          </a:ln>
        </p:spPr>
      </p:sp>
      <p:sp>
        <p:nvSpPr>
          <p:cNvPr id="28" name="Text 26"/>
          <p:cNvSpPr/>
          <p:nvPr/>
        </p:nvSpPr>
        <p:spPr>
          <a:xfrm>
            <a:off x="6260592" y="316153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6. Paso 2: conectar</a:t>
            </a:r>
            <a:endParaRPr lang="en-US" sz="1250" dirty="0"/>
          </a:p>
        </p:txBody>
      </p:sp>
      <p:sp>
        <p:nvSpPr>
          <p:cNvPr id="29" name="Text 27"/>
          <p:cNvSpPr/>
          <p:nvPr/>
        </p:nvSpPr>
        <p:spPr>
          <a:xfrm>
            <a:off x="6260592" y="344900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Registros MX, CNAME, SPF y SRV para habilitar los servicios.</a:t>
            </a:r>
            <a:endParaRPr lang="en-US" sz="1050" dirty="0"/>
          </a:p>
        </p:txBody>
      </p:sp>
      <p:sp>
        <p:nvSpPr>
          <p:cNvPr id="30"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1" name="Text 29"/>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3</a:t>
            </a:r>
            <a:endParaRPr lang="en-US" sz="900" dirty="0"/>
          </a:p>
        </p:txBody>
      </p:sp>
      <p:sp>
        <p:nvSpPr>
          <p:cNvPr id="32" name="Text 30"/>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E5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55000"/>
          </a:blip>
          <a:srcRect l="30180" r="30180"/>
          <a:stretch/>
        </p:blipFill>
        <p:spPr>
          <a:xfrm>
            <a:off x="4937760" y="0"/>
            <a:ext cx="4206240" cy="5143500"/>
          </a:xfrm>
          <a:prstGeom prst="rect">
            <a:avLst/>
          </a:prstGeom>
        </p:spPr>
      </p:pic>
      <p:sp>
        <p:nvSpPr>
          <p:cNvPr id="3" name="Separador">
            <a:extLst>
              <a:ext uri="{C183D7F6-B498-43B3-948B-1728B52AA6E4}">
                <adec:decorative xmlns:adec="http://schemas.microsoft.com/office/drawing/2017/decorative" val="1"/>
              </a:ext>
            </a:extLst>
          </p:cNvPr>
          <p:cNvSpPr/>
          <p:nvPr/>
        </p:nvSpPr>
        <p:spPr>
          <a:xfrm>
            <a:off x="4937760" y="0"/>
            <a:ext cx="18288" cy="5143500"/>
          </a:xfrm>
          <a:prstGeom prst="rect">
            <a:avLst/>
          </a:prstGeom>
          <a:solidFill>
            <a:srgbClr val="00B7C3"/>
          </a:solidFill>
          <a:ln w="12700">
            <a:solidFill>
              <a:srgbClr val="333333"/>
            </a:solidFill>
            <a:prstDash val="solid"/>
          </a:ln>
        </p:spPr>
      </p:sp>
      <p:sp>
        <p:nvSpPr>
          <p:cNvPr id="4" name="Text 1"/>
          <p:cNvSpPr/>
          <p:nvPr/>
        </p:nvSpPr>
        <p:spPr>
          <a:xfrm>
            <a:off x="640080" y="1874520"/>
            <a:ext cx="4023360" cy="274320"/>
          </a:xfrm>
          <a:prstGeom prst="rect">
            <a:avLst/>
          </a:prstGeom>
          <a:noFill/>
          <a:ln/>
        </p:spPr>
        <p:txBody>
          <a:bodyPr wrap="square" lIns="0" tIns="0" rIns="0" bIns="0" rtlCol="0" anchor="ctr"/>
          <a:lstStyle/>
          <a:p>
            <a:pPr marL="0" indent="0">
              <a:buNone/>
            </a:pPr>
            <a:r>
              <a:rPr lang="en-US" sz="1100" b="1" kern="0" spc="250" dirty="0">
                <a:solidFill>
                  <a:srgbClr val="00B7C3"/>
                </a:solidFill>
                <a:latin typeface="Segoe UI" pitchFamily="34" charset="0"/>
                <a:ea typeface="Segoe UI" pitchFamily="34" charset="-122"/>
                <a:cs typeface="Segoe UI" pitchFamily="34" charset="-120"/>
              </a:rPr>
              <a:t>UNIDAD 1</a:t>
            </a:r>
            <a:endParaRPr lang="en-US" sz="1100" dirty="0"/>
          </a:p>
        </p:txBody>
      </p:sp>
      <p:sp>
        <p:nvSpPr>
          <p:cNvPr id="5" name="Text 2"/>
          <p:cNvSpPr/>
          <p:nvPr/>
        </p:nvSpPr>
        <p:spPr>
          <a:xfrm>
            <a:off x="640080" y="2176272"/>
            <a:ext cx="4114800" cy="1005840"/>
          </a:xfrm>
          <a:prstGeom prst="rect">
            <a:avLst/>
          </a:prstGeom>
          <a:noFill/>
          <a:ln/>
        </p:spPr>
        <p:txBody>
          <a:bodyPr wrap="square" lIns="0" tIns="0" rIns="0" bIns="0" rtlCol="0" anchor="ctr"/>
          <a:lstStyle/>
          <a:p>
            <a:pPr marL="0" indent="0">
              <a:buNone/>
            </a:pPr>
            <a:r>
              <a:rPr lang="en-US" sz="3000" b="1" dirty="0">
                <a:solidFill>
                  <a:srgbClr val="FFFFFF"/>
                </a:solidFill>
                <a:latin typeface="Segoe UI" pitchFamily="34" charset="0"/>
                <a:ea typeface="Segoe UI" pitchFamily="34" charset="-122"/>
                <a:cs typeface="Segoe UI" pitchFamily="34" charset="-120"/>
              </a:rPr>
              <a:t>Planificar un dominio personalizado</a:t>
            </a:r>
            <a:endParaRPr lang="en-US" sz="3000" dirty="0"/>
          </a:p>
        </p:txBody>
      </p:sp>
      <p:sp>
        <p:nvSpPr>
          <p:cNvPr id="6" name="Text 3"/>
          <p:cNvSpPr/>
          <p:nvPr/>
        </p:nvSpPr>
        <p:spPr>
          <a:xfrm>
            <a:off x="640080" y="3200400"/>
            <a:ext cx="4023360" cy="731520"/>
          </a:xfrm>
          <a:prstGeom prst="rect">
            <a:avLst/>
          </a:prstGeom>
          <a:noFill/>
          <a:ln/>
        </p:spPr>
        <p:txBody>
          <a:bodyPr wrap="square" lIns="0" tIns="0" rIns="0" bIns="0" rtlCol="0" anchor="ctr"/>
          <a:lstStyle/>
          <a:p>
            <a:pPr marL="0" indent="0">
              <a:buNone/>
            </a:pPr>
            <a:r>
              <a:rPr lang="en-US" sz="1200" dirty="0">
                <a:solidFill>
                  <a:srgbClr val="BBD2E8"/>
                </a:solidFill>
                <a:latin typeface="Segoe UI" pitchFamily="34" charset="0"/>
                <a:ea typeface="Segoe UI" pitchFamily="34" charset="-122"/>
                <a:cs typeface="Segoe UI" pitchFamily="34" charset="-120"/>
              </a:rPr>
              <a:t>Factores que varían según la suscripción de Microsoft 365 seleccionada</a:t>
            </a:r>
            <a:endParaRPr lang="en-US" sz="1200" dirty="0"/>
          </a:p>
        </p:txBody>
      </p:sp>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4</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PLANIFICACIÓN</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Factores de planificación (1 de 2)</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92440" cy="2950464"/>
        </p:xfrm>
        <a:graphic>
          <a:graphicData uri="http://schemas.openxmlformats.org/drawingml/2006/table">
            <a:tbl>
              <a:tblPr/>
              <a:tblGrid>
                <a:gridCol w="192024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585216">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Factor</a:t>
                      </a:r>
                      <a:endParaRPr lang="en-US" sz="11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Consideraciones</a:t>
                      </a:r>
                      <a:endParaRPr lang="en-US" sz="11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extLst>
                  <a:ext uri="{0D108BD9-81ED-4DB2-BD59-A6C34878D82A}">
                    <a16:rowId xmlns:a16="http://schemas.microsoft.com/office/drawing/2014/main" val="10000"/>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Multiple domains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Planificar el dominio principal en uso (por ejemplo, adatum.com) y todo otro dominio usado para correo dentro de la organización. Común en grupos empresariales y en fusiones donde algunos empleados conservan direcciones alternativas.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1"/>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Subdomains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Los planes Business Premium y Enterprise permiten agregar subdominios bajo el dominio raíz. Ejemplo: sales.adatum.com dentro de adatum.com.</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Domain numbers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Se pueden registrar hasta 900 dominios con Microsoft 365.</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3"/>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Domain adding order</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Los dominios raíz deben agregarse antes que los subdominios: adatum.com antes de sales.adatum.com.</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5</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PLANIFICACIÓN</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Factores de planificación (2 de 2)</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92440" cy="2926080"/>
        </p:xfrm>
        <a:graphic>
          <a:graphicData uri="http://schemas.openxmlformats.org/drawingml/2006/table">
            <a:tbl>
              <a:tblPr/>
              <a:tblGrid>
                <a:gridCol w="192024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585216">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Factor</a:t>
                      </a:r>
                      <a:endParaRPr lang="en-US" sz="11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Consideraciones</a:t>
                      </a:r>
                      <a:endParaRPr lang="en-US" sz="11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extLst>
                  <a:ext uri="{0D108BD9-81ED-4DB2-BD59-A6C34878D82A}">
                    <a16:rowId xmlns:a16="http://schemas.microsoft.com/office/drawing/2014/main" val="10000"/>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DNS record hosting</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Los registros DNS pueden alojarse en los servidores DNS de la organización o en un proveedor de alojamiento externo.</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1"/>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Access to the DNS console</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Se requiere acceso para agregar registros A, CNAME, TXT, MX y SRV. Si el proveedor no ofrece ese nivel de acceso, habrá que solicitarle los cambios necesarios.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Not registering DNS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Es poco frecuente, pero sucede: por ejemplo, una universidad con profesores en el entorno local y estudiantes en Microsoft 365 con otro dominio.</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3"/>
                  </a:ext>
                </a:extLst>
              </a:tr>
              <a:tr h="585216">
                <a:tc>
                  <a:txBody>
                    <a:bodyPr/>
                    <a:lstStyle/>
                    <a:p>
                      <a:pPr marL="0" indent="0">
                        <a:buNone/>
                      </a:pPr>
                      <a:r>
                        <a:rPr lang="en-US" sz="1000" b="1" dirty="0">
                          <a:solidFill>
                            <a:srgbClr val="0B2E5B"/>
                          </a:solidFill>
                          <a:latin typeface="Segoe UI" pitchFamily="34" charset="0"/>
                          <a:ea typeface="Segoe UI" pitchFamily="34" charset="-122"/>
                          <a:cs typeface="Segoe UI" pitchFamily="34" charset="-120"/>
                        </a:rPr>
                        <a:t>Not changing all records</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1000" dirty="0">
                          <a:solidFill>
                            <a:srgbClr val="1B1B1F"/>
                          </a:solidFill>
                          <a:latin typeface="Segoe UI" pitchFamily="34" charset="0"/>
                          <a:ea typeface="Segoe UI" pitchFamily="34" charset="-122"/>
                          <a:cs typeface="Segoe UI" pitchFamily="34" charset="-120"/>
                        </a:rPr>
                        <a:t>Puede optarse por no apuntar todos los registros a Microsoft 365; el proceso de verificación se gestiona de forma específica en ese caso.</a:t>
                      </a:r>
                      <a:endParaRPr lang="en-US" sz="10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6</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E5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55000"/>
          </a:blip>
          <a:srcRect l="30235" r="30235"/>
          <a:stretch/>
        </p:blipFill>
        <p:spPr>
          <a:xfrm>
            <a:off x="4937760" y="0"/>
            <a:ext cx="4206240" cy="5143500"/>
          </a:xfrm>
          <a:prstGeom prst="rect">
            <a:avLst/>
          </a:prstGeom>
        </p:spPr>
      </p:pic>
      <p:sp>
        <p:nvSpPr>
          <p:cNvPr id="3" name="Separador">
            <a:extLst>
              <a:ext uri="{C183D7F6-B498-43B3-948B-1728B52AA6E4}">
                <adec:decorative xmlns:adec="http://schemas.microsoft.com/office/drawing/2017/decorative" val="1"/>
              </a:ext>
            </a:extLst>
          </p:cNvPr>
          <p:cNvSpPr/>
          <p:nvPr/>
        </p:nvSpPr>
        <p:spPr>
          <a:xfrm>
            <a:off x="4937760" y="0"/>
            <a:ext cx="18288" cy="5143500"/>
          </a:xfrm>
          <a:prstGeom prst="rect">
            <a:avLst/>
          </a:prstGeom>
          <a:solidFill>
            <a:srgbClr val="00B7C3"/>
          </a:solidFill>
          <a:ln w="12700">
            <a:solidFill>
              <a:srgbClr val="333333"/>
            </a:solidFill>
            <a:prstDash val="solid"/>
          </a:ln>
        </p:spPr>
      </p:sp>
      <p:sp>
        <p:nvSpPr>
          <p:cNvPr id="4" name="Text 1"/>
          <p:cNvSpPr/>
          <p:nvPr/>
        </p:nvSpPr>
        <p:spPr>
          <a:xfrm>
            <a:off x="640080" y="1874520"/>
            <a:ext cx="4023360" cy="274320"/>
          </a:xfrm>
          <a:prstGeom prst="rect">
            <a:avLst/>
          </a:prstGeom>
          <a:noFill/>
          <a:ln/>
        </p:spPr>
        <p:txBody>
          <a:bodyPr wrap="square" lIns="0" tIns="0" rIns="0" bIns="0" rtlCol="0" anchor="ctr"/>
          <a:lstStyle/>
          <a:p>
            <a:pPr marL="0" indent="0">
              <a:buNone/>
            </a:pPr>
            <a:r>
              <a:rPr lang="en-US" sz="1100" b="1" kern="0" spc="250" dirty="0">
                <a:solidFill>
                  <a:srgbClr val="00B7C3"/>
                </a:solidFill>
                <a:latin typeface="Segoe UI" pitchFamily="34" charset="0"/>
                <a:ea typeface="Segoe UI" pitchFamily="34" charset="-122"/>
                <a:cs typeface="Segoe UI" pitchFamily="34" charset="-120"/>
              </a:rPr>
              <a:t>UNIDAD 2</a:t>
            </a:r>
            <a:endParaRPr lang="en-US" sz="1100" dirty="0"/>
          </a:p>
        </p:txBody>
      </p:sp>
      <p:sp>
        <p:nvSpPr>
          <p:cNvPr id="5" name="Text 2"/>
          <p:cNvSpPr/>
          <p:nvPr/>
        </p:nvSpPr>
        <p:spPr>
          <a:xfrm>
            <a:off x="640080" y="2176272"/>
            <a:ext cx="4114800" cy="1005840"/>
          </a:xfrm>
          <a:prstGeom prst="rect">
            <a:avLst/>
          </a:prstGeom>
          <a:noFill/>
          <a:ln/>
        </p:spPr>
        <p:txBody>
          <a:bodyPr wrap="square" lIns="0" tIns="0" rIns="0" bIns="0" rtlCol="0" anchor="ctr"/>
          <a:lstStyle/>
          <a:p>
            <a:pPr marL="0" indent="0">
              <a:buNone/>
            </a:pPr>
            <a:r>
              <a:rPr lang="en-US" sz="3000" b="1" dirty="0">
                <a:solidFill>
                  <a:srgbClr val="FFFFFF"/>
                </a:solidFill>
                <a:latin typeface="Segoe UI" pitchFamily="34" charset="0"/>
                <a:ea typeface="Segoe UI" pitchFamily="34" charset="-122"/>
                <a:cs typeface="Segoe UI" pitchFamily="34" charset="-120"/>
              </a:rPr>
              <a:t>Planificar las zonas DNS</a:t>
            </a:r>
            <a:endParaRPr lang="en-US" sz="3000" dirty="0"/>
          </a:p>
        </p:txBody>
      </p:sp>
      <p:sp>
        <p:nvSpPr>
          <p:cNvPr id="6" name="Text 3"/>
          <p:cNvSpPr/>
          <p:nvPr/>
        </p:nvSpPr>
        <p:spPr>
          <a:xfrm>
            <a:off x="640080" y="3200400"/>
            <a:ext cx="4023360" cy="731520"/>
          </a:xfrm>
          <a:prstGeom prst="rect">
            <a:avLst/>
          </a:prstGeom>
          <a:noFill/>
          <a:ln/>
        </p:spPr>
        <p:txBody>
          <a:bodyPr wrap="square" lIns="0" tIns="0" rIns="0" bIns="0" rtlCol="0" anchor="ctr"/>
          <a:lstStyle/>
          <a:p>
            <a:pPr marL="0" indent="0">
              <a:buNone/>
            </a:pPr>
            <a:r>
              <a:rPr lang="en-US" sz="1200" dirty="0">
                <a:solidFill>
                  <a:srgbClr val="BBD2E8"/>
                </a:solidFill>
                <a:latin typeface="Segoe UI" pitchFamily="34" charset="0"/>
                <a:ea typeface="Segoe UI" pitchFamily="34" charset="-122"/>
                <a:cs typeface="Segoe UI" pitchFamily="34" charset="-120"/>
              </a:rPr>
              <a:t>Una zona DNS pública es fundamental tanto en híbrido como en nube exclusiva</a:t>
            </a:r>
            <a:endParaRPr lang="en-US" sz="1200" dirty="0"/>
          </a:p>
        </p:txBody>
      </p:sp>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7</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ZONAS DNS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Razones para disponer de una zona DNS pública</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3945636" cy="12687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268730"/>
          </a:xfrm>
          <a:prstGeom prst="rect">
            <a:avLst/>
          </a:prstGeom>
          <a:solidFill>
            <a:srgbClr val="00B7C3"/>
          </a:solidFill>
          <a:ln w="12700">
            <a:solidFill>
              <a:srgbClr val="333333"/>
            </a:solidFill>
            <a:prstDash val="solid"/>
          </a:ln>
        </p:spPr>
      </p:sp>
      <p:sp>
        <p:nvSpPr>
          <p:cNvPr id="8" name="Text 6"/>
          <p:cNvSpPr/>
          <p:nvPr/>
        </p:nvSpPr>
        <p:spPr>
          <a:xfrm>
            <a:off x="731520" y="1481328"/>
            <a:ext cx="3616452"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Domain Verification</a:t>
            </a:r>
            <a:endParaRPr lang="en-US" sz="1250" dirty="0"/>
          </a:p>
        </p:txBody>
      </p:sp>
      <p:sp>
        <p:nvSpPr>
          <p:cNvPr id="9" name="Text 7"/>
          <p:cNvSpPr/>
          <p:nvPr/>
        </p:nvSpPr>
        <p:spPr>
          <a:xfrm>
            <a:off x="731520" y="1768793"/>
            <a:ext cx="3616452" cy="7618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La propiedad del dominio se comprueba con un registro TXT o CNAME; la zona debe ser accesible públicamente.</a:t>
            </a:r>
            <a:endParaRPr lang="en-US" sz="1050" dirty="0"/>
          </a:p>
        </p:txBody>
      </p:sp>
      <p:sp>
        <p:nvSpPr>
          <p:cNvPr id="10" name="Tarjeta">
            <a:extLst>
              <a:ext uri="{C183D7F6-B498-43B3-948B-1728B52AA6E4}">
                <adec:decorative xmlns:adec="http://schemas.microsoft.com/office/drawing/2017/decorative" val="1"/>
              </a:ext>
            </a:extLst>
          </p:cNvPr>
          <p:cNvSpPr/>
          <p:nvPr/>
        </p:nvSpPr>
        <p:spPr>
          <a:xfrm>
            <a:off x="4695444" y="1371600"/>
            <a:ext cx="3945636" cy="12687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4695444" y="1371600"/>
            <a:ext cx="54864" cy="1268730"/>
          </a:xfrm>
          <a:prstGeom prst="rect">
            <a:avLst/>
          </a:prstGeom>
          <a:solidFill>
            <a:srgbClr val="00B7C3"/>
          </a:solidFill>
          <a:ln w="12700">
            <a:solidFill>
              <a:srgbClr val="333333"/>
            </a:solidFill>
            <a:prstDash val="solid"/>
          </a:ln>
        </p:spPr>
      </p:sp>
      <p:sp>
        <p:nvSpPr>
          <p:cNvPr id="12" name="Text 10"/>
          <p:cNvSpPr/>
          <p:nvPr/>
        </p:nvSpPr>
        <p:spPr>
          <a:xfrm>
            <a:off x="4878324" y="1481328"/>
            <a:ext cx="3616452"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Email Delivery</a:t>
            </a:r>
            <a:endParaRPr lang="en-US" sz="1250" dirty="0"/>
          </a:p>
        </p:txBody>
      </p:sp>
      <p:sp>
        <p:nvSpPr>
          <p:cNvPr id="13" name="Text 11"/>
          <p:cNvSpPr/>
          <p:nvPr/>
        </p:nvSpPr>
        <p:spPr>
          <a:xfrm>
            <a:off x="4878324" y="1768793"/>
            <a:ext cx="3616452" cy="7618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Los registros MX indican los servidores de correo responsables de aceptar correo del dominio.</a:t>
            </a:r>
            <a:endParaRPr lang="en-US" sz="1050" dirty="0"/>
          </a:p>
        </p:txBody>
      </p:sp>
      <p:sp>
        <p:nvSpPr>
          <p:cNvPr id="14" name="Tarjeta">
            <a:extLst>
              <a:ext uri="{C183D7F6-B498-43B3-948B-1728B52AA6E4}">
                <adec:decorative xmlns:adec="http://schemas.microsoft.com/office/drawing/2017/decorative" val="1"/>
              </a:ext>
            </a:extLst>
          </p:cNvPr>
          <p:cNvSpPr/>
          <p:nvPr/>
        </p:nvSpPr>
        <p:spPr>
          <a:xfrm>
            <a:off x="548640" y="2823210"/>
            <a:ext cx="3945636" cy="12687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548640" y="2823210"/>
            <a:ext cx="54864" cy="1268730"/>
          </a:xfrm>
          <a:prstGeom prst="rect">
            <a:avLst/>
          </a:prstGeom>
          <a:solidFill>
            <a:srgbClr val="00B7C3"/>
          </a:solidFill>
          <a:ln w="12700">
            <a:solidFill>
              <a:srgbClr val="333333"/>
            </a:solidFill>
            <a:prstDash val="solid"/>
          </a:ln>
        </p:spPr>
      </p:sp>
      <p:sp>
        <p:nvSpPr>
          <p:cNvPr id="16" name="Text 14"/>
          <p:cNvSpPr/>
          <p:nvPr/>
        </p:nvSpPr>
        <p:spPr>
          <a:xfrm>
            <a:off x="731520" y="2932938"/>
            <a:ext cx="3616452"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Autodiscover and Federation</a:t>
            </a:r>
            <a:endParaRPr lang="en-US" sz="1250" dirty="0"/>
          </a:p>
        </p:txBody>
      </p:sp>
      <p:sp>
        <p:nvSpPr>
          <p:cNvPr id="17" name="Text 15"/>
          <p:cNvSpPr/>
          <p:nvPr/>
        </p:nvSpPr>
        <p:spPr>
          <a:xfrm>
            <a:off x="731520" y="3220403"/>
            <a:ext cx="3616452" cy="7618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Autodiscover configura los clientes de correo; la federación habilita características como el SSO.</a:t>
            </a:r>
            <a:endParaRPr lang="en-US" sz="1050" dirty="0"/>
          </a:p>
        </p:txBody>
      </p:sp>
      <p:sp>
        <p:nvSpPr>
          <p:cNvPr id="18" name="Tarjeta">
            <a:extLst>
              <a:ext uri="{C183D7F6-B498-43B3-948B-1728B52AA6E4}">
                <adec:decorative xmlns:adec="http://schemas.microsoft.com/office/drawing/2017/decorative" val="1"/>
              </a:ext>
            </a:extLst>
          </p:cNvPr>
          <p:cNvSpPr/>
          <p:nvPr/>
        </p:nvSpPr>
        <p:spPr>
          <a:xfrm>
            <a:off x="4695444" y="2823210"/>
            <a:ext cx="3945636" cy="12687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4695444" y="2823210"/>
            <a:ext cx="54864" cy="1268730"/>
          </a:xfrm>
          <a:prstGeom prst="rect">
            <a:avLst/>
          </a:prstGeom>
          <a:solidFill>
            <a:srgbClr val="00B7C3"/>
          </a:solidFill>
          <a:ln w="12700">
            <a:solidFill>
              <a:srgbClr val="333333"/>
            </a:solidFill>
            <a:prstDash val="solid"/>
          </a:ln>
        </p:spPr>
      </p:sp>
      <p:sp>
        <p:nvSpPr>
          <p:cNvPr id="20" name="Text 18"/>
          <p:cNvSpPr/>
          <p:nvPr/>
        </p:nvSpPr>
        <p:spPr>
          <a:xfrm>
            <a:off x="4878324" y="2932938"/>
            <a:ext cx="3616452"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Web Services and Applications</a:t>
            </a:r>
            <a:endParaRPr lang="en-US" sz="1250" dirty="0"/>
          </a:p>
        </p:txBody>
      </p:sp>
      <p:sp>
        <p:nvSpPr>
          <p:cNvPr id="21" name="Text 19"/>
          <p:cNvSpPr/>
          <p:nvPr/>
        </p:nvSpPr>
        <p:spPr>
          <a:xfrm>
            <a:off x="4878324" y="3220403"/>
            <a:ext cx="3616452" cy="7618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Registros CNAME o A apuntan el dominio a los servicios web o aplicaciones correctos.</a:t>
            </a:r>
            <a:endParaRPr lang="en-US" sz="1050" dirty="0"/>
          </a:p>
        </p:txBody>
      </p:sp>
      <p:sp>
        <p:nvSpPr>
          <p:cNvPr id="22" name="Text 20"/>
          <p:cNvSpPr/>
          <p:nvPr/>
        </p:nvSpPr>
        <p:spPr>
          <a:xfrm>
            <a:off x="566928" y="4137660"/>
            <a:ext cx="8092440" cy="411480"/>
          </a:xfrm>
          <a:prstGeom prst="rect">
            <a:avLst/>
          </a:prstGeom>
          <a:noFill/>
          <a:ln/>
        </p:spPr>
        <p:txBody>
          <a:bodyPr wrap="square" lIns="0" tIns="0" rIns="0" bIns="0" rtlCol="0" anchor="t"/>
          <a:lstStyle/>
          <a:p>
            <a:pPr marL="0" indent="0">
              <a:buNone/>
            </a:pPr>
            <a:r>
              <a:rPr lang="en-US" sz="1100" i="1" dirty="0">
                <a:solidFill>
                  <a:srgbClr val="0067B8"/>
                </a:solidFill>
                <a:latin typeface="Segoe UI" pitchFamily="34" charset="0"/>
                <a:ea typeface="Segoe UI" pitchFamily="34" charset="-122"/>
                <a:cs typeface="Segoe UI" pitchFamily="34" charset="-120"/>
              </a:rPr>
              <a:t>Aunque la zona sea pública, se pueden aplicar medidas de seguridad como DNSSEC y controles de acceso para proteger la integridad y confidencialidad de los registros.</a:t>
            </a:r>
            <a:endParaRPr lang="en-US" sz="1100" dirty="0"/>
          </a:p>
        </p:txBody>
      </p:sp>
      <p:sp>
        <p:nvSpPr>
          <p:cNvPr id="23"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24" name="Text 22"/>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8</a:t>
            </a:r>
            <a:endParaRPr lang="en-US" sz="900" dirty="0"/>
          </a:p>
        </p:txBody>
      </p:sp>
      <p:sp>
        <p:nvSpPr>
          <p:cNvPr id="25" name="Text 23"/>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HÍBRIDO</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Zonas DNS en una implementación híbrida</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1872234" cy="14973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497330"/>
          </a:xfrm>
          <a:prstGeom prst="rect">
            <a:avLst/>
          </a:prstGeom>
          <a:solidFill>
            <a:srgbClr val="00B7C3"/>
          </a:solidFill>
          <a:ln w="12700">
            <a:solidFill>
              <a:srgbClr val="333333"/>
            </a:solidFill>
            <a:prstDash val="solid"/>
          </a:ln>
        </p:spPr>
      </p:sp>
      <p:sp>
        <p:nvSpPr>
          <p:cNvPr id="8" name="Text 6"/>
          <p:cNvSpPr/>
          <p:nvPr/>
        </p:nvSpPr>
        <p:spPr>
          <a:xfrm>
            <a:off x="731520" y="148132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Understand the Hybrid Infrastructure</a:t>
            </a:r>
            <a:endParaRPr lang="en-US" sz="1100" dirty="0"/>
          </a:p>
        </p:txBody>
      </p:sp>
      <p:sp>
        <p:nvSpPr>
          <p:cNvPr id="9" name="Text 7"/>
          <p:cNvSpPr/>
          <p:nvPr/>
        </p:nvSpPr>
        <p:spPr>
          <a:xfrm>
            <a:off x="731520" y="193167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Estructura de dominios, direccionamiento IP e infraestructura DNS de ambos entornos.</a:t>
            </a:r>
            <a:endParaRPr lang="en-US" sz="950" dirty="0"/>
          </a:p>
        </p:txBody>
      </p:sp>
      <p:sp>
        <p:nvSpPr>
          <p:cNvPr id="10" name="Tarjeta">
            <a:extLst>
              <a:ext uri="{C183D7F6-B498-43B3-948B-1728B52AA6E4}">
                <adec:decorative xmlns:adec="http://schemas.microsoft.com/office/drawing/2017/decorative" val="1"/>
              </a:ext>
            </a:extLst>
          </p:cNvPr>
          <p:cNvSpPr/>
          <p:nvPr/>
        </p:nvSpPr>
        <p:spPr>
          <a:xfrm>
            <a:off x="2622042" y="1371600"/>
            <a:ext cx="1872234" cy="14973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2622042" y="1371600"/>
            <a:ext cx="54864" cy="1497330"/>
          </a:xfrm>
          <a:prstGeom prst="rect">
            <a:avLst/>
          </a:prstGeom>
          <a:solidFill>
            <a:srgbClr val="00B7C3"/>
          </a:solidFill>
          <a:ln w="12700">
            <a:solidFill>
              <a:srgbClr val="333333"/>
            </a:solidFill>
            <a:prstDash val="solid"/>
          </a:ln>
        </p:spPr>
      </p:sp>
      <p:sp>
        <p:nvSpPr>
          <p:cNvPr id="12" name="Text 10"/>
          <p:cNvSpPr/>
          <p:nvPr/>
        </p:nvSpPr>
        <p:spPr>
          <a:xfrm>
            <a:off x="2804922" y="148132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Namespace Integration</a:t>
            </a:r>
            <a:endParaRPr lang="en-US" sz="1100" dirty="0"/>
          </a:p>
        </p:txBody>
      </p:sp>
      <p:sp>
        <p:nvSpPr>
          <p:cNvPr id="13" name="Text 11"/>
          <p:cNvSpPr/>
          <p:nvPr/>
        </p:nvSpPr>
        <p:spPr>
          <a:xfrm>
            <a:off x="2804922" y="193167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Espacio de nombres único o separado: cloud.example.com e internal.example.com.</a:t>
            </a:r>
            <a:endParaRPr lang="en-US" sz="950" dirty="0"/>
          </a:p>
        </p:txBody>
      </p:sp>
      <p:sp>
        <p:nvSpPr>
          <p:cNvPr id="14" name="Tarjeta">
            <a:extLst>
              <a:ext uri="{C183D7F6-B498-43B3-948B-1728B52AA6E4}">
                <adec:decorative xmlns:adec="http://schemas.microsoft.com/office/drawing/2017/decorative" val="1"/>
              </a:ext>
            </a:extLst>
          </p:cNvPr>
          <p:cNvSpPr/>
          <p:nvPr/>
        </p:nvSpPr>
        <p:spPr>
          <a:xfrm>
            <a:off x="4695444" y="1371600"/>
            <a:ext cx="1872234" cy="14973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4695444" y="1371600"/>
            <a:ext cx="54864" cy="1497330"/>
          </a:xfrm>
          <a:prstGeom prst="rect">
            <a:avLst/>
          </a:prstGeom>
          <a:solidFill>
            <a:srgbClr val="00B7C3"/>
          </a:solidFill>
          <a:ln w="12700">
            <a:solidFill>
              <a:srgbClr val="333333"/>
            </a:solidFill>
            <a:prstDash val="solid"/>
          </a:ln>
        </p:spPr>
      </p:sp>
      <p:sp>
        <p:nvSpPr>
          <p:cNvPr id="16" name="Text 14"/>
          <p:cNvSpPr/>
          <p:nvPr/>
        </p:nvSpPr>
        <p:spPr>
          <a:xfrm>
            <a:off x="4878324" y="148132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Forwarding</a:t>
            </a:r>
            <a:endParaRPr lang="en-US" sz="1100" dirty="0"/>
          </a:p>
        </p:txBody>
      </p:sp>
      <p:sp>
        <p:nvSpPr>
          <p:cNvPr id="17" name="Text 15"/>
          <p:cNvSpPr/>
          <p:nvPr/>
        </p:nvSpPr>
        <p:spPr>
          <a:xfrm>
            <a:off x="4878324" y="174307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Reenvío entre servidores locales y el servicio DNS en la nube para una resolución fluida.</a:t>
            </a:r>
            <a:endParaRPr lang="en-US" sz="950" dirty="0"/>
          </a:p>
        </p:txBody>
      </p:sp>
      <p:sp>
        <p:nvSpPr>
          <p:cNvPr id="18" name="Tarjeta">
            <a:extLst>
              <a:ext uri="{C183D7F6-B498-43B3-948B-1728B52AA6E4}">
                <adec:decorative xmlns:adec="http://schemas.microsoft.com/office/drawing/2017/decorative" val="1"/>
              </a:ext>
            </a:extLst>
          </p:cNvPr>
          <p:cNvSpPr/>
          <p:nvPr/>
        </p:nvSpPr>
        <p:spPr>
          <a:xfrm>
            <a:off x="6768846" y="1371600"/>
            <a:ext cx="1872234" cy="14973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6768846" y="1371600"/>
            <a:ext cx="54864" cy="1497330"/>
          </a:xfrm>
          <a:prstGeom prst="rect">
            <a:avLst/>
          </a:prstGeom>
          <a:solidFill>
            <a:srgbClr val="00B7C3"/>
          </a:solidFill>
          <a:ln w="12700">
            <a:solidFill>
              <a:srgbClr val="333333"/>
            </a:solidFill>
            <a:prstDash val="solid"/>
          </a:ln>
        </p:spPr>
      </p:sp>
      <p:sp>
        <p:nvSpPr>
          <p:cNvPr id="20" name="Text 18"/>
          <p:cNvSpPr/>
          <p:nvPr/>
        </p:nvSpPr>
        <p:spPr>
          <a:xfrm>
            <a:off x="6951726" y="148132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Split DNS</a:t>
            </a:r>
            <a:endParaRPr lang="en-US" sz="1100" dirty="0"/>
          </a:p>
        </p:txBody>
      </p:sp>
      <p:sp>
        <p:nvSpPr>
          <p:cNvPr id="21" name="Text 19"/>
          <p:cNvSpPr/>
          <p:nvPr/>
        </p:nvSpPr>
        <p:spPr>
          <a:xfrm>
            <a:off x="6951726" y="174307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Resolución distinta para usuarios internos y externos, con más seguridad y control.</a:t>
            </a:r>
            <a:endParaRPr lang="en-US" sz="950" dirty="0"/>
          </a:p>
        </p:txBody>
      </p:sp>
      <p:sp>
        <p:nvSpPr>
          <p:cNvPr id="22" name="Tarjeta">
            <a:extLst>
              <a:ext uri="{C183D7F6-B498-43B3-948B-1728B52AA6E4}">
                <adec:decorative xmlns:adec="http://schemas.microsoft.com/office/drawing/2017/decorative" val="1"/>
              </a:ext>
            </a:extLst>
          </p:cNvPr>
          <p:cNvSpPr/>
          <p:nvPr/>
        </p:nvSpPr>
        <p:spPr>
          <a:xfrm>
            <a:off x="548640" y="3051810"/>
            <a:ext cx="1872234" cy="1497330"/>
          </a:xfrm>
          <a:prstGeom prst="rect">
            <a:avLst/>
          </a:prstGeom>
          <a:solidFill>
            <a:srgbClr val="EDF2F8"/>
          </a:solidFill>
          <a:ln w="12700">
            <a:solidFill>
              <a:srgbClr val="333333"/>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548640" y="3051810"/>
            <a:ext cx="54864" cy="1497330"/>
          </a:xfrm>
          <a:prstGeom prst="rect">
            <a:avLst/>
          </a:prstGeom>
          <a:solidFill>
            <a:srgbClr val="00B7C3"/>
          </a:solidFill>
          <a:ln w="12700">
            <a:solidFill>
              <a:srgbClr val="333333"/>
            </a:solidFill>
            <a:prstDash val="solid"/>
          </a:ln>
        </p:spPr>
      </p:sp>
      <p:sp>
        <p:nvSpPr>
          <p:cNvPr id="24" name="Text 22"/>
          <p:cNvSpPr/>
          <p:nvPr/>
        </p:nvSpPr>
        <p:spPr>
          <a:xfrm>
            <a:off x="731520"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Synchronization</a:t>
            </a:r>
            <a:endParaRPr lang="en-US" sz="1100" dirty="0"/>
          </a:p>
        </p:txBody>
      </p:sp>
      <p:sp>
        <p:nvSpPr>
          <p:cNvPr id="25" name="Text 23"/>
          <p:cNvSpPr/>
          <p:nvPr/>
        </p:nvSpPr>
        <p:spPr>
          <a:xfrm>
            <a:off x="731520"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Propagar los cambios de registros entre ambos entornos para mantener coherencia.</a:t>
            </a:r>
            <a:endParaRPr lang="en-US" sz="950" dirty="0"/>
          </a:p>
        </p:txBody>
      </p:sp>
      <p:sp>
        <p:nvSpPr>
          <p:cNvPr id="26" name="Tarjeta">
            <a:extLst>
              <a:ext uri="{C183D7F6-B498-43B3-948B-1728B52AA6E4}">
                <adec:decorative xmlns:adec="http://schemas.microsoft.com/office/drawing/2017/decorative" val="1"/>
              </a:ext>
            </a:extLst>
          </p:cNvPr>
          <p:cNvSpPr/>
          <p:nvPr/>
        </p:nvSpPr>
        <p:spPr>
          <a:xfrm>
            <a:off x="2622042" y="3051810"/>
            <a:ext cx="1872234" cy="1497330"/>
          </a:xfrm>
          <a:prstGeom prst="rect">
            <a:avLst/>
          </a:prstGeom>
          <a:solidFill>
            <a:srgbClr val="EDF2F8"/>
          </a:solidFill>
          <a:ln w="12700">
            <a:solidFill>
              <a:srgbClr val="333333"/>
            </a:solidFill>
            <a:prstDash val="solid"/>
          </a:ln>
        </p:spPr>
      </p:sp>
      <p:sp>
        <p:nvSpPr>
          <p:cNvPr id="27" name="Acento de tarjeta">
            <a:extLst>
              <a:ext uri="{C183D7F6-B498-43B3-948B-1728B52AA6E4}">
                <adec:decorative xmlns:adec="http://schemas.microsoft.com/office/drawing/2017/decorative" val="1"/>
              </a:ext>
            </a:extLst>
          </p:cNvPr>
          <p:cNvSpPr/>
          <p:nvPr/>
        </p:nvSpPr>
        <p:spPr>
          <a:xfrm>
            <a:off x="2622042" y="3051810"/>
            <a:ext cx="54864" cy="1497330"/>
          </a:xfrm>
          <a:prstGeom prst="rect">
            <a:avLst/>
          </a:prstGeom>
          <a:solidFill>
            <a:srgbClr val="00B7C3"/>
          </a:solidFill>
          <a:ln w="12700">
            <a:solidFill>
              <a:srgbClr val="333333"/>
            </a:solidFill>
            <a:prstDash val="solid"/>
          </a:ln>
        </p:spPr>
      </p:sp>
      <p:sp>
        <p:nvSpPr>
          <p:cNvPr id="28" name="Text 26"/>
          <p:cNvSpPr/>
          <p:nvPr/>
        </p:nvSpPr>
        <p:spPr>
          <a:xfrm>
            <a:off x="2804922"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Service Discovery</a:t>
            </a:r>
            <a:endParaRPr lang="en-US" sz="1100" dirty="0"/>
          </a:p>
        </p:txBody>
      </p:sp>
      <p:sp>
        <p:nvSpPr>
          <p:cNvPr id="29" name="Text 27"/>
          <p:cNvSpPr/>
          <p:nvPr/>
        </p:nvSpPr>
        <p:spPr>
          <a:xfrm>
            <a:off x="2804922"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Registros SRV o Azure Service Discovery para descubrir servicios dinámicamente.</a:t>
            </a:r>
            <a:endParaRPr lang="en-US" sz="950" dirty="0"/>
          </a:p>
        </p:txBody>
      </p:sp>
      <p:sp>
        <p:nvSpPr>
          <p:cNvPr id="30" name="Tarjeta">
            <a:extLst>
              <a:ext uri="{C183D7F6-B498-43B3-948B-1728B52AA6E4}">
                <adec:decorative xmlns:adec="http://schemas.microsoft.com/office/drawing/2017/decorative" val="1"/>
              </a:ext>
            </a:extLst>
          </p:cNvPr>
          <p:cNvSpPr/>
          <p:nvPr/>
        </p:nvSpPr>
        <p:spPr>
          <a:xfrm>
            <a:off x="4695444" y="3051810"/>
            <a:ext cx="1872234" cy="1497330"/>
          </a:xfrm>
          <a:prstGeom prst="rect">
            <a:avLst/>
          </a:prstGeom>
          <a:solidFill>
            <a:srgbClr val="EDF2F8"/>
          </a:solidFill>
          <a:ln w="12700">
            <a:solidFill>
              <a:srgbClr val="333333"/>
            </a:solidFill>
            <a:prstDash val="solid"/>
          </a:ln>
        </p:spPr>
      </p:sp>
      <p:sp>
        <p:nvSpPr>
          <p:cNvPr id="31" name="Acento de tarjeta">
            <a:extLst>
              <a:ext uri="{C183D7F6-B498-43B3-948B-1728B52AA6E4}">
                <adec:decorative xmlns:adec="http://schemas.microsoft.com/office/drawing/2017/decorative" val="1"/>
              </a:ext>
            </a:extLst>
          </p:cNvPr>
          <p:cNvSpPr/>
          <p:nvPr/>
        </p:nvSpPr>
        <p:spPr>
          <a:xfrm>
            <a:off x="4695444" y="3051810"/>
            <a:ext cx="54864" cy="1497330"/>
          </a:xfrm>
          <a:prstGeom prst="rect">
            <a:avLst/>
          </a:prstGeom>
          <a:solidFill>
            <a:srgbClr val="00B7C3"/>
          </a:solidFill>
          <a:ln w="12700">
            <a:solidFill>
              <a:srgbClr val="333333"/>
            </a:solidFill>
            <a:prstDash val="solid"/>
          </a:ln>
        </p:spPr>
      </p:sp>
      <p:sp>
        <p:nvSpPr>
          <p:cNvPr id="32" name="Text 30"/>
          <p:cNvSpPr/>
          <p:nvPr/>
        </p:nvSpPr>
        <p:spPr>
          <a:xfrm>
            <a:off x="4878324" y="316153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Security and Compliance</a:t>
            </a:r>
            <a:endParaRPr lang="en-US" sz="1100" dirty="0"/>
          </a:p>
        </p:txBody>
      </p:sp>
      <p:sp>
        <p:nvSpPr>
          <p:cNvPr id="33" name="Text 31"/>
          <p:cNvSpPr/>
          <p:nvPr/>
        </p:nvSpPr>
        <p:spPr>
          <a:xfrm>
            <a:off x="4878324" y="361188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Firewalls, DNSSEC y controles de acceso, según las políticas y regulaciones vigentes.</a:t>
            </a:r>
            <a:endParaRPr lang="en-US" sz="950" dirty="0"/>
          </a:p>
        </p:txBody>
      </p:sp>
      <p:sp>
        <p:nvSpPr>
          <p:cNvPr id="34" name="Tarjeta">
            <a:extLst>
              <a:ext uri="{C183D7F6-B498-43B3-948B-1728B52AA6E4}">
                <adec:decorative xmlns:adec="http://schemas.microsoft.com/office/drawing/2017/decorative" val="1"/>
              </a:ext>
            </a:extLst>
          </p:cNvPr>
          <p:cNvSpPr/>
          <p:nvPr/>
        </p:nvSpPr>
        <p:spPr>
          <a:xfrm>
            <a:off x="6768846" y="3051810"/>
            <a:ext cx="1872234" cy="1497330"/>
          </a:xfrm>
          <a:prstGeom prst="rect">
            <a:avLst/>
          </a:prstGeom>
          <a:solidFill>
            <a:srgbClr val="EDF2F8"/>
          </a:solidFill>
          <a:ln w="12700">
            <a:solidFill>
              <a:srgbClr val="333333"/>
            </a:solidFill>
            <a:prstDash val="solid"/>
          </a:ln>
        </p:spPr>
      </p:sp>
      <p:sp>
        <p:nvSpPr>
          <p:cNvPr id="35" name="Acento de tarjeta">
            <a:extLst>
              <a:ext uri="{C183D7F6-B498-43B3-948B-1728B52AA6E4}">
                <adec:decorative xmlns:adec="http://schemas.microsoft.com/office/drawing/2017/decorative" val="1"/>
              </a:ext>
            </a:extLst>
          </p:cNvPr>
          <p:cNvSpPr/>
          <p:nvPr/>
        </p:nvSpPr>
        <p:spPr>
          <a:xfrm>
            <a:off x="6768846" y="3051810"/>
            <a:ext cx="54864" cy="1497330"/>
          </a:xfrm>
          <a:prstGeom prst="rect">
            <a:avLst/>
          </a:prstGeom>
          <a:solidFill>
            <a:srgbClr val="00B7C3"/>
          </a:solidFill>
          <a:ln w="12700">
            <a:solidFill>
              <a:srgbClr val="333333"/>
            </a:solidFill>
            <a:prstDash val="solid"/>
          </a:ln>
        </p:spPr>
      </p:sp>
      <p:sp>
        <p:nvSpPr>
          <p:cNvPr id="36" name="Text 34"/>
          <p:cNvSpPr/>
          <p:nvPr/>
        </p:nvSpPr>
        <p:spPr>
          <a:xfrm>
            <a:off x="6951726" y="316153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Monitoring and Troubleshooting</a:t>
            </a:r>
            <a:endParaRPr lang="en-US" sz="1100" dirty="0"/>
          </a:p>
        </p:txBody>
      </p:sp>
      <p:sp>
        <p:nvSpPr>
          <p:cNvPr id="37" name="Text 35"/>
          <p:cNvSpPr/>
          <p:nvPr/>
        </p:nvSpPr>
        <p:spPr>
          <a:xfrm>
            <a:off x="6951726" y="361188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Supervisar tráfico, latencia y estado, con registro y alertas ante incidentes.</a:t>
            </a:r>
            <a:endParaRPr lang="en-US" sz="950" dirty="0"/>
          </a:p>
        </p:txBody>
      </p:sp>
      <p:sp>
        <p:nvSpPr>
          <p:cNvPr id="38"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9" name="Text 37"/>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9</a:t>
            </a:r>
            <a:endParaRPr lang="en-US" sz="900" dirty="0"/>
          </a:p>
        </p:txBody>
      </p:sp>
      <p:sp>
        <p:nvSpPr>
          <p:cNvPr id="40" name="Text 38"/>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OPCIONES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Dónde alojar la zona DNS del dominio personalizado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3945636" cy="219456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2194560"/>
          </a:xfrm>
          <a:prstGeom prst="rect">
            <a:avLst/>
          </a:prstGeom>
          <a:solidFill>
            <a:srgbClr val="00B7C3"/>
          </a:solidFill>
          <a:ln w="12700">
            <a:solidFill>
              <a:srgbClr val="333333"/>
            </a:solidFill>
            <a:prstDash val="solid"/>
          </a:ln>
        </p:spPr>
      </p:sp>
      <p:sp>
        <p:nvSpPr>
          <p:cNvPr id="8" name="Text 6"/>
          <p:cNvSpPr/>
          <p:nvPr/>
        </p:nvSpPr>
        <p:spPr>
          <a:xfrm>
            <a:off x="731520" y="1481328"/>
            <a:ext cx="3616452"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Proveedor externo</a:t>
            </a:r>
            <a:endParaRPr lang="en-US" sz="1250" dirty="0"/>
          </a:p>
        </p:txBody>
      </p:sp>
      <p:sp>
        <p:nvSpPr>
          <p:cNvPr id="9" name="Text 7"/>
          <p:cNvSpPr/>
          <p:nvPr/>
        </p:nvSpPr>
        <p:spPr>
          <a:xfrm>
            <a:off x="731520" y="1768793"/>
            <a:ext cx="3616452" cy="168763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Un proveedor como GoDaddy aloja la zona y se administra por portal web. Si el nombre también se usa para recursos locales, sigue haciendo falta gestionar la resolución interna: lo habitual es alojar además una zona interna.</a:t>
            </a:r>
            <a:endParaRPr lang="en-US" sz="1050" dirty="0"/>
          </a:p>
        </p:txBody>
      </p:sp>
      <p:sp>
        <p:nvSpPr>
          <p:cNvPr id="10" name="Tarjeta">
            <a:extLst>
              <a:ext uri="{C183D7F6-B498-43B3-948B-1728B52AA6E4}">
                <adec:decorative xmlns:adec="http://schemas.microsoft.com/office/drawing/2017/decorative" val="1"/>
              </a:ext>
            </a:extLst>
          </p:cNvPr>
          <p:cNvSpPr/>
          <p:nvPr/>
        </p:nvSpPr>
        <p:spPr>
          <a:xfrm>
            <a:off x="4695444" y="1371600"/>
            <a:ext cx="3945636" cy="219456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4695444" y="1371600"/>
            <a:ext cx="54864" cy="2194560"/>
          </a:xfrm>
          <a:prstGeom prst="rect">
            <a:avLst/>
          </a:prstGeom>
          <a:solidFill>
            <a:srgbClr val="00B7C3"/>
          </a:solidFill>
          <a:ln w="12700">
            <a:solidFill>
              <a:srgbClr val="333333"/>
            </a:solidFill>
            <a:prstDash val="solid"/>
          </a:ln>
        </p:spPr>
      </p:sp>
      <p:sp>
        <p:nvSpPr>
          <p:cNvPr id="12" name="Text 10"/>
          <p:cNvSpPr/>
          <p:nvPr/>
        </p:nvSpPr>
        <p:spPr>
          <a:xfrm>
            <a:off x="4878324" y="1481328"/>
            <a:ext cx="3616452"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Alojamiento local</a:t>
            </a:r>
            <a:endParaRPr lang="en-US" sz="1250" dirty="0"/>
          </a:p>
        </p:txBody>
      </p:sp>
      <p:sp>
        <p:nvSpPr>
          <p:cNvPr id="13" name="Text 11"/>
          <p:cNvSpPr/>
          <p:nvPr/>
        </p:nvSpPr>
        <p:spPr>
          <a:xfrm>
            <a:off x="4878324" y="1768793"/>
            <a:ext cx="3616452" cy="168763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Servidores DNS propios, existentes o nuevos. Permite ubicar servidores en la red perimetral para que usuarios de Internet resuelvan los recursos publicados, y usar servidores internos para la resolución en la LAN.</a:t>
            </a:r>
            <a:endParaRPr lang="en-US" sz="1050" dirty="0"/>
          </a:p>
        </p:txBody>
      </p:sp>
      <p:sp>
        <p:nvSpPr>
          <p:cNvPr id="14" name="Text 12"/>
          <p:cNvSpPr/>
          <p:nvPr/>
        </p:nvSpPr>
        <p:spPr>
          <a:xfrm>
            <a:off x="566928" y="4137660"/>
            <a:ext cx="8092440" cy="411480"/>
          </a:xfrm>
          <a:prstGeom prst="rect">
            <a:avLst/>
          </a:prstGeom>
          <a:noFill/>
          <a:ln/>
        </p:spPr>
        <p:txBody>
          <a:bodyPr wrap="square" lIns="0" tIns="0" rIns="0" bIns="0" rtlCol="0" anchor="t"/>
          <a:lstStyle/>
          <a:p>
            <a:pPr marL="0" indent="0">
              <a:buNone/>
            </a:pPr>
            <a:r>
              <a:rPr lang="en-US" sz="1100" i="1" dirty="0">
                <a:solidFill>
                  <a:srgbClr val="0067B8"/>
                </a:solidFill>
                <a:latin typeface="Segoe UI" pitchFamily="34" charset="0"/>
                <a:ea typeface="Segoe UI" pitchFamily="34" charset="-122"/>
                <a:cs typeface="Segoe UI" pitchFamily="34" charset="-120"/>
              </a:rPr>
              <a:t>Una organización demuestra que es propietaria de una zona si puede editar sus registros. Con la zona bajo su control, el asistente de configuración crea el tenant con el dominio personalizado e indica qué registros agregar.</a:t>
            </a:r>
            <a:endParaRPr lang="en-US" sz="1100" dirty="0"/>
          </a:p>
        </p:txBody>
      </p:sp>
      <p:sp>
        <p:nvSpPr>
          <p:cNvPr id="15"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6" name="Text 14"/>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10</a:t>
            </a:r>
            <a:endParaRPr lang="en-US" sz="900" dirty="0"/>
          </a:p>
        </p:txBody>
      </p:sp>
      <p:sp>
        <p:nvSpPr>
          <p:cNvPr id="17" name="Text 15"/>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ESCENARIOS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Dos escenarios de nomenclatura de zonas</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Columna">
            <a:extLst>
              <a:ext uri="{C183D7F6-B498-43B3-948B-1728B52AA6E4}">
                <adec:decorative xmlns:adec="http://schemas.microsoft.com/office/drawing/2017/decorative" val="1"/>
              </a:ext>
            </a:extLst>
          </p:cNvPr>
          <p:cNvSpPr/>
          <p:nvPr/>
        </p:nvSpPr>
        <p:spPr>
          <a:xfrm>
            <a:off x="548640" y="1371600"/>
            <a:ext cx="3950208" cy="3108960"/>
          </a:xfrm>
          <a:prstGeom prst="rect">
            <a:avLst/>
          </a:prstGeom>
          <a:solidFill>
            <a:srgbClr val="EDF2F8"/>
          </a:solidFill>
          <a:ln w="12700">
            <a:solidFill>
              <a:srgbClr val="333333"/>
            </a:solidFill>
            <a:prstDash val="solid"/>
          </a:ln>
        </p:spPr>
      </p:sp>
      <p:sp>
        <p:nvSpPr>
          <p:cNvPr id="7" name="Acento de columna">
            <a:extLst>
              <a:ext uri="{C183D7F6-B498-43B3-948B-1728B52AA6E4}">
                <adec:decorative xmlns:adec="http://schemas.microsoft.com/office/drawing/2017/decorative" val="1"/>
              </a:ext>
            </a:extLst>
          </p:cNvPr>
          <p:cNvSpPr/>
          <p:nvPr/>
        </p:nvSpPr>
        <p:spPr>
          <a:xfrm>
            <a:off x="548640" y="1371600"/>
            <a:ext cx="3950208" cy="54864"/>
          </a:xfrm>
          <a:prstGeom prst="rect">
            <a:avLst/>
          </a:prstGeom>
          <a:solidFill>
            <a:srgbClr val="00B7C3"/>
          </a:solidFill>
          <a:ln w="12700">
            <a:solidFill>
              <a:srgbClr val="333333"/>
            </a:solidFill>
            <a:prstDash val="solid"/>
          </a:ln>
        </p:spPr>
      </p:sp>
      <p:sp>
        <p:nvSpPr>
          <p:cNvPr id="8" name="Text 6"/>
          <p:cNvSpPr/>
          <p:nvPr/>
        </p:nvSpPr>
        <p:spPr>
          <a:xfrm>
            <a:off x="749808" y="1554480"/>
            <a:ext cx="3566160" cy="292608"/>
          </a:xfrm>
          <a:prstGeom prst="rect">
            <a:avLst/>
          </a:prstGeom>
          <a:noFill/>
          <a:ln/>
        </p:spPr>
        <p:txBody>
          <a:bodyPr wrap="square" lIns="0" tIns="0" rIns="0" bIns="0" rtlCol="0" anchor="ctr"/>
          <a:lstStyle/>
          <a:p>
            <a:pPr marL="0" indent="0">
              <a:buNone/>
            </a:pPr>
            <a:r>
              <a:rPr lang="en-US" sz="1300" b="1" dirty="0">
                <a:solidFill>
                  <a:srgbClr val="0B2E5B"/>
                </a:solidFill>
                <a:latin typeface="Segoe UI" pitchFamily="34" charset="0"/>
                <a:ea typeface="Segoe UI" pitchFamily="34" charset="-122"/>
                <a:cs typeface="Segoe UI" pitchFamily="34" charset="-120"/>
              </a:rPr>
              <a:t>A · Nombres diferentes</a:t>
            </a:r>
            <a:endParaRPr lang="en-US" sz="1300" dirty="0"/>
          </a:p>
        </p:txBody>
      </p:sp>
      <p:sp>
        <p:nvSpPr>
          <p:cNvPr id="9" name="Text 7"/>
          <p:cNvSpPr/>
          <p:nvPr/>
        </p:nvSpPr>
        <p:spPr>
          <a:xfrm>
            <a:off x="822960" y="1901952"/>
            <a:ext cx="3520440" cy="2468880"/>
          </a:xfrm>
          <a:prstGeom prst="rect">
            <a:avLst/>
          </a:prstGeom>
          <a:noFill/>
          <a:ln/>
        </p:spPr>
        <p:txBody>
          <a:bodyPr wrap="square" rtlCol="0" anchor="t"/>
          <a:lstStyle/>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DNS interno propio para un dominio interno, como adatum.local.</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Un reenviador redirige a un servidor de nombres externo las consultas de dominios externos.</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mail.adatum.local resuelve a una dirección interna, como 192.168.20.10.</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mail.adatum.com resuelve a 131.107.43.19, la dirección externa de la empresa.</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El servidor local reenvía la consulta, recibe la respuesta y la devuelve al cliente interno.</a:t>
            </a:r>
            <a:endParaRPr lang="en-US" sz="1050" dirty="0"/>
          </a:p>
        </p:txBody>
      </p:sp>
      <p:sp>
        <p:nvSpPr>
          <p:cNvPr id="10" name="Columna">
            <a:extLst>
              <a:ext uri="{C183D7F6-B498-43B3-948B-1728B52AA6E4}">
                <adec:decorative xmlns:adec="http://schemas.microsoft.com/office/drawing/2017/decorative" val="1"/>
              </a:ext>
            </a:extLst>
          </p:cNvPr>
          <p:cNvSpPr/>
          <p:nvPr/>
        </p:nvSpPr>
        <p:spPr>
          <a:xfrm>
            <a:off x="4690872" y="1371600"/>
            <a:ext cx="3950208" cy="3108960"/>
          </a:xfrm>
          <a:prstGeom prst="rect">
            <a:avLst/>
          </a:prstGeom>
          <a:solidFill>
            <a:srgbClr val="EDF2F8"/>
          </a:solidFill>
          <a:ln w="12700">
            <a:solidFill>
              <a:srgbClr val="333333"/>
            </a:solidFill>
            <a:prstDash val="solid"/>
          </a:ln>
        </p:spPr>
      </p:sp>
      <p:sp>
        <p:nvSpPr>
          <p:cNvPr id="11" name="Acento de columna">
            <a:extLst>
              <a:ext uri="{C183D7F6-B498-43B3-948B-1728B52AA6E4}">
                <adec:decorative xmlns:adec="http://schemas.microsoft.com/office/drawing/2017/decorative" val="1"/>
              </a:ext>
            </a:extLst>
          </p:cNvPr>
          <p:cNvSpPr/>
          <p:nvPr/>
        </p:nvSpPr>
        <p:spPr>
          <a:xfrm>
            <a:off x="4690872" y="1371600"/>
            <a:ext cx="3950208" cy="54864"/>
          </a:xfrm>
          <a:prstGeom prst="rect">
            <a:avLst/>
          </a:prstGeom>
          <a:solidFill>
            <a:srgbClr val="00B7C3"/>
          </a:solidFill>
          <a:ln w="12700">
            <a:solidFill>
              <a:srgbClr val="333333"/>
            </a:solidFill>
            <a:prstDash val="solid"/>
          </a:ln>
        </p:spPr>
      </p:sp>
      <p:sp>
        <p:nvSpPr>
          <p:cNvPr id="12" name="Text 10"/>
          <p:cNvSpPr/>
          <p:nvPr/>
        </p:nvSpPr>
        <p:spPr>
          <a:xfrm>
            <a:off x="4892040" y="1554480"/>
            <a:ext cx="3566160" cy="292608"/>
          </a:xfrm>
          <a:prstGeom prst="rect">
            <a:avLst/>
          </a:prstGeom>
          <a:noFill/>
          <a:ln/>
        </p:spPr>
        <p:txBody>
          <a:bodyPr wrap="square" lIns="0" tIns="0" rIns="0" bIns="0" rtlCol="0" anchor="ctr"/>
          <a:lstStyle/>
          <a:p>
            <a:pPr marL="0" indent="0">
              <a:buNone/>
            </a:pPr>
            <a:r>
              <a:rPr lang="en-US" sz="1300" b="1" dirty="0">
                <a:solidFill>
                  <a:srgbClr val="0B2E5B"/>
                </a:solidFill>
                <a:latin typeface="Segoe UI" pitchFamily="34" charset="0"/>
                <a:ea typeface="Segoe UI" pitchFamily="34" charset="-122"/>
                <a:cs typeface="Segoe UI" pitchFamily="34" charset="-120"/>
              </a:rPr>
              <a:t>B · Mismo nombre (split DNS)</a:t>
            </a:r>
            <a:endParaRPr lang="en-US" sz="1300" dirty="0"/>
          </a:p>
        </p:txBody>
      </p:sp>
      <p:sp>
        <p:nvSpPr>
          <p:cNvPr id="13" name="Text 11"/>
          <p:cNvSpPr/>
          <p:nvPr/>
        </p:nvSpPr>
        <p:spPr>
          <a:xfrm>
            <a:off x="4965192" y="1901952"/>
            <a:ext cx="3520440" cy="2468880"/>
          </a:xfrm>
          <a:prstGeom prst="rect">
            <a:avLst/>
          </a:prstGeom>
          <a:noFill/>
          <a:ln/>
        </p:spPr>
        <p:txBody>
          <a:bodyPr wrap="square" rtlCol="0" anchor="t"/>
          <a:lstStyle/>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Split brain DNS devuelve distintas IP para el mismo host según quién resuelva.</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mail.adatum.com desde la red interna puede devolver 192.168.20.10 (IP privada).</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La misma consulta desde Internet puede devolver 131.107.43.19 (IP pública).</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Se crea una zona adatum.com en el DNS interno, que responde con sus registros A o CNAME.</a:t>
            </a:r>
            <a:endParaRPr lang="en-US" sz="1050" dirty="0"/>
          </a:p>
          <a:p>
            <a:pPr marL="342900" indent="-342900">
              <a:spcAft>
                <a:spcPts val="600"/>
              </a:spcAft>
              <a:buSzPct val="100000"/>
              <a:buChar char="•"/>
            </a:pPr>
            <a:r>
              <a:rPr lang="en-US" sz="1050" dirty="0">
                <a:solidFill>
                  <a:srgbClr val="5A5A66"/>
                </a:solidFill>
                <a:latin typeface="Segoe UI" pitchFamily="34" charset="0"/>
                <a:ea typeface="Segoe UI" pitchFamily="34" charset="-122"/>
                <a:cs typeface="Segoe UI" pitchFamily="34" charset="-120"/>
              </a:rPr>
              <a:t>Las zonas interna y externa deben tener los mismos registros pedidos por el asistente.</a:t>
            </a:r>
            <a:endParaRPr lang="en-US" sz="1050" dirty="0"/>
          </a:p>
        </p:txBody>
      </p:sp>
      <p:sp>
        <p:nvSpPr>
          <p:cNvPr id="14"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5" name="Text 13"/>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11</a:t>
            </a:r>
            <a:endParaRPr lang="en-US" sz="900" dirty="0"/>
          </a:p>
        </p:txBody>
      </p:sp>
      <p:sp>
        <p:nvSpPr>
          <p:cNvPr id="16" name="Text 14"/>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NUBE EXCLUSIVA</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Planificar zonas al trasladar todo el tenant a la nube</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1872234" cy="14973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497330"/>
          </a:xfrm>
          <a:prstGeom prst="rect">
            <a:avLst/>
          </a:prstGeom>
          <a:solidFill>
            <a:srgbClr val="00B7C3"/>
          </a:solidFill>
          <a:ln w="12700">
            <a:solidFill>
              <a:srgbClr val="333333"/>
            </a:solidFill>
            <a:prstDash val="solid"/>
          </a:ln>
        </p:spPr>
      </p:sp>
      <p:sp>
        <p:nvSpPr>
          <p:cNvPr id="8" name="Text 6"/>
          <p:cNvSpPr/>
          <p:nvPr/>
        </p:nvSpPr>
        <p:spPr>
          <a:xfrm>
            <a:off x="731520" y="148132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Understand DNS Zones</a:t>
            </a:r>
            <a:endParaRPr lang="en-US" sz="1100" dirty="0"/>
          </a:p>
        </p:txBody>
      </p:sp>
      <p:sp>
        <p:nvSpPr>
          <p:cNvPr id="9" name="Text 7"/>
          <p:cNvSpPr/>
          <p:nvPr/>
        </p:nvSpPr>
        <p:spPr>
          <a:xfrm>
            <a:off x="731520" y="193167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Parte del espacio de nombres que administra una entidad: un dominio o subdominio.</a:t>
            </a:r>
            <a:endParaRPr lang="en-US" sz="950" dirty="0"/>
          </a:p>
        </p:txBody>
      </p:sp>
      <p:sp>
        <p:nvSpPr>
          <p:cNvPr id="10" name="Tarjeta">
            <a:extLst>
              <a:ext uri="{C183D7F6-B498-43B3-948B-1728B52AA6E4}">
                <adec:decorative xmlns:adec="http://schemas.microsoft.com/office/drawing/2017/decorative" val="1"/>
              </a:ext>
            </a:extLst>
          </p:cNvPr>
          <p:cNvSpPr/>
          <p:nvPr/>
        </p:nvSpPr>
        <p:spPr>
          <a:xfrm>
            <a:off x="2622042" y="1371600"/>
            <a:ext cx="1872234" cy="14973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2622042" y="1371600"/>
            <a:ext cx="54864" cy="1497330"/>
          </a:xfrm>
          <a:prstGeom prst="rect">
            <a:avLst/>
          </a:prstGeom>
          <a:solidFill>
            <a:srgbClr val="00B7C3"/>
          </a:solidFill>
          <a:ln w="12700">
            <a:solidFill>
              <a:srgbClr val="333333"/>
            </a:solidFill>
            <a:prstDash val="solid"/>
          </a:ln>
        </p:spPr>
      </p:sp>
      <p:sp>
        <p:nvSpPr>
          <p:cNvPr id="12" name="Text 10"/>
          <p:cNvSpPr/>
          <p:nvPr/>
        </p:nvSpPr>
        <p:spPr>
          <a:xfrm>
            <a:off x="2804922" y="148132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Choose a DNS Provider</a:t>
            </a:r>
            <a:endParaRPr lang="en-US" sz="1100" dirty="0"/>
          </a:p>
        </p:txBody>
      </p:sp>
      <p:sp>
        <p:nvSpPr>
          <p:cNvPr id="13" name="Text 11"/>
          <p:cNvSpPr/>
          <p:nvPr/>
        </p:nvSpPr>
        <p:spPr>
          <a:xfrm>
            <a:off x="2804922" y="193167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Azure DNS, escalable y de alta disponibilidad; también Amazon Route 53 o Google Cloud DNS.</a:t>
            </a:r>
            <a:endParaRPr lang="en-US" sz="950" dirty="0"/>
          </a:p>
        </p:txBody>
      </p:sp>
      <p:sp>
        <p:nvSpPr>
          <p:cNvPr id="14" name="Tarjeta">
            <a:extLst>
              <a:ext uri="{C183D7F6-B498-43B3-948B-1728B52AA6E4}">
                <adec:decorative xmlns:adec="http://schemas.microsoft.com/office/drawing/2017/decorative" val="1"/>
              </a:ext>
            </a:extLst>
          </p:cNvPr>
          <p:cNvSpPr/>
          <p:nvPr/>
        </p:nvSpPr>
        <p:spPr>
          <a:xfrm>
            <a:off x="4695444" y="1371600"/>
            <a:ext cx="1872234" cy="14973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4695444" y="1371600"/>
            <a:ext cx="54864" cy="1497330"/>
          </a:xfrm>
          <a:prstGeom prst="rect">
            <a:avLst/>
          </a:prstGeom>
          <a:solidFill>
            <a:srgbClr val="00B7C3"/>
          </a:solidFill>
          <a:ln w="12700">
            <a:solidFill>
              <a:srgbClr val="333333"/>
            </a:solidFill>
            <a:prstDash val="solid"/>
          </a:ln>
        </p:spPr>
      </p:sp>
      <p:sp>
        <p:nvSpPr>
          <p:cNvPr id="16" name="Text 14"/>
          <p:cNvSpPr/>
          <p:nvPr/>
        </p:nvSpPr>
        <p:spPr>
          <a:xfrm>
            <a:off x="4878324" y="148132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Zone Hierarchy</a:t>
            </a:r>
            <a:endParaRPr lang="en-US" sz="1100" dirty="0"/>
          </a:p>
        </p:txBody>
      </p:sp>
      <p:sp>
        <p:nvSpPr>
          <p:cNvPr id="17" name="Text 15"/>
          <p:cNvSpPr/>
          <p:nvPr/>
        </p:nvSpPr>
        <p:spPr>
          <a:xfrm>
            <a:off x="4878324" y="174307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Jerarquía alineada con Active Directory o por dominio, subdominio o ubicación geográfica.</a:t>
            </a:r>
            <a:endParaRPr lang="en-US" sz="950" dirty="0"/>
          </a:p>
        </p:txBody>
      </p:sp>
      <p:sp>
        <p:nvSpPr>
          <p:cNvPr id="18" name="Tarjeta">
            <a:extLst>
              <a:ext uri="{C183D7F6-B498-43B3-948B-1728B52AA6E4}">
                <adec:decorative xmlns:adec="http://schemas.microsoft.com/office/drawing/2017/decorative" val="1"/>
              </a:ext>
            </a:extLst>
          </p:cNvPr>
          <p:cNvSpPr/>
          <p:nvPr/>
        </p:nvSpPr>
        <p:spPr>
          <a:xfrm>
            <a:off x="6768846" y="1371600"/>
            <a:ext cx="1872234" cy="14973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6768846" y="1371600"/>
            <a:ext cx="54864" cy="1497330"/>
          </a:xfrm>
          <a:prstGeom prst="rect">
            <a:avLst/>
          </a:prstGeom>
          <a:solidFill>
            <a:srgbClr val="00B7C3"/>
          </a:solidFill>
          <a:ln w="12700">
            <a:solidFill>
              <a:srgbClr val="333333"/>
            </a:solidFill>
            <a:prstDash val="solid"/>
          </a:ln>
        </p:spPr>
      </p:sp>
      <p:sp>
        <p:nvSpPr>
          <p:cNvPr id="20" name="Text 18"/>
          <p:cNvSpPr/>
          <p:nvPr/>
        </p:nvSpPr>
        <p:spPr>
          <a:xfrm>
            <a:off x="6951726" y="148132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Zone Design</a:t>
            </a:r>
            <a:endParaRPr lang="en-US" sz="1100" dirty="0"/>
          </a:p>
        </p:txBody>
      </p:sp>
      <p:sp>
        <p:nvSpPr>
          <p:cNvPr id="21" name="Text 19"/>
          <p:cNvSpPr/>
          <p:nvPr/>
        </p:nvSpPr>
        <p:spPr>
          <a:xfrm>
            <a:off x="6951726" y="174307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Zonas separadas por servicio: web, bases de datos, máquinas virtuales.</a:t>
            </a:r>
            <a:endParaRPr lang="en-US" sz="950" dirty="0"/>
          </a:p>
        </p:txBody>
      </p:sp>
      <p:sp>
        <p:nvSpPr>
          <p:cNvPr id="22" name="Tarjeta">
            <a:extLst>
              <a:ext uri="{C183D7F6-B498-43B3-948B-1728B52AA6E4}">
                <adec:decorative xmlns:adec="http://schemas.microsoft.com/office/drawing/2017/decorative" val="1"/>
              </a:ext>
            </a:extLst>
          </p:cNvPr>
          <p:cNvSpPr/>
          <p:nvPr/>
        </p:nvSpPr>
        <p:spPr>
          <a:xfrm>
            <a:off x="548640" y="3051810"/>
            <a:ext cx="1872234" cy="1497330"/>
          </a:xfrm>
          <a:prstGeom prst="rect">
            <a:avLst/>
          </a:prstGeom>
          <a:solidFill>
            <a:srgbClr val="EDF2F8"/>
          </a:solidFill>
          <a:ln w="12700">
            <a:solidFill>
              <a:srgbClr val="333333"/>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548640" y="3051810"/>
            <a:ext cx="54864" cy="1497330"/>
          </a:xfrm>
          <a:prstGeom prst="rect">
            <a:avLst/>
          </a:prstGeom>
          <a:solidFill>
            <a:srgbClr val="00B7C3"/>
          </a:solidFill>
          <a:ln w="12700">
            <a:solidFill>
              <a:srgbClr val="333333"/>
            </a:solidFill>
            <a:prstDash val="solid"/>
          </a:ln>
        </p:spPr>
      </p:sp>
      <p:sp>
        <p:nvSpPr>
          <p:cNvPr id="24" name="Text 22"/>
          <p:cNvSpPr/>
          <p:nvPr/>
        </p:nvSpPr>
        <p:spPr>
          <a:xfrm>
            <a:off x="731520"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Record Types</a:t>
            </a:r>
            <a:endParaRPr lang="en-US" sz="1100" dirty="0"/>
          </a:p>
        </p:txBody>
      </p:sp>
      <p:sp>
        <p:nvSpPr>
          <p:cNvPr id="25" name="Text 23"/>
          <p:cNvSpPr/>
          <p:nvPr/>
        </p:nvSpPr>
        <p:spPr>
          <a:xfrm>
            <a:off x="731520"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A (IPv4), AAAA (IPv6), CNAME (alias), MX (correo) y TXT (verificación).</a:t>
            </a:r>
            <a:endParaRPr lang="en-US" sz="950" dirty="0"/>
          </a:p>
        </p:txBody>
      </p:sp>
      <p:sp>
        <p:nvSpPr>
          <p:cNvPr id="26" name="Tarjeta">
            <a:extLst>
              <a:ext uri="{C183D7F6-B498-43B3-948B-1728B52AA6E4}">
                <adec:decorative xmlns:adec="http://schemas.microsoft.com/office/drawing/2017/decorative" val="1"/>
              </a:ext>
            </a:extLst>
          </p:cNvPr>
          <p:cNvSpPr/>
          <p:nvPr/>
        </p:nvSpPr>
        <p:spPr>
          <a:xfrm>
            <a:off x="2622042" y="3051810"/>
            <a:ext cx="1872234" cy="1497330"/>
          </a:xfrm>
          <a:prstGeom prst="rect">
            <a:avLst/>
          </a:prstGeom>
          <a:solidFill>
            <a:srgbClr val="EDF2F8"/>
          </a:solidFill>
          <a:ln w="12700">
            <a:solidFill>
              <a:srgbClr val="333333"/>
            </a:solidFill>
            <a:prstDash val="solid"/>
          </a:ln>
        </p:spPr>
      </p:sp>
      <p:sp>
        <p:nvSpPr>
          <p:cNvPr id="27" name="Acento de tarjeta">
            <a:extLst>
              <a:ext uri="{C183D7F6-B498-43B3-948B-1728B52AA6E4}">
                <adec:decorative xmlns:adec="http://schemas.microsoft.com/office/drawing/2017/decorative" val="1"/>
              </a:ext>
            </a:extLst>
          </p:cNvPr>
          <p:cNvSpPr/>
          <p:nvPr/>
        </p:nvSpPr>
        <p:spPr>
          <a:xfrm>
            <a:off x="2622042" y="3051810"/>
            <a:ext cx="54864" cy="1497330"/>
          </a:xfrm>
          <a:prstGeom prst="rect">
            <a:avLst/>
          </a:prstGeom>
          <a:solidFill>
            <a:srgbClr val="00B7C3"/>
          </a:solidFill>
          <a:ln w="12700">
            <a:solidFill>
              <a:srgbClr val="333333"/>
            </a:solidFill>
            <a:prstDash val="solid"/>
          </a:ln>
        </p:spPr>
      </p:sp>
      <p:sp>
        <p:nvSpPr>
          <p:cNvPr id="28" name="Text 26"/>
          <p:cNvSpPr/>
          <p:nvPr/>
        </p:nvSpPr>
        <p:spPr>
          <a:xfrm>
            <a:off x="2804922"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Zone Delegation</a:t>
            </a:r>
            <a:endParaRPr lang="en-US" sz="1100" dirty="0"/>
          </a:p>
        </p:txBody>
      </p:sp>
      <p:sp>
        <p:nvSpPr>
          <p:cNvPr id="29" name="Text 27"/>
          <p:cNvSpPr/>
          <p:nvPr/>
        </p:nvSpPr>
        <p:spPr>
          <a:xfrm>
            <a:off x="2804922"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Cada equipo o departamento administra los registros de su zona delegada.</a:t>
            </a:r>
            <a:endParaRPr lang="en-US" sz="950" dirty="0"/>
          </a:p>
        </p:txBody>
      </p:sp>
      <p:sp>
        <p:nvSpPr>
          <p:cNvPr id="30" name="Tarjeta">
            <a:extLst>
              <a:ext uri="{C183D7F6-B498-43B3-948B-1728B52AA6E4}">
                <adec:decorative xmlns:adec="http://schemas.microsoft.com/office/drawing/2017/decorative" val="1"/>
              </a:ext>
            </a:extLst>
          </p:cNvPr>
          <p:cNvSpPr/>
          <p:nvPr/>
        </p:nvSpPr>
        <p:spPr>
          <a:xfrm>
            <a:off x="4695444" y="3051810"/>
            <a:ext cx="1872234" cy="1497330"/>
          </a:xfrm>
          <a:prstGeom prst="rect">
            <a:avLst/>
          </a:prstGeom>
          <a:solidFill>
            <a:srgbClr val="EDF2F8"/>
          </a:solidFill>
          <a:ln w="12700">
            <a:solidFill>
              <a:srgbClr val="333333"/>
            </a:solidFill>
            <a:prstDash val="solid"/>
          </a:ln>
        </p:spPr>
      </p:sp>
      <p:sp>
        <p:nvSpPr>
          <p:cNvPr id="31" name="Acento de tarjeta">
            <a:extLst>
              <a:ext uri="{C183D7F6-B498-43B3-948B-1728B52AA6E4}">
                <adec:decorative xmlns:adec="http://schemas.microsoft.com/office/drawing/2017/decorative" val="1"/>
              </a:ext>
            </a:extLst>
          </p:cNvPr>
          <p:cNvSpPr/>
          <p:nvPr/>
        </p:nvSpPr>
        <p:spPr>
          <a:xfrm>
            <a:off x="4695444" y="3051810"/>
            <a:ext cx="54864" cy="1497330"/>
          </a:xfrm>
          <a:prstGeom prst="rect">
            <a:avLst/>
          </a:prstGeom>
          <a:solidFill>
            <a:srgbClr val="00B7C3"/>
          </a:solidFill>
          <a:ln w="12700">
            <a:solidFill>
              <a:srgbClr val="333333"/>
            </a:solidFill>
            <a:prstDash val="solid"/>
          </a:ln>
        </p:spPr>
      </p:sp>
      <p:sp>
        <p:nvSpPr>
          <p:cNvPr id="32" name="Text 30"/>
          <p:cNvSpPr/>
          <p:nvPr/>
        </p:nvSpPr>
        <p:spPr>
          <a:xfrm>
            <a:off x="4878324"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DNS Security</a:t>
            </a:r>
            <a:endParaRPr lang="en-US" sz="1100" dirty="0"/>
          </a:p>
        </p:txBody>
      </p:sp>
      <p:sp>
        <p:nvSpPr>
          <p:cNvPr id="33" name="Text 31"/>
          <p:cNvSpPr/>
          <p:nvPr/>
        </p:nvSpPr>
        <p:spPr>
          <a:xfrm>
            <a:off x="4878324"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DNSSEC como capa adicional frente a ataques relacionados con DNS.</a:t>
            </a:r>
            <a:endParaRPr lang="en-US" sz="950" dirty="0"/>
          </a:p>
        </p:txBody>
      </p:sp>
      <p:sp>
        <p:nvSpPr>
          <p:cNvPr id="34" name="Tarjeta">
            <a:extLst>
              <a:ext uri="{C183D7F6-B498-43B3-948B-1728B52AA6E4}">
                <adec:decorative xmlns:adec="http://schemas.microsoft.com/office/drawing/2017/decorative" val="1"/>
              </a:ext>
            </a:extLst>
          </p:cNvPr>
          <p:cNvSpPr/>
          <p:nvPr/>
        </p:nvSpPr>
        <p:spPr>
          <a:xfrm>
            <a:off x="6768846" y="3051810"/>
            <a:ext cx="1872234" cy="1497330"/>
          </a:xfrm>
          <a:prstGeom prst="rect">
            <a:avLst/>
          </a:prstGeom>
          <a:solidFill>
            <a:srgbClr val="EDF2F8"/>
          </a:solidFill>
          <a:ln w="12700">
            <a:solidFill>
              <a:srgbClr val="333333"/>
            </a:solidFill>
            <a:prstDash val="solid"/>
          </a:ln>
        </p:spPr>
      </p:sp>
      <p:sp>
        <p:nvSpPr>
          <p:cNvPr id="35" name="Acento de tarjeta">
            <a:extLst>
              <a:ext uri="{C183D7F6-B498-43B3-948B-1728B52AA6E4}">
                <adec:decorative xmlns:adec="http://schemas.microsoft.com/office/drawing/2017/decorative" val="1"/>
              </a:ext>
            </a:extLst>
          </p:cNvPr>
          <p:cNvSpPr/>
          <p:nvPr/>
        </p:nvSpPr>
        <p:spPr>
          <a:xfrm>
            <a:off x="6768846" y="3051810"/>
            <a:ext cx="54864" cy="1497330"/>
          </a:xfrm>
          <a:prstGeom prst="rect">
            <a:avLst/>
          </a:prstGeom>
          <a:solidFill>
            <a:srgbClr val="00B7C3"/>
          </a:solidFill>
          <a:ln w="12700">
            <a:solidFill>
              <a:srgbClr val="333333"/>
            </a:solidFill>
            <a:prstDash val="solid"/>
          </a:ln>
        </p:spPr>
      </p:sp>
      <p:sp>
        <p:nvSpPr>
          <p:cNvPr id="36" name="Text 34"/>
          <p:cNvSpPr/>
          <p:nvPr/>
        </p:nvSpPr>
        <p:spPr>
          <a:xfrm>
            <a:off x="6951726" y="316153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Monitoring and Maintenance</a:t>
            </a:r>
            <a:endParaRPr lang="en-US" sz="1100" dirty="0"/>
          </a:p>
        </p:txBody>
      </p:sp>
      <p:sp>
        <p:nvSpPr>
          <p:cNvPr id="37" name="Text 35"/>
          <p:cNvSpPr/>
          <p:nvPr/>
        </p:nvSpPr>
        <p:spPr>
          <a:xfrm>
            <a:off x="6951726" y="361188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Seguimiento de resolución, latencia y estado, y de los cambios del proveedor.</a:t>
            </a:r>
            <a:endParaRPr lang="en-US" sz="950" dirty="0"/>
          </a:p>
        </p:txBody>
      </p:sp>
      <p:sp>
        <p:nvSpPr>
          <p:cNvPr id="38"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9" name="Text 37"/>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12</a:t>
            </a:r>
            <a:endParaRPr lang="en-US" sz="900" dirty="0"/>
          </a:p>
        </p:txBody>
      </p:sp>
      <p:sp>
        <p:nvSpPr>
          <p:cNvPr id="40" name="Text 38"/>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KNOWLEDGE CHECK</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Comprobación de conocimientos</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71600"/>
            <a:ext cx="8092440" cy="777240"/>
          </a:xfrm>
          <a:prstGeom prst="rect">
            <a:avLst/>
          </a:prstGeom>
          <a:noFill/>
          <a:ln/>
        </p:spPr>
        <p:txBody>
          <a:bodyPr wrap="square" lIns="0" tIns="0" rIns="0" bIns="0" rtlCol="0" anchor="ctr"/>
          <a:lstStyle/>
          <a:p>
            <a:pPr marL="0" indent="0">
              <a:buNone/>
            </a:pPr>
            <a:r>
              <a:rPr lang="en-US" sz="1300" dirty="0">
                <a:solidFill>
                  <a:srgbClr val="1B1B1F"/>
                </a:solidFill>
                <a:latin typeface="Segoe UI" pitchFamily="34" charset="0"/>
                <a:ea typeface="Segoe UI" pitchFamily="34" charset="-122"/>
                <a:cs typeface="Segoe UI" pitchFamily="34" charset="-120"/>
              </a:rPr>
              <a:t>Como administrador de Microsoft 365 en Tailspin Toys, planificás una implementación y querés agregar un dominio personalizado donde la zona DNS interna y la externa tengan el mismo nombre, con conectividad a Microsoft 365. ¿Qué deberías hacer?</a:t>
            </a:r>
            <a:endParaRPr lang="en-US" sz="1300" dirty="0"/>
          </a:p>
        </p:txBody>
      </p:sp>
      <p:sp>
        <p:nvSpPr>
          <p:cNvPr id="7" name="Opción">
            <a:extLst>
              <a:ext uri="{C183D7F6-B498-43B3-948B-1728B52AA6E4}">
                <adec:decorative xmlns:adec="http://schemas.microsoft.com/office/drawing/2017/decorative" val="1"/>
              </a:ext>
            </a:extLst>
          </p:cNvPr>
          <p:cNvSpPr/>
          <p:nvPr/>
        </p:nvSpPr>
        <p:spPr>
          <a:xfrm>
            <a:off x="548640" y="2331720"/>
            <a:ext cx="8092440" cy="457200"/>
          </a:xfrm>
          <a:prstGeom prst="rect">
            <a:avLst/>
          </a:prstGeom>
          <a:solidFill>
            <a:srgbClr val="DFF3F5"/>
          </a:solidFill>
          <a:ln w="12700">
            <a:solidFill>
              <a:srgbClr val="333333"/>
            </a:solidFill>
            <a:prstDash val="solid"/>
          </a:ln>
        </p:spPr>
      </p:sp>
      <p:sp>
        <p:nvSpPr>
          <p:cNvPr id="8" name="Acento de opción">
            <a:extLst>
              <a:ext uri="{C183D7F6-B498-43B3-948B-1728B52AA6E4}">
                <adec:decorative xmlns:adec="http://schemas.microsoft.com/office/drawing/2017/decorative" val="1"/>
              </a:ext>
            </a:extLst>
          </p:cNvPr>
          <p:cNvSpPr/>
          <p:nvPr/>
        </p:nvSpPr>
        <p:spPr>
          <a:xfrm>
            <a:off x="548640" y="2331720"/>
            <a:ext cx="54864" cy="457200"/>
          </a:xfrm>
          <a:prstGeom prst="rect">
            <a:avLst/>
          </a:prstGeom>
          <a:solidFill>
            <a:srgbClr val="00B7C3"/>
          </a:solidFill>
          <a:ln w="12700">
            <a:solidFill>
              <a:srgbClr val="333333"/>
            </a:solidFill>
            <a:prstDash val="solid"/>
          </a:ln>
        </p:spPr>
      </p:sp>
      <p:sp>
        <p:nvSpPr>
          <p:cNvPr id="9" name="Text 7"/>
          <p:cNvSpPr/>
          <p:nvPr/>
        </p:nvSpPr>
        <p:spPr>
          <a:xfrm>
            <a:off x="777240" y="2331720"/>
            <a:ext cx="7680960" cy="457200"/>
          </a:xfrm>
          <a:prstGeom prst="rect">
            <a:avLst/>
          </a:prstGeom>
          <a:noFill/>
          <a:ln/>
        </p:spPr>
        <p:txBody>
          <a:bodyPr wrap="square" lIns="0" tIns="0" rIns="0" bIns="0" rtlCol="0" anchor="ctr"/>
          <a:lstStyle/>
          <a:p>
            <a:pPr marL="0" indent="0">
              <a:buNone/>
            </a:pPr>
            <a:r>
              <a:rPr lang="en-US" sz="1200" b="1" dirty="0">
                <a:solidFill>
                  <a:srgbClr val="0B2E5B"/>
                </a:solidFill>
                <a:latin typeface="Segoe UI" pitchFamily="34" charset="0"/>
                <a:ea typeface="Segoe UI" pitchFamily="34" charset="-122"/>
                <a:cs typeface="Segoe UI" pitchFamily="34" charset="-120"/>
              </a:rPr>
              <a:t>A.  Configurar split brain DNS.</a:t>
            </a:r>
            <a:endParaRPr lang="en-US" sz="1200" dirty="0"/>
          </a:p>
        </p:txBody>
      </p:sp>
      <p:sp>
        <p:nvSpPr>
          <p:cNvPr id="10" name="Opción">
            <a:extLst>
              <a:ext uri="{C183D7F6-B498-43B3-948B-1728B52AA6E4}">
                <adec:decorative xmlns:adec="http://schemas.microsoft.com/office/drawing/2017/decorative" val="1"/>
              </a:ext>
            </a:extLst>
          </p:cNvPr>
          <p:cNvSpPr/>
          <p:nvPr/>
        </p:nvSpPr>
        <p:spPr>
          <a:xfrm>
            <a:off x="548640" y="2898648"/>
            <a:ext cx="8092440" cy="457200"/>
          </a:xfrm>
          <a:prstGeom prst="rect">
            <a:avLst/>
          </a:prstGeom>
          <a:solidFill>
            <a:srgbClr val="EDF2F8"/>
          </a:solidFill>
          <a:ln w="12700">
            <a:solidFill>
              <a:srgbClr val="333333"/>
            </a:solidFill>
            <a:prstDash val="solid"/>
          </a:ln>
        </p:spPr>
      </p:sp>
      <p:sp>
        <p:nvSpPr>
          <p:cNvPr id="11" name="Acento de opción">
            <a:extLst>
              <a:ext uri="{C183D7F6-B498-43B3-948B-1728B52AA6E4}">
                <adec:decorative xmlns:adec="http://schemas.microsoft.com/office/drawing/2017/decorative" val="1"/>
              </a:ext>
            </a:extLst>
          </p:cNvPr>
          <p:cNvSpPr/>
          <p:nvPr/>
        </p:nvSpPr>
        <p:spPr>
          <a:xfrm>
            <a:off x="548640" y="2898648"/>
            <a:ext cx="54864" cy="457200"/>
          </a:xfrm>
          <a:prstGeom prst="rect">
            <a:avLst/>
          </a:prstGeom>
          <a:solidFill>
            <a:srgbClr val="C9D6E4"/>
          </a:solidFill>
          <a:ln w="12700">
            <a:solidFill>
              <a:srgbClr val="333333"/>
            </a:solidFill>
            <a:prstDash val="solid"/>
          </a:ln>
        </p:spPr>
      </p:sp>
      <p:sp>
        <p:nvSpPr>
          <p:cNvPr id="12" name="Text 10"/>
          <p:cNvSpPr/>
          <p:nvPr/>
        </p:nvSpPr>
        <p:spPr>
          <a:xfrm>
            <a:off x="777240" y="2898648"/>
            <a:ext cx="7680960" cy="457200"/>
          </a:xfrm>
          <a:prstGeom prst="rect">
            <a:avLst/>
          </a:prstGeom>
          <a:noFill/>
          <a:ln/>
        </p:spPr>
        <p:txBody>
          <a:bodyPr wrap="square" lIns="0" tIns="0" rIns="0" bIns="0" rtlCol="0" anchor="ctr"/>
          <a:lstStyle/>
          <a:p>
            <a:pPr marL="0" indent="0">
              <a:buNone/>
            </a:pPr>
            <a:r>
              <a:rPr lang="en-US" sz="1200" dirty="0">
                <a:solidFill>
                  <a:srgbClr val="5A5A66"/>
                </a:solidFill>
                <a:latin typeface="Segoe UI" pitchFamily="34" charset="0"/>
                <a:ea typeface="Segoe UI" pitchFamily="34" charset="-122"/>
                <a:cs typeface="Segoe UI" pitchFamily="34" charset="-120"/>
              </a:rPr>
              <a:t>B.  Utilizar zonas DNS integradas con Active Directory.</a:t>
            </a:r>
            <a:endParaRPr lang="en-US" sz="1200" dirty="0"/>
          </a:p>
        </p:txBody>
      </p:sp>
      <p:sp>
        <p:nvSpPr>
          <p:cNvPr id="13" name="Opción">
            <a:extLst>
              <a:ext uri="{C183D7F6-B498-43B3-948B-1728B52AA6E4}">
                <adec:decorative xmlns:adec="http://schemas.microsoft.com/office/drawing/2017/decorative" val="1"/>
              </a:ext>
            </a:extLst>
          </p:cNvPr>
          <p:cNvSpPr/>
          <p:nvPr/>
        </p:nvSpPr>
        <p:spPr>
          <a:xfrm>
            <a:off x="548640" y="3465576"/>
            <a:ext cx="8092440" cy="457200"/>
          </a:xfrm>
          <a:prstGeom prst="rect">
            <a:avLst/>
          </a:prstGeom>
          <a:solidFill>
            <a:srgbClr val="EDF2F8"/>
          </a:solidFill>
          <a:ln w="12700">
            <a:solidFill>
              <a:srgbClr val="333333"/>
            </a:solidFill>
            <a:prstDash val="solid"/>
          </a:ln>
        </p:spPr>
      </p:sp>
      <p:sp>
        <p:nvSpPr>
          <p:cNvPr id="14" name="Acento de opción">
            <a:extLst>
              <a:ext uri="{C183D7F6-B498-43B3-948B-1728B52AA6E4}">
                <adec:decorative xmlns:adec="http://schemas.microsoft.com/office/drawing/2017/decorative" val="1"/>
              </a:ext>
            </a:extLst>
          </p:cNvPr>
          <p:cNvSpPr/>
          <p:nvPr/>
        </p:nvSpPr>
        <p:spPr>
          <a:xfrm>
            <a:off x="548640" y="3465576"/>
            <a:ext cx="54864" cy="457200"/>
          </a:xfrm>
          <a:prstGeom prst="rect">
            <a:avLst/>
          </a:prstGeom>
          <a:solidFill>
            <a:srgbClr val="C9D6E4"/>
          </a:solidFill>
          <a:ln w="12700">
            <a:solidFill>
              <a:srgbClr val="333333"/>
            </a:solidFill>
            <a:prstDash val="solid"/>
          </a:ln>
        </p:spPr>
      </p:sp>
      <p:sp>
        <p:nvSpPr>
          <p:cNvPr id="15" name="Text 13"/>
          <p:cNvSpPr/>
          <p:nvPr/>
        </p:nvSpPr>
        <p:spPr>
          <a:xfrm>
            <a:off x="777240" y="3465576"/>
            <a:ext cx="7680960" cy="457200"/>
          </a:xfrm>
          <a:prstGeom prst="rect">
            <a:avLst/>
          </a:prstGeom>
          <a:noFill/>
          <a:ln/>
        </p:spPr>
        <p:txBody>
          <a:bodyPr wrap="square" lIns="0" tIns="0" rIns="0" bIns="0" rtlCol="0" anchor="ctr"/>
          <a:lstStyle/>
          <a:p>
            <a:pPr marL="0" indent="0">
              <a:buNone/>
            </a:pPr>
            <a:r>
              <a:rPr lang="en-US" sz="1200" dirty="0">
                <a:solidFill>
                  <a:srgbClr val="5A5A66"/>
                </a:solidFill>
                <a:latin typeface="Segoe UI" pitchFamily="34" charset="0"/>
                <a:ea typeface="Segoe UI" pitchFamily="34" charset="-122"/>
                <a:cs typeface="Segoe UI" pitchFamily="34" charset="-120"/>
              </a:rPr>
              <a:t>C.  Utilizar una zona primaria externa y una zona secundaria interna que apunte a ella.</a:t>
            </a:r>
            <a:endParaRPr lang="en-US" sz="1200" dirty="0"/>
          </a:p>
        </p:txBody>
      </p:sp>
      <p:sp>
        <p:nvSpPr>
          <p:cNvPr id="16" name="Text 14"/>
          <p:cNvSpPr/>
          <p:nvPr/>
        </p:nvSpPr>
        <p:spPr>
          <a:xfrm>
            <a:off x="566928" y="4114800"/>
            <a:ext cx="8092440" cy="365760"/>
          </a:xfrm>
          <a:prstGeom prst="rect">
            <a:avLst/>
          </a:prstGeom>
          <a:noFill/>
          <a:ln/>
        </p:spPr>
        <p:txBody>
          <a:bodyPr wrap="square" lIns="0" tIns="0" rIns="0" bIns="0" rtlCol="0" anchor="ctr"/>
          <a:lstStyle/>
          <a:p>
            <a:pPr marL="0" indent="0">
              <a:buNone/>
            </a:pPr>
            <a:r>
              <a:rPr lang="en-US" sz="1100" i="1" dirty="0">
                <a:solidFill>
                  <a:srgbClr val="0067B8"/>
                </a:solidFill>
                <a:latin typeface="Segoe UI" pitchFamily="34" charset="0"/>
                <a:ea typeface="Segoe UI" pitchFamily="34" charset="-122"/>
                <a:cs typeface="Segoe UI" pitchFamily="34" charset="-120"/>
              </a:rPr>
              <a:t>Respuesta correcta: A. El mismo nombre en zona interna y externa es, por definición, split brain DNS.</a:t>
            </a:r>
            <a:endParaRPr lang="en-US" sz="1100" dirty="0"/>
          </a:p>
        </p:txBody>
      </p:sp>
      <p:sp>
        <p:nvSpPr>
          <p:cNvPr id="1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8" name="Text 16"/>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13</a:t>
            </a:r>
            <a:endParaRPr lang="en-US" sz="900" dirty="0"/>
          </a:p>
        </p:txBody>
      </p:sp>
      <p:sp>
        <p:nvSpPr>
          <p:cNvPr id="19" name="Text 17"/>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E5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55000"/>
          </a:blip>
          <a:srcRect l="20305" r="20305"/>
          <a:stretch/>
        </p:blipFill>
        <p:spPr>
          <a:xfrm>
            <a:off x="4937760" y="0"/>
            <a:ext cx="4206240" cy="5143500"/>
          </a:xfrm>
          <a:prstGeom prst="rect">
            <a:avLst/>
          </a:prstGeom>
        </p:spPr>
      </p:pic>
      <p:sp>
        <p:nvSpPr>
          <p:cNvPr id="3" name="Separador">
            <a:extLst>
              <a:ext uri="{C183D7F6-B498-43B3-948B-1728B52AA6E4}">
                <adec:decorative xmlns:adec="http://schemas.microsoft.com/office/drawing/2017/decorative" val="1"/>
              </a:ext>
            </a:extLst>
          </p:cNvPr>
          <p:cNvSpPr/>
          <p:nvPr/>
        </p:nvSpPr>
        <p:spPr>
          <a:xfrm>
            <a:off x="4937760" y="0"/>
            <a:ext cx="18288" cy="5143500"/>
          </a:xfrm>
          <a:prstGeom prst="rect">
            <a:avLst/>
          </a:prstGeom>
          <a:solidFill>
            <a:srgbClr val="00B7C3"/>
          </a:solidFill>
          <a:ln w="12700">
            <a:solidFill>
              <a:srgbClr val="333333"/>
            </a:solidFill>
            <a:prstDash val="solid"/>
          </a:ln>
        </p:spPr>
      </p:sp>
      <p:sp>
        <p:nvSpPr>
          <p:cNvPr id="4" name="Text 1"/>
          <p:cNvSpPr/>
          <p:nvPr/>
        </p:nvSpPr>
        <p:spPr>
          <a:xfrm>
            <a:off x="640080" y="1874520"/>
            <a:ext cx="4023360" cy="274320"/>
          </a:xfrm>
          <a:prstGeom prst="rect">
            <a:avLst/>
          </a:prstGeom>
          <a:noFill/>
          <a:ln/>
        </p:spPr>
        <p:txBody>
          <a:bodyPr wrap="square" lIns="0" tIns="0" rIns="0" bIns="0" rtlCol="0" anchor="ctr"/>
          <a:lstStyle/>
          <a:p>
            <a:pPr marL="0" indent="0">
              <a:buNone/>
            </a:pPr>
            <a:r>
              <a:rPr lang="en-US" sz="1100" b="1" kern="0" spc="250" dirty="0">
                <a:solidFill>
                  <a:srgbClr val="00B7C3"/>
                </a:solidFill>
                <a:latin typeface="Segoe UI" pitchFamily="34" charset="0"/>
                <a:ea typeface="Segoe UI" pitchFamily="34" charset="-122"/>
                <a:cs typeface="Segoe UI" pitchFamily="34" charset="-120"/>
              </a:rPr>
              <a:t>UNIDAD 3</a:t>
            </a:r>
            <a:endParaRPr lang="en-US" sz="1100" dirty="0"/>
          </a:p>
        </p:txBody>
      </p:sp>
      <p:sp>
        <p:nvSpPr>
          <p:cNvPr id="5" name="Text 2"/>
          <p:cNvSpPr/>
          <p:nvPr/>
        </p:nvSpPr>
        <p:spPr>
          <a:xfrm>
            <a:off x="640080" y="2176272"/>
            <a:ext cx="4114800" cy="1005840"/>
          </a:xfrm>
          <a:prstGeom prst="rect">
            <a:avLst/>
          </a:prstGeom>
          <a:noFill/>
          <a:ln/>
        </p:spPr>
        <p:txBody>
          <a:bodyPr wrap="square" lIns="0" tIns="0" rIns="0" bIns="0" rtlCol="0" anchor="ctr"/>
          <a:lstStyle/>
          <a:p>
            <a:pPr marL="0" indent="0">
              <a:buNone/>
            </a:pPr>
            <a:r>
              <a:rPr lang="en-US" sz="3000" b="1" dirty="0">
                <a:solidFill>
                  <a:srgbClr val="FFFFFF"/>
                </a:solidFill>
                <a:latin typeface="Segoe UI" pitchFamily="34" charset="0"/>
                <a:ea typeface="Segoe UI" pitchFamily="34" charset="-122"/>
                <a:cs typeface="Segoe UI" pitchFamily="34" charset="-120"/>
              </a:rPr>
              <a:t>Requisitos de registros DNS</a:t>
            </a:r>
            <a:endParaRPr lang="en-US" sz="3000" dirty="0"/>
          </a:p>
        </p:txBody>
      </p:sp>
      <p:sp>
        <p:nvSpPr>
          <p:cNvPr id="6" name="Text 3"/>
          <p:cNvSpPr/>
          <p:nvPr/>
        </p:nvSpPr>
        <p:spPr>
          <a:xfrm>
            <a:off x="640080" y="3200400"/>
            <a:ext cx="4023360" cy="731520"/>
          </a:xfrm>
          <a:prstGeom prst="rect">
            <a:avLst/>
          </a:prstGeom>
          <a:noFill/>
          <a:ln/>
        </p:spPr>
        <p:txBody>
          <a:bodyPr wrap="square" lIns="0" tIns="0" rIns="0" bIns="0" rtlCol="0" anchor="ctr"/>
          <a:lstStyle/>
          <a:p>
            <a:pPr marL="0" indent="0">
              <a:buNone/>
            </a:pPr>
            <a:r>
              <a:rPr lang="en-US" sz="1200" dirty="0">
                <a:solidFill>
                  <a:srgbClr val="BBD2E8"/>
                </a:solidFill>
                <a:latin typeface="Segoe UI" pitchFamily="34" charset="0"/>
                <a:ea typeface="Segoe UI" pitchFamily="34" charset="-122"/>
                <a:cs typeface="Segoe UI" pitchFamily="34" charset="-120"/>
              </a:rPr>
              <a:t>Los registros dependen de los servicios que se quieran habilitar en el dominio</a:t>
            </a:r>
            <a:endParaRPr lang="en-US" sz="1200" dirty="0"/>
          </a:p>
        </p:txBody>
      </p:sp>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14</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REGISTROS DNS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Planificar los registros del dominio personalizado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71600"/>
            <a:ext cx="8138160" cy="3131820"/>
          </a:xfrm>
          <a:prstGeom prst="rect">
            <a:avLst/>
          </a:prstGeom>
          <a:noFill/>
          <a:ln/>
        </p:spPr>
        <p:txBody>
          <a:bodyPr wrap="square" rtlCol="0" anchor="t"/>
          <a:lstStyle/>
          <a:p>
            <a:pPr marL="342900" indent="-342900">
              <a:spcAft>
                <a:spcPts val="700"/>
              </a:spcAft>
              <a:buSzPct val="100000"/>
              <a:buChar char="•"/>
            </a:pPr>
            <a:r>
              <a:rPr lang="en-US" sz="1400" b="1" dirty="0">
                <a:solidFill>
                  <a:srgbClr val="1B1B1F"/>
                </a:solidFill>
                <a:latin typeface="Segoe UI" pitchFamily="34" charset="0"/>
                <a:ea typeface="Segoe UI" pitchFamily="34" charset="-122"/>
                <a:cs typeface="Segoe UI" pitchFamily="34" charset="-120"/>
              </a:rPr>
              <a:t>Tras verificar la propiedad, el administrador agrega los registros que permiten a los clientes localizar los servicios de Microsoft 365.</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Si la organización aloja su propio DNS externo, el administrador DNS crea los registros necesarios.</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Si los aloja un proveedor, se crean desde su consola. Algunos, como GoDaddy, ofrecen configuración automatizada para Microsoft 365; también puede permitirse que Microsoft 365 los configure y aloje.</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Un dominio comprado a un proveedor externo sigue registrado allí, pero Microsoft 365 puede usarlo para direcciones de correo y otros servicios.</a:t>
            </a:r>
            <a:endParaRPr lang="en-US" sz="1400" dirty="0"/>
          </a:p>
          <a:p>
            <a:pPr marL="342900" indent="-342900">
              <a:spcAft>
                <a:spcPts val="700"/>
              </a:spcAft>
              <a:buSzPct val="100000"/>
              <a:buChar char="•"/>
            </a:pPr>
            <a:r>
              <a:rPr lang="en-US" sz="1400" dirty="0">
                <a:solidFill>
                  <a:srgbClr val="1B1B1F"/>
                </a:solidFill>
                <a:latin typeface="Segoe UI" pitchFamily="34" charset="0"/>
                <a:ea typeface="Segoe UI" pitchFamily="34" charset="-122"/>
                <a:cs typeface="Segoe UI" pitchFamily="34" charset="-120"/>
              </a:rPr>
              <a:t>Sin dominio personalizado, los usuarios deben utilizar el dominio onmicrosoft.com.</a:t>
            </a:r>
            <a:endParaRPr lang="en-US" sz="1400" dirty="0"/>
          </a:p>
          <a:p>
            <a:pPr marL="342900" indent="-342900">
              <a:spcAft>
                <a:spcPts val="700"/>
              </a:spcAft>
              <a:buSzPct val="100000"/>
              <a:buChar char="•"/>
            </a:pPr>
            <a:r>
              <a:rPr lang="en-US" sz="1400" b="1" dirty="0">
                <a:solidFill>
                  <a:srgbClr val="1B1B1F"/>
                </a:solidFill>
                <a:latin typeface="Segoe UI" pitchFamily="34" charset="0"/>
                <a:ea typeface="Segoe UI" pitchFamily="34" charset="-122"/>
                <a:cs typeface="Segoe UI" pitchFamily="34" charset="-120"/>
              </a:rPr>
              <a:t>Sugerencia: agregar el dominio antes que los usuarios evita tener que configurarlos dos veces.</a:t>
            </a:r>
            <a:endParaRPr lang="en-US" sz="1400" dirty="0"/>
          </a:p>
        </p:txBody>
      </p:sp>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6"/>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15</a:t>
            </a:r>
            <a:endParaRPr lang="en-US" sz="900" dirty="0"/>
          </a:p>
        </p:txBody>
      </p:sp>
      <p:sp>
        <p:nvSpPr>
          <p:cNvPr id="9" name="Text 7"/>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REGISTROS DNS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Registros requeridos para los servicios principales</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92440" cy="2926080"/>
        </p:xfrm>
        <a:graphic>
          <a:graphicData uri="http://schemas.openxmlformats.org/drawingml/2006/table">
            <a:tbl>
              <a:tblPr/>
              <a:tblGrid>
                <a:gridCol w="1600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975360">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Registro</a:t>
                      </a:r>
                      <a:endParaRPr lang="en-US" sz="105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Propósito</a:t>
                      </a:r>
                      <a:endParaRPr lang="en-US" sz="105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Valor</a:t>
                      </a:r>
                      <a:endParaRPr lang="en-US" sz="105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Se aplica a</a:t>
                      </a:r>
                      <a:endParaRPr lang="en-US" sz="105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extLst>
                  <a:ext uri="{0D108BD9-81ED-4DB2-BD59-A6C34878D82A}">
                    <a16:rowId xmlns:a16="http://schemas.microsoft.com/office/drawing/2014/main" val="10000"/>
                  </a:ext>
                </a:extLst>
              </a:tr>
              <a:tr h="975360">
                <a:tc>
                  <a:txBody>
                    <a:bodyPr/>
                    <a:lstStyle/>
                    <a:p>
                      <a:pPr marL="0" indent="0">
                        <a:buNone/>
                      </a:pPr>
                      <a:r>
                        <a:rPr lang="en-US" sz="950" b="1" dirty="0">
                          <a:solidFill>
                            <a:srgbClr val="0B2E5B"/>
                          </a:solidFill>
                          <a:latin typeface="Segoe UI" pitchFamily="34" charset="0"/>
                          <a:ea typeface="Segoe UI" pitchFamily="34" charset="-122"/>
                          <a:cs typeface="Segoe UI" pitchFamily="34" charset="-120"/>
                        </a:rPr>
                        <a:t>TXT (Domain verification)</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50" dirty="0">
                          <a:solidFill>
                            <a:srgbClr val="1B1B1F"/>
                          </a:solidFill>
                          <a:latin typeface="Segoe UI" pitchFamily="34" charset="0"/>
                          <a:ea typeface="Segoe UI" pitchFamily="34" charset="-122"/>
                          <a:cs typeface="Segoe UI" pitchFamily="34" charset="-120"/>
                        </a:rPr>
                        <a:t>Verifica que la organización es propietaria del dominio. No afecta a nada más.</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50" dirty="0">
                          <a:solidFill>
                            <a:srgbClr val="1B1B1F"/>
                          </a:solidFill>
                          <a:latin typeface="Segoe UI" pitchFamily="34" charset="0"/>
                          <a:ea typeface="Segoe UI" pitchFamily="34" charset="-122"/>
                          <a:cs typeface="Segoe UI" pitchFamily="34" charset="-120"/>
                        </a:rPr>
                        <a:t>Host: @ (o el nombre del dominio). Valor: cadena provista por el asistente de configuración.</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50" dirty="0">
                          <a:solidFill>
                            <a:srgbClr val="1B1B1F"/>
                          </a:solidFill>
                          <a:latin typeface="Segoe UI" pitchFamily="34" charset="0"/>
                          <a:ea typeface="Segoe UI" pitchFamily="34" charset="-122"/>
                          <a:cs typeface="Segoe UI" pitchFamily="34" charset="-120"/>
                        </a:rPr>
                        <a:t>Todos los clientes</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1"/>
                  </a:ext>
                </a:extLst>
              </a:tr>
              <a:tr h="975360">
                <a:tc>
                  <a:txBody>
                    <a:bodyPr/>
                    <a:lstStyle/>
                    <a:p>
                      <a:pPr marL="0" indent="0">
                        <a:buNone/>
                      </a:pPr>
                      <a:r>
                        <a:rPr lang="en-US" sz="950" b="1" dirty="0">
                          <a:solidFill>
                            <a:srgbClr val="0B2E5B"/>
                          </a:solidFill>
                          <a:latin typeface="Segoe UI" pitchFamily="34" charset="0"/>
                          <a:ea typeface="Segoe UI" pitchFamily="34" charset="-122"/>
                          <a:cs typeface="Segoe UI" pitchFamily="34" charset="-120"/>
                        </a:rPr>
                        <a:t>CNAME (Suite)</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50" dirty="0">
                          <a:solidFill>
                            <a:srgbClr val="1B1B1F"/>
                          </a:solidFill>
                          <a:latin typeface="Segoe UI" pitchFamily="34" charset="0"/>
                          <a:ea typeface="Segoe UI" pitchFamily="34" charset="-122"/>
                          <a:cs typeface="Segoe UI" pitchFamily="34" charset="-120"/>
                        </a:rPr>
                        <a:t>Dirige la autenticación a la plataforma de identidad correcta. Si está presente sin ser cliente de 21Vianet, los usuarios reciben error y no pueden activar su licencia.</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50" dirty="0">
                          <a:solidFill>
                            <a:srgbClr val="1B1B1F"/>
                          </a:solidFill>
                          <a:latin typeface="Segoe UI" pitchFamily="34" charset="0"/>
                          <a:ea typeface="Segoe UI" pitchFamily="34" charset="-122"/>
                          <a:cs typeface="Segoe UI" pitchFamily="34" charset="-120"/>
                        </a:rPr>
                        <a:t>Alias: msoid. Target: clientconfig.partner.microsoftonline-p.net.cn</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50" dirty="0">
                          <a:solidFill>
                            <a:srgbClr val="1B1B1F"/>
                          </a:solidFill>
                          <a:latin typeface="Segoe UI" pitchFamily="34" charset="0"/>
                          <a:ea typeface="Segoe UI" pitchFamily="34" charset="-122"/>
                          <a:cs typeface="Segoe UI" pitchFamily="34" charset="-120"/>
                        </a:rPr>
                        <a:t>Solo clientes de 21Vianet en China</a:t>
                      </a:r>
                      <a:endParaRPr lang="en-US" sz="95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16</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REGISTROS DNS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Registros para correo electrónico (Exchange Online)</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92440" cy="2926080"/>
        </p:xfrm>
        <a:graphic>
          <a:graphicData uri="http://schemas.openxmlformats.org/drawingml/2006/table">
            <a:tbl>
              <a:tblPr/>
              <a:tblGrid>
                <a:gridCol w="1783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85216">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Registro</a:t>
                      </a:r>
                      <a:endParaRPr lang="en-US" sz="10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Propósito</a:t>
                      </a:r>
                      <a:endParaRPr lang="en-US" sz="10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Valor a utilizar</a:t>
                      </a:r>
                      <a:endParaRPr lang="en-US" sz="10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extLst>
                  <a:ext uri="{0D108BD9-81ED-4DB2-BD59-A6C34878D82A}">
                    <a16:rowId xmlns:a16="http://schemas.microsoft.com/office/drawing/2014/main" val="10000"/>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CNAME (Exchange Online)</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Autodiscover configura Outlook automáticamente con el host de Exchange correcto.</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Alias: Autodiscover · Target: autodiscover.outlook.com</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1"/>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MX (Exchange Online)</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Envía el correo entrante a Exchange Online. Luego deben eliminarse los MX del sistema anterior.</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Target: [MX token].mail.protection.outlook.com · TTL 3600 · Priority menor que cualquier otro MX (por ejemplo, 1)</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SPF (TXT)</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Identifica los servidores autorizados a enviar correo desde el dominio y evita spam y suplantación.</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Registro TXT único con los valores requeridos por Microsoft 365</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3"/>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TXT / CNAME (Exchange federation)</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Federación de Exchange en implementaciones híbridas, con Autodiscover para los clientes.</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TXT con el hash de prueba del dominio · Alias Autodiscover.service.contoso.com → autodiscover.outlook.com</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17</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REGISTROS DNS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Registros requeridos para Microsoft Teams</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92440" cy="2926080"/>
        </p:xfrm>
        <a:graphic>
          <a:graphicData uri="http://schemas.openxmlformats.org/drawingml/2006/table">
            <a:tbl>
              <a:tblPr/>
              <a:tblGrid>
                <a:gridCol w="1783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85216">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Registro</a:t>
                      </a:r>
                      <a:endParaRPr lang="en-US" sz="10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Propósito</a:t>
                      </a:r>
                      <a:endParaRPr lang="en-US" sz="10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Valor a utilizar</a:t>
                      </a:r>
                      <a:endParaRPr lang="en-US" sz="1000" dirty="0">
                        <a:latin typeface="Segoe UI" charset="0"/>
                        <a:ea typeface="Segoe UI" charset="0"/>
                        <a:cs typeface="Segoe UI" charset="0"/>
                      </a:endParaRPr>
                    </a:p>
                  </a:txBody>
                  <a:tcPr marL="76200" marR="76200" marT="76200" marB="76200" anchor="ctr">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0B2E5B"/>
                    </a:solidFill>
                  </a:tcPr>
                </a:tc>
                <a:extLst>
                  <a:ext uri="{0D108BD9-81ED-4DB2-BD59-A6C34878D82A}">
                    <a16:rowId xmlns:a16="http://schemas.microsoft.com/office/drawing/2014/main" val="10000"/>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SRV (Federation)</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Comparte mensajería instantánea con clientes externos habilitando la federación SIP.</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Service: sipfederationtls · Protocol: TCP · Priority 100 · Weight 1 · Port 5061 · Target: sipfed.online.lync.com</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1"/>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SRV (SIP)</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Necesario si el tenant Teams-only utiliza teléfonos de Skype for Business Online.</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Service: sip · Protocol: TLS · Priority 100 · Weight 1 · Port 443 · Target: sipdir.online.lync.com</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CNAME (Lyncdiscover)</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Admite los cmdlets de PowerShell que aún usan la infraestructura de Skype for Business Online.</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Alias: lyncdiscover.[domain] · Target: webdir.online.lync.com</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EDF2F8"/>
                    </a:solidFill>
                  </a:tcPr>
                </a:tc>
                <a:extLst>
                  <a:ext uri="{0D108BD9-81ED-4DB2-BD59-A6C34878D82A}">
                    <a16:rowId xmlns:a16="http://schemas.microsoft.com/office/drawing/2014/main" val="10003"/>
                  </a:ext>
                </a:extLst>
              </a:tr>
              <a:tr h="585216">
                <a:tc>
                  <a:txBody>
                    <a:bodyPr/>
                    <a:lstStyle/>
                    <a:p>
                      <a:pPr marL="0" indent="0">
                        <a:buNone/>
                      </a:pPr>
                      <a:r>
                        <a:rPr lang="en-US" sz="900" b="1" dirty="0">
                          <a:solidFill>
                            <a:srgbClr val="0B2E5B"/>
                          </a:solidFill>
                          <a:latin typeface="Segoe UI" pitchFamily="34" charset="0"/>
                          <a:ea typeface="Segoe UI" pitchFamily="34" charset="-122"/>
                          <a:cs typeface="Segoe UI" pitchFamily="34" charset="-120"/>
                        </a:rPr>
                        <a:t>CNAME (SSO)</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Verifica la propiedad del dominio y dirige el tráfico a los servicios adecuados de Microsoft 365.</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tc>
                  <a:txBody>
                    <a:bodyPr/>
                    <a:lstStyle/>
                    <a:p>
                      <a:pPr marL="0" indent="0">
                        <a:buNone/>
                      </a:pPr>
                      <a:r>
                        <a:rPr lang="en-US" sz="900" dirty="0">
                          <a:solidFill>
                            <a:srgbClr val="1B1B1F"/>
                          </a:solidFill>
                          <a:latin typeface="Segoe UI" pitchFamily="34" charset="0"/>
                          <a:ea typeface="Segoe UI" pitchFamily="34" charset="-122"/>
                          <a:cs typeface="Segoe UI" pitchFamily="34" charset="-120"/>
                        </a:rPr>
                        <a:t>Name/Host: alias como autodiscover o msoid · Target: el host provisto por Microsoft</a:t>
                      </a:r>
                      <a:endParaRPr lang="en-US" sz="900" dirty="0">
                        <a:latin typeface="Segoe UI" charset="0"/>
                        <a:ea typeface="Segoe UI" charset="0"/>
                        <a:cs typeface="Segoe UI" charset="0"/>
                      </a:endParaRPr>
                    </a:p>
                  </a:txBody>
                  <a:tcPr marL="76200" marR="76200" marT="76200" marB="76200">
                    <a:lnL w="9525" cap="flat" cmpd="sng" algn="ctr">
                      <a:solidFill>
                        <a:srgbClr val="D8E2EC"/>
                      </a:solidFill>
                      <a:prstDash val="solid"/>
                      <a:round/>
                      <a:headEnd type="none" w="med" len="med"/>
                      <a:tailEnd type="none" w="med" len="med"/>
                    </a:lnL>
                    <a:lnR w="9525" cap="flat" cmpd="sng" algn="ctr">
                      <a:solidFill>
                        <a:srgbClr val="D8E2EC"/>
                      </a:solidFill>
                      <a:prstDash val="solid"/>
                      <a:round/>
                      <a:headEnd type="none" w="med" len="med"/>
                      <a:tailEnd type="none" w="med" len="med"/>
                    </a:lnR>
                    <a:lnT w="9525" cap="flat" cmpd="sng" algn="ctr">
                      <a:solidFill>
                        <a:srgbClr val="D8E2EC"/>
                      </a:solidFill>
                      <a:prstDash val="solid"/>
                      <a:round/>
                      <a:headEnd type="none" w="med" len="med"/>
                      <a:tailEnd type="none" w="med" len="med"/>
                    </a:lnT>
                    <a:lnB w="9525" cap="flat" cmpd="sng" algn="ctr">
                      <a:solidFill>
                        <a:srgbClr val="D8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18</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REGISTROS DNS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Sender Policy Framework (SPF)</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53312"/>
            <a:ext cx="8092440" cy="411480"/>
          </a:xfrm>
          <a:prstGeom prst="rect">
            <a:avLst/>
          </a:prstGeom>
          <a:noFill/>
          <a:ln/>
        </p:spPr>
        <p:txBody>
          <a:bodyPr wrap="square" lIns="0" tIns="0" rIns="0" bIns="0" rtlCol="0" anchor="ctr"/>
          <a:lstStyle/>
          <a:p>
            <a:pPr marL="0" indent="0">
              <a:buNone/>
            </a:pPr>
            <a:r>
              <a:rPr lang="en-US" sz="1200" dirty="0">
                <a:solidFill>
                  <a:srgbClr val="1B1B1F"/>
                </a:solidFill>
                <a:latin typeface="Segoe UI" pitchFamily="34" charset="0"/>
                <a:ea typeface="Segoe UI" pitchFamily="34" charset="-122"/>
                <a:cs typeface="Segoe UI" pitchFamily="34" charset="-120"/>
              </a:rPr>
              <a:t>Registro TXT que identifica los servidores autorizados a enviar correo desde el dominio. Solo puede existir uno por dominio, con un máximo de 10 búsquedas DNS resultantes.</a:t>
            </a:r>
            <a:endParaRPr lang="en-US" sz="1200" dirty="0"/>
          </a:p>
        </p:txBody>
      </p:sp>
      <p:sp>
        <p:nvSpPr>
          <p:cNvPr id="7" name="Bloque de código">
            <a:extLst>
              <a:ext uri="{C183D7F6-B498-43B3-948B-1728B52AA6E4}">
                <adec:decorative xmlns:adec="http://schemas.microsoft.com/office/drawing/2017/decorative" val="1"/>
              </a:ext>
            </a:extLst>
          </p:cNvPr>
          <p:cNvSpPr/>
          <p:nvPr/>
        </p:nvSpPr>
        <p:spPr>
          <a:xfrm>
            <a:off x="548640" y="1828800"/>
            <a:ext cx="8092440" cy="457200"/>
          </a:xfrm>
          <a:prstGeom prst="rect">
            <a:avLst/>
          </a:prstGeom>
          <a:solidFill>
            <a:srgbClr val="0B2E5B"/>
          </a:solidFill>
          <a:ln w="12700">
            <a:solidFill>
              <a:srgbClr val="333333"/>
            </a:solidFill>
            <a:prstDash val="solid"/>
          </a:ln>
        </p:spPr>
      </p:sp>
      <p:sp>
        <p:nvSpPr>
          <p:cNvPr id="8" name="Text 6"/>
          <p:cNvSpPr/>
          <p:nvPr/>
        </p:nvSpPr>
        <p:spPr>
          <a:xfrm>
            <a:off x="777240" y="1828800"/>
            <a:ext cx="7680960" cy="457200"/>
          </a:xfrm>
          <a:prstGeom prst="rect">
            <a:avLst/>
          </a:prstGeom>
          <a:noFill/>
          <a:ln/>
        </p:spPr>
        <p:txBody>
          <a:bodyPr wrap="square" lIns="0" tIns="0" rIns="0" bIns="0" rtlCol="0" anchor="ctr"/>
          <a:lstStyle/>
          <a:p>
            <a:pPr marL="0" indent="0">
              <a:buNone/>
            </a:pPr>
            <a:r>
              <a:rPr lang="en-US" sz="1200" dirty="0">
                <a:solidFill>
                  <a:srgbClr val="9BE7F0"/>
                </a:solidFill>
                <a:latin typeface="Consolas" pitchFamily="34" charset="0"/>
                <a:ea typeface="Consolas" pitchFamily="34" charset="-122"/>
                <a:cs typeface="Consolas" pitchFamily="34" charset="-120"/>
              </a:rPr>
              <a:t>TXT  Name: @   Value: v=spf1 include:spf.protection.outlook.com -all</a:t>
            </a:r>
            <a:endParaRPr lang="en-US" sz="1200" dirty="0"/>
          </a:p>
        </p:txBody>
      </p:sp>
      <p:sp>
        <p:nvSpPr>
          <p:cNvPr id="9" name="Text 7"/>
          <p:cNvSpPr/>
          <p:nvPr/>
        </p:nvSpPr>
        <p:spPr>
          <a:xfrm>
            <a:off x="566928" y="2395728"/>
            <a:ext cx="8092440" cy="274320"/>
          </a:xfrm>
          <a:prstGeom prst="rect">
            <a:avLst/>
          </a:prstGeom>
          <a:noFill/>
          <a:ln/>
        </p:spPr>
        <p:txBody>
          <a:bodyPr wrap="square" lIns="0" tIns="0" rIns="0" bIns="0" rtlCol="0" anchor="ctr"/>
          <a:lstStyle/>
          <a:p>
            <a:pPr marL="0" indent="0">
              <a:buNone/>
            </a:pPr>
            <a:r>
              <a:rPr lang="en-US" sz="1150" b="1" dirty="0">
                <a:solidFill>
                  <a:srgbClr val="0B2E5B"/>
                </a:solidFill>
                <a:latin typeface="Segoe UI" pitchFamily="34" charset="0"/>
                <a:ea typeface="Segoe UI" pitchFamily="34" charset="-122"/>
                <a:cs typeface="Segoe UI" pitchFamily="34" charset="-120"/>
              </a:rPr>
              <a:t>Estructura del registro: declaración, dominios, direcciones IP autorizadas y regla de aplicación</a:t>
            </a:r>
            <a:endParaRPr lang="en-US" sz="1150" dirty="0"/>
          </a:p>
        </p:txBody>
      </p:sp>
      <p:sp>
        <p:nvSpPr>
          <p:cNvPr id="10" name="Fila">
            <a:extLst>
              <a:ext uri="{C183D7F6-B498-43B3-948B-1728B52AA6E4}">
                <adec:decorative xmlns:adec="http://schemas.microsoft.com/office/drawing/2017/decorative" val="1"/>
              </a:ext>
            </a:extLst>
          </p:cNvPr>
          <p:cNvSpPr/>
          <p:nvPr/>
        </p:nvSpPr>
        <p:spPr>
          <a:xfrm>
            <a:off x="548640" y="2724912"/>
            <a:ext cx="8092440" cy="292608"/>
          </a:xfrm>
          <a:prstGeom prst="rect">
            <a:avLst/>
          </a:prstGeom>
          <a:solidFill>
            <a:srgbClr val="EDF2F8"/>
          </a:solidFill>
          <a:ln w="12700">
            <a:solidFill>
              <a:srgbClr val="333333"/>
            </a:solidFill>
            <a:prstDash val="solid"/>
          </a:ln>
        </p:spPr>
      </p:sp>
      <p:sp>
        <p:nvSpPr>
          <p:cNvPr id="11" name="Text 9"/>
          <p:cNvSpPr/>
          <p:nvPr/>
        </p:nvSpPr>
        <p:spPr>
          <a:xfrm>
            <a:off x="658368" y="2724912"/>
            <a:ext cx="274320" cy="292608"/>
          </a:xfrm>
          <a:prstGeom prst="rect">
            <a:avLst/>
          </a:prstGeom>
          <a:noFill/>
          <a:ln/>
        </p:spPr>
        <p:txBody>
          <a:bodyPr wrap="square" lIns="0" tIns="0" rIns="0" bIns="0" rtlCol="0" anchor="ctr"/>
          <a:lstStyle/>
          <a:p>
            <a:pPr marL="0" indent="0">
              <a:buNone/>
            </a:pPr>
            <a:r>
              <a:rPr lang="en-US" sz="1050" b="1" dirty="0">
                <a:solidFill>
                  <a:srgbClr val="00B7C3"/>
                </a:solidFill>
                <a:latin typeface="Segoe UI" pitchFamily="34" charset="0"/>
                <a:ea typeface="Segoe UI" pitchFamily="34" charset="-122"/>
                <a:cs typeface="Segoe UI" pitchFamily="34" charset="-120"/>
              </a:rPr>
              <a:t>1</a:t>
            </a:r>
            <a:endParaRPr lang="en-US" sz="1050" dirty="0"/>
          </a:p>
        </p:txBody>
      </p:sp>
      <p:sp>
        <p:nvSpPr>
          <p:cNvPr id="12" name="Text 10"/>
          <p:cNvSpPr/>
          <p:nvPr/>
        </p:nvSpPr>
        <p:spPr>
          <a:xfrm>
            <a:off x="960120" y="2724912"/>
            <a:ext cx="3657600" cy="292608"/>
          </a:xfrm>
          <a:prstGeom prst="rect">
            <a:avLst/>
          </a:prstGeom>
          <a:noFill/>
          <a:ln/>
        </p:spPr>
        <p:txBody>
          <a:bodyPr wrap="square" lIns="0" tIns="0" rIns="0" bIns="0" rtlCol="0" anchor="ctr"/>
          <a:lstStyle/>
          <a:p>
            <a:pPr marL="0" indent="0">
              <a:buNone/>
            </a:pPr>
            <a:r>
              <a:rPr lang="en-US" sz="1050" dirty="0">
                <a:solidFill>
                  <a:srgbClr val="5A5A66"/>
                </a:solidFill>
                <a:latin typeface="Segoe UI" pitchFamily="34" charset="0"/>
                <a:ea typeface="Segoe UI" pitchFamily="34" charset="-122"/>
                <a:cs typeface="Segoe UI" pitchFamily="34" charset="-120"/>
              </a:rPr>
              <a:t>Todos los sistemas de correo (obligatorio)</a:t>
            </a:r>
            <a:endParaRPr lang="en-US" sz="1050" dirty="0"/>
          </a:p>
        </p:txBody>
      </p:sp>
      <p:sp>
        <p:nvSpPr>
          <p:cNvPr id="13" name="Text 11"/>
          <p:cNvSpPr/>
          <p:nvPr/>
        </p:nvSpPr>
        <p:spPr>
          <a:xfrm>
            <a:off x="4709160" y="2724912"/>
            <a:ext cx="3840480" cy="292608"/>
          </a:xfrm>
          <a:prstGeom prst="rect">
            <a:avLst/>
          </a:prstGeom>
          <a:noFill/>
          <a:ln/>
        </p:spPr>
        <p:txBody>
          <a:bodyPr wrap="square" lIns="0" tIns="0" rIns="0" bIns="0" rtlCol="0" anchor="ctr"/>
          <a:lstStyle/>
          <a:p>
            <a:pPr marL="0" indent="0">
              <a:buNone/>
            </a:pPr>
            <a:r>
              <a:rPr lang="en-US" sz="1050" dirty="0">
                <a:solidFill>
                  <a:srgbClr val="0B2E5B"/>
                </a:solidFill>
                <a:latin typeface="Consolas" pitchFamily="34" charset="0"/>
                <a:ea typeface="Consolas" pitchFamily="34" charset="-122"/>
                <a:cs typeface="Consolas" pitchFamily="34" charset="-120"/>
              </a:rPr>
              <a:t>v=spf1</a:t>
            </a:r>
            <a:endParaRPr lang="en-US" sz="1050" dirty="0"/>
          </a:p>
        </p:txBody>
      </p:sp>
      <p:sp>
        <p:nvSpPr>
          <p:cNvPr id="14" name="Fila">
            <a:extLst>
              <a:ext uri="{C183D7F6-B498-43B3-948B-1728B52AA6E4}">
                <adec:decorative xmlns:adec="http://schemas.microsoft.com/office/drawing/2017/decorative" val="1"/>
              </a:ext>
            </a:extLst>
          </p:cNvPr>
          <p:cNvSpPr/>
          <p:nvPr/>
        </p:nvSpPr>
        <p:spPr>
          <a:xfrm>
            <a:off x="548640" y="3054096"/>
            <a:ext cx="8092440" cy="292608"/>
          </a:xfrm>
          <a:prstGeom prst="rect">
            <a:avLst/>
          </a:prstGeom>
          <a:solidFill>
            <a:srgbClr val="FFFFFF"/>
          </a:solidFill>
          <a:ln w="12700">
            <a:solidFill>
              <a:srgbClr val="333333"/>
            </a:solidFill>
            <a:prstDash val="solid"/>
          </a:ln>
        </p:spPr>
      </p:sp>
      <p:sp>
        <p:nvSpPr>
          <p:cNvPr id="15" name="Text 13"/>
          <p:cNvSpPr/>
          <p:nvPr/>
        </p:nvSpPr>
        <p:spPr>
          <a:xfrm>
            <a:off x="658368" y="3054096"/>
            <a:ext cx="274320" cy="292608"/>
          </a:xfrm>
          <a:prstGeom prst="rect">
            <a:avLst/>
          </a:prstGeom>
          <a:noFill/>
          <a:ln/>
        </p:spPr>
        <p:txBody>
          <a:bodyPr wrap="square" lIns="0" tIns="0" rIns="0" bIns="0" rtlCol="0" anchor="ctr"/>
          <a:lstStyle/>
          <a:p>
            <a:pPr marL="0" indent="0">
              <a:buNone/>
            </a:pPr>
            <a:r>
              <a:rPr lang="en-US" sz="1050" b="1" dirty="0">
                <a:solidFill>
                  <a:srgbClr val="00B7C3"/>
                </a:solidFill>
                <a:latin typeface="Segoe UI" pitchFamily="34" charset="0"/>
                <a:ea typeface="Segoe UI" pitchFamily="34" charset="-122"/>
                <a:cs typeface="Segoe UI" pitchFamily="34" charset="-120"/>
              </a:rPr>
              <a:t>2</a:t>
            </a:r>
            <a:endParaRPr lang="en-US" sz="1050" dirty="0"/>
          </a:p>
        </p:txBody>
      </p:sp>
      <p:sp>
        <p:nvSpPr>
          <p:cNvPr id="16" name="Text 14"/>
          <p:cNvSpPr/>
          <p:nvPr/>
        </p:nvSpPr>
        <p:spPr>
          <a:xfrm>
            <a:off x="960120" y="3054096"/>
            <a:ext cx="3657600" cy="292608"/>
          </a:xfrm>
          <a:prstGeom prst="rect">
            <a:avLst/>
          </a:prstGeom>
          <a:noFill/>
          <a:ln/>
        </p:spPr>
        <p:txBody>
          <a:bodyPr wrap="square" lIns="0" tIns="0" rIns="0" bIns="0" rtlCol="0" anchor="ctr"/>
          <a:lstStyle/>
          <a:p>
            <a:pPr marL="0" indent="0">
              <a:buNone/>
            </a:pPr>
            <a:r>
              <a:rPr lang="en-US" sz="1050" dirty="0">
                <a:solidFill>
                  <a:srgbClr val="5A5A66"/>
                </a:solidFill>
                <a:latin typeface="Segoe UI" pitchFamily="34" charset="0"/>
                <a:ea typeface="Segoe UI" pitchFamily="34" charset="-122"/>
                <a:cs typeface="Segoe UI" pitchFamily="34" charset="-120"/>
              </a:rPr>
              <a:t>Exchange Online (común)</a:t>
            </a:r>
            <a:endParaRPr lang="en-US" sz="1050" dirty="0"/>
          </a:p>
        </p:txBody>
      </p:sp>
      <p:sp>
        <p:nvSpPr>
          <p:cNvPr id="17" name="Text 15"/>
          <p:cNvSpPr/>
          <p:nvPr/>
        </p:nvSpPr>
        <p:spPr>
          <a:xfrm>
            <a:off x="4709160" y="3054096"/>
            <a:ext cx="3840480" cy="292608"/>
          </a:xfrm>
          <a:prstGeom prst="rect">
            <a:avLst/>
          </a:prstGeom>
          <a:noFill/>
          <a:ln/>
        </p:spPr>
        <p:txBody>
          <a:bodyPr wrap="square" lIns="0" tIns="0" rIns="0" bIns="0" rtlCol="0" anchor="ctr"/>
          <a:lstStyle/>
          <a:p>
            <a:pPr marL="0" indent="0">
              <a:buNone/>
            </a:pPr>
            <a:r>
              <a:rPr lang="en-US" sz="1050" dirty="0">
                <a:solidFill>
                  <a:srgbClr val="0B2E5B"/>
                </a:solidFill>
                <a:latin typeface="Consolas" pitchFamily="34" charset="0"/>
                <a:ea typeface="Consolas" pitchFamily="34" charset="-122"/>
                <a:cs typeface="Consolas" pitchFamily="34" charset="-120"/>
              </a:rPr>
              <a:t>include:spf.protection.outlook.com</a:t>
            </a:r>
            <a:endParaRPr lang="en-US" sz="1050" dirty="0"/>
          </a:p>
        </p:txBody>
      </p:sp>
      <p:sp>
        <p:nvSpPr>
          <p:cNvPr id="18" name="Fila">
            <a:extLst>
              <a:ext uri="{C183D7F6-B498-43B3-948B-1728B52AA6E4}">
                <adec:decorative xmlns:adec="http://schemas.microsoft.com/office/drawing/2017/decorative" val="1"/>
              </a:ext>
            </a:extLst>
          </p:cNvPr>
          <p:cNvSpPr/>
          <p:nvPr/>
        </p:nvSpPr>
        <p:spPr>
          <a:xfrm>
            <a:off x="548640" y="3383280"/>
            <a:ext cx="8092440" cy="292608"/>
          </a:xfrm>
          <a:prstGeom prst="rect">
            <a:avLst/>
          </a:prstGeom>
          <a:solidFill>
            <a:srgbClr val="EDF2F8"/>
          </a:solidFill>
          <a:ln w="12700">
            <a:solidFill>
              <a:srgbClr val="333333"/>
            </a:solidFill>
            <a:prstDash val="solid"/>
          </a:ln>
        </p:spPr>
      </p:sp>
      <p:sp>
        <p:nvSpPr>
          <p:cNvPr id="19" name="Text 17"/>
          <p:cNvSpPr/>
          <p:nvPr/>
        </p:nvSpPr>
        <p:spPr>
          <a:xfrm>
            <a:off x="658368" y="3383280"/>
            <a:ext cx="274320" cy="292608"/>
          </a:xfrm>
          <a:prstGeom prst="rect">
            <a:avLst/>
          </a:prstGeom>
          <a:noFill/>
          <a:ln/>
        </p:spPr>
        <p:txBody>
          <a:bodyPr wrap="square" lIns="0" tIns="0" rIns="0" bIns="0" rtlCol="0" anchor="ctr"/>
          <a:lstStyle/>
          <a:p>
            <a:pPr marL="0" indent="0">
              <a:buNone/>
            </a:pPr>
            <a:r>
              <a:rPr lang="en-US" sz="1050" b="1" dirty="0">
                <a:solidFill>
                  <a:srgbClr val="00B7C3"/>
                </a:solidFill>
                <a:latin typeface="Segoe UI" pitchFamily="34" charset="0"/>
                <a:ea typeface="Segoe UI" pitchFamily="34" charset="-122"/>
                <a:cs typeface="Segoe UI" pitchFamily="34" charset="-120"/>
              </a:rPr>
              <a:t>3</a:t>
            </a:r>
            <a:endParaRPr lang="en-US" sz="1050" dirty="0"/>
          </a:p>
        </p:txBody>
      </p:sp>
      <p:sp>
        <p:nvSpPr>
          <p:cNvPr id="20" name="Text 18"/>
          <p:cNvSpPr/>
          <p:nvPr/>
        </p:nvSpPr>
        <p:spPr>
          <a:xfrm>
            <a:off x="960120" y="3383280"/>
            <a:ext cx="3657600" cy="292608"/>
          </a:xfrm>
          <a:prstGeom prst="rect">
            <a:avLst/>
          </a:prstGeom>
          <a:noFill/>
          <a:ln/>
        </p:spPr>
        <p:txBody>
          <a:bodyPr wrap="square" lIns="0" tIns="0" rIns="0" bIns="0" rtlCol="0" anchor="ctr"/>
          <a:lstStyle/>
          <a:p>
            <a:pPr marL="0" indent="0">
              <a:buNone/>
            </a:pPr>
            <a:r>
              <a:rPr lang="en-US" sz="1050" dirty="0">
                <a:solidFill>
                  <a:srgbClr val="5A5A66"/>
                </a:solidFill>
                <a:latin typeface="Segoe UI" pitchFamily="34" charset="0"/>
                <a:ea typeface="Segoe UI" pitchFamily="34" charset="-122"/>
                <a:cs typeface="Segoe UI" pitchFamily="34" charset="-120"/>
              </a:rPr>
              <a:t>Sistema de correo de terceros (menos común)</a:t>
            </a:r>
            <a:endParaRPr lang="en-US" sz="1050" dirty="0"/>
          </a:p>
        </p:txBody>
      </p:sp>
      <p:sp>
        <p:nvSpPr>
          <p:cNvPr id="21" name="Text 19"/>
          <p:cNvSpPr/>
          <p:nvPr/>
        </p:nvSpPr>
        <p:spPr>
          <a:xfrm>
            <a:off x="4709160" y="3383280"/>
            <a:ext cx="3840480" cy="292608"/>
          </a:xfrm>
          <a:prstGeom prst="rect">
            <a:avLst/>
          </a:prstGeom>
          <a:noFill/>
          <a:ln/>
        </p:spPr>
        <p:txBody>
          <a:bodyPr wrap="square" lIns="0" tIns="0" rIns="0" bIns="0" rtlCol="0" anchor="ctr"/>
          <a:lstStyle/>
          <a:p>
            <a:pPr marL="0" indent="0">
              <a:buNone/>
            </a:pPr>
            <a:r>
              <a:rPr lang="en-US" sz="1050" dirty="0">
                <a:solidFill>
                  <a:srgbClr val="0B2E5B"/>
                </a:solidFill>
                <a:latin typeface="Consolas" pitchFamily="34" charset="0"/>
                <a:ea typeface="Consolas" pitchFamily="34" charset="-122"/>
                <a:cs typeface="Consolas" pitchFamily="34" charset="-120"/>
              </a:rPr>
              <a:t>include:[mail.contoso.com]</a:t>
            </a:r>
            <a:endParaRPr lang="en-US" sz="1050" dirty="0"/>
          </a:p>
        </p:txBody>
      </p:sp>
      <p:sp>
        <p:nvSpPr>
          <p:cNvPr id="22" name="Fila">
            <a:extLst>
              <a:ext uri="{C183D7F6-B498-43B3-948B-1728B52AA6E4}">
                <adec:decorative xmlns:adec="http://schemas.microsoft.com/office/drawing/2017/decorative" val="1"/>
              </a:ext>
            </a:extLst>
          </p:cNvPr>
          <p:cNvSpPr/>
          <p:nvPr/>
        </p:nvSpPr>
        <p:spPr>
          <a:xfrm>
            <a:off x="548640" y="3712464"/>
            <a:ext cx="8092440" cy="292608"/>
          </a:xfrm>
          <a:prstGeom prst="rect">
            <a:avLst/>
          </a:prstGeom>
          <a:solidFill>
            <a:srgbClr val="FFFFFF"/>
          </a:solidFill>
          <a:ln w="12700">
            <a:solidFill>
              <a:srgbClr val="333333"/>
            </a:solidFill>
            <a:prstDash val="solid"/>
          </a:ln>
        </p:spPr>
      </p:sp>
      <p:sp>
        <p:nvSpPr>
          <p:cNvPr id="23" name="Text 21"/>
          <p:cNvSpPr/>
          <p:nvPr/>
        </p:nvSpPr>
        <p:spPr>
          <a:xfrm>
            <a:off x="658368" y="3712464"/>
            <a:ext cx="274320" cy="292608"/>
          </a:xfrm>
          <a:prstGeom prst="rect">
            <a:avLst/>
          </a:prstGeom>
          <a:noFill/>
          <a:ln/>
        </p:spPr>
        <p:txBody>
          <a:bodyPr wrap="square" lIns="0" tIns="0" rIns="0" bIns="0" rtlCol="0" anchor="ctr"/>
          <a:lstStyle/>
          <a:p>
            <a:pPr marL="0" indent="0">
              <a:buNone/>
            </a:pPr>
            <a:r>
              <a:rPr lang="en-US" sz="1050" b="1" dirty="0">
                <a:solidFill>
                  <a:srgbClr val="00B7C3"/>
                </a:solidFill>
                <a:latin typeface="Segoe UI" pitchFamily="34" charset="0"/>
                <a:ea typeface="Segoe UI" pitchFamily="34" charset="-122"/>
                <a:cs typeface="Segoe UI" pitchFamily="34" charset="-120"/>
              </a:rPr>
              <a:t>4</a:t>
            </a:r>
            <a:endParaRPr lang="en-US" sz="1050" dirty="0"/>
          </a:p>
        </p:txBody>
      </p:sp>
      <p:sp>
        <p:nvSpPr>
          <p:cNvPr id="24" name="Text 22"/>
          <p:cNvSpPr/>
          <p:nvPr/>
        </p:nvSpPr>
        <p:spPr>
          <a:xfrm>
            <a:off x="960120" y="3712464"/>
            <a:ext cx="3657600" cy="292608"/>
          </a:xfrm>
          <a:prstGeom prst="rect">
            <a:avLst/>
          </a:prstGeom>
          <a:noFill/>
          <a:ln/>
        </p:spPr>
        <p:txBody>
          <a:bodyPr wrap="square" lIns="0" tIns="0" rIns="0" bIns="0" rtlCol="0" anchor="ctr"/>
          <a:lstStyle/>
          <a:p>
            <a:pPr marL="0" indent="0">
              <a:buNone/>
            </a:pPr>
            <a:r>
              <a:rPr lang="en-US" sz="1050" dirty="0">
                <a:solidFill>
                  <a:srgbClr val="5A5A66"/>
                </a:solidFill>
                <a:latin typeface="Segoe UI" pitchFamily="34" charset="0"/>
                <a:ea typeface="Segoe UI" pitchFamily="34" charset="-122"/>
                <a:cs typeface="Segoe UI" pitchFamily="34" charset="-120"/>
              </a:rPr>
              <a:t>Sistema de correo local (menos común)</a:t>
            </a:r>
            <a:endParaRPr lang="en-US" sz="1050" dirty="0"/>
          </a:p>
        </p:txBody>
      </p:sp>
      <p:sp>
        <p:nvSpPr>
          <p:cNvPr id="25" name="Text 23"/>
          <p:cNvSpPr/>
          <p:nvPr/>
        </p:nvSpPr>
        <p:spPr>
          <a:xfrm>
            <a:off x="4709160" y="3712464"/>
            <a:ext cx="3840480" cy="292608"/>
          </a:xfrm>
          <a:prstGeom prst="rect">
            <a:avLst/>
          </a:prstGeom>
          <a:noFill/>
          <a:ln/>
        </p:spPr>
        <p:txBody>
          <a:bodyPr wrap="square" lIns="0" tIns="0" rIns="0" bIns="0" rtlCol="0" anchor="ctr"/>
          <a:lstStyle/>
          <a:p>
            <a:pPr marL="0" indent="0">
              <a:buNone/>
            </a:pPr>
            <a:r>
              <a:rPr lang="en-US" sz="1050" dirty="0">
                <a:solidFill>
                  <a:srgbClr val="0B2E5B"/>
                </a:solidFill>
                <a:latin typeface="Consolas" pitchFamily="34" charset="0"/>
                <a:ea typeface="Consolas" pitchFamily="34" charset="-122"/>
                <a:cs typeface="Consolas" pitchFamily="34" charset="-120"/>
              </a:rPr>
              <a:t>ip4:[0.0.0.0] ip6:[::] include:[mail.contoso.com]</a:t>
            </a:r>
            <a:endParaRPr lang="en-US" sz="1050" dirty="0"/>
          </a:p>
        </p:txBody>
      </p:sp>
      <p:sp>
        <p:nvSpPr>
          <p:cNvPr id="26" name="Fila">
            <a:extLst>
              <a:ext uri="{C183D7F6-B498-43B3-948B-1728B52AA6E4}">
                <adec:decorative xmlns:adec="http://schemas.microsoft.com/office/drawing/2017/decorative" val="1"/>
              </a:ext>
            </a:extLst>
          </p:cNvPr>
          <p:cNvSpPr/>
          <p:nvPr/>
        </p:nvSpPr>
        <p:spPr>
          <a:xfrm>
            <a:off x="548640" y="4041648"/>
            <a:ext cx="8092440" cy="292608"/>
          </a:xfrm>
          <a:prstGeom prst="rect">
            <a:avLst/>
          </a:prstGeom>
          <a:solidFill>
            <a:srgbClr val="EDF2F8"/>
          </a:solidFill>
          <a:ln w="12700">
            <a:solidFill>
              <a:srgbClr val="333333"/>
            </a:solidFill>
            <a:prstDash val="solid"/>
          </a:ln>
        </p:spPr>
      </p:sp>
      <p:sp>
        <p:nvSpPr>
          <p:cNvPr id="27" name="Text 25"/>
          <p:cNvSpPr/>
          <p:nvPr/>
        </p:nvSpPr>
        <p:spPr>
          <a:xfrm>
            <a:off x="658368" y="4041648"/>
            <a:ext cx="274320" cy="292608"/>
          </a:xfrm>
          <a:prstGeom prst="rect">
            <a:avLst/>
          </a:prstGeom>
          <a:noFill/>
          <a:ln/>
        </p:spPr>
        <p:txBody>
          <a:bodyPr wrap="square" lIns="0" tIns="0" rIns="0" bIns="0" rtlCol="0" anchor="ctr"/>
          <a:lstStyle/>
          <a:p>
            <a:pPr marL="0" indent="0">
              <a:buNone/>
            </a:pPr>
            <a:r>
              <a:rPr lang="en-US" sz="1050" b="1" dirty="0">
                <a:solidFill>
                  <a:srgbClr val="00B7C3"/>
                </a:solidFill>
                <a:latin typeface="Segoe UI" pitchFamily="34" charset="0"/>
                <a:ea typeface="Segoe UI" pitchFamily="34" charset="-122"/>
                <a:cs typeface="Segoe UI" pitchFamily="34" charset="-120"/>
              </a:rPr>
              <a:t>5</a:t>
            </a:r>
            <a:endParaRPr lang="en-US" sz="1050" dirty="0"/>
          </a:p>
        </p:txBody>
      </p:sp>
      <p:sp>
        <p:nvSpPr>
          <p:cNvPr id="28" name="Text 26"/>
          <p:cNvSpPr/>
          <p:nvPr/>
        </p:nvSpPr>
        <p:spPr>
          <a:xfrm>
            <a:off x="960120" y="4041648"/>
            <a:ext cx="3657600" cy="292608"/>
          </a:xfrm>
          <a:prstGeom prst="rect">
            <a:avLst/>
          </a:prstGeom>
          <a:noFill/>
          <a:ln/>
        </p:spPr>
        <p:txBody>
          <a:bodyPr wrap="square" lIns="0" tIns="0" rIns="0" bIns="0" rtlCol="0" anchor="ctr"/>
          <a:lstStyle/>
          <a:p>
            <a:pPr marL="0" indent="0">
              <a:buNone/>
            </a:pPr>
            <a:r>
              <a:rPr lang="en-US" sz="1050" dirty="0">
                <a:solidFill>
                  <a:srgbClr val="5A5A66"/>
                </a:solidFill>
                <a:latin typeface="Segoe UI" pitchFamily="34" charset="0"/>
                <a:ea typeface="Segoe UI" pitchFamily="34" charset="-122"/>
                <a:cs typeface="Segoe UI" pitchFamily="34" charset="-120"/>
              </a:rPr>
              <a:t>Todos los sistemas de correo (obligatorio)</a:t>
            </a:r>
            <a:endParaRPr lang="en-US" sz="1050" dirty="0"/>
          </a:p>
        </p:txBody>
      </p:sp>
      <p:sp>
        <p:nvSpPr>
          <p:cNvPr id="29" name="Text 27"/>
          <p:cNvSpPr/>
          <p:nvPr/>
        </p:nvSpPr>
        <p:spPr>
          <a:xfrm>
            <a:off x="4709160" y="4041648"/>
            <a:ext cx="3840480" cy="292608"/>
          </a:xfrm>
          <a:prstGeom prst="rect">
            <a:avLst/>
          </a:prstGeom>
          <a:noFill/>
          <a:ln/>
        </p:spPr>
        <p:txBody>
          <a:bodyPr wrap="square" lIns="0" tIns="0" rIns="0" bIns="0" rtlCol="0" anchor="ctr"/>
          <a:lstStyle/>
          <a:p>
            <a:pPr marL="0" indent="0">
              <a:buNone/>
            </a:pPr>
            <a:r>
              <a:rPr lang="en-US" sz="1050" dirty="0">
                <a:solidFill>
                  <a:srgbClr val="0B2E5B"/>
                </a:solidFill>
                <a:latin typeface="Consolas" pitchFamily="34" charset="0"/>
                <a:ea typeface="Consolas" pitchFamily="34" charset="-122"/>
                <a:cs typeface="Consolas" pitchFamily="34" charset="-120"/>
              </a:rPr>
              <a:t>-all</a:t>
            </a:r>
            <a:endParaRPr lang="en-US" sz="1050" dirty="0"/>
          </a:p>
        </p:txBody>
      </p:sp>
      <p:sp>
        <p:nvSpPr>
          <p:cNvPr id="30" name="Text 28"/>
          <p:cNvSpPr/>
          <p:nvPr/>
        </p:nvSpPr>
        <p:spPr>
          <a:xfrm>
            <a:off x="566928" y="4389120"/>
            <a:ext cx="8092440" cy="256032"/>
          </a:xfrm>
          <a:prstGeom prst="rect">
            <a:avLst/>
          </a:prstGeom>
          <a:noFill/>
          <a:ln/>
        </p:spPr>
        <p:txBody>
          <a:bodyPr wrap="square" lIns="0" tIns="0" rIns="0" bIns="0" rtlCol="0" anchor="ctr"/>
          <a:lstStyle/>
          <a:p>
            <a:pPr marL="0" indent="0">
              <a:buNone/>
            </a:pPr>
            <a:r>
              <a:rPr lang="en-US" sz="1050" i="1" dirty="0">
                <a:solidFill>
                  <a:srgbClr val="0067B8"/>
                </a:solidFill>
                <a:latin typeface="Segoe UI" pitchFamily="34" charset="0"/>
                <a:ea typeface="Segoe UI" pitchFamily="34" charset="-122"/>
                <a:cs typeface="Segoe UI" pitchFamily="34" charset="-120"/>
              </a:rPr>
              <a:t>SPF no protege contra todas las técnicas de suplantación: después de configurarlo, configurar DKIM y DMARC.</a:t>
            </a:r>
            <a:endParaRPr lang="en-US" sz="1050" dirty="0"/>
          </a:p>
        </p:txBody>
      </p:sp>
      <p:sp>
        <p:nvSpPr>
          <p:cNvPr id="31"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2" name="Text 30"/>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19</a:t>
            </a:r>
            <a:endParaRPr lang="en-US" sz="900" dirty="0"/>
          </a:p>
        </p:txBody>
      </p:sp>
      <p:sp>
        <p:nvSpPr>
          <p:cNvPr id="33" name="Text 31"/>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E5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55000"/>
          </a:blip>
          <a:srcRect l="20813" r="20813"/>
          <a:stretch/>
        </p:blipFill>
        <p:spPr>
          <a:xfrm>
            <a:off x="4937760" y="0"/>
            <a:ext cx="4206240" cy="5143500"/>
          </a:xfrm>
          <a:prstGeom prst="rect">
            <a:avLst/>
          </a:prstGeom>
        </p:spPr>
      </p:pic>
      <p:sp>
        <p:nvSpPr>
          <p:cNvPr id="3" name="Separador">
            <a:extLst>
              <a:ext uri="{C183D7F6-B498-43B3-948B-1728B52AA6E4}">
                <adec:decorative xmlns:adec="http://schemas.microsoft.com/office/drawing/2017/decorative" val="1"/>
              </a:ext>
            </a:extLst>
          </p:cNvPr>
          <p:cNvSpPr/>
          <p:nvPr/>
        </p:nvSpPr>
        <p:spPr>
          <a:xfrm>
            <a:off x="4937760" y="0"/>
            <a:ext cx="18288" cy="5143500"/>
          </a:xfrm>
          <a:prstGeom prst="rect">
            <a:avLst/>
          </a:prstGeom>
          <a:solidFill>
            <a:srgbClr val="00B7C3"/>
          </a:solidFill>
          <a:ln w="12700">
            <a:solidFill>
              <a:srgbClr val="333333"/>
            </a:solidFill>
            <a:prstDash val="solid"/>
          </a:ln>
        </p:spPr>
      </p:sp>
      <p:sp>
        <p:nvSpPr>
          <p:cNvPr id="4" name="Text 1"/>
          <p:cNvSpPr/>
          <p:nvPr/>
        </p:nvSpPr>
        <p:spPr>
          <a:xfrm>
            <a:off x="640080" y="1874520"/>
            <a:ext cx="4023360" cy="274320"/>
          </a:xfrm>
          <a:prstGeom prst="rect">
            <a:avLst/>
          </a:prstGeom>
          <a:noFill/>
          <a:ln/>
        </p:spPr>
        <p:txBody>
          <a:bodyPr wrap="square" lIns="0" tIns="0" rIns="0" bIns="0" rtlCol="0" anchor="ctr"/>
          <a:lstStyle/>
          <a:p>
            <a:pPr marL="0" indent="0">
              <a:buNone/>
            </a:pPr>
            <a:r>
              <a:rPr lang="en-US" sz="1100" b="1" kern="0" spc="250" dirty="0">
                <a:solidFill>
                  <a:srgbClr val="00B7C3"/>
                </a:solidFill>
                <a:latin typeface="Segoe UI" pitchFamily="34" charset="0"/>
                <a:ea typeface="Segoe UI" pitchFamily="34" charset="-122"/>
                <a:cs typeface="Segoe UI" pitchFamily="34" charset="-120"/>
              </a:rPr>
              <a:t>UNIDAD 4</a:t>
            </a:r>
            <a:endParaRPr lang="en-US" sz="1100" dirty="0"/>
          </a:p>
        </p:txBody>
      </p:sp>
      <p:sp>
        <p:nvSpPr>
          <p:cNvPr id="5" name="Text 2"/>
          <p:cNvSpPr/>
          <p:nvPr/>
        </p:nvSpPr>
        <p:spPr>
          <a:xfrm>
            <a:off x="640080" y="2176272"/>
            <a:ext cx="4114800" cy="1005840"/>
          </a:xfrm>
          <a:prstGeom prst="rect">
            <a:avLst/>
          </a:prstGeom>
          <a:noFill/>
          <a:ln/>
        </p:spPr>
        <p:txBody>
          <a:bodyPr wrap="square" lIns="0" tIns="0" rIns="0" bIns="0" rtlCol="0" anchor="ctr"/>
          <a:lstStyle/>
          <a:p>
            <a:pPr marL="0" indent="0">
              <a:buNone/>
            </a:pPr>
            <a:r>
              <a:rPr lang="en-US" sz="3000" b="1" dirty="0">
                <a:solidFill>
                  <a:srgbClr val="FFFFFF"/>
                </a:solidFill>
                <a:latin typeface="Segoe UI" pitchFamily="34" charset="0"/>
                <a:ea typeface="Segoe UI" pitchFamily="34" charset="-122"/>
                <a:cs typeface="Segoe UI" pitchFamily="34" charset="-120"/>
              </a:rPr>
              <a:t>Crear el dominio en Microsoft 365</a:t>
            </a:r>
            <a:endParaRPr lang="en-US" sz="3000" dirty="0"/>
          </a:p>
        </p:txBody>
      </p:sp>
      <p:sp>
        <p:nvSpPr>
          <p:cNvPr id="6" name="Text 3"/>
          <p:cNvSpPr/>
          <p:nvPr/>
        </p:nvSpPr>
        <p:spPr>
          <a:xfrm>
            <a:off x="640080" y="3200400"/>
            <a:ext cx="4023360" cy="731520"/>
          </a:xfrm>
          <a:prstGeom prst="rect">
            <a:avLst/>
          </a:prstGeom>
          <a:noFill/>
          <a:ln/>
        </p:spPr>
        <p:txBody>
          <a:bodyPr wrap="square" lIns="0" tIns="0" rIns="0" bIns="0" rtlCol="0" anchor="ctr"/>
          <a:lstStyle/>
          <a:p>
            <a:pPr marL="0" indent="0">
              <a:buNone/>
            </a:pPr>
            <a:r>
              <a:rPr lang="en-US" sz="1200" dirty="0">
                <a:solidFill>
                  <a:srgbClr val="BBD2E8"/>
                </a:solidFill>
                <a:latin typeface="Segoe UI" pitchFamily="34" charset="0"/>
                <a:ea typeface="Segoe UI" pitchFamily="34" charset="-122"/>
                <a:cs typeface="Segoe UI" pitchFamily="34" charset="-120"/>
              </a:rPr>
              <a:t>Verificar la propiedad y el acceso administrativo al DNS antes de configurar</a:t>
            </a:r>
            <a:endParaRPr lang="en-US" sz="1200" dirty="0"/>
          </a:p>
        </p:txBody>
      </p:sp>
      <p:sp>
        <p:nvSpPr>
          <p:cNvPr id="7"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8" name="Text 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20</a:t>
            </a:r>
            <a:endParaRPr lang="en-US" sz="900" dirty="0"/>
          </a:p>
        </p:txBody>
      </p:sp>
      <p:sp>
        <p:nvSpPr>
          <p:cNvPr id="9" name="Text 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PROPIEDAD</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Verificar quién registró el dominio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2563368" cy="14973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497330"/>
          </a:xfrm>
          <a:prstGeom prst="rect">
            <a:avLst/>
          </a:prstGeom>
          <a:solidFill>
            <a:srgbClr val="00B7C3"/>
          </a:solidFill>
          <a:ln w="12700">
            <a:solidFill>
              <a:srgbClr val="333333"/>
            </a:solidFill>
            <a:prstDash val="solid"/>
          </a:ln>
        </p:spPr>
      </p:sp>
      <p:sp>
        <p:nvSpPr>
          <p:cNvPr id="8" name="Text 6"/>
          <p:cNvSpPr/>
          <p:nvPr/>
        </p:nvSpPr>
        <p:spPr>
          <a:xfrm>
            <a:off x="731520" y="148132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WHOIS ya no basta</a:t>
            </a:r>
            <a:endParaRPr lang="en-US" sz="1250" dirty="0"/>
          </a:p>
        </p:txBody>
      </p:sp>
      <p:sp>
        <p:nvSpPr>
          <p:cNvPr id="9" name="Text 7"/>
          <p:cNvSpPr/>
          <p:nvPr/>
        </p:nvSpPr>
        <p:spPr>
          <a:xfrm>
            <a:off x="731520" y="176879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ICANN dejó de exigir que la información WHOIS sea pública, por lo que la consulta suele confirmar solo el registrador.</a:t>
            </a:r>
            <a:endParaRPr lang="en-US" sz="1050" dirty="0"/>
          </a:p>
        </p:txBody>
      </p:sp>
      <p:sp>
        <p:nvSpPr>
          <p:cNvPr id="10" name="Tarjeta">
            <a:extLst>
              <a:ext uri="{C183D7F6-B498-43B3-948B-1728B52AA6E4}">
                <adec:decorative xmlns:adec="http://schemas.microsoft.com/office/drawing/2017/decorative" val="1"/>
              </a:ext>
            </a:extLst>
          </p:cNvPr>
          <p:cNvSpPr/>
          <p:nvPr/>
        </p:nvSpPr>
        <p:spPr>
          <a:xfrm>
            <a:off x="3313176" y="1371600"/>
            <a:ext cx="2563368" cy="14973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3313176" y="1371600"/>
            <a:ext cx="54864" cy="1497330"/>
          </a:xfrm>
          <a:prstGeom prst="rect">
            <a:avLst/>
          </a:prstGeom>
          <a:solidFill>
            <a:srgbClr val="00B7C3"/>
          </a:solidFill>
          <a:ln w="12700">
            <a:solidFill>
              <a:srgbClr val="333333"/>
            </a:solidFill>
            <a:prstDash val="solid"/>
          </a:ln>
        </p:spPr>
      </p:sp>
      <p:sp>
        <p:nvSpPr>
          <p:cNvPr id="12" name="Text 10"/>
          <p:cNvSpPr/>
          <p:nvPr/>
        </p:nvSpPr>
        <p:spPr>
          <a:xfrm>
            <a:off x="3496056" y="148132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Historical WHOIS databases</a:t>
            </a:r>
            <a:endParaRPr lang="en-US" sz="1250" dirty="0"/>
          </a:p>
        </p:txBody>
      </p:sp>
      <p:sp>
        <p:nvSpPr>
          <p:cNvPr id="13" name="Text 11"/>
          <p:cNvSpPr/>
          <p:nvPr/>
        </p:nvSpPr>
        <p:spPr>
          <a:xfrm>
            <a:off x="3496056" y="198310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Servicios como DomainTools' Domain History o Whois History conservan registros anteriores.</a:t>
            </a:r>
            <a:endParaRPr lang="en-US" sz="1050" dirty="0"/>
          </a:p>
        </p:txBody>
      </p:sp>
      <p:sp>
        <p:nvSpPr>
          <p:cNvPr id="14" name="Tarjeta">
            <a:extLst>
              <a:ext uri="{C183D7F6-B498-43B3-948B-1728B52AA6E4}">
                <adec:decorative xmlns:adec="http://schemas.microsoft.com/office/drawing/2017/decorative" val="1"/>
              </a:ext>
            </a:extLst>
          </p:cNvPr>
          <p:cNvSpPr/>
          <p:nvPr/>
        </p:nvSpPr>
        <p:spPr>
          <a:xfrm>
            <a:off x="6077712" y="1371600"/>
            <a:ext cx="2563368" cy="14973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6077712" y="1371600"/>
            <a:ext cx="54864" cy="1497330"/>
          </a:xfrm>
          <a:prstGeom prst="rect">
            <a:avLst/>
          </a:prstGeom>
          <a:solidFill>
            <a:srgbClr val="00B7C3"/>
          </a:solidFill>
          <a:ln w="12700">
            <a:solidFill>
              <a:srgbClr val="333333"/>
            </a:solidFill>
            <a:prstDash val="solid"/>
          </a:ln>
        </p:spPr>
      </p:sp>
      <p:sp>
        <p:nvSpPr>
          <p:cNvPr id="16" name="Text 14"/>
          <p:cNvSpPr/>
          <p:nvPr/>
        </p:nvSpPr>
        <p:spPr>
          <a:xfrm>
            <a:off x="6260592" y="148132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Domain registrar</a:t>
            </a:r>
            <a:endParaRPr lang="en-US" sz="1250" dirty="0"/>
          </a:p>
        </p:txBody>
      </p:sp>
      <p:sp>
        <p:nvSpPr>
          <p:cNvPr id="17" name="Text 15"/>
          <p:cNvSpPr/>
          <p:nvPr/>
        </p:nvSpPr>
        <p:spPr>
          <a:xfrm>
            <a:off x="6260592" y="176879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Contactar al registrador actual puede aportar datos históricos o indicar los pasos siguientes.</a:t>
            </a:r>
            <a:endParaRPr lang="en-US" sz="1050" dirty="0"/>
          </a:p>
        </p:txBody>
      </p:sp>
      <p:sp>
        <p:nvSpPr>
          <p:cNvPr id="18" name="Tarjeta">
            <a:extLst>
              <a:ext uri="{C183D7F6-B498-43B3-948B-1728B52AA6E4}">
                <adec:decorative xmlns:adec="http://schemas.microsoft.com/office/drawing/2017/decorative" val="1"/>
              </a:ext>
            </a:extLst>
          </p:cNvPr>
          <p:cNvSpPr/>
          <p:nvPr/>
        </p:nvSpPr>
        <p:spPr>
          <a:xfrm>
            <a:off x="548640" y="3051810"/>
            <a:ext cx="2563368" cy="14973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548640" y="3051810"/>
            <a:ext cx="54864" cy="1497330"/>
          </a:xfrm>
          <a:prstGeom prst="rect">
            <a:avLst/>
          </a:prstGeom>
          <a:solidFill>
            <a:srgbClr val="00B7C3"/>
          </a:solidFill>
          <a:ln w="12700">
            <a:solidFill>
              <a:srgbClr val="333333"/>
            </a:solidFill>
            <a:prstDash val="solid"/>
          </a:ln>
        </p:spPr>
      </p:sp>
      <p:sp>
        <p:nvSpPr>
          <p:cNvPr id="20" name="Text 18"/>
          <p:cNvSpPr/>
          <p:nvPr/>
        </p:nvSpPr>
        <p:spPr>
          <a:xfrm>
            <a:off x="731520" y="316153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Domain transfer documentation</a:t>
            </a:r>
            <a:endParaRPr lang="en-US" sz="1250" dirty="0"/>
          </a:p>
        </p:txBody>
      </p:sp>
      <p:sp>
        <p:nvSpPr>
          <p:cNvPr id="21" name="Text 19"/>
          <p:cNvSpPr/>
          <p:nvPr/>
        </p:nvSpPr>
        <p:spPr>
          <a:xfrm>
            <a:off x="731520" y="366331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La documentación de transferencia entre registradores puede contener información del registrante original.</a:t>
            </a:r>
            <a:endParaRPr lang="en-US" sz="1050" dirty="0"/>
          </a:p>
        </p:txBody>
      </p:sp>
      <p:sp>
        <p:nvSpPr>
          <p:cNvPr id="22" name="Tarjeta">
            <a:extLst>
              <a:ext uri="{C183D7F6-B498-43B3-948B-1728B52AA6E4}">
                <adec:decorative xmlns:adec="http://schemas.microsoft.com/office/drawing/2017/decorative" val="1"/>
              </a:ext>
            </a:extLst>
          </p:cNvPr>
          <p:cNvSpPr/>
          <p:nvPr/>
        </p:nvSpPr>
        <p:spPr>
          <a:xfrm>
            <a:off x="3313176" y="3051810"/>
            <a:ext cx="2563368" cy="1497330"/>
          </a:xfrm>
          <a:prstGeom prst="rect">
            <a:avLst/>
          </a:prstGeom>
          <a:solidFill>
            <a:srgbClr val="EDF2F8"/>
          </a:solidFill>
          <a:ln w="12700">
            <a:solidFill>
              <a:srgbClr val="333333"/>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3313176" y="3051810"/>
            <a:ext cx="54864" cy="1497330"/>
          </a:xfrm>
          <a:prstGeom prst="rect">
            <a:avLst/>
          </a:prstGeom>
          <a:solidFill>
            <a:srgbClr val="00B7C3"/>
          </a:solidFill>
          <a:ln w="12700">
            <a:solidFill>
              <a:srgbClr val="333333"/>
            </a:solidFill>
            <a:prstDash val="solid"/>
          </a:ln>
        </p:spPr>
      </p:sp>
      <p:sp>
        <p:nvSpPr>
          <p:cNvPr id="24" name="Text 22"/>
          <p:cNvSpPr/>
          <p:nvPr/>
        </p:nvSpPr>
        <p:spPr>
          <a:xfrm>
            <a:off x="3496056" y="316153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Legal assistance</a:t>
            </a:r>
            <a:endParaRPr lang="en-US" sz="1250" dirty="0"/>
          </a:p>
        </p:txBody>
      </p:sp>
      <p:sp>
        <p:nvSpPr>
          <p:cNvPr id="25" name="Text 23"/>
          <p:cNvSpPr/>
          <p:nvPr/>
        </p:nvSpPr>
        <p:spPr>
          <a:xfrm>
            <a:off x="3496056" y="344900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Un abogado con experiencia en disputas de nombres de dominio puede orientar el proceso legal.</a:t>
            </a:r>
            <a:endParaRPr lang="en-US" sz="1050" dirty="0"/>
          </a:p>
        </p:txBody>
      </p:sp>
      <p:sp>
        <p:nvSpPr>
          <p:cNvPr id="26" name="Tarjeta">
            <a:extLst>
              <a:ext uri="{C183D7F6-B498-43B3-948B-1728B52AA6E4}">
                <adec:decorative xmlns:adec="http://schemas.microsoft.com/office/drawing/2017/decorative" val="1"/>
              </a:ext>
            </a:extLst>
          </p:cNvPr>
          <p:cNvSpPr/>
          <p:nvPr/>
        </p:nvSpPr>
        <p:spPr>
          <a:xfrm>
            <a:off x="6077712" y="3051810"/>
            <a:ext cx="2563368" cy="1497330"/>
          </a:xfrm>
          <a:prstGeom prst="rect">
            <a:avLst/>
          </a:prstGeom>
          <a:solidFill>
            <a:srgbClr val="EDF2F8"/>
          </a:solidFill>
          <a:ln w="12700">
            <a:solidFill>
              <a:srgbClr val="333333"/>
            </a:solidFill>
            <a:prstDash val="solid"/>
          </a:ln>
        </p:spPr>
      </p:sp>
      <p:sp>
        <p:nvSpPr>
          <p:cNvPr id="27" name="Acento de tarjeta">
            <a:extLst>
              <a:ext uri="{C183D7F6-B498-43B3-948B-1728B52AA6E4}">
                <adec:decorative xmlns:adec="http://schemas.microsoft.com/office/drawing/2017/decorative" val="1"/>
              </a:ext>
            </a:extLst>
          </p:cNvPr>
          <p:cNvSpPr/>
          <p:nvPr/>
        </p:nvSpPr>
        <p:spPr>
          <a:xfrm>
            <a:off x="6077712" y="3051810"/>
            <a:ext cx="54864" cy="1497330"/>
          </a:xfrm>
          <a:prstGeom prst="rect">
            <a:avLst/>
          </a:prstGeom>
          <a:solidFill>
            <a:srgbClr val="00B7C3"/>
          </a:solidFill>
          <a:ln w="12700">
            <a:solidFill>
              <a:srgbClr val="333333"/>
            </a:solidFill>
            <a:prstDash val="solid"/>
          </a:ln>
        </p:spPr>
      </p:sp>
      <p:sp>
        <p:nvSpPr>
          <p:cNvPr id="28" name="Text 26"/>
          <p:cNvSpPr/>
          <p:nvPr/>
        </p:nvSpPr>
        <p:spPr>
          <a:xfrm>
            <a:off x="6260592" y="316153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Acceso administrativo</a:t>
            </a:r>
            <a:endParaRPr lang="en-US" sz="1250" dirty="0"/>
          </a:p>
        </p:txBody>
      </p:sp>
      <p:sp>
        <p:nvSpPr>
          <p:cNvPr id="29" name="Text 27"/>
          <p:cNvSpPr/>
          <p:nvPr/>
        </p:nvSpPr>
        <p:spPr>
          <a:xfrm>
            <a:off x="6260592" y="344900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Confirmar que la organización puede administrar el DNS del dominio; el nivel de acceso varía por proveedor.</a:t>
            </a:r>
            <a:endParaRPr lang="en-US" sz="1050" dirty="0"/>
          </a:p>
        </p:txBody>
      </p:sp>
      <p:sp>
        <p:nvSpPr>
          <p:cNvPr id="30"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1" name="Text 29"/>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21</a:t>
            </a:r>
            <a:endParaRPr lang="en-US" sz="900" dirty="0"/>
          </a:p>
        </p:txBody>
      </p:sp>
      <p:sp>
        <p:nvSpPr>
          <p:cNvPr id="32" name="Text 30"/>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CONFIGURACIÓN</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Agregar el dominio: pasos de configuración</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1872234" cy="14973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497330"/>
          </a:xfrm>
          <a:prstGeom prst="rect">
            <a:avLst/>
          </a:prstGeom>
          <a:solidFill>
            <a:srgbClr val="00B7C3"/>
          </a:solidFill>
          <a:ln w="12700">
            <a:solidFill>
              <a:srgbClr val="333333"/>
            </a:solidFill>
            <a:prstDash val="solid"/>
          </a:ln>
        </p:spPr>
      </p:sp>
      <p:sp>
        <p:nvSpPr>
          <p:cNvPr id="8" name="Text 6"/>
          <p:cNvSpPr/>
          <p:nvPr/>
        </p:nvSpPr>
        <p:spPr>
          <a:xfrm>
            <a:off x="731520" y="148132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1. Access DNS Management</a:t>
            </a:r>
            <a:endParaRPr lang="en-US" sz="1100" dirty="0"/>
          </a:p>
        </p:txBody>
      </p:sp>
      <p:sp>
        <p:nvSpPr>
          <p:cNvPr id="9" name="Text 7"/>
          <p:cNvSpPr/>
          <p:nvPr/>
        </p:nvSpPr>
        <p:spPr>
          <a:xfrm>
            <a:off x="731520" y="193167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Acceso administrativo vía registrador, proveedor de alojamiento o servidor DNS interno.</a:t>
            </a:r>
            <a:endParaRPr lang="en-US" sz="950" dirty="0"/>
          </a:p>
        </p:txBody>
      </p:sp>
      <p:sp>
        <p:nvSpPr>
          <p:cNvPr id="10" name="Tarjeta">
            <a:extLst>
              <a:ext uri="{C183D7F6-B498-43B3-948B-1728B52AA6E4}">
                <adec:decorative xmlns:adec="http://schemas.microsoft.com/office/drawing/2017/decorative" val="1"/>
              </a:ext>
            </a:extLst>
          </p:cNvPr>
          <p:cNvSpPr/>
          <p:nvPr/>
        </p:nvSpPr>
        <p:spPr>
          <a:xfrm>
            <a:off x="2622042" y="1371600"/>
            <a:ext cx="1872234" cy="14973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2622042" y="1371600"/>
            <a:ext cx="54864" cy="1497330"/>
          </a:xfrm>
          <a:prstGeom prst="rect">
            <a:avLst/>
          </a:prstGeom>
          <a:solidFill>
            <a:srgbClr val="00B7C3"/>
          </a:solidFill>
          <a:ln w="12700">
            <a:solidFill>
              <a:srgbClr val="333333"/>
            </a:solidFill>
            <a:prstDash val="solid"/>
          </a:ln>
        </p:spPr>
      </p:sp>
      <p:sp>
        <p:nvSpPr>
          <p:cNvPr id="12" name="Text 10"/>
          <p:cNvSpPr/>
          <p:nvPr/>
        </p:nvSpPr>
        <p:spPr>
          <a:xfrm>
            <a:off x="2804922" y="148132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2. Identify Method</a:t>
            </a:r>
            <a:endParaRPr lang="en-US" sz="1100" dirty="0"/>
          </a:p>
        </p:txBody>
      </p:sp>
      <p:sp>
        <p:nvSpPr>
          <p:cNvPr id="13" name="Text 11"/>
          <p:cNvSpPr/>
          <p:nvPr/>
        </p:nvSpPr>
        <p:spPr>
          <a:xfrm>
            <a:off x="2804922" y="174307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Panel web del proveedor o acceso directo al servidor por herramienta o línea de comandos.</a:t>
            </a:r>
            <a:endParaRPr lang="en-US" sz="950" dirty="0"/>
          </a:p>
        </p:txBody>
      </p:sp>
      <p:sp>
        <p:nvSpPr>
          <p:cNvPr id="14" name="Tarjeta">
            <a:extLst>
              <a:ext uri="{C183D7F6-B498-43B3-948B-1728B52AA6E4}">
                <adec:decorative xmlns:adec="http://schemas.microsoft.com/office/drawing/2017/decorative" val="1"/>
              </a:ext>
            </a:extLst>
          </p:cNvPr>
          <p:cNvSpPr/>
          <p:nvPr/>
        </p:nvSpPr>
        <p:spPr>
          <a:xfrm>
            <a:off x="4695444" y="1371600"/>
            <a:ext cx="1872234" cy="14973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4695444" y="1371600"/>
            <a:ext cx="54864" cy="1497330"/>
          </a:xfrm>
          <a:prstGeom prst="rect">
            <a:avLst/>
          </a:prstGeom>
          <a:solidFill>
            <a:srgbClr val="00B7C3"/>
          </a:solidFill>
          <a:ln w="12700">
            <a:solidFill>
              <a:srgbClr val="333333"/>
            </a:solidFill>
            <a:prstDash val="solid"/>
          </a:ln>
        </p:spPr>
      </p:sp>
      <p:sp>
        <p:nvSpPr>
          <p:cNvPr id="16" name="Text 14"/>
          <p:cNvSpPr/>
          <p:nvPr/>
        </p:nvSpPr>
        <p:spPr>
          <a:xfrm>
            <a:off x="4878324" y="148132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3. Locate DNS Zone</a:t>
            </a:r>
            <a:endParaRPr lang="en-US" sz="1100" dirty="0"/>
          </a:p>
        </p:txBody>
      </p:sp>
      <p:sp>
        <p:nvSpPr>
          <p:cNvPr id="17" name="Text 15"/>
          <p:cNvSpPr/>
          <p:nvPr/>
        </p:nvSpPr>
        <p:spPr>
          <a:xfrm>
            <a:off x="4878324" y="174307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Identificar la zona del dominio, que contiene los registros que controlan su resolución.</a:t>
            </a:r>
            <a:endParaRPr lang="en-US" sz="950" dirty="0"/>
          </a:p>
        </p:txBody>
      </p:sp>
      <p:sp>
        <p:nvSpPr>
          <p:cNvPr id="18" name="Tarjeta">
            <a:extLst>
              <a:ext uri="{C183D7F6-B498-43B3-948B-1728B52AA6E4}">
                <adec:decorative xmlns:adec="http://schemas.microsoft.com/office/drawing/2017/decorative" val="1"/>
              </a:ext>
            </a:extLst>
          </p:cNvPr>
          <p:cNvSpPr/>
          <p:nvPr/>
        </p:nvSpPr>
        <p:spPr>
          <a:xfrm>
            <a:off x="6768846" y="1371600"/>
            <a:ext cx="1872234" cy="14973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6768846" y="1371600"/>
            <a:ext cx="54864" cy="1497330"/>
          </a:xfrm>
          <a:prstGeom prst="rect">
            <a:avLst/>
          </a:prstGeom>
          <a:solidFill>
            <a:srgbClr val="00B7C3"/>
          </a:solidFill>
          <a:ln w="12700">
            <a:solidFill>
              <a:srgbClr val="333333"/>
            </a:solidFill>
            <a:prstDash val="solid"/>
          </a:ln>
        </p:spPr>
      </p:sp>
      <p:sp>
        <p:nvSpPr>
          <p:cNvPr id="20" name="Text 18"/>
          <p:cNvSpPr/>
          <p:nvPr/>
        </p:nvSpPr>
        <p:spPr>
          <a:xfrm>
            <a:off x="6951726" y="148132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4. Make Record Changes</a:t>
            </a:r>
            <a:endParaRPr lang="en-US" sz="1100" dirty="0"/>
          </a:p>
        </p:txBody>
      </p:sp>
      <p:sp>
        <p:nvSpPr>
          <p:cNvPr id="21" name="Text 19"/>
          <p:cNvSpPr/>
          <p:nvPr/>
        </p:nvSpPr>
        <p:spPr>
          <a:xfrm>
            <a:off x="6951726" y="193167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Modificar los registros MX, TXT, CNAME u otros según lo requerido.</a:t>
            </a:r>
            <a:endParaRPr lang="en-US" sz="950" dirty="0"/>
          </a:p>
        </p:txBody>
      </p:sp>
      <p:sp>
        <p:nvSpPr>
          <p:cNvPr id="22" name="Tarjeta">
            <a:extLst>
              <a:ext uri="{C183D7F6-B498-43B3-948B-1728B52AA6E4}">
                <adec:decorative xmlns:adec="http://schemas.microsoft.com/office/drawing/2017/decorative" val="1"/>
              </a:ext>
            </a:extLst>
          </p:cNvPr>
          <p:cNvSpPr/>
          <p:nvPr/>
        </p:nvSpPr>
        <p:spPr>
          <a:xfrm>
            <a:off x="548640" y="3051810"/>
            <a:ext cx="1872234" cy="1497330"/>
          </a:xfrm>
          <a:prstGeom prst="rect">
            <a:avLst/>
          </a:prstGeom>
          <a:solidFill>
            <a:srgbClr val="EDF2F8"/>
          </a:solidFill>
          <a:ln w="12700">
            <a:solidFill>
              <a:srgbClr val="333333"/>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548640" y="3051810"/>
            <a:ext cx="54864" cy="1497330"/>
          </a:xfrm>
          <a:prstGeom prst="rect">
            <a:avLst/>
          </a:prstGeom>
          <a:solidFill>
            <a:srgbClr val="00B7C3"/>
          </a:solidFill>
          <a:ln w="12700">
            <a:solidFill>
              <a:srgbClr val="333333"/>
            </a:solidFill>
            <a:prstDash val="solid"/>
          </a:ln>
        </p:spPr>
      </p:sp>
      <p:sp>
        <p:nvSpPr>
          <p:cNvPr id="24" name="Text 22"/>
          <p:cNvSpPr/>
          <p:nvPr/>
        </p:nvSpPr>
        <p:spPr>
          <a:xfrm>
            <a:off x="731520"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5. Save and Publish</a:t>
            </a:r>
            <a:endParaRPr lang="en-US" sz="1100" dirty="0"/>
          </a:p>
        </p:txBody>
      </p:sp>
      <p:sp>
        <p:nvSpPr>
          <p:cNvPr id="25" name="Text 23"/>
          <p:cNvSpPr/>
          <p:nvPr/>
        </p:nvSpPr>
        <p:spPr>
          <a:xfrm>
            <a:off x="731520"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Guardar y publicar para que los cambios se propaguen por la infraestructura DNS.</a:t>
            </a:r>
            <a:endParaRPr lang="en-US" sz="950" dirty="0"/>
          </a:p>
        </p:txBody>
      </p:sp>
      <p:sp>
        <p:nvSpPr>
          <p:cNvPr id="26" name="Tarjeta">
            <a:extLst>
              <a:ext uri="{C183D7F6-B498-43B3-948B-1728B52AA6E4}">
                <adec:decorative xmlns:adec="http://schemas.microsoft.com/office/drawing/2017/decorative" val="1"/>
              </a:ext>
            </a:extLst>
          </p:cNvPr>
          <p:cNvSpPr/>
          <p:nvPr/>
        </p:nvSpPr>
        <p:spPr>
          <a:xfrm>
            <a:off x="2622042" y="3051810"/>
            <a:ext cx="1872234" cy="1497330"/>
          </a:xfrm>
          <a:prstGeom prst="rect">
            <a:avLst/>
          </a:prstGeom>
          <a:solidFill>
            <a:srgbClr val="EDF2F8"/>
          </a:solidFill>
          <a:ln w="12700">
            <a:solidFill>
              <a:srgbClr val="333333"/>
            </a:solidFill>
            <a:prstDash val="solid"/>
          </a:ln>
        </p:spPr>
      </p:sp>
      <p:sp>
        <p:nvSpPr>
          <p:cNvPr id="27" name="Acento de tarjeta">
            <a:extLst>
              <a:ext uri="{C183D7F6-B498-43B3-948B-1728B52AA6E4}">
                <adec:decorative xmlns:adec="http://schemas.microsoft.com/office/drawing/2017/decorative" val="1"/>
              </a:ext>
            </a:extLst>
          </p:cNvPr>
          <p:cNvSpPr/>
          <p:nvPr/>
        </p:nvSpPr>
        <p:spPr>
          <a:xfrm>
            <a:off x="2622042" y="3051810"/>
            <a:ext cx="54864" cy="1497330"/>
          </a:xfrm>
          <a:prstGeom prst="rect">
            <a:avLst/>
          </a:prstGeom>
          <a:solidFill>
            <a:srgbClr val="00B7C3"/>
          </a:solidFill>
          <a:ln w="12700">
            <a:solidFill>
              <a:srgbClr val="333333"/>
            </a:solidFill>
            <a:prstDash val="solid"/>
          </a:ln>
        </p:spPr>
      </p:sp>
      <p:sp>
        <p:nvSpPr>
          <p:cNvPr id="28" name="Text 26"/>
          <p:cNvSpPr/>
          <p:nvPr/>
        </p:nvSpPr>
        <p:spPr>
          <a:xfrm>
            <a:off x="2804922" y="316153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6. Verify Propagation</a:t>
            </a:r>
            <a:endParaRPr lang="en-US" sz="1100" dirty="0"/>
          </a:p>
        </p:txBody>
      </p:sp>
      <p:sp>
        <p:nvSpPr>
          <p:cNvPr id="29" name="Text 27"/>
          <p:cNvSpPr/>
          <p:nvPr/>
        </p:nvSpPr>
        <p:spPr>
          <a:xfrm>
            <a:off x="2804922" y="361188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La replicación puede tardar desde minutos hasta varias horas.</a:t>
            </a:r>
            <a:endParaRPr lang="en-US" sz="950" dirty="0"/>
          </a:p>
        </p:txBody>
      </p:sp>
      <p:sp>
        <p:nvSpPr>
          <p:cNvPr id="30" name="Tarjeta">
            <a:extLst>
              <a:ext uri="{C183D7F6-B498-43B3-948B-1728B52AA6E4}">
                <adec:decorative xmlns:adec="http://schemas.microsoft.com/office/drawing/2017/decorative" val="1"/>
              </a:ext>
            </a:extLst>
          </p:cNvPr>
          <p:cNvSpPr/>
          <p:nvPr/>
        </p:nvSpPr>
        <p:spPr>
          <a:xfrm>
            <a:off x="4695444" y="3051810"/>
            <a:ext cx="1872234" cy="1497330"/>
          </a:xfrm>
          <a:prstGeom prst="rect">
            <a:avLst/>
          </a:prstGeom>
          <a:solidFill>
            <a:srgbClr val="EDF2F8"/>
          </a:solidFill>
          <a:ln w="12700">
            <a:solidFill>
              <a:srgbClr val="333333"/>
            </a:solidFill>
            <a:prstDash val="solid"/>
          </a:ln>
        </p:spPr>
      </p:sp>
      <p:sp>
        <p:nvSpPr>
          <p:cNvPr id="31" name="Acento de tarjeta">
            <a:extLst>
              <a:ext uri="{C183D7F6-B498-43B3-948B-1728B52AA6E4}">
                <adec:decorative xmlns:adec="http://schemas.microsoft.com/office/drawing/2017/decorative" val="1"/>
              </a:ext>
            </a:extLst>
          </p:cNvPr>
          <p:cNvSpPr/>
          <p:nvPr/>
        </p:nvSpPr>
        <p:spPr>
          <a:xfrm>
            <a:off x="4695444" y="3051810"/>
            <a:ext cx="54864" cy="1497330"/>
          </a:xfrm>
          <a:prstGeom prst="rect">
            <a:avLst/>
          </a:prstGeom>
          <a:solidFill>
            <a:srgbClr val="00B7C3"/>
          </a:solidFill>
          <a:ln w="12700">
            <a:solidFill>
              <a:srgbClr val="333333"/>
            </a:solidFill>
            <a:prstDash val="solid"/>
          </a:ln>
        </p:spPr>
      </p:sp>
      <p:sp>
        <p:nvSpPr>
          <p:cNvPr id="32" name="Text 30"/>
          <p:cNvSpPr/>
          <p:nvPr/>
        </p:nvSpPr>
        <p:spPr>
          <a:xfrm>
            <a:off x="4878324" y="3161538"/>
            <a:ext cx="1543050" cy="450342"/>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7. Domain Verification</a:t>
            </a:r>
            <a:endParaRPr lang="en-US" sz="1100" dirty="0"/>
          </a:p>
        </p:txBody>
      </p:sp>
      <p:sp>
        <p:nvSpPr>
          <p:cNvPr id="33" name="Text 31"/>
          <p:cNvSpPr/>
          <p:nvPr/>
        </p:nvSpPr>
        <p:spPr>
          <a:xfrm>
            <a:off x="4878324" y="3611880"/>
            <a:ext cx="1543050" cy="827532"/>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Agregar el registro TXT o CNAME indicado en el portal de administración.</a:t>
            </a:r>
            <a:endParaRPr lang="en-US" sz="950" dirty="0"/>
          </a:p>
        </p:txBody>
      </p:sp>
      <p:sp>
        <p:nvSpPr>
          <p:cNvPr id="34" name="Tarjeta">
            <a:extLst>
              <a:ext uri="{C183D7F6-B498-43B3-948B-1728B52AA6E4}">
                <adec:decorative xmlns:adec="http://schemas.microsoft.com/office/drawing/2017/decorative" val="1"/>
              </a:ext>
            </a:extLst>
          </p:cNvPr>
          <p:cNvSpPr/>
          <p:nvPr/>
        </p:nvSpPr>
        <p:spPr>
          <a:xfrm>
            <a:off x="6768846" y="3051810"/>
            <a:ext cx="1872234" cy="1497330"/>
          </a:xfrm>
          <a:prstGeom prst="rect">
            <a:avLst/>
          </a:prstGeom>
          <a:solidFill>
            <a:srgbClr val="EDF2F8"/>
          </a:solidFill>
          <a:ln w="12700">
            <a:solidFill>
              <a:srgbClr val="333333"/>
            </a:solidFill>
            <a:prstDash val="solid"/>
          </a:ln>
        </p:spPr>
      </p:sp>
      <p:sp>
        <p:nvSpPr>
          <p:cNvPr id="35" name="Acento de tarjeta">
            <a:extLst>
              <a:ext uri="{C183D7F6-B498-43B3-948B-1728B52AA6E4}">
                <adec:decorative xmlns:adec="http://schemas.microsoft.com/office/drawing/2017/decorative" val="1"/>
              </a:ext>
            </a:extLst>
          </p:cNvPr>
          <p:cNvSpPr/>
          <p:nvPr/>
        </p:nvSpPr>
        <p:spPr>
          <a:xfrm>
            <a:off x="6768846" y="3051810"/>
            <a:ext cx="54864" cy="1497330"/>
          </a:xfrm>
          <a:prstGeom prst="rect">
            <a:avLst/>
          </a:prstGeom>
          <a:solidFill>
            <a:srgbClr val="00B7C3"/>
          </a:solidFill>
          <a:ln w="12700">
            <a:solidFill>
              <a:srgbClr val="333333"/>
            </a:solidFill>
            <a:prstDash val="solid"/>
          </a:ln>
        </p:spPr>
      </p:sp>
      <p:sp>
        <p:nvSpPr>
          <p:cNvPr id="36" name="Text 34"/>
          <p:cNvSpPr/>
          <p:nvPr/>
        </p:nvSpPr>
        <p:spPr>
          <a:xfrm>
            <a:off x="6951726" y="3161538"/>
            <a:ext cx="1543050" cy="261747"/>
          </a:xfrm>
          <a:prstGeom prst="rect">
            <a:avLst/>
          </a:prstGeom>
          <a:noFill/>
          <a:ln/>
        </p:spPr>
        <p:txBody>
          <a:bodyPr wrap="square" lIns="0" tIns="0" rIns="0" bIns="0" rtlCol="0" anchor="t"/>
          <a:lstStyle/>
          <a:p>
            <a:pPr marL="0" indent="0">
              <a:buNone/>
            </a:pPr>
            <a:r>
              <a:rPr lang="en-US" sz="1100" b="1" dirty="0">
                <a:solidFill>
                  <a:srgbClr val="0B2E5B"/>
                </a:solidFill>
                <a:latin typeface="Segoe UI" pitchFamily="34" charset="0"/>
                <a:ea typeface="Segoe UI" pitchFamily="34" charset="-122"/>
                <a:cs typeface="Segoe UI" pitchFamily="34" charset="-120"/>
              </a:rPr>
              <a:t>8. Verify Ownership</a:t>
            </a:r>
            <a:endParaRPr lang="en-US" sz="1100" dirty="0"/>
          </a:p>
        </p:txBody>
      </p:sp>
      <p:sp>
        <p:nvSpPr>
          <p:cNvPr id="37" name="Text 35"/>
          <p:cNvSpPr/>
          <p:nvPr/>
        </p:nvSpPr>
        <p:spPr>
          <a:xfrm>
            <a:off x="6951726" y="3423285"/>
            <a:ext cx="1543050" cy="1016127"/>
          </a:xfrm>
          <a:prstGeom prst="rect">
            <a:avLst/>
          </a:prstGeom>
          <a:noFill/>
          <a:ln/>
        </p:spPr>
        <p:txBody>
          <a:bodyPr wrap="square" lIns="0" tIns="0" rIns="0" bIns="0" rtlCol="0" anchor="t"/>
          <a:lstStyle/>
          <a:p>
            <a:pPr marL="0" indent="0">
              <a:buNone/>
            </a:pPr>
            <a:r>
              <a:rPr lang="en-US" sz="950" dirty="0">
                <a:solidFill>
                  <a:srgbClr val="5A5A66"/>
                </a:solidFill>
                <a:latin typeface="Segoe UI" pitchFamily="34" charset="0"/>
                <a:ea typeface="Segoe UI" pitchFamily="34" charset="-122"/>
                <a:cs typeface="Segoe UI" pitchFamily="34" charset="-120"/>
              </a:rPr>
              <a:t>Microsoft 365 valida la presencia del registro para confirmar la propiedad.</a:t>
            </a:r>
            <a:endParaRPr lang="en-US" sz="950" dirty="0"/>
          </a:p>
        </p:txBody>
      </p:sp>
      <p:sp>
        <p:nvSpPr>
          <p:cNvPr id="38"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9" name="Text 37"/>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22</a:t>
            </a:r>
            <a:endParaRPr lang="en-US" sz="900" dirty="0"/>
          </a:p>
        </p:txBody>
      </p:sp>
      <p:sp>
        <p:nvSpPr>
          <p:cNvPr id="40" name="Text 38"/>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VERIFICACIÓN</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Paso 1: demostrar la propiedad del dominio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53312"/>
            <a:ext cx="8092440" cy="384048"/>
          </a:xfrm>
          <a:prstGeom prst="rect">
            <a:avLst/>
          </a:prstGeom>
          <a:noFill/>
          <a:ln/>
        </p:spPr>
        <p:txBody>
          <a:bodyPr wrap="square" lIns="0" tIns="0" rIns="0" bIns="0" rtlCol="0" anchor="ctr"/>
          <a:lstStyle/>
          <a:p>
            <a:pPr marL="0" indent="0">
              <a:buNone/>
            </a:pPr>
            <a:r>
              <a:rPr lang="en-US" sz="1200" dirty="0">
                <a:solidFill>
                  <a:srgbClr val="1B1B1F"/>
                </a:solidFill>
                <a:latin typeface="Segoe UI" pitchFamily="34" charset="0"/>
                <a:ea typeface="Segoe UI" pitchFamily="34" charset="-122"/>
                <a:cs typeface="Segoe UI" pitchFamily="34" charset="-120"/>
              </a:rPr>
              <a:t>Iniciar sesión en el centro de administración, ir a Show all › Settings › Domains y agregar en el proveedor de alojamiento DNS el registro indicado.</a:t>
            </a:r>
            <a:endParaRPr lang="en-US" sz="1200" dirty="0"/>
          </a:p>
        </p:txBody>
      </p:sp>
      <p:sp>
        <p:nvSpPr>
          <p:cNvPr id="7" name="Text 5"/>
          <p:cNvSpPr/>
          <p:nvPr/>
        </p:nvSpPr>
        <p:spPr>
          <a:xfrm>
            <a:off x="548640" y="1828800"/>
            <a:ext cx="3950208" cy="274320"/>
          </a:xfrm>
          <a:prstGeom prst="rect">
            <a:avLst/>
          </a:prstGeom>
          <a:noFill/>
          <a:ln/>
        </p:spPr>
        <p:txBody>
          <a:bodyPr wrap="square" lIns="0" tIns="0" rIns="0" bIns="0" rtlCol="0" anchor="ctr"/>
          <a:lstStyle/>
          <a:p>
            <a:pPr marL="0" indent="0">
              <a:buNone/>
            </a:pPr>
            <a:r>
              <a:rPr lang="en-US" sz="1250" b="1" dirty="0">
                <a:solidFill>
                  <a:srgbClr val="0B2E5B"/>
                </a:solidFill>
                <a:latin typeface="Segoe UI" pitchFamily="34" charset="0"/>
                <a:ea typeface="Segoe UI" pitchFamily="34" charset="-122"/>
                <a:cs typeface="Segoe UI" pitchFamily="34" charset="-120"/>
              </a:rPr>
              <a:t>Recomendado · registro TXT</a:t>
            </a:r>
            <a:endParaRPr lang="en-US" sz="1250" dirty="0"/>
          </a:p>
        </p:txBody>
      </p:sp>
      <p:sp>
        <p:nvSpPr>
          <p:cNvPr id="8" name="Bloque de código">
            <a:extLst>
              <a:ext uri="{C183D7F6-B498-43B3-948B-1728B52AA6E4}">
                <adec:decorative xmlns:adec="http://schemas.microsoft.com/office/drawing/2017/decorative" val="1"/>
              </a:ext>
            </a:extLst>
          </p:cNvPr>
          <p:cNvSpPr/>
          <p:nvPr/>
        </p:nvSpPr>
        <p:spPr>
          <a:xfrm>
            <a:off x="548640" y="2148840"/>
            <a:ext cx="3950208" cy="1371600"/>
          </a:xfrm>
          <a:prstGeom prst="rect">
            <a:avLst/>
          </a:prstGeom>
          <a:solidFill>
            <a:srgbClr val="0B2E5B"/>
          </a:solidFill>
          <a:ln w="12700">
            <a:solidFill>
              <a:srgbClr val="333333"/>
            </a:solidFill>
            <a:prstDash val="solid"/>
          </a:ln>
        </p:spPr>
      </p:sp>
      <p:sp>
        <p:nvSpPr>
          <p:cNvPr id="9" name="Text 7"/>
          <p:cNvSpPr/>
          <p:nvPr/>
        </p:nvSpPr>
        <p:spPr>
          <a:xfrm>
            <a:off x="731520" y="2240280"/>
            <a:ext cx="3611880" cy="1188720"/>
          </a:xfrm>
          <a:prstGeom prst="rect">
            <a:avLst/>
          </a:prstGeom>
          <a:noFill/>
          <a:ln/>
        </p:spPr>
        <p:txBody>
          <a:bodyPr wrap="square" lIns="0" tIns="0" rIns="0" bIns="0" rtlCol="0" anchor="t"/>
          <a:lstStyle/>
          <a:p>
            <a:pPr marL="0" indent="0">
              <a:buNone/>
            </a:pPr>
            <a:r>
              <a:rPr lang="en-US" sz="1050" dirty="0">
                <a:solidFill>
                  <a:srgbClr val="9BE7F0"/>
                </a:solidFill>
                <a:latin typeface="Consolas" pitchFamily="34" charset="0"/>
                <a:ea typeface="Consolas" pitchFamily="34" charset="-122"/>
                <a:cs typeface="Consolas" pitchFamily="34" charset="-120"/>
              </a:rPr>
              <a:t>TXT Name:  @</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TXT Value: MS=ms########</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TTL:       3600</a:t>
            </a:r>
            <a:endParaRPr lang="en-US" sz="1050" dirty="0"/>
          </a:p>
        </p:txBody>
      </p:sp>
      <p:sp>
        <p:nvSpPr>
          <p:cNvPr id="10" name="Text 8"/>
          <p:cNvSpPr/>
          <p:nvPr/>
        </p:nvSpPr>
        <p:spPr>
          <a:xfrm>
            <a:off x="548640" y="3611880"/>
            <a:ext cx="3950208" cy="914400"/>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Guardar, volver al centro de administración y seleccionar Verify. Los cambios suelen tardar unos 15 minutos, a veces más: conviene reintentar. No afecta al correo ni a otros servicios y puede eliminarse una vez conectado el dominio.</a:t>
            </a:r>
            <a:endParaRPr lang="en-US" sz="1050" dirty="0"/>
          </a:p>
        </p:txBody>
      </p:sp>
      <p:sp>
        <p:nvSpPr>
          <p:cNvPr id="11" name="Text 9"/>
          <p:cNvSpPr/>
          <p:nvPr/>
        </p:nvSpPr>
        <p:spPr>
          <a:xfrm>
            <a:off x="4690872" y="1828800"/>
            <a:ext cx="3950208" cy="274320"/>
          </a:xfrm>
          <a:prstGeom prst="rect">
            <a:avLst/>
          </a:prstGeom>
          <a:noFill/>
          <a:ln/>
        </p:spPr>
        <p:txBody>
          <a:bodyPr wrap="square" lIns="0" tIns="0" rIns="0" bIns="0" rtlCol="0" anchor="ctr"/>
          <a:lstStyle/>
          <a:p>
            <a:pPr marL="0" indent="0">
              <a:buNone/>
            </a:pPr>
            <a:r>
              <a:rPr lang="en-US" sz="1250" b="1" dirty="0">
                <a:solidFill>
                  <a:srgbClr val="0B2E5B"/>
                </a:solidFill>
                <a:latin typeface="Segoe UI" pitchFamily="34" charset="0"/>
                <a:ea typeface="Segoe UI" pitchFamily="34" charset="-122"/>
                <a:cs typeface="Segoe UI" pitchFamily="34" charset="-120"/>
              </a:rPr>
              <a:t>Alternativa · registro MX</a:t>
            </a:r>
            <a:endParaRPr lang="en-US" sz="1250" dirty="0"/>
          </a:p>
        </p:txBody>
      </p:sp>
      <p:sp>
        <p:nvSpPr>
          <p:cNvPr id="12" name="Bloque de código">
            <a:extLst>
              <a:ext uri="{C183D7F6-B498-43B3-948B-1728B52AA6E4}">
                <adec:decorative xmlns:adec="http://schemas.microsoft.com/office/drawing/2017/decorative" val="1"/>
              </a:ext>
            </a:extLst>
          </p:cNvPr>
          <p:cNvSpPr/>
          <p:nvPr/>
        </p:nvSpPr>
        <p:spPr>
          <a:xfrm>
            <a:off x="4690872" y="2148840"/>
            <a:ext cx="3950208" cy="1371600"/>
          </a:xfrm>
          <a:prstGeom prst="rect">
            <a:avLst/>
          </a:prstGeom>
          <a:solidFill>
            <a:srgbClr val="0B2E5B"/>
          </a:solidFill>
          <a:ln w="12700">
            <a:solidFill>
              <a:srgbClr val="333333"/>
            </a:solidFill>
            <a:prstDash val="solid"/>
          </a:ln>
        </p:spPr>
      </p:sp>
      <p:sp>
        <p:nvSpPr>
          <p:cNvPr id="13" name="Text 11"/>
          <p:cNvSpPr/>
          <p:nvPr/>
        </p:nvSpPr>
        <p:spPr>
          <a:xfrm>
            <a:off x="4873752" y="2240280"/>
            <a:ext cx="3611880" cy="1188720"/>
          </a:xfrm>
          <a:prstGeom prst="rect">
            <a:avLst/>
          </a:prstGeom>
          <a:noFill/>
          <a:ln/>
        </p:spPr>
        <p:txBody>
          <a:bodyPr wrap="square" lIns="0" tIns="0" rIns="0" bIns="0" rtlCol="0" anchor="t"/>
          <a:lstStyle/>
          <a:p>
            <a:pPr marL="0" indent="0">
              <a:buNone/>
            </a:pPr>
            <a:r>
              <a:rPr lang="en-US" sz="1050" dirty="0">
                <a:solidFill>
                  <a:srgbClr val="9BE7F0"/>
                </a:solidFill>
                <a:latin typeface="Consolas" pitchFamily="34" charset="0"/>
                <a:ea typeface="Consolas" pitchFamily="34" charset="-122"/>
                <a:cs typeface="Consolas" pitchFamily="34" charset="-120"/>
              </a:rPr>
              <a:t>Record Type: MX</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Priority:    valor alto no usado</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Host Name:   @</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Points to:   valor del centro de admin.</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TTL:         3600</a:t>
            </a:r>
            <a:endParaRPr lang="en-US" sz="1050" dirty="0"/>
          </a:p>
        </p:txBody>
      </p:sp>
      <p:sp>
        <p:nvSpPr>
          <p:cNvPr id="14" name="Text 12"/>
          <p:cNvSpPr/>
          <p:nvPr/>
        </p:nvSpPr>
        <p:spPr>
          <a:xfrm>
            <a:off x="4690872" y="3611880"/>
            <a:ext cx="3950208" cy="914400"/>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Útil si el registrador no admite registros TXT. La prioridad debe ser la más alta de todos los MX del dominio o puede interferir con el correo. Eliminarlo apenas finalice la verificación.</a:t>
            </a:r>
            <a:endParaRPr lang="en-US" sz="1050" dirty="0"/>
          </a:p>
        </p:txBody>
      </p:sp>
      <p:sp>
        <p:nvSpPr>
          <p:cNvPr id="15"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6" name="Text 14"/>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23</a:t>
            </a:r>
            <a:endParaRPr lang="en-US" sz="900" dirty="0"/>
          </a:p>
        </p:txBody>
      </p:sp>
      <p:sp>
        <p:nvSpPr>
          <p:cNvPr id="17" name="Text 15"/>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CONECTAR SERVICIOS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Paso 2: agregar el registro MX del correo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71600"/>
            <a:ext cx="8092440" cy="457200"/>
          </a:xfrm>
          <a:prstGeom prst="rect">
            <a:avLst/>
          </a:prstGeom>
          <a:noFill/>
          <a:ln/>
        </p:spPr>
        <p:txBody>
          <a:bodyPr wrap="square" lIns="0" tIns="0" rIns="0" bIns="0" rtlCol="0" anchor="ctr"/>
          <a:lstStyle/>
          <a:p>
            <a:pPr marL="0" indent="0">
              <a:buNone/>
            </a:pPr>
            <a:r>
              <a:rPr lang="en-US" sz="1250" dirty="0">
                <a:solidFill>
                  <a:srgbClr val="1B1B1F"/>
                </a:solidFill>
                <a:latin typeface="Segoe UI" pitchFamily="34" charset="0"/>
                <a:ea typeface="Segoe UI" pitchFamily="34" charset="-122"/>
                <a:cs typeface="Segoe UI" pitchFamily="34" charset="-120"/>
              </a:rPr>
              <a:t>Si los usuarios ya tienen correo con el dominio, crear sus cuentas antes de configurar el MX para que sigan recibiendo mensajes.</a:t>
            </a:r>
            <a:endParaRPr lang="en-US" sz="1250" dirty="0"/>
          </a:p>
        </p:txBody>
      </p:sp>
      <p:sp>
        <p:nvSpPr>
          <p:cNvPr id="7" name="Bloque de código">
            <a:extLst>
              <a:ext uri="{C183D7F6-B498-43B3-948B-1728B52AA6E4}">
                <adec:decorative xmlns:adec="http://schemas.microsoft.com/office/drawing/2017/decorative" val="1"/>
              </a:ext>
            </a:extLst>
          </p:cNvPr>
          <p:cNvSpPr/>
          <p:nvPr/>
        </p:nvSpPr>
        <p:spPr>
          <a:xfrm>
            <a:off x="548640" y="1938528"/>
            <a:ext cx="8092440" cy="1572768"/>
          </a:xfrm>
          <a:prstGeom prst="rect">
            <a:avLst/>
          </a:prstGeom>
          <a:solidFill>
            <a:srgbClr val="0B2E5B"/>
          </a:solidFill>
          <a:ln w="12700">
            <a:solidFill>
              <a:srgbClr val="333333"/>
            </a:solidFill>
            <a:prstDash val="solid"/>
          </a:ln>
        </p:spPr>
      </p:sp>
      <p:sp>
        <p:nvSpPr>
          <p:cNvPr id="8" name="Text 6"/>
          <p:cNvSpPr/>
          <p:nvPr/>
        </p:nvSpPr>
        <p:spPr>
          <a:xfrm>
            <a:off x="777240" y="2066544"/>
            <a:ext cx="7680960" cy="1316736"/>
          </a:xfrm>
          <a:prstGeom prst="rect">
            <a:avLst/>
          </a:prstGeom>
          <a:noFill/>
          <a:ln/>
        </p:spPr>
        <p:txBody>
          <a:bodyPr wrap="square" lIns="0" tIns="0" rIns="0" bIns="0" rtlCol="0" anchor="t"/>
          <a:lstStyle/>
          <a:p>
            <a:pPr marL="0" indent="0">
              <a:buNone/>
            </a:pPr>
            <a:r>
              <a:rPr lang="en-US" sz="1200" dirty="0">
                <a:solidFill>
                  <a:srgbClr val="9BE7F0"/>
                </a:solidFill>
                <a:latin typeface="Consolas" pitchFamily="34" charset="0"/>
                <a:ea typeface="Consolas" pitchFamily="34" charset="-122"/>
                <a:cs typeface="Consolas" pitchFamily="34" charset="-120"/>
              </a:rPr>
              <a:t>Record Type:       MX</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Priority:          el valor más alto disponible, normalmente 0</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Host Name:         @</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Points to address: valor copiado del centro de administración</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TTL:               3600 (Exchange Online admite menos de 6 horas)</a:t>
            </a:r>
            <a:endParaRPr lang="en-US" sz="1200" dirty="0"/>
          </a:p>
        </p:txBody>
      </p:sp>
      <p:sp>
        <p:nvSpPr>
          <p:cNvPr id="9" name="Text 7"/>
          <p:cNvSpPr/>
          <p:nvPr/>
        </p:nvSpPr>
        <p:spPr>
          <a:xfrm>
            <a:off x="566928" y="3675888"/>
            <a:ext cx="8092440" cy="854964"/>
          </a:xfrm>
          <a:prstGeom prst="rect">
            <a:avLst/>
          </a:prstGeom>
          <a:noFill/>
          <a:ln/>
        </p:spPr>
        <p:txBody>
          <a:bodyPr wrap="square" lIns="0" tIns="0" rIns="0" bIns="0" rtlCol="0" anchor="t"/>
          <a:lstStyle/>
          <a:p>
            <a:pPr marL="0" indent="0">
              <a:buNone/>
            </a:pPr>
            <a:r>
              <a:rPr lang="en-US" sz="1150" dirty="0">
                <a:solidFill>
                  <a:srgbClr val="5A5A66"/>
                </a:solidFill>
                <a:latin typeface="Segoe UI" pitchFamily="34" charset="0"/>
                <a:ea typeface="Segoe UI" pitchFamily="34" charset="-122"/>
                <a:cs typeface="Segoe UI" pitchFamily="34" charset="-120"/>
              </a:rPr>
              <a:t>Al actualizar el MX, todo el correo enviado al dominio comienza a llegar a Microsoft 365; el correo previo permanece en el proveedor anterior salvo que se migre. Guardar y eliminar cualquier otro registro MX.</a:t>
            </a:r>
            <a:endParaRPr lang="en-US" sz="1150" dirty="0"/>
          </a:p>
        </p:txBody>
      </p:sp>
      <p:sp>
        <p:nvSpPr>
          <p:cNvPr id="10"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1" name="Text 9"/>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24</a:t>
            </a:r>
            <a:endParaRPr lang="en-US" sz="900" dirty="0"/>
          </a:p>
        </p:txBody>
      </p:sp>
      <p:sp>
        <p:nvSpPr>
          <p:cNvPr id="12" name="Text 10"/>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CONECTAR SERVICIOS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Paso 2: registros CNAME y SPF</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48640" y="1371600"/>
            <a:ext cx="3931920" cy="274320"/>
          </a:xfrm>
          <a:prstGeom prst="rect">
            <a:avLst/>
          </a:prstGeom>
          <a:noFill/>
          <a:ln/>
        </p:spPr>
        <p:txBody>
          <a:bodyPr wrap="square" lIns="0" tIns="0" rIns="0" bIns="0" rtlCol="0" anchor="ctr"/>
          <a:lstStyle/>
          <a:p>
            <a:pPr marL="0" indent="0">
              <a:buNone/>
            </a:pPr>
            <a:r>
              <a:rPr lang="en-US" sz="1250" b="1" dirty="0">
                <a:solidFill>
                  <a:srgbClr val="0B2E5B"/>
                </a:solidFill>
                <a:latin typeface="Segoe UI" pitchFamily="34" charset="0"/>
                <a:ea typeface="Segoe UI" pitchFamily="34" charset="-122"/>
                <a:cs typeface="Segoe UI" pitchFamily="34" charset="-120"/>
              </a:rPr>
              <a:t>CNAME — Teams, Exchange Online, MDM</a:t>
            </a:r>
            <a:endParaRPr lang="en-US" sz="1250" dirty="0"/>
          </a:p>
        </p:txBody>
      </p:sp>
      <p:sp>
        <p:nvSpPr>
          <p:cNvPr id="7" name="Bloque de código">
            <a:extLst>
              <a:ext uri="{C183D7F6-B498-43B3-948B-1728B52AA6E4}">
                <adec:decorative xmlns:adec="http://schemas.microsoft.com/office/drawing/2017/decorative" val="1"/>
              </a:ext>
            </a:extLst>
          </p:cNvPr>
          <p:cNvSpPr/>
          <p:nvPr/>
        </p:nvSpPr>
        <p:spPr>
          <a:xfrm>
            <a:off x="548640" y="1719072"/>
            <a:ext cx="3886200" cy="1417320"/>
          </a:xfrm>
          <a:prstGeom prst="rect">
            <a:avLst/>
          </a:prstGeom>
          <a:solidFill>
            <a:srgbClr val="0B2E5B"/>
          </a:solidFill>
          <a:ln w="12700">
            <a:solidFill>
              <a:srgbClr val="333333"/>
            </a:solidFill>
            <a:prstDash val="solid"/>
          </a:ln>
        </p:spPr>
      </p:sp>
      <p:sp>
        <p:nvSpPr>
          <p:cNvPr id="8" name="Text 6"/>
          <p:cNvSpPr/>
          <p:nvPr/>
        </p:nvSpPr>
        <p:spPr>
          <a:xfrm>
            <a:off x="731520" y="1828800"/>
            <a:ext cx="3566160" cy="1234440"/>
          </a:xfrm>
          <a:prstGeom prst="rect">
            <a:avLst/>
          </a:prstGeom>
          <a:noFill/>
          <a:ln/>
        </p:spPr>
        <p:txBody>
          <a:bodyPr wrap="square" lIns="0" tIns="0" rIns="0" bIns="0" rtlCol="0" anchor="t"/>
          <a:lstStyle/>
          <a:p>
            <a:pPr marL="0" indent="0">
              <a:buNone/>
            </a:pPr>
            <a:r>
              <a:rPr lang="en-US" sz="1050" dirty="0">
                <a:solidFill>
                  <a:srgbClr val="9BE7F0"/>
                </a:solidFill>
                <a:latin typeface="Consolas" pitchFamily="34" charset="0"/>
                <a:ea typeface="Consolas" pitchFamily="34" charset="-122"/>
                <a:cs typeface="Consolas" pitchFamily="34" charset="-120"/>
              </a:rPr>
              <a:t>Record Type: CNAME (Alias)</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Host: valor del centro de admin.</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Points to: valor del centro de admin.</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TTL: 3600</a:t>
            </a:r>
            <a:endParaRPr lang="en-US" sz="1050" dirty="0"/>
          </a:p>
        </p:txBody>
      </p:sp>
      <p:sp>
        <p:nvSpPr>
          <p:cNvPr id="9" name="Text 7"/>
          <p:cNvSpPr/>
          <p:nvPr/>
        </p:nvSpPr>
        <p:spPr>
          <a:xfrm>
            <a:off x="548640" y="3200400"/>
            <a:ext cx="3886200" cy="640080"/>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Agregar un registro CNAME por cada servicio de Microsoft 365 que se quiera conectar.</a:t>
            </a:r>
            <a:endParaRPr lang="en-US" sz="1050" dirty="0"/>
          </a:p>
        </p:txBody>
      </p:sp>
      <p:sp>
        <p:nvSpPr>
          <p:cNvPr id="10" name="Text 8"/>
          <p:cNvSpPr/>
          <p:nvPr/>
        </p:nvSpPr>
        <p:spPr>
          <a:xfrm>
            <a:off x="4754880" y="1371600"/>
            <a:ext cx="3931920" cy="274320"/>
          </a:xfrm>
          <a:prstGeom prst="rect">
            <a:avLst/>
          </a:prstGeom>
          <a:noFill/>
          <a:ln/>
        </p:spPr>
        <p:txBody>
          <a:bodyPr wrap="square" lIns="0" tIns="0" rIns="0" bIns="0" rtlCol="0" anchor="ctr"/>
          <a:lstStyle/>
          <a:p>
            <a:pPr marL="0" indent="0">
              <a:buNone/>
            </a:pPr>
            <a:r>
              <a:rPr lang="en-US" sz="1250" b="1" dirty="0">
                <a:solidFill>
                  <a:srgbClr val="0B2E5B"/>
                </a:solidFill>
                <a:latin typeface="Segoe UI" pitchFamily="34" charset="0"/>
                <a:ea typeface="Segoe UI" pitchFamily="34" charset="-122"/>
                <a:cs typeface="Segoe UI" pitchFamily="34" charset="-120"/>
              </a:rPr>
              <a:t>SPF (TXT) — prevención de spam</a:t>
            </a:r>
            <a:endParaRPr lang="en-US" sz="1250" dirty="0"/>
          </a:p>
        </p:txBody>
      </p:sp>
      <p:sp>
        <p:nvSpPr>
          <p:cNvPr id="11" name="Bloque de código">
            <a:extLst>
              <a:ext uri="{C183D7F6-B498-43B3-948B-1728B52AA6E4}">
                <adec:decorative xmlns:adec="http://schemas.microsoft.com/office/drawing/2017/decorative" val="1"/>
              </a:ext>
            </a:extLst>
          </p:cNvPr>
          <p:cNvSpPr/>
          <p:nvPr/>
        </p:nvSpPr>
        <p:spPr>
          <a:xfrm>
            <a:off x="4754880" y="1719072"/>
            <a:ext cx="3886200" cy="1417320"/>
          </a:xfrm>
          <a:prstGeom prst="rect">
            <a:avLst/>
          </a:prstGeom>
          <a:solidFill>
            <a:srgbClr val="0B2E5B"/>
          </a:solidFill>
          <a:ln w="12700">
            <a:solidFill>
              <a:srgbClr val="333333"/>
            </a:solidFill>
            <a:prstDash val="solid"/>
          </a:ln>
        </p:spPr>
      </p:sp>
      <p:sp>
        <p:nvSpPr>
          <p:cNvPr id="12" name="Text 10"/>
          <p:cNvSpPr/>
          <p:nvPr/>
        </p:nvSpPr>
        <p:spPr>
          <a:xfrm>
            <a:off x="4937760" y="1828800"/>
            <a:ext cx="3566160" cy="1234440"/>
          </a:xfrm>
          <a:prstGeom prst="rect">
            <a:avLst/>
          </a:prstGeom>
          <a:noFill/>
          <a:ln/>
        </p:spPr>
        <p:txBody>
          <a:bodyPr wrap="square" lIns="0" tIns="0" rIns="0" bIns="0" rtlCol="0" anchor="t"/>
          <a:lstStyle/>
          <a:p>
            <a:pPr marL="0" indent="0">
              <a:buNone/>
            </a:pPr>
            <a:r>
              <a:rPr lang="en-US" sz="1050" dirty="0">
                <a:solidFill>
                  <a:srgbClr val="9BE7F0"/>
                </a:solidFill>
                <a:latin typeface="Consolas" pitchFamily="34" charset="0"/>
                <a:ea typeface="Consolas" pitchFamily="34" charset="-122"/>
                <a:cs typeface="Consolas" pitchFamily="34" charset="-120"/>
              </a:rPr>
              <a:t>Record Type: TXT (Text)</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Host: @</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TXT Value: v=spf1</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  include:spf.protection.outlook.com -all</a:t>
            </a:r>
            <a:endParaRPr lang="en-US" sz="1050" dirty="0"/>
          </a:p>
          <a:p>
            <a:pPr marL="0" indent="0">
              <a:buNone/>
            </a:pPr>
            <a:r>
              <a:rPr lang="en-US" sz="1050" dirty="0">
                <a:solidFill>
                  <a:srgbClr val="9BE7F0"/>
                </a:solidFill>
                <a:latin typeface="Consolas" pitchFamily="34" charset="0"/>
                <a:ea typeface="Consolas" pitchFamily="34" charset="-122"/>
                <a:cs typeface="Consolas" pitchFamily="34" charset="-120"/>
              </a:rPr>
              <a:t>TTL: 3600</a:t>
            </a:r>
            <a:endParaRPr lang="en-US" sz="1050" dirty="0"/>
          </a:p>
        </p:txBody>
      </p:sp>
      <p:sp>
        <p:nvSpPr>
          <p:cNvPr id="13" name="Text 11"/>
          <p:cNvSpPr/>
          <p:nvPr/>
        </p:nvSpPr>
        <p:spPr>
          <a:xfrm>
            <a:off x="4754880" y="3200400"/>
            <a:ext cx="3886200" cy="685800"/>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Si ya existe un registro SPF, no crear otro: agregar los valores de Microsoft 365 al registro actual para mantener uno solo. Validar el resultado con una herramienta de validación SPF.</a:t>
            </a:r>
            <a:endParaRPr lang="en-US" sz="1050" dirty="0"/>
          </a:p>
        </p:txBody>
      </p:sp>
      <p:sp>
        <p:nvSpPr>
          <p:cNvPr id="14" name="Aviso">
            <a:extLst>
              <a:ext uri="{C183D7F6-B498-43B3-948B-1728B52AA6E4}">
                <adec:decorative xmlns:adec="http://schemas.microsoft.com/office/drawing/2017/decorative" val="1"/>
              </a:ext>
            </a:extLst>
          </p:cNvPr>
          <p:cNvSpPr/>
          <p:nvPr/>
        </p:nvSpPr>
        <p:spPr>
          <a:xfrm>
            <a:off x="548640" y="3977640"/>
            <a:ext cx="8092440" cy="566928"/>
          </a:xfrm>
          <a:prstGeom prst="rect">
            <a:avLst/>
          </a:prstGeom>
          <a:solidFill>
            <a:srgbClr val="EDF2F8"/>
          </a:solidFill>
          <a:ln w="12700">
            <a:solidFill>
              <a:srgbClr val="333333"/>
            </a:solidFill>
            <a:prstDash val="solid"/>
          </a:ln>
        </p:spPr>
      </p:sp>
      <p:sp>
        <p:nvSpPr>
          <p:cNvPr id="15" name="Text 13"/>
          <p:cNvSpPr/>
          <p:nvPr/>
        </p:nvSpPr>
        <p:spPr>
          <a:xfrm>
            <a:off x="777240" y="3977640"/>
            <a:ext cx="7680960" cy="566928"/>
          </a:xfrm>
          <a:prstGeom prst="rect">
            <a:avLst/>
          </a:prstGeom>
          <a:noFill/>
          <a:ln/>
        </p:spPr>
        <p:txBody>
          <a:bodyPr wrap="square" lIns="0" tIns="0" rIns="0" bIns="0" rtlCol="0" anchor="ctr"/>
          <a:lstStyle/>
          <a:p>
            <a:pPr marL="0" indent="0">
              <a:buNone/>
            </a:pPr>
            <a:r>
              <a:rPr lang="en-US" sz="1100" b="1" dirty="0">
                <a:solidFill>
                  <a:srgbClr val="0B2E5B"/>
                </a:solidFill>
                <a:latin typeface="Segoe UI" pitchFamily="34" charset="0"/>
                <a:ea typeface="Segoe UI" pitchFamily="34" charset="-122"/>
                <a:cs typeface="Segoe UI" pitchFamily="34" charset="-120"/>
              </a:rPr>
              <a:t>SPF no protege contra todas las técnicas de suplantación: después de configurarlo, configurar DKIM y DMARC para Microsoft 365.</a:t>
            </a:r>
            <a:endParaRPr lang="en-US" sz="1100" dirty="0"/>
          </a:p>
        </p:txBody>
      </p:sp>
      <p:sp>
        <p:nvSpPr>
          <p:cNvPr id="16"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7" name="Text 15"/>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25</a:t>
            </a:r>
            <a:endParaRPr lang="en-US" sz="900" dirty="0"/>
          </a:p>
        </p:txBody>
      </p:sp>
      <p:sp>
        <p:nvSpPr>
          <p:cNvPr id="18" name="Text 16"/>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TEAMS Y SKYPE FOR BUSINESS</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Paso 2: registros SRV para servicios de comunicación</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ext 4"/>
          <p:cNvSpPr/>
          <p:nvPr/>
        </p:nvSpPr>
        <p:spPr>
          <a:xfrm>
            <a:off x="566928" y="1371600"/>
            <a:ext cx="8092440" cy="457200"/>
          </a:xfrm>
          <a:prstGeom prst="rect">
            <a:avLst/>
          </a:prstGeom>
          <a:noFill/>
          <a:ln/>
        </p:spPr>
        <p:txBody>
          <a:bodyPr wrap="square" lIns="0" tIns="0" rIns="0" bIns="0" rtlCol="0" anchor="ctr"/>
          <a:lstStyle/>
          <a:p>
            <a:pPr marL="0" indent="0">
              <a:buNone/>
            </a:pPr>
            <a:r>
              <a:rPr lang="en-US" sz="1250" dirty="0">
                <a:solidFill>
                  <a:srgbClr val="1B1B1F"/>
                </a:solidFill>
                <a:latin typeface="Segoe UI" pitchFamily="34" charset="0"/>
                <a:ea typeface="Segoe UI" pitchFamily="34" charset="-122"/>
                <a:cs typeface="Segoe UI" pitchFamily="34" charset="-120"/>
              </a:rPr>
              <a:t>Agregar un registro SRV por cada servicio que se quiera conectar, con los valores del centro de administración.</a:t>
            </a:r>
            <a:endParaRPr lang="en-US" sz="1250" dirty="0"/>
          </a:p>
        </p:txBody>
      </p:sp>
      <p:sp>
        <p:nvSpPr>
          <p:cNvPr id="7" name="Bloque de código">
            <a:extLst>
              <a:ext uri="{C183D7F6-B498-43B3-948B-1728B52AA6E4}">
                <adec:decorative xmlns:adec="http://schemas.microsoft.com/office/drawing/2017/decorative" val="1"/>
              </a:ext>
            </a:extLst>
          </p:cNvPr>
          <p:cNvSpPr/>
          <p:nvPr/>
        </p:nvSpPr>
        <p:spPr>
          <a:xfrm>
            <a:off x="548640" y="1938528"/>
            <a:ext cx="8092440" cy="1316736"/>
          </a:xfrm>
          <a:prstGeom prst="rect">
            <a:avLst/>
          </a:prstGeom>
          <a:solidFill>
            <a:srgbClr val="0B2E5B"/>
          </a:solidFill>
          <a:ln w="12700">
            <a:solidFill>
              <a:srgbClr val="333333"/>
            </a:solidFill>
            <a:prstDash val="solid"/>
          </a:ln>
        </p:spPr>
      </p:sp>
      <p:sp>
        <p:nvSpPr>
          <p:cNvPr id="8" name="Text 6"/>
          <p:cNvSpPr/>
          <p:nvPr/>
        </p:nvSpPr>
        <p:spPr>
          <a:xfrm>
            <a:off x="777240" y="2066544"/>
            <a:ext cx="7680960" cy="1060704"/>
          </a:xfrm>
          <a:prstGeom prst="rect">
            <a:avLst/>
          </a:prstGeom>
          <a:noFill/>
          <a:ln/>
        </p:spPr>
        <p:txBody>
          <a:bodyPr wrap="square" lIns="0" tIns="0" rIns="0" bIns="0" rtlCol="0" anchor="t"/>
          <a:lstStyle/>
          <a:p>
            <a:pPr marL="0" indent="0">
              <a:buNone/>
            </a:pPr>
            <a:r>
              <a:rPr lang="en-US" sz="1200" dirty="0">
                <a:solidFill>
                  <a:srgbClr val="9BE7F0"/>
                </a:solidFill>
                <a:latin typeface="Consolas" pitchFamily="34" charset="0"/>
                <a:ea typeface="Consolas" pitchFamily="34" charset="-122"/>
                <a:cs typeface="Consolas" pitchFamily="34" charset="-120"/>
              </a:rPr>
              <a:t>Record Type: SRV (Service)      Name: @</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Service / Protocol / Target: valores del centro de admin.</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Priority: 100    Weight: 1    Port: valor del centro de admin.</a:t>
            </a:r>
            <a:endParaRPr lang="en-US" sz="1200" dirty="0"/>
          </a:p>
          <a:p>
            <a:pPr marL="0" indent="0">
              <a:buNone/>
            </a:pPr>
            <a:r>
              <a:rPr lang="en-US" sz="1200" dirty="0">
                <a:solidFill>
                  <a:srgbClr val="9BE7F0"/>
                </a:solidFill>
                <a:latin typeface="Consolas" pitchFamily="34" charset="0"/>
                <a:ea typeface="Consolas" pitchFamily="34" charset="-122"/>
                <a:cs typeface="Consolas" pitchFamily="34" charset="-120"/>
              </a:rPr>
              <a:t>TTL: 3600</a:t>
            </a:r>
            <a:endParaRPr lang="en-US" sz="1200" dirty="0"/>
          </a:p>
        </p:txBody>
      </p:sp>
      <p:sp>
        <p:nvSpPr>
          <p:cNvPr id="9" name="Text 7"/>
          <p:cNvSpPr/>
          <p:nvPr/>
        </p:nvSpPr>
        <p:spPr>
          <a:xfrm>
            <a:off x="566928" y="3419856"/>
            <a:ext cx="8092440" cy="1110996"/>
          </a:xfrm>
          <a:prstGeom prst="rect">
            <a:avLst/>
          </a:prstGeom>
          <a:noFill/>
          <a:ln/>
        </p:spPr>
        <p:txBody>
          <a:bodyPr wrap="square" lIns="0" tIns="0" rIns="0" bIns="0" rtlCol="0" anchor="t"/>
          <a:lstStyle/>
          <a:p>
            <a:pPr marL="0" indent="0">
              <a:buNone/>
            </a:pPr>
            <a:r>
              <a:rPr lang="en-US" sz="1150" dirty="0">
                <a:solidFill>
                  <a:srgbClr val="5A5A66"/>
                </a:solidFill>
                <a:latin typeface="Segoe UI" pitchFamily="34" charset="0"/>
                <a:ea typeface="Segoe UI" pitchFamily="34" charset="-122"/>
                <a:cs typeface="Segoe UI" pitchFamily="34" charset="-120"/>
              </a:rPr>
              <a:t>Los proveedores pueden imponer restricciones. Si no admiten el campo Name en @, dejarlo en blanco (solo si hay campos separados de Service y Protocol). Si faltan Service y Protocol, indicarlos en Name separados por punto, por ejemplo _sip._tls. Si faltan Priority, Weight y Port, indicarlos en Target separados por espacios y en este orden: Priority, Weight, Port, Target — por ejemplo 100 1 443 sipdir.online.lync.com.</a:t>
            </a:r>
            <a:endParaRPr lang="en-US" sz="1150" dirty="0"/>
          </a:p>
        </p:txBody>
      </p:sp>
      <p:sp>
        <p:nvSpPr>
          <p:cNvPr id="10"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11" name="Text 9"/>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26</a:t>
            </a:r>
            <a:endParaRPr lang="en-US" sz="900" dirty="0"/>
          </a:p>
        </p:txBody>
      </p:sp>
      <p:sp>
        <p:nvSpPr>
          <p:cNvPr id="12" name="Text 10"/>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Barra lateral">
            <a:extLst>
              <a:ext uri="{C183D7F6-B498-43B3-948B-1728B52AA6E4}">
                <adec:decorative xmlns:adec="http://schemas.microsoft.com/office/drawing/2017/decorative" val="1"/>
              </a:ext>
            </a:extLst>
          </p:cNvPr>
          <p:cNvSpPr/>
          <p:nvPr/>
        </p:nvSpPr>
        <p:spPr>
          <a:xfrm>
            <a:off x="0" y="0"/>
            <a:ext cx="146304" cy="5143500"/>
          </a:xfrm>
          <a:prstGeom prst="rect">
            <a:avLst/>
          </a:prstGeom>
          <a:solidFill>
            <a:srgbClr val="0067B8"/>
          </a:solidFill>
          <a:ln w="12700">
            <a:solidFill>
              <a:srgbClr val="333333"/>
            </a:solidFill>
            <a:prstDash val="solid"/>
          </a:ln>
        </p:spPr>
      </p:sp>
      <p:sp>
        <p:nvSpPr>
          <p:cNvPr id="3" name="Text 1"/>
          <p:cNvSpPr/>
          <p:nvPr/>
        </p:nvSpPr>
        <p:spPr>
          <a:xfrm>
            <a:off x="502920" y="274320"/>
            <a:ext cx="8138160" cy="228600"/>
          </a:xfrm>
          <a:prstGeom prst="rect">
            <a:avLst/>
          </a:prstGeom>
          <a:noFill/>
          <a:ln/>
        </p:spPr>
        <p:txBody>
          <a:bodyPr wrap="square" lIns="0" tIns="0" rIns="0" bIns="0" rtlCol="0" anchor="ctr"/>
          <a:lstStyle/>
          <a:p>
            <a:pPr marL="0" indent="0">
              <a:buNone/>
            </a:pPr>
            <a:r>
              <a:rPr lang="en-US" sz="1000" b="1" kern="0" spc="200" dirty="0">
                <a:solidFill>
                  <a:srgbClr val="00B7C3"/>
                </a:solidFill>
                <a:latin typeface="Segoe UI" pitchFamily="34" charset="0"/>
                <a:ea typeface="Segoe UI" pitchFamily="34" charset="-122"/>
                <a:cs typeface="Segoe UI" pitchFamily="34" charset="-120"/>
              </a:rPr>
              <a:t>CIERRE</a:t>
            </a:r>
            <a:endParaRPr lang="en-US" sz="1000" dirty="0"/>
          </a:p>
        </p:txBody>
      </p:sp>
      <p:sp>
        <p:nvSpPr>
          <p:cNvPr id="4" name="Text 2"/>
          <p:cNvSpPr/>
          <p:nvPr/>
        </p:nvSpPr>
        <p:spPr>
          <a:xfrm>
            <a:off x="502920" y="502920"/>
            <a:ext cx="8138160" cy="548640"/>
          </a:xfrm>
          <a:prstGeom prst="rect">
            <a:avLst/>
          </a:prstGeom>
          <a:noFill/>
          <a:ln/>
        </p:spPr>
        <p:txBody>
          <a:bodyPr wrap="square" lIns="0" tIns="0" rIns="0" bIns="0" rtlCol="0" anchor="ctr"/>
          <a:lstStyle/>
          <a:p>
            <a:pPr marL="0" indent="0">
              <a:buNone/>
            </a:pPr>
            <a:r>
              <a:rPr lang="en-US" sz="2400" b="1" dirty="0">
                <a:solidFill>
                  <a:srgbClr val="0B2E5B"/>
                </a:solidFill>
                <a:latin typeface="Segoe UI" pitchFamily="34" charset="0"/>
                <a:ea typeface="Segoe UI" pitchFamily="34" charset="-122"/>
                <a:cs typeface="Segoe UI" pitchFamily="34" charset="-120"/>
              </a:rPr>
              <a:t>Puntos clave del módulo</a:t>
            </a:r>
            <a:endParaRPr lang="en-US" sz="2400" dirty="0"/>
          </a:p>
        </p:txBody>
      </p:sp>
      <p:sp>
        <p:nvSpPr>
          <p:cNvPr id="5" name="Regla de acento">
            <a:extLst>
              <a:ext uri="{C183D7F6-B498-43B3-948B-1728B52AA6E4}">
                <adec:decorative xmlns:adec="http://schemas.microsoft.com/office/drawing/2017/decorative" val="1"/>
              </a:ext>
            </a:extLst>
          </p:cNvPr>
          <p:cNvSpPr/>
          <p:nvPr/>
        </p:nvSpPr>
        <p:spPr>
          <a:xfrm>
            <a:off x="502920" y="1088136"/>
            <a:ext cx="1005840" cy="41148"/>
          </a:xfrm>
          <a:prstGeom prst="rect">
            <a:avLst/>
          </a:prstGeom>
          <a:solidFill>
            <a:srgbClr val="00B7C3"/>
          </a:solidFill>
          <a:ln w="12700">
            <a:solidFill>
              <a:srgbClr val="333333"/>
            </a:solidFill>
            <a:prstDash val="solid"/>
          </a:ln>
        </p:spPr>
      </p:sp>
      <p:sp>
        <p:nvSpPr>
          <p:cNvPr id="6" name="Tarjeta">
            <a:extLst>
              <a:ext uri="{C183D7F6-B498-43B3-948B-1728B52AA6E4}">
                <adec:decorative xmlns:adec="http://schemas.microsoft.com/office/drawing/2017/decorative" val="1"/>
              </a:ext>
            </a:extLst>
          </p:cNvPr>
          <p:cNvSpPr/>
          <p:nvPr/>
        </p:nvSpPr>
        <p:spPr>
          <a:xfrm>
            <a:off x="548640" y="1371600"/>
            <a:ext cx="2563368" cy="1497330"/>
          </a:xfrm>
          <a:prstGeom prst="rect">
            <a:avLst/>
          </a:prstGeom>
          <a:solidFill>
            <a:srgbClr val="EDF2F8"/>
          </a:solidFill>
          <a:ln w="12700">
            <a:solidFill>
              <a:srgbClr val="333333"/>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548640" y="1371600"/>
            <a:ext cx="54864" cy="1497330"/>
          </a:xfrm>
          <a:prstGeom prst="rect">
            <a:avLst/>
          </a:prstGeom>
          <a:solidFill>
            <a:srgbClr val="00B7C3"/>
          </a:solidFill>
          <a:ln w="12700">
            <a:solidFill>
              <a:srgbClr val="333333"/>
            </a:solidFill>
            <a:prstDash val="solid"/>
          </a:ln>
        </p:spPr>
      </p:sp>
      <p:sp>
        <p:nvSpPr>
          <p:cNvPr id="8" name="Text 6"/>
          <p:cNvSpPr/>
          <p:nvPr/>
        </p:nvSpPr>
        <p:spPr>
          <a:xfrm>
            <a:off x="731520" y="148132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Planificar antes de agregar</a:t>
            </a:r>
            <a:endParaRPr lang="en-US" sz="1250" dirty="0"/>
          </a:p>
        </p:txBody>
      </p:sp>
      <p:sp>
        <p:nvSpPr>
          <p:cNvPr id="9" name="Text 7"/>
          <p:cNvSpPr/>
          <p:nvPr/>
        </p:nvSpPr>
        <p:spPr>
          <a:xfrm>
            <a:off x="731520" y="198310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Dominios y subdominios, orden de alta, hasta 900 dominios y acceso real a la consola DNS.</a:t>
            </a:r>
            <a:endParaRPr lang="en-US" sz="1050" dirty="0"/>
          </a:p>
        </p:txBody>
      </p:sp>
      <p:sp>
        <p:nvSpPr>
          <p:cNvPr id="10" name="Tarjeta">
            <a:extLst>
              <a:ext uri="{C183D7F6-B498-43B3-948B-1728B52AA6E4}">
                <adec:decorative xmlns:adec="http://schemas.microsoft.com/office/drawing/2017/decorative" val="1"/>
              </a:ext>
            </a:extLst>
          </p:cNvPr>
          <p:cNvSpPr/>
          <p:nvPr/>
        </p:nvSpPr>
        <p:spPr>
          <a:xfrm>
            <a:off x="3313176" y="1371600"/>
            <a:ext cx="2563368" cy="1497330"/>
          </a:xfrm>
          <a:prstGeom prst="rect">
            <a:avLst/>
          </a:prstGeom>
          <a:solidFill>
            <a:srgbClr val="EDF2F8"/>
          </a:solidFill>
          <a:ln w="12700">
            <a:solidFill>
              <a:srgbClr val="333333"/>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3313176" y="1371600"/>
            <a:ext cx="54864" cy="1497330"/>
          </a:xfrm>
          <a:prstGeom prst="rect">
            <a:avLst/>
          </a:prstGeom>
          <a:solidFill>
            <a:srgbClr val="00B7C3"/>
          </a:solidFill>
          <a:ln w="12700">
            <a:solidFill>
              <a:srgbClr val="333333"/>
            </a:solidFill>
            <a:prstDash val="solid"/>
          </a:ln>
        </p:spPr>
      </p:sp>
      <p:sp>
        <p:nvSpPr>
          <p:cNvPr id="12" name="Text 10"/>
          <p:cNvSpPr/>
          <p:nvPr/>
        </p:nvSpPr>
        <p:spPr>
          <a:xfrm>
            <a:off x="3496056" y="148132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La zona pública es imprescindible</a:t>
            </a:r>
            <a:endParaRPr lang="en-US" sz="1250" dirty="0"/>
          </a:p>
        </p:txBody>
      </p:sp>
      <p:sp>
        <p:nvSpPr>
          <p:cNvPr id="13" name="Text 11"/>
          <p:cNvSpPr/>
          <p:nvPr/>
        </p:nvSpPr>
        <p:spPr>
          <a:xfrm>
            <a:off x="3496056" y="198310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Verificación, correo, autodiscover, federación y servicios web dependen de ella.</a:t>
            </a:r>
            <a:endParaRPr lang="en-US" sz="1050" dirty="0"/>
          </a:p>
        </p:txBody>
      </p:sp>
      <p:sp>
        <p:nvSpPr>
          <p:cNvPr id="14" name="Tarjeta">
            <a:extLst>
              <a:ext uri="{C183D7F6-B498-43B3-948B-1728B52AA6E4}">
                <adec:decorative xmlns:adec="http://schemas.microsoft.com/office/drawing/2017/decorative" val="1"/>
              </a:ext>
            </a:extLst>
          </p:cNvPr>
          <p:cNvSpPr/>
          <p:nvPr/>
        </p:nvSpPr>
        <p:spPr>
          <a:xfrm>
            <a:off x="6077712" y="1371600"/>
            <a:ext cx="2563368" cy="1497330"/>
          </a:xfrm>
          <a:prstGeom prst="rect">
            <a:avLst/>
          </a:prstGeom>
          <a:solidFill>
            <a:srgbClr val="EDF2F8"/>
          </a:solidFill>
          <a:ln w="12700">
            <a:solidFill>
              <a:srgbClr val="333333"/>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6077712" y="1371600"/>
            <a:ext cx="54864" cy="1497330"/>
          </a:xfrm>
          <a:prstGeom prst="rect">
            <a:avLst/>
          </a:prstGeom>
          <a:solidFill>
            <a:srgbClr val="00B7C3"/>
          </a:solidFill>
          <a:ln w="12700">
            <a:solidFill>
              <a:srgbClr val="333333"/>
            </a:solidFill>
            <a:prstDash val="solid"/>
          </a:ln>
        </p:spPr>
      </p:sp>
      <p:sp>
        <p:nvSpPr>
          <p:cNvPr id="16" name="Text 14"/>
          <p:cNvSpPr/>
          <p:nvPr/>
        </p:nvSpPr>
        <p:spPr>
          <a:xfrm>
            <a:off x="6260592" y="148132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Decidir el modelo de nombres</a:t>
            </a:r>
            <a:endParaRPr lang="en-US" sz="1250" dirty="0"/>
          </a:p>
        </p:txBody>
      </p:sp>
      <p:sp>
        <p:nvSpPr>
          <p:cNvPr id="17" name="Text 15"/>
          <p:cNvSpPr/>
          <p:nvPr/>
        </p:nvSpPr>
        <p:spPr>
          <a:xfrm>
            <a:off x="6260592" y="198310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Zonas internas y externas con nombres distintos, o split DNS con el mismo nombre.</a:t>
            </a:r>
            <a:endParaRPr lang="en-US" sz="1050" dirty="0"/>
          </a:p>
        </p:txBody>
      </p:sp>
      <p:sp>
        <p:nvSpPr>
          <p:cNvPr id="18" name="Tarjeta">
            <a:extLst>
              <a:ext uri="{C183D7F6-B498-43B3-948B-1728B52AA6E4}">
                <adec:decorative xmlns:adec="http://schemas.microsoft.com/office/drawing/2017/decorative" val="1"/>
              </a:ext>
            </a:extLst>
          </p:cNvPr>
          <p:cNvSpPr/>
          <p:nvPr/>
        </p:nvSpPr>
        <p:spPr>
          <a:xfrm>
            <a:off x="548640" y="3051810"/>
            <a:ext cx="2563368" cy="1497330"/>
          </a:xfrm>
          <a:prstGeom prst="rect">
            <a:avLst/>
          </a:prstGeom>
          <a:solidFill>
            <a:srgbClr val="EDF2F8"/>
          </a:solidFill>
          <a:ln w="12700">
            <a:solidFill>
              <a:srgbClr val="333333"/>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548640" y="3051810"/>
            <a:ext cx="54864" cy="1497330"/>
          </a:xfrm>
          <a:prstGeom prst="rect">
            <a:avLst/>
          </a:prstGeom>
          <a:solidFill>
            <a:srgbClr val="00B7C3"/>
          </a:solidFill>
          <a:ln w="12700">
            <a:solidFill>
              <a:srgbClr val="333333"/>
            </a:solidFill>
            <a:prstDash val="solid"/>
          </a:ln>
        </p:spPr>
      </p:sp>
      <p:sp>
        <p:nvSpPr>
          <p:cNvPr id="20" name="Text 18"/>
          <p:cNvSpPr/>
          <p:nvPr/>
        </p:nvSpPr>
        <p:spPr>
          <a:xfrm>
            <a:off x="731520" y="3161538"/>
            <a:ext cx="2234184" cy="287465"/>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Registros por servicio</a:t>
            </a:r>
            <a:endParaRPr lang="en-US" sz="1250" dirty="0"/>
          </a:p>
        </p:txBody>
      </p:sp>
      <p:sp>
        <p:nvSpPr>
          <p:cNvPr id="21" name="Text 19"/>
          <p:cNvSpPr/>
          <p:nvPr/>
        </p:nvSpPr>
        <p:spPr>
          <a:xfrm>
            <a:off x="731520" y="3449003"/>
            <a:ext cx="2234184" cy="990409"/>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TXT y CNAME para el núcleo, MX y SPF para correo, SRV y CNAME para Teams.</a:t>
            </a:r>
            <a:endParaRPr lang="en-US" sz="1050" dirty="0"/>
          </a:p>
        </p:txBody>
      </p:sp>
      <p:sp>
        <p:nvSpPr>
          <p:cNvPr id="22" name="Tarjeta">
            <a:extLst>
              <a:ext uri="{C183D7F6-B498-43B3-948B-1728B52AA6E4}">
                <adec:decorative xmlns:adec="http://schemas.microsoft.com/office/drawing/2017/decorative" val="1"/>
              </a:ext>
            </a:extLst>
          </p:cNvPr>
          <p:cNvSpPr/>
          <p:nvPr/>
        </p:nvSpPr>
        <p:spPr>
          <a:xfrm>
            <a:off x="3313176" y="3051810"/>
            <a:ext cx="2563368" cy="1497330"/>
          </a:xfrm>
          <a:prstGeom prst="rect">
            <a:avLst/>
          </a:prstGeom>
          <a:solidFill>
            <a:srgbClr val="EDF2F8"/>
          </a:solidFill>
          <a:ln w="12700">
            <a:solidFill>
              <a:srgbClr val="333333"/>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3313176" y="3051810"/>
            <a:ext cx="54864" cy="1497330"/>
          </a:xfrm>
          <a:prstGeom prst="rect">
            <a:avLst/>
          </a:prstGeom>
          <a:solidFill>
            <a:srgbClr val="00B7C3"/>
          </a:solidFill>
          <a:ln w="12700">
            <a:solidFill>
              <a:srgbClr val="333333"/>
            </a:solidFill>
            <a:prstDash val="solid"/>
          </a:ln>
        </p:spPr>
      </p:sp>
      <p:sp>
        <p:nvSpPr>
          <p:cNvPr id="24" name="Text 22"/>
          <p:cNvSpPr/>
          <p:nvPr/>
        </p:nvSpPr>
        <p:spPr>
          <a:xfrm>
            <a:off x="3496056" y="316153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Verificar la propiedad primero</a:t>
            </a:r>
            <a:endParaRPr lang="en-US" sz="1250" dirty="0"/>
          </a:p>
        </p:txBody>
      </p:sp>
      <p:sp>
        <p:nvSpPr>
          <p:cNvPr id="25" name="Text 23"/>
          <p:cNvSpPr/>
          <p:nvPr/>
        </p:nvSpPr>
        <p:spPr>
          <a:xfrm>
            <a:off x="3496056" y="366331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Registro TXT (recomendado) o MX temporal, con tiempos de propagación variables.</a:t>
            </a:r>
            <a:endParaRPr lang="en-US" sz="1050" dirty="0"/>
          </a:p>
        </p:txBody>
      </p:sp>
      <p:sp>
        <p:nvSpPr>
          <p:cNvPr id="26" name="Tarjeta">
            <a:extLst>
              <a:ext uri="{C183D7F6-B498-43B3-948B-1728B52AA6E4}">
                <adec:decorative xmlns:adec="http://schemas.microsoft.com/office/drawing/2017/decorative" val="1"/>
              </a:ext>
            </a:extLst>
          </p:cNvPr>
          <p:cNvSpPr/>
          <p:nvPr/>
        </p:nvSpPr>
        <p:spPr>
          <a:xfrm>
            <a:off x="6077712" y="3051810"/>
            <a:ext cx="2563368" cy="1497330"/>
          </a:xfrm>
          <a:prstGeom prst="rect">
            <a:avLst/>
          </a:prstGeom>
          <a:solidFill>
            <a:srgbClr val="EDF2F8"/>
          </a:solidFill>
          <a:ln w="12700">
            <a:solidFill>
              <a:srgbClr val="333333"/>
            </a:solidFill>
            <a:prstDash val="solid"/>
          </a:ln>
        </p:spPr>
      </p:sp>
      <p:sp>
        <p:nvSpPr>
          <p:cNvPr id="27" name="Acento de tarjeta">
            <a:extLst>
              <a:ext uri="{C183D7F6-B498-43B3-948B-1728B52AA6E4}">
                <adec:decorative xmlns:adec="http://schemas.microsoft.com/office/drawing/2017/decorative" val="1"/>
              </a:ext>
            </a:extLst>
          </p:cNvPr>
          <p:cNvSpPr/>
          <p:nvPr/>
        </p:nvSpPr>
        <p:spPr>
          <a:xfrm>
            <a:off x="6077712" y="3051810"/>
            <a:ext cx="54864" cy="1497330"/>
          </a:xfrm>
          <a:prstGeom prst="rect">
            <a:avLst/>
          </a:prstGeom>
          <a:solidFill>
            <a:srgbClr val="00B7C3"/>
          </a:solidFill>
          <a:ln w="12700">
            <a:solidFill>
              <a:srgbClr val="333333"/>
            </a:solidFill>
            <a:prstDash val="solid"/>
          </a:ln>
        </p:spPr>
      </p:sp>
      <p:sp>
        <p:nvSpPr>
          <p:cNvPr id="28" name="Text 26"/>
          <p:cNvSpPr/>
          <p:nvPr/>
        </p:nvSpPr>
        <p:spPr>
          <a:xfrm>
            <a:off x="6260592" y="3161538"/>
            <a:ext cx="2234184" cy="501777"/>
          </a:xfrm>
          <a:prstGeom prst="rect">
            <a:avLst/>
          </a:prstGeom>
          <a:noFill/>
          <a:ln/>
        </p:spPr>
        <p:txBody>
          <a:bodyPr wrap="square" lIns="0" tIns="0" rIns="0" bIns="0" rtlCol="0" anchor="t"/>
          <a:lstStyle/>
          <a:p>
            <a:pPr marL="0" indent="0">
              <a:buNone/>
            </a:pPr>
            <a:r>
              <a:rPr lang="en-US" sz="1250" b="1" dirty="0">
                <a:solidFill>
                  <a:srgbClr val="0B2E5B"/>
                </a:solidFill>
                <a:latin typeface="Segoe UI" pitchFamily="34" charset="0"/>
                <a:ea typeface="Segoe UI" pitchFamily="34" charset="-122"/>
                <a:cs typeface="Segoe UI" pitchFamily="34" charset="-120"/>
              </a:rPr>
              <a:t>Completar la protección del correo</a:t>
            </a:r>
            <a:endParaRPr lang="en-US" sz="1250" dirty="0"/>
          </a:p>
        </p:txBody>
      </p:sp>
      <p:sp>
        <p:nvSpPr>
          <p:cNvPr id="29" name="Text 27"/>
          <p:cNvSpPr/>
          <p:nvPr/>
        </p:nvSpPr>
        <p:spPr>
          <a:xfrm>
            <a:off x="6260592" y="3663315"/>
            <a:ext cx="2234184" cy="776097"/>
          </a:xfrm>
          <a:prstGeom prst="rect">
            <a:avLst/>
          </a:prstGeom>
          <a:noFill/>
          <a:ln/>
        </p:spPr>
        <p:txBody>
          <a:bodyPr wrap="square" lIns="0" tIns="0" rIns="0" bIns="0" rtlCol="0" anchor="t"/>
          <a:lstStyle/>
          <a:p>
            <a:pPr marL="0" indent="0">
              <a:buNone/>
            </a:pPr>
            <a:r>
              <a:rPr lang="en-US" sz="1050" dirty="0">
                <a:solidFill>
                  <a:srgbClr val="5A5A66"/>
                </a:solidFill>
                <a:latin typeface="Segoe UI" pitchFamily="34" charset="0"/>
                <a:ea typeface="Segoe UI" pitchFamily="34" charset="-122"/>
                <a:cs typeface="Segoe UI" pitchFamily="34" charset="-120"/>
              </a:rPr>
              <a:t>Tras SPF, configurar DKIM y DMARC, y mantener un único registro SPF con menos de 10 búsquedas.</a:t>
            </a:r>
            <a:endParaRPr lang="en-US" sz="1050" dirty="0"/>
          </a:p>
        </p:txBody>
      </p:sp>
      <p:sp>
        <p:nvSpPr>
          <p:cNvPr id="30" name="Barra inferior">
            <a:extLst>
              <a:ext uri="{C183D7F6-B498-43B3-948B-1728B52AA6E4}">
                <adec:decorative xmlns:adec="http://schemas.microsoft.com/office/drawing/2017/decorative" val="1"/>
              </a:ext>
            </a:extLst>
          </p:cNvPr>
          <p:cNvSpPr/>
          <p:nvPr/>
        </p:nvSpPr>
        <p:spPr>
          <a:xfrm>
            <a:off x="0" y="5088636"/>
            <a:ext cx="9144000" cy="54864"/>
          </a:xfrm>
          <a:prstGeom prst="rect">
            <a:avLst/>
          </a:prstGeom>
          <a:solidFill>
            <a:srgbClr val="EDF2F8"/>
          </a:solidFill>
          <a:ln w="12700">
            <a:solidFill>
              <a:srgbClr val="333333"/>
            </a:solidFill>
            <a:prstDash val="solid"/>
          </a:ln>
        </p:spPr>
      </p:sp>
      <p:sp>
        <p:nvSpPr>
          <p:cNvPr id="31" name="Text 29"/>
          <p:cNvSpPr/>
          <p:nvPr/>
        </p:nvSpPr>
        <p:spPr>
          <a:xfrm>
            <a:off x="8321040" y="4668012"/>
            <a:ext cx="457200" cy="274320"/>
          </a:xfrm>
          <a:prstGeom prst="rect">
            <a:avLst/>
          </a:prstGeom>
          <a:noFill/>
          <a:ln/>
        </p:spPr>
        <p:txBody>
          <a:bodyPr wrap="square" lIns="0" tIns="0" rIns="0" bIns="0" rtlCol="0" anchor="ctr"/>
          <a:lstStyle/>
          <a:p>
            <a:pPr marL="0" indent="0" algn="r">
              <a:buNone/>
            </a:pPr>
            <a:r>
              <a:rPr lang="en-US" sz="900" dirty="0">
                <a:solidFill>
                  <a:srgbClr val="5A5A66"/>
                </a:solidFill>
                <a:latin typeface="Segoe UI" pitchFamily="34" charset="0"/>
                <a:ea typeface="Segoe UI" pitchFamily="34" charset="-122"/>
                <a:cs typeface="Segoe UI" pitchFamily="34" charset="-120"/>
              </a:rPr>
              <a:t>27</a:t>
            </a:r>
            <a:endParaRPr lang="en-US" sz="900" dirty="0"/>
          </a:p>
        </p:txBody>
      </p:sp>
      <p:sp>
        <p:nvSpPr>
          <p:cNvPr id="32" name="Text 30"/>
          <p:cNvSpPr/>
          <p:nvPr/>
        </p:nvSpPr>
        <p:spPr>
          <a:xfrm>
            <a:off x="502920" y="4668012"/>
            <a:ext cx="5486400" cy="274320"/>
          </a:xfrm>
          <a:prstGeom prst="rect">
            <a:avLst/>
          </a:prstGeom>
          <a:noFill/>
          <a:ln/>
        </p:spPr>
        <p:txBody>
          <a:bodyPr wrap="square" lIns="0" tIns="0" rIns="0" bIns="0" rtlCol="0" anchor="ctr"/>
          <a:lstStyle/>
          <a:p>
            <a:pPr marL="0" indent="0">
              <a:buNone/>
            </a:pPr>
            <a:r>
              <a:rPr lang="en-US" sz="900" dirty="0">
                <a:solidFill>
                  <a:srgbClr val="9AA0A6"/>
                </a:solidFill>
                <a:latin typeface="Segoe UI" pitchFamily="34" charset="0"/>
                <a:ea typeface="Segoe UI" pitchFamily="34" charset="-122"/>
                <a:cs typeface="Segoe UI" pitchFamily="34" charset="-120"/>
              </a:rPr>
              <a:t>Dominios personalizados en Microsoft 365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2026-08-25T17:47:14Z</dcterms:created>
  <dcterms:modified xsi:type="dcterms:W3CDTF">2026-08-25T18:02:01Z</dcterms:modified>
</cp:coreProperties>
</file>
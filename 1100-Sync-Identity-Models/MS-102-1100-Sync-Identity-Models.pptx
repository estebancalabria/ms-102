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77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6T17:08:49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9CCA1-8B7B-4520-B42F-E3AF9471CBCC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C6EAE-77C1-4F26-B53F-E3167AFB3E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28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0EE1EC-CC47-45F7-9F82-10158AD7E7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7E82D9-24F9-4D82-B7BB-A6E0D60A6BBC}"/>
              </a:ext>
            </a:extLst>
          </p:cNvPr>
          <p:cNvSpPr>
            <a:spLocks noGrp="1"/>
          </p:cNvSpPr>
          <p:nvPr/>
        </p:nvSpPr>
        <p:spPr>
          <a:xfrm>
            <a:off x="781050" y="7429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FORMACIÓN TÉCNICA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B103A5-8969-417A-909C-D2FAB7A558DC}"/>
              </a:ext>
            </a:extLst>
          </p:cNvPr>
          <p:cNvSpPr>
            <a:spLocks noGrp="1"/>
          </p:cNvSpPr>
          <p:nvPr/>
        </p:nvSpPr>
        <p:spPr>
          <a:xfrm>
            <a:off x="781050" y="1409700"/>
            <a:ext cx="666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770"/>
          </a:bodyPr>
          <a:lstStyle/>
          <a:p>
            <a:pPr algn="l">
              <a:lnSpc>
                <a:spcPct val="92000"/>
              </a:lnSpc>
              <a:buNone/>
              <a:defRPr sz="4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Autenticación e identidad</a:t>
            </a:r>
          </a:p>
          <a:p>
            <a:pPr algn="l">
              <a:lnSpc>
                <a:spcPct val="92000"/>
              </a:lnSpc>
              <a:buNone/>
              <a:defRPr sz="4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 Microsoft 365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E2C01-8DE6-4335-9BD3-A92C547A170C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619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Modelos de identidad · Sincronización · </a:t>
            </a:r>
            <a:r>
              <a:rPr lang="en-US" sz="18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Autenticación</a:t>
            </a:r>
            <a:r>
              <a:rPr sz="18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 · Federación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08FF9-93C7-4ED9-BA27-350C245C8C6F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2095500" cy="38100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A50FD-3641-4D6E-9929-DEB5C7E9EFD6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64CB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4CB7"/>
                </a:solidFill>
                <a:latin typeface="Aptos"/>
                <a:ea typeface="Aptos"/>
                <a:cs typeface="Aptos"/>
              </a:rPr>
              <a:t>Microsoft Entra ID como plano de control</a:t>
            </a:r>
          </a:p>
        </p:txBody>
      </p:sp>
      <p:sp>
        <p:nvSpPr>
          <p:cNvPr id="7" name="cover-entra">
            <a:extLst>
              <a:ext uri="{FF2B5EF4-FFF2-40B4-BE49-F238E27FC236}">
                <a16:creationId xmlns:a16="http://schemas.microsoft.com/office/drawing/2014/main" id="{0853C768-A8CC-4854-B957-D65C2F3D3229}"/>
              </a:ext>
            </a:extLst>
          </p:cNvPr>
          <p:cNvSpPr>
            <a:spLocks noGrp="1"/>
          </p:cNvSpPr>
          <p:nvPr/>
        </p:nvSpPr>
        <p:spPr>
          <a:xfrm>
            <a:off x="8439150" y="1257300"/>
            <a:ext cx="1104900" cy="11049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8" name="cover-cloud">
            <a:extLst>
              <a:ext uri="{FF2B5EF4-FFF2-40B4-BE49-F238E27FC236}">
                <a16:creationId xmlns:a16="http://schemas.microsoft.com/office/drawing/2014/main" id="{CE71F61C-9E28-4DE5-BF68-C00375109FBD}"/>
              </a:ext>
            </a:extLst>
          </p:cNvPr>
          <p:cNvSpPr>
            <a:spLocks noGrp="1"/>
          </p:cNvSpPr>
          <p:nvPr/>
        </p:nvSpPr>
        <p:spPr>
          <a:xfrm>
            <a:off x="10001250" y="2686050"/>
            <a:ext cx="876300" cy="87630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9" name="cover-ad">
            <a:extLst>
              <a:ext uri="{FF2B5EF4-FFF2-40B4-BE49-F238E27FC236}">
                <a16:creationId xmlns:a16="http://schemas.microsoft.com/office/drawing/2014/main" id="{CF2F4CA5-5A09-4938-A318-D2B697B98177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1009650" cy="1009650"/>
          </a:xfrm>
          <a:prstGeom prst="ellipse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</a:t>
            </a:r>
          </a:p>
        </p:txBody>
      </p:sp>
      <p:sp>
        <p:nvSpPr>
          <p:cNvPr id="10" name="cover-m365">
            <a:extLst>
              <a:ext uri="{FF2B5EF4-FFF2-40B4-BE49-F238E27FC236}">
                <a16:creationId xmlns:a16="http://schemas.microsoft.com/office/drawing/2014/main" id="{AD676A00-6DE1-468F-9934-66C86C1C0F39}"/>
              </a:ext>
            </a:extLst>
          </p:cNvPr>
          <p:cNvSpPr>
            <a:spLocks noGrp="1"/>
          </p:cNvSpPr>
          <p:nvPr/>
        </p:nvSpPr>
        <p:spPr>
          <a:xfrm>
            <a:off x="10048875" y="4781550"/>
            <a:ext cx="819150" cy="81915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cxnSp>
        <p:nvCxnSpPr>
          <p:cNvPr id="11" name="Straight Arrow Connector 10"/>
          <p:cNvCxnSpPr>
            <a:stCxn id="7" idx="6"/>
            <a:endCxn id="8" idx="2"/>
          </p:cNvCxnSpPr>
          <p:nvPr/>
        </p:nvCxnSpPr>
        <p:spPr>
          <a:xfrm>
            <a:off x="9544050" y="1809750"/>
            <a:ext cx="457200" cy="131445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none" w="med" len="med"/>
          </a:ln>
        </p:spPr>
      </p:cxnSp>
      <p:cxnSp>
        <p:nvCxnSpPr>
          <p:cNvPr id="12" name="Straight Arrow Connector 11"/>
          <p:cNvCxnSpPr>
            <a:stCxn id="7" idx="4"/>
            <a:endCxn id="9" idx="0"/>
          </p:cNvCxnSpPr>
          <p:nvPr/>
        </p:nvCxnSpPr>
        <p:spPr>
          <a:xfrm flipH="1">
            <a:off x="8315325" y="2362200"/>
            <a:ext cx="676275" cy="180975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none" w="med" len="med"/>
          </a:ln>
        </p:spPr>
      </p:cxnSp>
      <p:cxnSp>
        <p:nvCxnSpPr>
          <p:cNvPr id="13" name="Straight Arrow Connector 12"/>
          <p:cNvCxnSpPr>
            <a:stCxn id="9" idx="6"/>
            <a:endCxn id="10" idx="2"/>
          </p:cNvCxnSpPr>
          <p:nvPr/>
        </p:nvCxnSpPr>
        <p:spPr>
          <a:xfrm>
            <a:off x="8820150" y="4676775"/>
            <a:ext cx="1228725" cy="514350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none" w="med" len="med"/>
          </a:ln>
        </p:spPr>
      </p:cxnSp>
      <p:cxnSp>
        <p:nvCxnSpPr>
          <p:cNvPr id="14" name="Straight Arrow Connector 13"/>
          <p:cNvCxnSpPr>
            <a:stCxn id="8" idx="4"/>
            <a:endCxn id="10" idx="0"/>
          </p:cNvCxnSpPr>
          <p:nvPr/>
        </p:nvCxnSpPr>
        <p:spPr>
          <a:xfrm>
            <a:off x="10439400" y="3562350"/>
            <a:ext cx="19050" cy="121920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none" w="med" len="me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53E23CF-B181-4A77-B13B-E9B72C0C8C7D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445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869B99B-C606-42B3-8F24-70C7DDD101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92984-1D83-4BBE-BA76-015CF681B230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RUTA DE APRENDIZAJE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681B613-A4BD-4E7C-957B-2408F27F0EA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Del directorio a la decisión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51A39-0BD0-4E77-9016-2CA7F3545605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 finalizar, podrás explicar y seleccionar: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94B96-BBCC-4110-834D-F4BBE8B9E5B1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723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21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9D3CA2-3099-4DCF-8AEB-2C95C0AA6494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07645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D69A5F-55FA-43CF-B09C-A176BDCAA911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49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Modelo de identidad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80F83-31E1-43D2-9224-97CE2F2F00CE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Cloud-only o híbrido según el origen y la autoridad de la cuenta.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DEEB1-3F76-4BCE-A1A4-C060C4D5E92D}"/>
              </a:ext>
            </a:extLst>
          </p:cNvPr>
          <p:cNvSpPr>
            <a:spLocks noGrp="1"/>
          </p:cNvSpPr>
          <p:nvPr/>
        </p:nvSpPr>
        <p:spPr>
          <a:xfrm>
            <a:off x="3371850" y="2171700"/>
            <a:ext cx="723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21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C4ED1E-B387-4A74-BAED-7776C4AB313D}"/>
              </a:ext>
            </a:extLst>
          </p:cNvPr>
          <p:cNvSpPr>
            <a:spLocks noGrp="1"/>
          </p:cNvSpPr>
          <p:nvPr/>
        </p:nvSpPr>
        <p:spPr>
          <a:xfrm>
            <a:off x="3371850" y="2800350"/>
            <a:ext cx="207645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D09B1-EDDE-4FCF-88B5-119E224561A1}"/>
              </a:ext>
            </a:extLst>
          </p:cNvPr>
          <p:cNvSpPr>
            <a:spLocks noGrp="1"/>
          </p:cNvSpPr>
          <p:nvPr/>
        </p:nvSpPr>
        <p:spPr>
          <a:xfrm>
            <a:off x="3371850" y="30289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49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Motor de sincronización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421727-FE00-4C49-A991-C8A9C1E4DD4F}"/>
              </a:ext>
            </a:extLst>
          </p:cNvPr>
          <p:cNvSpPr>
            <a:spLocks noGrp="1"/>
          </p:cNvSpPr>
          <p:nvPr/>
        </p:nvSpPr>
        <p:spPr>
          <a:xfrm>
            <a:off x="3371850" y="37909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Connect Sync o Cloud Sync según escala, integración y complejidad.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9C8F96-E63B-43A2-A5FF-234FCB49B3DA}"/>
              </a:ext>
            </a:extLst>
          </p:cNvPr>
          <p:cNvSpPr>
            <a:spLocks noGrp="1"/>
          </p:cNvSpPr>
          <p:nvPr/>
        </p:nvSpPr>
        <p:spPr>
          <a:xfrm>
            <a:off x="6057900" y="2171700"/>
            <a:ext cx="723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21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346251-FEA1-42C6-AAC9-E0350217FD09}"/>
              </a:ext>
            </a:extLst>
          </p:cNvPr>
          <p:cNvSpPr>
            <a:spLocks noGrp="1"/>
          </p:cNvSpPr>
          <p:nvPr/>
        </p:nvSpPr>
        <p:spPr>
          <a:xfrm>
            <a:off x="6057900" y="2800350"/>
            <a:ext cx="207645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FA6327-CAA9-4B82-AA13-BC52857B49D9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49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Método de autenticación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7B7270-8FAA-4AFA-BD58-F92BEE5DAA32}"/>
              </a:ext>
            </a:extLst>
          </p:cNvPr>
          <p:cNvSpPr>
            <a:spLocks noGrp="1"/>
          </p:cNvSpPr>
          <p:nvPr/>
        </p:nvSpPr>
        <p:spPr>
          <a:xfrm>
            <a:off x="6057900" y="37909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Métodos administrados </a:t>
            </a: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 </a:t>
            </a: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federados</a:t>
            </a: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 según infraestructura y requisitos de control.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7148C-CE95-4890-82D7-2521E73F296D}"/>
              </a:ext>
            </a:extLst>
          </p:cNvPr>
          <p:cNvSpPr>
            <a:spLocks noGrp="1"/>
          </p:cNvSpPr>
          <p:nvPr/>
        </p:nvSpPr>
        <p:spPr>
          <a:xfrm>
            <a:off x="8743950" y="2171700"/>
            <a:ext cx="723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21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2693F-908A-4F24-BC6F-01ABD08D8D1C}"/>
              </a:ext>
            </a:extLst>
          </p:cNvPr>
          <p:cNvSpPr>
            <a:spLocks noGrp="1"/>
          </p:cNvSpPr>
          <p:nvPr/>
        </p:nvSpPr>
        <p:spPr>
          <a:xfrm>
            <a:off x="8743950" y="2800350"/>
            <a:ext cx="2076450" cy="2857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B78BA-7123-4E21-9BC1-4C506AA65541}"/>
              </a:ext>
            </a:extLst>
          </p:cNvPr>
          <p:cNvSpPr>
            <a:spLocks noGrp="1"/>
          </p:cNvSpPr>
          <p:nvPr/>
        </p:nvSpPr>
        <p:spPr>
          <a:xfrm>
            <a:off x="8743950" y="30289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49"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Punto de administración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FC4FD4-AD82-4CB7-A0D6-B05B913CD1D3}"/>
              </a:ext>
            </a:extLst>
          </p:cNvPr>
          <p:cNvSpPr>
            <a:spLocks noGrp="1"/>
          </p:cNvSpPr>
          <p:nvPr/>
        </p:nvSpPr>
        <p:spPr>
          <a:xfrm>
            <a:off x="8743950" y="37909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Entra ID o AD DS según dónde reside la fuente autoritativa.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EA8DA3-2984-4D82-86E5-AFCFAE1578E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86B86C-CCA4-4D8E-AB47-4D4B9149A82D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1EEC4D-7D8A-49C0-9B93-B18747F1DD5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716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13C535B-1E21-4700-A2BE-F208CAF86F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842C95-4822-457E-A601-68EE76CC295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FUNDAMENTOS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50FB20A-FCF5-4783-ABE2-35801386ACB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Entra ID es el plano de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8F6FB-ADED-49D9-BEFE-EB9141F0F22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306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Microsoft 365 usa Microsoft Entra ID para administrar identidades y autenticación.</a:t>
            </a:r>
          </a:p>
        </p:txBody>
      </p:sp>
      <p:sp>
        <p:nvSpPr>
          <p:cNvPr id="5" name="entra-hub">
            <a:extLst>
              <a:ext uri="{FF2B5EF4-FFF2-40B4-BE49-F238E27FC236}">
                <a16:creationId xmlns:a16="http://schemas.microsoft.com/office/drawing/2014/main" id="{B7A89C1D-76D6-4B13-A191-894AE65A536C}"/>
              </a:ext>
            </a:extLst>
          </p:cNvPr>
          <p:cNvSpPr>
            <a:spLocks noGrp="1"/>
          </p:cNvSpPr>
          <p:nvPr/>
        </p:nvSpPr>
        <p:spPr>
          <a:xfrm>
            <a:off x="4762500" y="2533650"/>
            <a:ext cx="2667000" cy="17145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98713"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Microsoft</a:t>
            </a:r>
          </a:p>
          <a:p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 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4EDDF-642E-4DD7-8164-DE0860D853DE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2095500" cy="895350"/>
          </a:xfrm>
          <a:prstGeom prst="rect">
            <a:avLst/>
          </a:prstGeom>
          <a:solidFill>
            <a:srgbClr val="E8EE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3450A-9BBB-44BC-9359-9242145A5B33}"/>
              </a:ext>
            </a:extLst>
          </p:cNvPr>
          <p:cNvSpPr>
            <a:spLocks noGrp="1"/>
          </p:cNvSpPr>
          <p:nvPr/>
        </p:nvSpPr>
        <p:spPr>
          <a:xfrm>
            <a:off x="1295400" y="238125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25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Identidades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BD2AF-F72E-42D7-85DE-B2F56F775E88}"/>
              </a:ext>
            </a:extLst>
          </p:cNvPr>
          <p:cNvSpPr>
            <a:spLocks noGrp="1"/>
          </p:cNvSpPr>
          <p:nvPr/>
        </p:nvSpPr>
        <p:spPr>
          <a:xfrm>
            <a:off x="1295400" y="26860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Usuarios y grupos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DBEE9-EA9C-496A-BEF9-1B05AAF83DE9}"/>
              </a:ext>
            </a:extLst>
          </p:cNvPr>
          <p:cNvSpPr>
            <a:spLocks noGrp="1"/>
          </p:cNvSpPr>
          <p:nvPr/>
        </p:nvSpPr>
        <p:spPr>
          <a:xfrm>
            <a:off x="8953500" y="2238375"/>
            <a:ext cx="2095500" cy="895350"/>
          </a:xfrm>
          <a:prstGeom prst="rect">
            <a:avLst/>
          </a:prstGeom>
          <a:solidFill>
            <a:srgbClr val="DDF7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27C61F-B482-4AA2-AC2C-123394BB66DB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25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Autenticación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E434C-CB72-47C7-A92C-F38607A6020F}"/>
              </a:ext>
            </a:extLst>
          </p:cNvPr>
          <p:cNvSpPr>
            <a:spLocks noGrp="1"/>
          </p:cNvSpPr>
          <p:nvPr/>
        </p:nvSpPr>
        <p:spPr>
          <a:xfrm>
            <a:off x="9105900" y="2686050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03"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lang="en-US"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Administrada </a:t>
            </a: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· </a:t>
            </a:r>
            <a:r>
              <a:rPr lang="en-US"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Federada</a:t>
            </a:r>
            <a:endParaRPr sz="1275" b="0">
              <a:solidFill>
                <a:srgbClr val="63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FA48C-A104-454D-AD7A-CC42F2F48441}"/>
              </a:ext>
            </a:extLst>
          </p:cNvPr>
          <p:cNvSpPr>
            <a:spLocks noGrp="1"/>
          </p:cNvSpPr>
          <p:nvPr/>
        </p:nvSpPr>
        <p:spPr>
          <a:xfrm>
            <a:off x="1143000" y="4400550"/>
            <a:ext cx="2095500" cy="895350"/>
          </a:xfrm>
          <a:prstGeom prst="rect">
            <a:avLst/>
          </a:prstGeom>
          <a:solidFill>
            <a:srgbClr val="E7F8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C90398-D7E6-41D3-8C79-2820506DBB0A}"/>
              </a:ext>
            </a:extLst>
          </p:cNvPr>
          <p:cNvSpPr>
            <a:spLocks noGrp="1"/>
          </p:cNvSpPr>
          <p:nvPr/>
        </p:nvSpPr>
        <p:spPr>
          <a:xfrm>
            <a:off x="1295400" y="4543425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25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Acceso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3F3EE1-2512-4619-973E-A70F54D6B3AB}"/>
              </a:ext>
            </a:extLst>
          </p:cNvPr>
          <p:cNvSpPr>
            <a:spLocks noGrp="1"/>
          </p:cNvSpPr>
          <p:nvPr/>
        </p:nvSpPr>
        <p:spPr>
          <a:xfrm>
            <a:off x="1295400" y="484822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338"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MFA · Conditional Access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9F5240-4CBF-4420-8785-EC4633CF0566}"/>
              </a:ext>
            </a:extLst>
          </p:cNvPr>
          <p:cNvSpPr>
            <a:spLocks noGrp="1"/>
          </p:cNvSpPr>
          <p:nvPr/>
        </p:nvSpPr>
        <p:spPr>
          <a:xfrm>
            <a:off x="8953500" y="4400550"/>
            <a:ext cx="2095500" cy="895350"/>
          </a:xfrm>
          <a:prstGeom prst="rect">
            <a:avLst/>
          </a:prstGeom>
          <a:solidFill>
            <a:srgbClr val="FFF0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6950CF-1EEA-4802-9C9D-D46CAD9DDAA4}"/>
              </a:ext>
            </a:extLst>
          </p:cNvPr>
          <p:cNvSpPr>
            <a:spLocks noGrp="1"/>
          </p:cNvSpPr>
          <p:nvPr/>
        </p:nvSpPr>
        <p:spPr>
          <a:xfrm>
            <a:off x="9105900" y="4543425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25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Servicios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40809A-C408-4E27-A745-C484DEAA4088}"/>
              </a:ext>
            </a:extLst>
          </p:cNvPr>
          <p:cNvSpPr>
            <a:spLocks noGrp="1"/>
          </p:cNvSpPr>
          <p:nvPr/>
        </p:nvSpPr>
        <p:spPr>
          <a:xfrm>
            <a:off x="9105900" y="484822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73"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Teams · SharePoint · SaaS</a:t>
            </a:r>
          </a:p>
        </p:txBody>
      </p:sp>
      <p:cxnSp>
        <p:nvCxnSpPr>
          <p:cNvPr id="18" name="Straight Arrow Connector 17"/>
          <p:cNvCxnSpPr>
            <a:stCxn id="6" idx="3"/>
            <a:endCxn id="5" idx="2"/>
          </p:cNvCxnSpPr>
          <p:nvPr/>
        </p:nvCxnSpPr>
        <p:spPr>
          <a:xfrm>
            <a:off x="3238500" y="2686050"/>
            <a:ext cx="1524000" cy="70485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9" name="Straight Arrow Connector 18"/>
          <p:cNvCxnSpPr>
            <a:stCxn id="5" idx="6"/>
            <a:endCxn id="9" idx="1"/>
          </p:cNvCxnSpPr>
          <p:nvPr/>
        </p:nvCxnSpPr>
        <p:spPr>
          <a:xfrm flipV="1">
            <a:off x="7429500" y="2686050"/>
            <a:ext cx="1524000" cy="70485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20" name="Straight Arrow Connector 19"/>
          <p:cNvCxnSpPr>
            <a:stCxn id="12" idx="3"/>
            <a:endCxn id="5" idx="2"/>
          </p:cNvCxnSpPr>
          <p:nvPr/>
        </p:nvCxnSpPr>
        <p:spPr>
          <a:xfrm flipV="1">
            <a:off x="3238500" y="3390900"/>
            <a:ext cx="1524000" cy="1457325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triangle" w="sm" len="sm"/>
          </a:ln>
        </p:spPr>
      </p:cxnSp>
      <p:cxnSp>
        <p:nvCxnSpPr>
          <p:cNvPr id="21" name="Straight Arrow Connector 20"/>
          <p:cNvCxnSpPr>
            <a:stCxn id="5" idx="6"/>
            <a:endCxn id="15" idx="1"/>
          </p:cNvCxnSpPr>
          <p:nvPr/>
        </p:nvCxnSpPr>
        <p:spPr>
          <a:xfrm>
            <a:off x="7429500" y="3390900"/>
            <a:ext cx="1524000" cy="1457325"/>
          </a:xfrm>
          <a:prstGeom prst="straightConnector1">
            <a:avLst/>
          </a:prstGeom>
          <a:ln w="28575">
            <a:solidFill>
              <a:srgbClr val="F97360"/>
            </a:solidFill>
            <a:prstDash val="solid"/>
            <a:tailEnd type="triangle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020E581-79DA-40B2-83A0-F9BBA62E010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8C4D84-D03B-42E4-96C4-060CFA11A0AA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71A26-AC7D-471B-B85B-192CE3D7C69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904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C6567D6-8696-4F29-87B8-A0F670015F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785310-51C9-4D22-B854-DA80F1E92EA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MODELOS DE IDENTIDAD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E036CEC-1202-4C7D-AD72-28365DC9462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fuente de la cuenta define el modelo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8F8DF0-5A6D-4642-8DB1-74A5CE5B8615}"/>
              </a:ext>
            </a:extLst>
          </p:cNvPr>
          <p:cNvSpPr>
            <a:spLocks noGrp="1"/>
          </p:cNvSpPr>
          <p:nvPr/>
        </p:nvSpPr>
        <p:spPr>
          <a:xfrm>
            <a:off x="6096000" y="1504950"/>
            <a:ext cx="19050" cy="41910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9E273-688C-4E33-85FA-CFE9379519C0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MODELO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69A52-7AF9-4DCC-9432-74703F8B5309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Cloud-only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CFDC08-A49A-418C-81AC-0D9F51EB9F7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46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cuenta existe solo en Microsoft Entra ID.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3E1D3-0BFB-497E-B1DB-E0311795CAB0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85725" cy="857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410CB8-EB07-40F2-9BE6-B8E4AA9E2300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Autenticación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9D014F-15FB-4577-8E33-6DDB130D6D6B}"/>
              </a:ext>
            </a:extLst>
          </p:cNvPr>
          <p:cNvSpPr>
            <a:spLocks noGrp="1"/>
          </p:cNvSpPr>
          <p:nvPr/>
        </p:nvSpPr>
        <p:spPr>
          <a:xfrm>
            <a:off x="914400" y="347662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Directamente contra Entra ID.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4FC481-063D-48FA-806C-DB8EFC6F94F6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85725" cy="857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97326-7412-4ADC-A6E6-1D0E4BA15730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024694-E28C-49FB-993D-1AF4D63FE5E2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requiere AD DS ni servidores de sincronización.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96570-F401-4AB8-A1E1-632A28F5BF0D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85725" cy="857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30FCF2-78A7-4258-8AAB-DC27FABEC7F0}"/>
              </a:ext>
            </a:extLst>
          </p:cNvPr>
          <p:cNvSpPr>
            <a:spLocks noGrp="1"/>
          </p:cNvSpPr>
          <p:nvPr/>
        </p:nvSpPr>
        <p:spPr>
          <a:xfrm>
            <a:off x="914400" y="50863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Administración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346C36-F196-45EE-AB6C-642B3A155325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Microsoft 365 admin center y PowerShell.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DCAC5B-F7A4-49AA-901F-3E3EC28E3410}"/>
              </a:ext>
            </a:extLst>
          </p:cNvPr>
          <p:cNvSpPr>
            <a:spLocks noGrp="1"/>
          </p:cNvSpPr>
          <p:nvPr/>
        </p:nvSpPr>
        <p:spPr>
          <a:xfrm>
            <a:off x="6686550" y="1600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MODELO 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56DB5-EDD2-4C43-8C2F-916BF555BC41}"/>
              </a:ext>
            </a:extLst>
          </p:cNvPr>
          <p:cNvSpPr>
            <a:spLocks noGrp="1"/>
          </p:cNvSpPr>
          <p:nvPr/>
        </p:nvSpPr>
        <p:spPr>
          <a:xfrm>
            <a:off x="6686550" y="192405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Híbrido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4848DF-C63F-4D77-AEEE-2FB0D3AA7990}"/>
              </a:ext>
            </a:extLst>
          </p:cNvPr>
          <p:cNvSpPr>
            <a:spLocks noGrp="1"/>
          </p:cNvSpPr>
          <p:nvPr/>
        </p:nvSpPr>
        <p:spPr>
          <a:xfrm>
            <a:off x="6686550" y="2571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72"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cuenta nace en AD DS y se copia a Entra ID.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E63D59-0094-4A5E-ACD5-C21FEAC94C19}"/>
              </a:ext>
            </a:extLst>
          </p:cNvPr>
          <p:cNvSpPr>
            <a:spLocks noGrp="1"/>
          </p:cNvSpPr>
          <p:nvPr/>
        </p:nvSpPr>
        <p:spPr>
          <a:xfrm>
            <a:off x="6686550" y="321945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4767B3-A2B5-44A4-9849-E4EBF30E35DD}"/>
              </a:ext>
            </a:extLst>
          </p:cNvPr>
          <p:cNvSpPr>
            <a:spLocks noGrp="1"/>
          </p:cNvSpPr>
          <p:nvPr/>
        </p:nvSpPr>
        <p:spPr>
          <a:xfrm>
            <a:off x="6915150" y="31813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Autoridad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F51D8-EEED-40F2-96DA-66353534EBCA}"/>
              </a:ext>
            </a:extLst>
          </p:cNvPr>
          <p:cNvSpPr>
            <a:spLocks noGrp="1"/>
          </p:cNvSpPr>
          <p:nvPr/>
        </p:nvSpPr>
        <p:spPr>
          <a:xfrm>
            <a:off x="6915150" y="347662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AD DS local conserva la fuente autoritativa.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28AE11-93E2-4214-B06A-BEF397DE6E14}"/>
              </a:ext>
            </a:extLst>
          </p:cNvPr>
          <p:cNvSpPr>
            <a:spLocks noGrp="1"/>
          </p:cNvSpPr>
          <p:nvPr/>
        </p:nvSpPr>
        <p:spPr>
          <a:xfrm>
            <a:off x="6686550" y="417195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E022B2-D1E8-4D24-B35C-08A8C097723A}"/>
              </a:ext>
            </a:extLst>
          </p:cNvPr>
          <p:cNvSpPr>
            <a:spLocks noGrp="1"/>
          </p:cNvSpPr>
          <p:nvPr/>
        </p:nvSpPr>
        <p:spPr>
          <a:xfrm>
            <a:off x="6915150" y="41338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Flujo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F38CE5-F2E2-4E64-8A9C-200F49681E38}"/>
              </a:ext>
            </a:extLst>
          </p:cNvPr>
          <p:cNvSpPr>
            <a:spLocks noGrp="1"/>
          </p:cNvSpPr>
          <p:nvPr/>
        </p:nvSpPr>
        <p:spPr>
          <a:xfrm>
            <a:off x="6915150" y="442912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 mayoría de los cambios viajan hacia Entra ID.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A0BD14-03BD-42E8-8660-882EC1C7E703}"/>
              </a:ext>
            </a:extLst>
          </p:cNvPr>
          <p:cNvSpPr>
            <a:spLocks noGrp="1"/>
          </p:cNvSpPr>
          <p:nvPr/>
        </p:nvSpPr>
        <p:spPr>
          <a:xfrm>
            <a:off x="6686550" y="512445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22D013-92E4-457D-9359-80E3866A2EDE}"/>
              </a:ext>
            </a:extLst>
          </p:cNvPr>
          <p:cNvSpPr>
            <a:spLocks noGrp="1"/>
          </p:cNvSpPr>
          <p:nvPr/>
        </p:nvSpPr>
        <p:spPr>
          <a:xfrm>
            <a:off x="6915150" y="50863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Experiencia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773477-21DE-40FF-A2DC-541F8B0C9EB6}"/>
              </a:ext>
            </a:extLst>
          </p:cNvPr>
          <p:cNvSpPr>
            <a:spLocks noGrp="1"/>
          </p:cNvSpPr>
          <p:nvPr/>
        </p:nvSpPr>
        <p:spPr>
          <a:xfrm>
            <a:off x="6915150" y="538162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Mismas credenciales para recursos locales y cloud.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99ADF8-A0B8-406C-BD52-E19E1D3E792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CB3DBA-2F54-4FFC-891A-40165D34CFC8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3B2628-B924-4422-85FC-6E295044D6B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5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1D05A58-92B9-4E76-88E4-31CFAEB575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5E44E-E3FE-4FF5-A764-96DAE167182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IDENTIDAD CLOUD-ONLY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10C36F4-D753-436F-BE84-3C7CB87F6C5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538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Cloud-only elimina la dependencia de AD DS local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29867D-8E79-4A68-9B08-6D1AAC7F9DD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46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 identidad se crea, gobierna y protege íntegramente en la nube.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F6C9BC-FB5C-4368-B1C5-3C588DA68CE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095500" cy="1200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5A199A-6FE7-478B-924A-A04B3C612B0D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209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Cuenta del tenant, B2B o acceso externo específico.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A2A6D0-6E22-4743-A67F-53AF47C3A37E}"/>
              </a:ext>
            </a:extLst>
          </p:cNvPr>
          <p:cNvSpPr>
            <a:spLocks noGrp="1"/>
          </p:cNvSpPr>
          <p:nvPr/>
        </p:nvSpPr>
        <p:spPr>
          <a:xfrm>
            <a:off x="3314700" y="2343150"/>
            <a:ext cx="2095500" cy="1200150"/>
          </a:xfrm>
          <a:prstGeom prst="rect">
            <a:avLst/>
          </a:prstGeom>
          <a:solidFill>
            <a:srgbClr val="DDF7FA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Gobernar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A17C5-2B73-4A4A-A47C-A19F2E38B487}"/>
              </a:ext>
            </a:extLst>
          </p:cNvPr>
          <p:cNvSpPr>
            <a:spLocks noGrp="1"/>
          </p:cNvSpPr>
          <p:nvPr/>
        </p:nvSpPr>
        <p:spPr>
          <a:xfrm>
            <a:off x="3314700" y="3829050"/>
            <a:ext cx="209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Atributos, grupos y licencias desde Entra ID.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D69FDE-0775-41B0-873A-E55364B22D0E}"/>
              </a:ext>
            </a:extLst>
          </p:cNvPr>
          <p:cNvSpPr>
            <a:spLocks noGrp="1"/>
          </p:cNvSpPr>
          <p:nvPr/>
        </p:nvSpPr>
        <p:spPr>
          <a:xfrm>
            <a:off x="5943600" y="2343150"/>
            <a:ext cx="2095500" cy="1200150"/>
          </a:xfrm>
          <a:prstGeom prst="rect">
            <a:avLst/>
          </a:prstGeom>
          <a:solidFill>
            <a:srgbClr val="E7F8F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Proteger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A0DD27-21D6-4BE6-A8EE-4042F8180366}"/>
              </a:ext>
            </a:extLst>
          </p:cNvPr>
          <p:cNvSpPr>
            <a:spLocks noGrp="1"/>
          </p:cNvSpPr>
          <p:nvPr/>
        </p:nvSpPr>
        <p:spPr>
          <a:xfrm>
            <a:off x="5943600" y="3829050"/>
            <a:ext cx="209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MFA y políticas de Conditional Access.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A0BFA-604C-4D69-A570-D0789C3547DF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095500" cy="1200150"/>
          </a:xfrm>
          <a:prstGeom prst="rect">
            <a:avLst/>
          </a:prstGeom>
          <a:solidFill>
            <a:srgbClr val="FFF0EC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Consumir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722209-D51B-4CA5-8B83-CDC30673D449}"/>
              </a:ext>
            </a:extLst>
          </p:cNvPr>
          <p:cNvSpPr>
            <a:spLocks noGrp="1"/>
          </p:cNvSpPr>
          <p:nvPr/>
        </p:nvSpPr>
        <p:spPr>
          <a:xfrm>
            <a:off x="8572500" y="3829050"/>
            <a:ext cx="2095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Microsoft 365, SaaS, Teams y SharePoint Online.</a:t>
            </a:r>
          </a:p>
        </p:txBody>
      </p:sp>
      <p:cxnSp>
        <p:nvCxnSpPr>
          <p:cNvPr id="13" name="Straight Arrow Connector 12"/>
          <p:cNvCxnSpPr>
            <a:stCxn id="5" idx="3"/>
            <a:endCxn id="7" idx="1"/>
          </p:cNvCxnSpPr>
          <p:nvPr/>
        </p:nvCxnSpPr>
        <p:spPr>
          <a:xfrm>
            <a:off x="2781300" y="2943225"/>
            <a:ext cx="5334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4" name="Straight Arrow Connector 13"/>
          <p:cNvCxnSpPr>
            <a:stCxn id="7" idx="3"/>
            <a:endCxn id="9" idx="1"/>
          </p:cNvCxnSpPr>
          <p:nvPr/>
        </p:nvCxnSpPr>
        <p:spPr>
          <a:xfrm>
            <a:off x="5410200" y="2943225"/>
            <a:ext cx="53340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15" name="Straight Arrow Connector 14"/>
          <p:cNvCxnSpPr>
            <a:stCxn id="9" idx="3"/>
            <a:endCxn id="11" idx="1"/>
          </p:cNvCxnSpPr>
          <p:nvPr/>
        </p:nvCxnSpPr>
        <p:spPr>
          <a:xfrm>
            <a:off x="8039100" y="2943225"/>
            <a:ext cx="53340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53B85-73D8-48DF-AAA9-2EE01958F758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99822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C89DAC-5671-4A3C-A9F3-49ABA8D429C1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MENOS INFRAESTRUCTURA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CBFEF-BE19-4BA7-AEE5-9A7A9298E6FC}"/>
              </a:ext>
            </a:extLst>
          </p:cNvPr>
          <p:cNvSpPr>
            <a:spLocks noGrp="1"/>
          </p:cNvSpPr>
          <p:nvPr/>
        </p:nvSpPr>
        <p:spPr>
          <a:xfrm>
            <a:off x="3962400" y="5295900"/>
            <a:ext cx="670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175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simplicidad operativa es la ventaja principal cuando no se necesita AD DS local.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EF43B8-D128-43E1-84AE-2870BA1B037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CCEE8F-ACE2-4B4D-B562-D824038C97E5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5C2D6C-73F3-43CE-8EEC-CF89EAC39DF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920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269E495-9F25-44A4-BDF5-9A34A48EF3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80C082-F943-4DAB-8585-989088CEDE1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IDENTIDAD CLOUD-ONLY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31FC838-F56B-4682-A9E4-AEC4BE6B3D2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659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 cloud-only, los grupos automatizan el gobierno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D4B13D-ACAF-4245-8D30-E544581DED6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046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 pertenencia a grupos convierte atributos de identidad en acciones de acceso.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A2C98D-9A70-49F3-BEAA-FE48612D269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05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2548D-7240-4A11-AE76-3C29F1AACFC8}"/>
              </a:ext>
            </a:extLst>
          </p:cNvPr>
          <p:cNvSpPr>
            <a:spLocks noGrp="1"/>
          </p:cNvSpPr>
          <p:nvPr/>
        </p:nvSpPr>
        <p:spPr>
          <a:xfrm>
            <a:off x="1524000" y="2114550"/>
            <a:ext cx="38100" cy="533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32CD4-93C0-4452-BACD-09CFF0F67DBC}"/>
              </a:ext>
            </a:extLst>
          </p:cNvPr>
          <p:cNvSpPr>
            <a:spLocks noGrp="1"/>
          </p:cNvSpPr>
          <p:nvPr/>
        </p:nvSpPr>
        <p:spPr>
          <a:xfrm>
            <a:off x="1809750" y="2019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Licencias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DF6752-4198-4621-B799-FF3574DF8CB3}"/>
              </a:ext>
            </a:extLst>
          </p:cNvPr>
          <p:cNvSpPr>
            <a:spLocks noGrp="1"/>
          </p:cNvSpPr>
          <p:nvPr/>
        </p:nvSpPr>
        <p:spPr>
          <a:xfrm>
            <a:off x="4667250" y="203835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Asignación automática de licencias por pertenencia.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652645-64D4-4619-814C-5C54FD942F75}"/>
              </a:ext>
            </a:extLst>
          </p:cNvPr>
          <p:cNvSpPr>
            <a:spLocks noGrp="1"/>
          </p:cNvSpPr>
          <p:nvPr/>
        </p:nvSpPr>
        <p:spPr>
          <a:xfrm>
            <a:off x="1809750" y="2781300"/>
            <a:ext cx="93345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F08DD-5BBC-441C-97EF-E363578861A9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05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BC4409-4AF5-4C03-835F-04D36EA01311}"/>
              </a:ext>
            </a:extLst>
          </p:cNvPr>
          <p:cNvSpPr>
            <a:spLocks noGrp="1"/>
          </p:cNvSpPr>
          <p:nvPr/>
        </p:nvSpPr>
        <p:spPr>
          <a:xfrm>
            <a:off x="1524000" y="3067050"/>
            <a:ext cx="38100" cy="533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2FC6C-7D61-40B9-9381-0E6B47762BC0}"/>
              </a:ext>
            </a:extLst>
          </p:cNvPr>
          <p:cNvSpPr>
            <a:spLocks noGrp="1"/>
          </p:cNvSpPr>
          <p:nvPr/>
        </p:nvSpPr>
        <p:spPr>
          <a:xfrm>
            <a:off x="1809750" y="2971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Incorporación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76D7C-056E-4D0D-BFB2-3B0FB2AB470C}"/>
              </a:ext>
            </a:extLst>
          </p:cNvPr>
          <p:cNvSpPr>
            <a:spLocks noGrp="1"/>
          </p:cNvSpPr>
          <p:nvPr/>
        </p:nvSpPr>
        <p:spPr>
          <a:xfrm>
            <a:off x="4667250" y="299085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Usuarios dinámicos según atributos como departamento.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4FAF0-401C-4BD2-9B23-337CE4E1D35A}"/>
              </a:ext>
            </a:extLst>
          </p:cNvPr>
          <p:cNvSpPr>
            <a:spLocks noGrp="1"/>
          </p:cNvSpPr>
          <p:nvPr/>
        </p:nvSpPr>
        <p:spPr>
          <a:xfrm>
            <a:off x="1809750" y="3733800"/>
            <a:ext cx="93345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F3A2C-BF29-431D-A715-8857D421130B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05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3B9491-01EE-40F4-8F43-54B913B3E657}"/>
              </a:ext>
            </a:extLst>
          </p:cNvPr>
          <p:cNvSpPr>
            <a:spLocks noGrp="1"/>
          </p:cNvSpPr>
          <p:nvPr/>
        </p:nvSpPr>
        <p:spPr>
          <a:xfrm>
            <a:off x="1524000" y="4019550"/>
            <a:ext cx="38100" cy="533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227E5-6108-4F6F-B7D8-AB5901CC28CE}"/>
              </a:ext>
            </a:extLst>
          </p:cNvPr>
          <p:cNvSpPr>
            <a:spLocks noGrp="1"/>
          </p:cNvSpPr>
          <p:nvPr/>
        </p:nvSpPr>
        <p:spPr>
          <a:xfrm>
            <a:off x="1809750" y="39243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Aplicaciones SaaS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3F55DD-6BE3-4E0A-86E1-C351C55EB520}"/>
              </a:ext>
            </a:extLst>
          </p:cNvPr>
          <p:cNvSpPr>
            <a:spLocks noGrp="1"/>
          </p:cNvSpPr>
          <p:nvPr/>
        </p:nvSpPr>
        <p:spPr>
          <a:xfrm>
            <a:off x="4667250" y="394335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Aprovisionamiento y protección con MFA y Conditional Access.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B6768D-133C-401F-9060-6C77819130C7}"/>
              </a:ext>
            </a:extLst>
          </p:cNvPr>
          <p:cNvSpPr>
            <a:spLocks noGrp="1"/>
          </p:cNvSpPr>
          <p:nvPr/>
        </p:nvSpPr>
        <p:spPr>
          <a:xfrm>
            <a:off x="1809750" y="4686300"/>
            <a:ext cx="93345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9B771-42CB-49A8-B618-A7E873F653E4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405"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A1A0D7-AEB9-41BC-870A-EA26E18F8B3B}"/>
              </a:ext>
            </a:extLst>
          </p:cNvPr>
          <p:cNvSpPr>
            <a:spLocks noGrp="1"/>
          </p:cNvSpPr>
          <p:nvPr/>
        </p:nvSpPr>
        <p:spPr>
          <a:xfrm>
            <a:off x="1524000" y="4972050"/>
            <a:ext cx="38100" cy="533400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AD4B68-4615-4753-9BE2-41BB198A23D0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Colaboración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C24BB4-FCA2-4B0A-9F45-093DDDE70EE0}"/>
              </a:ext>
            </a:extLst>
          </p:cNvPr>
          <p:cNvSpPr>
            <a:spLocks noGrp="1"/>
          </p:cNvSpPr>
          <p:nvPr/>
        </p:nvSpPr>
        <p:spPr>
          <a:xfrm>
            <a:off x="4667250" y="489585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Permisos y niveles de acceso en Teams y SharePoint Online.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F5283C-B716-4D84-A818-FFCBDF2D549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D941F-2D2B-4AF3-9DCD-320EB3F79B5F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9FF253-4694-4409-9071-86E343C3A02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832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E3E956D-2A09-420C-A0E0-81368155A7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BB9A03-E9E3-4913-9DED-D2B326305F7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IDENTIDAD HÍBRIDA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DCD24C2-F76C-499C-9AD1-FF073D60D96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13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 híbrido, AD DS sigue siendo autoritativo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12BD6-DA86-4560-A648-5EE1BE1FF79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06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Las cuentas se administran principalmente en local; Entra ID recibe una copia sincronizada.</a:t>
            </a:r>
          </a:p>
        </p:txBody>
      </p:sp>
      <p:sp>
        <p:nvSpPr>
          <p:cNvPr id="5" name="hybrid-ad">
            <a:extLst>
              <a:ext uri="{FF2B5EF4-FFF2-40B4-BE49-F238E27FC236}">
                <a16:creationId xmlns:a16="http://schemas.microsoft.com/office/drawing/2014/main" id="{AA9B0800-FB4A-4758-A045-9249D32521EA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286000" cy="1428750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 DS local</a:t>
            </a:r>
          </a:p>
          <a:p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FUENTE AUTORITATIVA</a:t>
            </a:r>
          </a:p>
        </p:txBody>
      </p:sp>
      <p:sp>
        <p:nvSpPr>
          <p:cNvPr id="6" name="hybrid-sync">
            <a:extLst>
              <a:ext uri="{FF2B5EF4-FFF2-40B4-BE49-F238E27FC236}">
                <a16:creationId xmlns:a16="http://schemas.microsoft.com/office/drawing/2014/main" id="{AEC88ED6-4950-4D54-BB7C-8101D89B4931}"/>
              </a:ext>
            </a:extLst>
          </p:cNvPr>
          <p:cNvSpPr>
            <a:spLocks noGrp="1"/>
          </p:cNvSpPr>
          <p:nvPr/>
        </p:nvSpPr>
        <p:spPr>
          <a:xfrm>
            <a:off x="3952875" y="2714625"/>
            <a:ext cx="2000250" cy="952500"/>
          </a:xfrm>
          <a:prstGeom prst="rect">
            <a:avLst/>
          </a:prstGeom>
          <a:solidFill>
            <a:srgbClr val="101A33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Motor de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sincronización</a:t>
            </a:r>
          </a:p>
        </p:txBody>
      </p:sp>
      <p:sp>
        <p:nvSpPr>
          <p:cNvPr id="7" name="hybrid-entra">
            <a:extLst>
              <a:ext uri="{FF2B5EF4-FFF2-40B4-BE49-F238E27FC236}">
                <a16:creationId xmlns:a16="http://schemas.microsoft.com/office/drawing/2014/main" id="{6CA01E7A-5F85-4502-A9B0-93867CE02268}"/>
              </a:ext>
            </a:extLst>
          </p:cNvPr>
          <p:cNvSpPr>
            <a:spLocks noGrp="1"/>
          </p:cNvSpPr>
          <p:nvPr/>
        </p:nvSpPr>
        <p:spPr>
          <a:xfrm>
            <a:off x="6896100" y="2476500"/>
            <a:ext cx="2095500" cy="1428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Microsoft</a:t>
            </a:r>
          </a:p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 ID</a:t>
            </a:r>
          </a:p>
        </p:txBody>
      </p:sp>
      <p:sp>
        <p:nvSpPr>
          <p:cNvPr id="8" name="hybrid-m365">
            <a:extLst>
              <a:ext uri="{FF2B5EF4-FFF2-40B4-BE49-F238E27FC236}">
                <a16:creationId xmlns:a16="http://schemas.microsoft.com/office/drawing/2014/main" id="{CD885871-B81F-4512-8181-1ECA7F05F882}"/>
              </a:ext>
            </a:extLst>
          </p:cNvPr>
          <p:cNvSpPr>
            <a:spLocks noGrp="1"/>
          </p:cNvSpPr>
          <p:nvPr/>
        </p:nvSpPr>
        <p:spPr>
          <a:xfrm>
            <a:off x="9925050" y="2714625"/>
            <a:ext cx="1562100" cy="9525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Microsoft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>
            <a:off x="3009900" y="3190875"/>
            <a:ext cx="942975" cy="0"/>
          </a:xfrm>
          <a:prstGeom prst="straightConnector1">
            <a:avLst/>
          </a:prstGeom>
          <a:ln w="28575">
            <a:solidFill>
              <a:srgbClr val="F97360"/>
            </a:solidFill>
            <a:prstDash val="solid"/>
            <a:tailEnd type="triangle" w="sm" len="sm"/>
          </a:ln>
        </p:spPr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>
            <a:off x="5953125" y="3190875"/>
            <a:ext cx="942975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8991600" y="3190875"/>
            <a:ext cx="933450" cy="0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FFD5E-1EFA-4EB1-BA82-86DFC495C835}"/>
              </a:ext>
            </a:extLst>
          </p:cNvPr>
          <p:cNvSpPr>
            <a:spLocks noGrp="1"/>
          </p:cNvSpPr>
          <p:nvPr/>
        </p:nvSpPr>
        <p:spPr>
          <a:xfrm>
            <a:off x="3429000" y="40576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4CB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4CB7"/>
                </a:solidFill>
                <a:latin typeface="Aptos"/>
                <a:ea typeface="Aptos"/>
                <a:cs typeface="Aptos"/>
              </a:rPr>
              <a:t>Cambios de usuarios, grupos y contactos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DF5D5-78C1-4E58-8195-102D345A02F0}"/>
              </a:ext>
            </a:extLst>
          </p:cNvPr>
          <p:cNvSpPr>
            <a:spLocks noGrp="1"/>
          </p:cNvSpPr>
          <p:nvPr/>
        </p:nvSpPr>
        <p:spPr>
          <a:xfrm>
            <a:off x="1714500" y="4933950"/>
            <a:ext cx="8572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7A36F-90A4-41EA-A844-CC96044CEB83}"/>
              </a:ext>
            </a:extLst>
          </p:cNvPr>
          <p:cNvSpPr>
            <a:spLocks noGrp="1"/>
          </p:cNvSpPr>
          <p:nvPr/>
        </p:nvSpPr>
        <p:spPr>
          <a:xfrm>
            <a:off x="1714500" y="51244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Administrar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27558-11C9-4145-8669-EB11542B90FC}"/>
              </a:ext>
            </a:extLst>
          </p:cNvPr>
          <p:cNvSpPr>
            <a:spLocks noGrp="1"/>
          </p:cNvSpPr>
          <p:nvPr/>
        </p:nvSpPr>
        <p:spPr>
          <a:xfrm>
            <a:off x="4953000" y="51244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Sincronizar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2CB5C3-90BE-4AEE-A806-0C8CF64ACADB}"/>
              </a:ext>
            </a:extLst>
          </p:cNvPr>
          <p:cNvSpPr>
            <a:spLocks noGrp="1"/>
          </p:cNvSpPr>
          <p:nvPr/>
        </p:nvSpPr>
        <p:spPr>
          <a:xfrm>
            <a:off x="8382000" y="51244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Consumir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B69EB2-0D1E-44E7-9481-3BF953BAB2EA}"/>
              </a:ext>
            </a:extLst>
          </p:cNvPr>
          <p:cNvSpPr>
            <a:spLocks noGrp="1"/>
          </p:cNvSpPr>
          <p:nvPr/>
        </p:nvSpPr>
        <p:spPr>
          <a:xfrm>
            <a:off x="2400300" y="56388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985"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Las cuentas sincronizadas no se administran como cuentas cloud-only.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7B50B0-E8D3-4188-A652-D7F0E28A524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79A1AE-E6F8-4BC4-BEBE-46725316A2CB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09860F-9BFC-411A-A6BF-30BC1D47A0E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042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E1A6894-3737-4A9A-9DA4-94D7F096AE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B0B4DF-3151-46CA-9AEE-A55DDB630EC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IDENTIDAD HÍBRIDA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5FA546B-FE2B-42F3-8632-FD0E16538C6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47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Elija la sincronización según la complejidad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1A9A3-D5BF-4E13-8A93-5E2E26EA33C0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FA06E1-65B7-40C9-B1A5-5852CBFEFB89}"/>
              </a:ext>
            </a:extLst>
          </p:cNvPr>
          <p:cNvSpPr>
            <a:spLocks noGrp="1"/>
          </p:cNvSpPr>
          <p:nvPr/>
        </p:nvSpPr>
        <p:spPr>
          <a:xfrm>
            <a:off x="3714750" y="15811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ENTRA CONNECT SYNC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D3B4E-A59A-4C72-BAAA-B8FB64509193}"/>
              </a:ext>
            </a:extLst>
          </p:cNvPr>
          <p:cNvSpPr>
            <a:spLocks noGrp="1"/>
          </p:cNvSpPr>
          <p:nvPr/>
        </p:nvSpPr>
        <p:spPr>
          <a:xfrm>
            <a:off x="7524750" y="15811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ENTRA CLOUD SYNC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8BB7B0-F1DA-4F46-9D22-90FAD7FB008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19050"/>
          </a:xfrm>
          <a:prstGeom prst="rect">
            <a:avLst/>
          </a:prstGeom>
          <a:solidFill>
            <a:srgbClr val="17203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2702A-826C-429C-9081-C4DC5C6634F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D17C26-7DE9-4032-A801-9CDED4560FBB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323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Instalado </a:t>
            </a: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 un equipo dedicado </a:t>
            </a: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y administrado </a:t>
            </a: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localmente</a:t>
            </a:r>
            <a:endParaRPr sz="1500" b="0">
              <a:solidFill>
                <a:srgbClr val="63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E5E261-0D14-496F-9F64-E7C5E74265B8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61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Servicio cloud administrado por Microsoft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E1DB0B-27E5-4681-A076-572FB68A8F63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FB2358-B22E-4EE7-B21F-47C98ECCC036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0EF308-F076-40A2-ACA2-FBB3934425DD}"/>
              </a:ext>
            </a:extLst>
          </p:cNvPr>
          <p:cNvSpPr>
            <a:spLocks noGrp="1"/>
          </p:cNvSpPr>
          <p:nvPr/>
        </p:nvSpPr>
        <p:spPr>
          <a:xfrm>
            <a:off x="3714750" y="2990850"/>
            <a:ext cx="323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Sincroniza y escribe objetos o atributos seleccionados</a:t>
            </a:r>
            <a:endParaRPr sz="1500" b="0">
              <a:solidFill>
                <a:srgbClr val="63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B69FB7-B74B-4CB4-B305-D62088204FD9}"/>
              </a:ext>
            </a:extLst>
          </p:cNvPr>
          <p:cNvSpPr>
            <a:spLocks noGrp="1"/>
          </p:cNvSpPr>
          <p:nvPr/>
        </p:nvSpPr>
        <p:spPr>
          <a:xfrm>
            <a:off x="7524750" y="2990850"/>
            <a:ext cx="361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Sincroniza </a:t>
            </a: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y </a:t>
            </a: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admite writeback selectivo según la función</a:t>
            </a:r>
            <a:endParaRPr sz="1500" b="0">
              <a:solidFill>
                <a:srgbClr val="63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A6D6D8-0DC1-4190-93A0-44F50949CD4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777D23-CB2C-4DB5-B70F-BBE795E13927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Integraciones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48C1CE-1A9E-4DE9-B596-770FDEF7C9B2}"/>
              </a:ext>
            </a:extLst>
          </p:cNvPr>
          <p:cNvSpPr>
            <a:spLocks noGrp="1"/>
          </p:cNvSpPr>
          <p:nvPr/>
        </p:nvSpPr>
        <p:spPr>
          <a:xfrm>
            <a:off x="3714750" y="3886200"/>
            <a:ext cx="323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Hash de contraseña, </a:t>
            </a: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password writeback, </a:t>
            </a: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dispositivos y AD FS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2503E3-D647-4FBF-833F-A222F9061B7D}"/>
              </a:ext>
            </a:extLst>
          </p:cNvPr>
          <p:cNvSpPr>
            <a:spLocks noGrp="1"/>
          </p:cNvSpPr>
          <p:nvPr/>
        </p:nvSpPr>
        <p:spPr>
          <a:xfrm>
            <a:off x="7524750" y="3886200"/>
            <a:ext cx="361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Agentes ligeros y </a:t>
            </a: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sincronización </a:t>
            </a:r>
            <a:r>
              <a:rPr lang="en-US"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administrada</a:t>
            </a:r>
            <a:endParaRPr sz="1500" b="0">
              <a:solidFill>
                <a:srgbClr val="63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364A6-616F-41F5-866A-64E1ADB39F1D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CFE3B7-B5C9-44E8-A08B-990DCD8298E5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Ajuste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B17D44-1A6E-45AE-B694-C50788A463F3}"/>
              </a:ext>
            </a:extLst>
          </p:cNvPr>
          <p:cNvSpPr>
            <a:spLocks noGrp="1"/>
          </p:cNvSpPr>
          <p:nvPr/>
        </p:nvSpPr>
        <p:spPr>
          <a:xfrm>
            <a:off x="3714750" y="4781550"/>
            <a:ext cx="323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Entornos empresariales grandes y complejos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4C35C2-2656-4DB1-A0F0-2A3057F960B5}"/>
              </a:ext>
            </a:extLst>
          </p:cNvPr>
          <p:cNvSpPr>
            <a:spLocks noGrp="1"/>
          </p:cNvSpPr>
          <p:nvPr/>
        </p:nvSpPr>
        <p:spPr>
          <a:xfrm>
            <a:off x="7524750" y="4781550"/>
            <a:ext cx="361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Entornos de AD más simples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18F5BA-2DA0-4020-8163-63162E6EDDEF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2DD0A5-67B0-48DB-9C24-E738485FF181}"/>
              </a:ext>
            </a:extLst>
          </p:cNvPr>
          <p:cNvSpPr>
            <a:spLocks noGrp="1"/>
          </p:cNvSpPr>
          <p:nvPr/>
        </p:nvSpPr>
        <p:spPr>
          <a:xfrm>
            <a:off x="3638550" y="1885950"/>
            <a:ext cx="57150" cy="35814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46C4F0-A864-47A5-9304-9CB4714D4D5A}"/>
              </a:ext>
            </a:extLst>
          </p:cNvPr>
          <p:cNvSpPr>
            <a:spLocks noGrp="1"/>
          </p:cNvSpPr>
          <p:nvPr/>
        </p:nvSpPr>
        <p:spPr>
          <a:xfrm>
            <a:off x="7448550" y="1885950"/>
            <a:ext cx="57150" cy="35814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CC9D17-D398-4A04-B131-BCC94F17E90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Regla práctica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9F4257-60CF-48ED-BEBE-2FAAE9C1EE8A}"/>
              </a:ext>
            </a:extLst>
          </p:cNvPr>
          <p:cNvSpPr>
            <a:spLocks noGrp="1"/>
          </p:cNvSpPr>
          <p:nvPr/>
        </p:nvSpPr>
        <p:spPr>
          <a:xfrm>
            <a:off x="2743200" y="5734050"/>
            <a:ext cx="847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498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Complejidad e integraciones locales favorecen Connect Sync; simplicidad favorece Cloud Sync.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1CDD31-6DAE-452C-9AAF-E5D50F00A8F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763E99-8F61-452D-9A04-99DCFA18C04F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4D334-6050-4E79-9274-8F1E7C4F910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373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46888"/>
            <a:ext cx="475488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563EB"/>
                </a:solidFill>
                <a:latin typeface="Aptos"/>
              </a:rPr>
              <a:t>SINCRONIZACIÓN DE DIRECTORIOS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1735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33"/>
                </a:solidFill>
                <a:latin typeface="Aptos Display"/>
              </a:rPr>
              <a:t>La sincronización conecta directorios, no solo AD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637083"/>
                </a:solidFill>
                <a:latin typeface="Aptos"/>
              </a:rPr>
              <a:t>Alinea identidades u objetos —usuarios, grupos, contactos y equipos— entre directorios distintos.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28816"/>
            <a:ext cx="3621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37083"/>
                </a:solidFill>
                <a:latin typeface="Aptos"/>
              </a:rPr>
              <a:t>FORMACIÓN TÉCNICA · MICROSOFT 365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37083"/>
                </a:solidFill>
                <a:latin typeface="Aptos"/>
              </a:rPr>
              <a:t>ORÍGENES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97360"/>
                </a:solidFill>
                <a:latin typeface="Aptos Display"/>
              </a:rPr>
              <a:t>AD 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7744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37083"/>
                </a:solidFill>
                <a:latin typeface="Aptos"/>
              </a:rPr>
              <a:t>Directorio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256032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7238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Aptos Display"/>
              </a:rPr>
              <a:t>RR. HH.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9067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37083"/>
                </a:solidFill>
                <a:latin typeface="Aptos"/>
              </a:rPr>
              <a:t>Base de identidades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47872"/>
            <a:ext cx="256032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85616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B6D4"/>
                </a:solidFill>
                <a:latin typeface="Aptos Display"/>
              </a:rPr>
              <a:t>LDAP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03904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37083"/>
                </a:solidFill>
                <a:latin typeface="Aptos"/>
              </a:rPr>
              <a:t>Otro directorio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404872"/>
            <a:ext cx="2423160" cy="1207008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 Display"/>
              </a:rPr>
              <a:t>Microsoft Entra
Connect Sync
o Cloud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62672" y="2404872"/>
            <a:ext cx="2423160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Microsoft
Entra ID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264408" y="2871216"/>
            <a:ext cx="475488" cy="256032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6528816" y="2871216"/>
            <a:ext cx="850392" cy="256032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382219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4CB7"/>
                </a:solidFill>
                <a:latin typeface="Aptos"/>
              </a:rPr>
              <a:t>Flujo habitual: local →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3822191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B981"/>
                </a:solidFill>
                <a:latin typeface="Aptos"/>
              </a:rPr>
              <a:t>Writeback selectivo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Aptos"/>
              </a:rPr>
              <a:t>La mayoría de los cambios viaja hacia Entra 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6177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7083"/>
                </a:solidFill>
                <a:latin typeface="Aptos"/>
              </a:rPr>
              <a:t>Ciertos objetos, atributos y contraseñas pueden escribirse hacia el directorio local.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617720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7083"/>
                </a:solidFill>
                <a:latin typeface="Aptos"/>
              </a:rPr>
              <a:t>El resultado habilita identidad común, SSO, MFA y Conditional Access.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321808"/>
            <a:ext cx="10817352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53212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Aptos"/>
              </a:rPr>
              <a:t>IDEA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486400"/>
            <a:ext cx="9189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ptos"/>
              </a:rPr>
              <a:t>La sincronización es principalmente unidireccional, con excepciones de writeback que crean flujos de ida y vuelta.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BBADF3D-FD04-481C-983B-34AF99DD03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2E0726-4BFF-4795-9609-978E7FC2E1E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APROVISIONAMIENTO HÍBRIDO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8DBC44B-063F-4858-8F1A-E9EA93610CE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 sincronización no concede una licencia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2CB29-2507-4AD8-8A0D-552A64A8549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563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 primera sincronización crea la identidad cloud, pero el acceso a servicios exige dos acciones posteriores.</a:t>
            </a:r>
          </a:p>
        </p:txBody>
      </p:sp>
      <p:sp>
        <p:nvSpPr>
          <p:cNvPr id="5" name="license-account">
            <a:extLst>
              <a:ext uri="{FF2B5EF4-FFF2-40B4-BE49-F238E27FC236}">
                <a16:creationId xmlns:a16="http://schemas.microsoft.com/office/drawing/2014/main" id="{45618684-4574-4B35-8E24-EF97B1687FFE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667000" cy="1428750"/>
          </a:xfrm>
          <a:prstGeom prst="rect">
            <a:avLst/>
          </a:prstGeom>
          <a:solidFill>
            <a:srgbClr val="E8EEF8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  <a:p>
            <a:pPr algn="ctr">
              <a:lnSpc>
                <a:spcPct val="100000"/>
              </a:lnSpc>
              <a:buNone/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Cuenta sincronizada</a:t>
            </a:r>
          </a:p>
        </p:txBody>
      </p:sp>
      <p:sp>
        <p:nvSpPr>
          <p:cNvPr id="6" name="license-location">
            <a:extLst>
              <a:ext uri="{FF2B5EF4-FFF2-40B4-BE49-F238E27FC236}">
                <a16:creationId xmlns:a16="http://schemas.microsoft.com/office/drawing/2014/main" id="{8DEDA45D-2E50-435E-8B60-631311A6095F}"/>
              </a:ext>
            </a:extLst>
          </p:cNvPr>
          <p:cNvSpPr>
            <a:spLocks noGrp="1"/>
          </p:cNvSpPr>
          <p:nvPr/>
        </p:nvSpPr>
        <p:spPr>
          <a:xfrm>
            <a:off x="4762500" y="2381250"/>
            <a:ext cx="2667000" cy="1428750"/>
          </a:xfrm>
          <a:prstGeom prst="rect">
            <a:avLst/>
          </a:prstGeom>
          <a:solidFill>
            <a:srgbClr val="DDF7FA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  <a:p>
            <a:pPr algn="ctr">
              <a:lnSpc>
                <a:spcPct val="100000"/>
              </a:lnSpc>
              <a:buNone/>
              <a:defRPr sz="21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Usage location</a:t>
            </a:r>
          </a:p>
        </p:txBody>
      </p:sp>
      <p:sp>
        <p:nvSpPr>
          <p:cNvPr id="7" name="license-license">
            <a:extLst>
              <a:ext uri="{FF2B5EF4-FFF2-40B4-BE49-F238E27FC236}">
                <a16:creationId xmlns:a16="http://schemas.microsoft.com/office/drawing/2014/main" id="{0E395D1E-D65F-4DF8-ADE1-154E652F675A}"/>
              </a:ext>
            </a:extLst>
          </p:cNvPr>
          <p:cNvSpPr>
            <a:spLocks noGrp="1"/>
          </p:cNvSpPr>
          <p:nvPr/>
        </p:nvSpPr>
        <p:spPr>
          <a:xfrm>
            <a:off x="8667750" y="2381250"/>
            <a:ext cx="2667000" cy="1428750"/>
          </a:xfrm>
          <a:prstGeom prst="rect">
            <a:avLst/>
          </a:prstGeom>
          <a:solidFill>
            <a:srgbClr val="E7F8F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3</a:t>
            </a:r>
          </a:p>
          <a:p>
            <a:pPr algn="ctr">
              <a:lnSpc>
                <a:spcPct val="100000"/>
              </a:lnSpc>
              <a:buNone/>
              <a:defRPr sz="21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Licencia</a:t>
            </a:r>
          </a:p>
        </p:txBody>
      </p:sp>
      <p:cxnSp>
        <p:nvCxnSpPr>
          <p:cNvPr id="8" name="Straight Arrow Connector 7"/>
          <p:cNvCxnSpPr>
            <a:stCxn id="5" idx="3"/>
            <a:endCxn id="6" idx="1"/>
          </p:cNvCxnSpPr>
          <p:nvPr/>
        </p:nvCxnSpPr>
        <p:spPr>
          <a:xfrm>
            <a:off x="3524250" y="3095625"/>
            <a:ext cx="123825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9" name="Straight Arrow Connector 8"/>
          <p:cNvCxnSpPr>
            <a:stCxn id="6" idx="3"/>
            <a:endCxn id="7" idx="1"/>
          </p:cNvCxnSpPr>
          <p:nvPr/>
        </p:nvCxnSpPr>
        <p:spPr>
          <a:xfrm>
            <a:off x="7429500" y="3095625"/>
            <a:ext cx="1238250" cy="0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82799C9-99A4-4A2E-9B9A-F16630AB2307}"/>
              </a:ext>
            </a:extLst>
          </p:cNvPr>
          <p:cNvSpPr>
            <a:spLocks noGrp="1"/>
          </p:cNvSpPr>
          <p:nvPr/>
        </p:nvSpPr>
        <p:spPr>
          <a:xfrm>
            <a:off x="1190625" y="40481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NO AUTOMÁTICA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CDD660-E47F-46DC-BBCB-DE4B3091DEDD}"/>
              </a:ext>
            </a:extLst>
          </p:cNvPr>
          <p:cNvSpPr>
            <a:spLocks noGrp="1"/>
          </p:cNvSpPr>
          <p:nvPr/>
        </p:nvSpPr>
        <p:spPr>
          <a:xfrm>
            <a:off x="5095875" y="40481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REQUERIDA PRIMERO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47BC27-7C1A-4F67-8A19-D91C90459A27}"/>
              </a:ext>
            </a:extLst>
          </p:cNvPr>
          <p:cNvSpPr>
            <a:spLocks noGrp="1"/>
          </p:cNvSpPr>
          <p:nvPr/>
        </p:nvSpPr>
        <p:spPr>
          <a:xfrm>
            <a:off x="8791575" y="4048125"/>
            <a:ext cx="2419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INDIVIDUAL O POR GRUPO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07B218-FF56-40EF-B5A9-24F6F2E03B3D}"/>
              </a:ext>
            </a:extLst>
          </p:cNvPr>
          <p:cNvSpPr>
            <a:spLocks noGrp="1"/>
          </p:cNvSpPr>
          <p:nvPr/>
        </p:nvSpPr>
        <p:spPr>
          <a:xfrm>
            <a:off x="1466850" y="4895850"/>
            <a:ext cx="9258300" cy="2857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E9C0DA-7AF3-4315-AD2E-2C2F9E70547D}"/>
              </a:ext>
            </a:extLst>
          </p:cNvPr>
          <p:cNvSpPr>
            <a:spLocks noGrp="1"/>
          </p:cNvSpPr>
          <p:nvPr/>
        </p:nvSpPr>
        <p:spPr>
          <a:xfrm>
            <a:off x="1466850" y="5086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89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Secuencia operativa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B236CD-8AD4-4912-8981-829663FF3EF8}"/>
              </a:ext>
            </a:extLst>
          </p:cNvPr>
          <p:cNvSpPr>
            <a:spLocks noGrp="1"/>
          </p:cNvSpPr>
          <p:nvPr/>
        </p:nvSpPr>
        <p:spPr>
          <a:xfrm>
            <a:off x="3886200" y="5048250"/>
            <a:ext cx="683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636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Sincronizar → asignar ubicación de uso → asignar licencia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0F2E3E-4F70-4AE2-AC28-DB4B18FE899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D0C25A-702D-4039-9EA9-318BA243CBB5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185AC7-A4BE-4E63-9D53-D7317C33E6F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896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59F1F7-EA44-4E25-90C1-BCBD442965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531BFE-3D53-4002-A000-3598897EE380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BDC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DCE7"/>
                </a:solidFill>
                <a:latin typeface="Aptos"/>
                <a:ea typeface="Aptos"/>
                <a:cs typeface="Aptos"/>
              </a:rPr>
              <a:t>AUTENTICACIÓN HÍBRIDA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7B0E653-9B1F-492A-AFBA-C41AA05C301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0529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Dos familias de autenticación resuelven necesidades distintas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C2A91D-7ECD-4559-8AC9-81CA377F898C}"/>
              </a:ext>
            </a:extLst>
          </p:cNvPr>
          <p:cNvSpPr>
            <a:spLocks noGrp="1"/>
          </p:cNvSpPr>
          <p:nvPr/>
        </p:nvSpPr>
        <p:spPr>
          <a:xfrm>
            <a:off x="685800" y="1353312"/>
            <a:ext cx="10515600" cy="475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B5C0D8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B5C0D8"/>
                </a:solidFill>
                <a:latin typeface="Aptos"/>
                <a:ea typeface="Aptos"/>
                <a:cs typeface="Aptos"/>
              </a:rPr>
              <a:t>Administrada: Password Hash Synchronization (PHS) o Pass-through Authentication (PTA).</a:t>
            </a:r>
          </a:p>
        </p:txBody>
      </p:sp>
      <p:sp>
        <p:nvSpPr>
          <p:cNvPr id="5" name="auth-root">
            <a:extLst>
              <a:ext uri="{FF2B5EF4-FFF2-40B4-BE49-F238E27FC236}">
                <a16:creationId xmlns:a16="http://schemas.microsoft.com/office/drawing/2014/main" id="{8EFE896C-6489-4CE6-AAD0-04663A35382B}"/>
              </a:ext>
            </a:extLst>
          </p:cNvPr>
          <p:cNvSpPr>
            <a:spLocks noGrp="1"/>
          </p:cNvSpPr>
          <p:nvPr/>
        </p:nvSpPr>
        <p:spPr>
          <a:xfrm>
            <a:off x="4629150" y="1981200"/>
            <a:ext cx="29337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>
                <a:solidFill>
                  <a:srgbClr val="101A33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1A33"/>
                </a:solidFill>
                <a:latin typeface="Aptos Display"/>
                <a:ea typeface="Aptos Display"/>
                <a:cs typeface="Aptos Display"/>
              </a:rPr>
              <a:t>Identidad híbrida</a:t>
            </a:r>
          </a:p>
        </p:txBody>
      </p:sp>
      <p:sp>
        <p:nvSpPr>
          <p:cNvPr id="6" name="auth-managed">
            <a:extLst>
              <a:ext uri="{FF2B5EF4-FFF2-40B4-BE49-F238E27FC236}">
                <a16:creationId xmlns:a16="http://schemas.microsoft.com/office/drawing/2014/main" id="{A99F06FA-D80B-4BC5-8A57-3692ABE89C7A}"/>
              </a:ext>
            </a:extLst>
          </p:cNvPr>
          <p:cNvSpPr>
            <a:spLocks noGrp="1"/>
          </p:cNvSpPr>
          <p:nvPr/>
        </p:nvSpPr>
        <p:spPr>
          <a:xfrm>
            <a:off x="1447800" y="3638550"/>
            <a:ext cx="3429000" cy="100012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Administrada</a:t>
            </a:r>
          </a:p>
          <a:p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 ID autentica</a:t>
            </a:r>
          </a:p>
        </p:txBody>
      </p:sp>
      <p:sp>
        <p:nvSpPr>
          <p:cNvPr id="7" name="auth-fed">
            <a:extLst>
              <a:ext uri="{FF2B5EF4-FFF2-40B4-BE49-F238E27FC236}">
                <a16:creationId xmlns:a16="http://schemas.microsoft.com/office/drawing/2014/main" id="{F09C63F3-F148-428C-9A31-71C6403579C4}"/>
              </a:ext>
            </a:extLst>
          </p:cNvPr>
          <p:cNvSpPr>
            <a:spLocks noGrp="1"/>
          </p:cNvSpPr>
          <p:nvPr/>
        </p:nvSpPr>
        <p:spPr>
          <a:xfrm>
            <a:off x="7315200" y="3638550"/>
            <a:ext cx="3429000" cy="10001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Federada</a:t>
            </a:r>
          </a:p>
          <a:p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 ID redirige</a:t>
            </a:r>
          </a:p>
        </p:txBody>
      </p:sp>
      <p:cxnSp>
        <p:nvCxnSpPr>
          <p:cNvPr id="8" name="Connector: Elbow 7"/>
          <p:cNvCxnSpPr>
            <a:stCxn id="5" idx="2"/>
            <a:endCxn id="6" idx="0"/>
          </p:cNvCxnSpPr>
          <p:nvPr/>
        </p:nvCxnSpPr>
        <p:spPr>
          <a:xfrm flipH="1">
            <a:off x="3162300" y="2743200"/>
            <a:ext cx="2933700" cy="895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9" name="Connector: Elbow 8"/>
          <p:cNvCxnSpPr>
            <a:stCxn id="5" idx="2"/>
            <a:endCxn id="7" idx="0"/>
          </p:cNvCxnSpPr>
          <p:nvPr/>
        </p:nvCxnSpPr>
        <p:spPr>
          <a:xfrm>
            <a:off x="6096000" y="2743200"/>
            <a:ext cx="2933700" cy="8953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DCCEC6-1A3A-4642-A71B-5DA574E7EF62}"/>
              </a:ext>
            </a:extLst>
          </p:cNvPr>
          <p:cNvSpPr>
            <a:spLocks noGrp="1"/>
          </p:cNvSpPr>
          <p:nvPr/>
        </p:nvSpPr>
        <p:spPr>
          <a:xfrm>
            <a:off x="1905000" y="49720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PHS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E0F6F-60F5-4552-89D8-C1F997E26969}"/>
              </a:ext>
            </a:extLst>
          </p:cNvPr>
          <p:cNvSpPr>
            <a:spLocks noGrp="1"/>
          </p:cNvSpPr>
          <p:nvPr/>
        </p:nvSpPr>
        <p:spPr>
          <a:xfrm>
            <a:off x="3333750" y="49720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PTA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15E323-000B-4CCA-99E6-5F400F7890E9}"/>
              </a:ext>
            </a:extLst>
          </p:cNvPr>
          <p:cNvSpPr>
            <a:spLocks noGrp="1"/>
          </p:cNvSpPr>
          <p:nvPr/>
        </p:nvSpPr>
        <p:spPr>
          <a:xfrm>
            <a:off x="7762875" y="49720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FFB4A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B4A8"/>
                </a:solidFill>
                <a:latin typeface="Aptos"/>
                <a:ea typeface="Aptos"/>
                <a:cs typeface="Aptos"/>
              </a:rPr>
              <a:t>AD FS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390AC6-AA5D-4215-A327-083E0E78BE0D}"/>
              </a:ext>
            </a:extLst>
          </p:cNvPr>
          <p:cNvSpPr>
            <a:spLocks noGrp="1"/>
          </p:cNvSpPr>
          <p:nvPr/>
        </p:nvSpPr>
        <p:spPr>
          <a:xfrm>
            <a:off x="9191625" y="49720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117"/>
          </a:bodyPr>
          <a:lstStyle/>
          <a:p>
            <a:pPr algn="ctr">
              <a:lnSpc>
                <a:spcPct val="108000"/>
              </a:lnSpc>
              <a:buNone/>
              <a:defRPr sz="2025" b="1">
                <a:solidFill>
                  <a:srgbClr val="FFB4A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4A8"/>
                </a:solidFill>
                <a:latin typeface="Aptos"/>
                <a:ea typeface="Aptos"/>
                <a:cs typeface="Aptos"/>
              </a:rPr>
              <a:t>IdP externo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29FFA1-BD81-4518-BC75-D645B7FF3BBD}"/>
              </a:ext>
            </a:extLst>
          </p:cNvPr>
          <p:cNvSpPr>
            <a:spLocks noGrp="1"/>
          </p:cNvSpPr>
          <p:nvPr/>
        </p:nvSpPr>
        <p:spPr>
          <a:xfrm>
            <a:off x="1562100" y="5581650"/>
            <a:ext cx="321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A9E4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E4EE"/>
                </a:solidFill>
                <a:latin typeface="Aptos"/>
                <a:ea typeface="Aptos"/>
                <a:cs typeface="Aptos"/>
              </a:rPr>
              <a:t>Menos infraestructura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F6FACB-FDE6-4A9E-A38A-DE0E4A7DE008}"/>
              </a:ext>
            </a:extLst>
          </p:cNvPr>
          <p:cNvSpPr>
            <a:spLocks noGrp="1"/>
          </p:cNvSpPr>
          <p:nvPr/>
        </p:nvSpPr>
        <p:spPr>
          <a:xfrm>
            <a:off x="7334250" y="5581650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553"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C3B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3BA"/>
                </a:solidFill>
                <a:latin typeface="Aptos"/>
                <a:ea typeface="Aptos"/>
                <a:cs typeface="Aptos"/>
              </a:rPr>
              <a:t>Mayor complejidad y control especializado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A2935F-67B8-41DD-82A7-1F3EE667133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31405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525608-0C86-4A95-B2C1-CD872046BE6D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95A4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4C6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39501F-49E9-47EB-BA13-5365AA54BE6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11</a:t>
            </a:r>
            <a:endParaRPr sz="1050" b="1">
              <a:solidFill>
                <a:srgbClr val="06B6D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6518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25CBE5-1F7C-4954-B8F8-A77320C858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D85823-E5DA-4E92-8D10-099DE409F56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AUTENTICACIÓN ADMINISTRADA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1058704-2548-4980-9295-4EB11CA82FF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PHS </a:t>
            </a:r>
            <a:r>
              <a:rPr lang="en-US"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sincroniza </a:t>
            </a: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un hash derivado</a:t>
            </a:r>
            <a:r>
              <a:rPr lang="en-US"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;</a:t>
            </a: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 Entra ID</a:t>
            </a:r>
            <a:r>
              <a:rPr lang="en-US"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 autentica</a:t>
            </a:r>
            <a:endParaRPr sz="36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11B98-FA05-484B-A563-A1AEA1403445}"/>
              </a:ext>
            </a:extLst>
          </p:cNvPr>
          <p:cNvSpPr>
            <a:spLocks noGrp="1"/>
          </p:cNvSpPr>
          <p:nvPr/>
        </p:nvSpPr>
        <p:spPr>
          <a:xfrm>
            <a:off x="685800" y="1353312"/>
            <a:ext cx="969264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lang="en-US"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Password Hash Synchronization (PHS) permite autenticar</a:t>
            </a: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 sin recibir ni almacenar la contraseña real.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4A5DC-DAC7-403E-B20C-14C61803D59D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2133600" cy="1104900"/>
          </a:xfrm>
          <a:prstGeom prst="rect">
            <a:avLst/>
          </a:prstGeom>
          <a:solidFill>
            <a:srgbClr val="FFF0EC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Contraseña local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DC91FF-8297-47CF-8833-7F8ECA138F6E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307"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Cambio o restablecimiento en AD 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9A2DE-5922-49C0-B3A0-CA8D0BF0BC6E}"/>
              </a:ext>
            </a:extLst>
          </p:cNvPr>
          <p:cNvSpPr>
            <a:spLocks noGrp="1"/>
          </p:cNvSpPr>
          <p:nvPr/>
        </p:nvSpPr>
        <p:spPr>
          <a:xfrm>
            <a:off x="3352800" y="2305050"/>
            <a:ext cx="2133600" cy="1104900"/>
          </a:xfrm>
          <a:prstGeom prst="rect">
            <a:avLst/>
          </a:prstGeom>
          <a:solidFill>
            <a:srgbClr val="E8EEF8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Hash adicional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7647C-0E35-4DA5-A4B0-139A5FBD827A}"/>
              </a:ext>
            </a:extLst>
          </p:cNvPr>
          <p:cNvSpPr>
            <a:spLocks noGrp="1"/>
          </p:cNvSpPr>
          <p:nvPr/>
        </p:nvSpPr>
        <p:spPr>
          <a:xfrm>
            <a:off x="3352800" y="36385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Proceso seguro y unidireccional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7BE4A9-C9A9-4CB0-B2A1-C39B4EDC6229}"/>
              </a:ext>
            </a:extLst>
          </p:cNvPr>
          <p:cNvSpPr>
            <a:spLocks noGrp="1"/>
          </p:cNvSpPr>
          <p:nvPr/>
        </p:nvSpPr>
        <p:spPr>
          <a:xfrm>
            <a:off x="6019800" y="2305050"/>
            <a:ext cx="2133600" cy="1104900"/>
          </a:xfrm>
          <a:prstGeom prst="rect">
            <a:avLst/>
          </a:prstGeom>
          <a:solidFill>
            <a:srgbClr val="DDF7FA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Sincronización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B420B2-CF25-438F-9EBC-FE7C47B81307}"/>
              </a:ext>
            </a:extLst>
          </p:cNvPr>
          <p:cNvSpPr>
            <a:spLocks noGrp="1"/>
          </p:cNvSpPr>
          <p:nvPr/>
        </p:nvSpPr>
        <p:spPr>
          <a:xfrm>
            <a:off x="6019800" y="36385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Hash cifrado durante el tránsito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CC94D5-7C94-4727-9076-0F0F9248AD71}"/>
              </a:ext>
            </a:extLst>
          </p:cNvPr>
          <p:cNvSpPr>
            <a:spLocks noGrp="1"/>
          </p:cNvSpPr>
          <p:nvPr/>
        </p:nvSpPr>
        <p:spPr>
          <a:xfrm>
            <a:off x="8686800" y="2305050"/>
            <a:ext cx="2133600" cy="1104900"/>
          </a:xfrm>
          <a:prstGeom prst="rect">
            <a:avLst/>
          </a:prstGeom>
          <a:solidFill>
            <a:srgbClr val="E7F8F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Autenticación cloud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94825-F9A6-4E00-AA55-968F7E2EF703}"/>
              </a:ext>
            </a:extLst>
          </p:cNvPr>
          <p:cNvSpPr>
            <a:spLocks noGrp="1"/>
          </p:cNvSpPr>
          <p:nvPr/>
        </p:nvSpPr>
        <p:spPr>
          <a:xfrm>
            <a:off x="8686800" y="363855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Entra ID realiza la validación</a:t>
            </a:r>
          </a:p>
        </p:txBody>
      </p:sp>
      <p:cxnSp>
        <p:nvCxnSpPr>
          <p:cNvPr id="13" name="Straight Arrow Connector 12"/>
          <p:cNvCxnSpPr>
            <a:stCxn id="5" idx="3"/>
            <a:endCxn id="7" idx="1"/>
          </p:cNvCxnSpPr>
          <p:nvPr/>
        </p:nvCxnSpPr>
        <p:spPr>
          <a:xfrm>
            <a:off x="2819400" y="2857500"/>
            <a:ext cx="5334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4" name="Straight Arrow Connector 13"/>
          <p:cNvCxnSpPr>
            <a:stCxn id="7" idx="3"/>
            <a:endCxn id="9" idx="1"/>
          </p:cNvCxnSpPr>
          <p:nvPr/>
        </p:nvCxnSpPr>
        <p:spPr>
          <a:xfrm>
            <a:off x="5486400" y="2857500"/>
            <a:ext cx="53340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15" name="Straight Arrow Connector 14"/>
          <p:cNvCxnSpPr>
            <a:stCxn id="9" idx="3"/>
            <a:endCxn id="11" idx="1"/>
          </p:cNvCxnSpPr>
          <p:nvPr/>
        </p:nvCxnSpPr>
        <p:spPr>
          <a:xfrm>
            <a:off x="8153400" y="2857500"/>
            <a:ext cx="533400" cy="0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51B5DDC-E11E-408E-9056-2760E3913978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820400" cy="723900"/>
          </a:xfrm>
          <a:prstGeom prst="rect">
            <a:avLst/>
          </a:prstGeom>
          <a:solidFill>
            <a:srgbClr val="101A3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4EAE50-0813-4679-975B-931EFDA9B363}"/>
              </a:ext>
            </a:extLst>
          </p:cNvPr>
          <p:cNvSpPr>
            <a:spLocks noGrp="1"/>
          </p:cNvSpPr>
          <p:nvPr/>
        </p:nvSpPr>
        <p:spPr>
          <a:xfrm>
            <a:off x="971550" y="5010150"/>
            <a:ext cx="10248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contraseña real nunca se envía ni se almacena en Microsoft Entra ID.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1AE8CC-5967-4F55-9290-F3B8E8C28040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64CB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4CB7"/>
                </a:solidFill>
                <a:latin typeface="Aptos"/>
                <a:ea typeface="Aptos"/>
                <a:cs typeface="Aptos"/>
              </a:rPr>
              <a:t>Ventajas: mismas credenciales · menor carga de contraseñas · soporte para Identity Protection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F61B92-2382-4766-BFFA-B8AB399F398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ED1A5E-26B0-437D-874E-EA32300B98D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2CEF13-644E-4EE5-9467-7F164A62992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5950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6968333-3D84-406D-9A39-079F540DF1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E00BD-ECE1-46AE-AABE-FC10F88B472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AUTENTICACIÓN ADMINISTRADA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12A105E-5822-480D-B079-C5A30B1FD1D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26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Pass-through Authentication (</a:t>
            </a: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PTA</a:t>
            </a:r>
            <a:r>
              <a:rPr lang="en-US"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)</a:t>
            </a: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 valida contra AD 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FA8CF7-4C83-4E74-94F8-3A60C4DB167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Un agente ligero </a:t>
            </a:r>
            <a:r>
              <a:rPr lang="en-US"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valida cada </a:t>
            </a: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solicitud </a:t>
            </a:r>
            <a:r>
              <a:rPr lang="en-US"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directamente</a:t>
            </a: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 con el directorio local.</a:t>
            </a:r>
          </a:p>
        </p:txBody>
      </p:sp>
      <p:sp>
        <p:nvSpPr>
          <p:cNvPr id="5" name="pta-user">
            <a:extLst>
              <a:ext uri="{FF2B5EF4-FFF2-40B4-BE49-F238E27FC236}">
                <a16:creationId xmlns:a16="http://schemas.microsoft.com/office/drawing/2014/main" id="{1BFDCB2A-42FB-482A-87D4-334352911BEF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1143000" cy="11430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6" name="pta-entra">
            <a:extLst>
              <a:ext uri="{FF2B5EF4-FFF2-40B4-BE49-F238E27FC236}">
                <a16:creationId xmlns:a16="http://schemas.microsoft.com/office/drawing/2014/main" id="{7C3133F7-36A0-4711-8E92-1E5CF7F61765}"/>
              </a:ext>
            </a:extLst>
          </p:cNvPr>
          <p:cNvSpPr>
            <a:spLocks noGrp="1"/>
          </p:cNvSpPr>
          <p:nvPr/>
        </p:nvSpPr>
        <p:spPr>
          <a:xfrm>
            <a:off x="2743200" y="2419350"/>
            <a:ext cx="2190750" cy="1333500"/>
          </a:xfrm>
          <a:prstGeom prst="rect">
            <a:avLst/>
          </a:prstGeom>
          <a:solidFill>
            <a:srgbClr val="E8EEF8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Microsoft</a:t>
            </a:r>
          </a:p>
          <a:p>
            <a:pPr algn="ctr">
              <a:lnSpc>
                <a:spcPct val="100000"/>
              </a:lnSpc>
              <a:buNone/>
              <a:defRPr sz="20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Entra ID</a:t>
            </a:r>
          </a:p>
        </p:txBody>
      </p:sp>
      <p:sp>
        <p:nvSpPr>
          <p:cNvPr id="7" name="pta-agent">
            <a:extLst>
              <a:ext uri="{FF2B5EF4-FFF2-40B4-BE49-F238E27FC236}">
                <a16:creationId xmlns:a16="http://schemas.microsoft.com/office/drawing/2014/main" id="{9127FB42-F790-4C80-ABFF-65521ED3C7CE}"/>
              </a:ext>
            </a:extLst>
          </p:cNvPr>
          <p:cNvSpPr>
            <a:spLocks noGrp="1"/>
          </p:cNvSpPr>
          <p:nvPr/>
        </p:nvSpPr>
        <p:spPr>
          <a:xfrm>
            <a:off x="5810250" y="2419350"/>
            <a:ext cx="2190750" cy="1333500"/>
          </a:xfrm>
          <a:prstGeom prst="rect">
            <a:avLst/>
          </a:prstGeom>
          <a:solidFill>
            <a:srgbClr val="DDF7FA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Agente PTA</a:t>
            </a:r>
          </a:p>
          <a:p>
            <a:pPr algn="ctr">
              <a:lnSpc>
                <a:spcPct val="100000"/>
              </a:lnSpc>
              <a:buNone/>
              <a:defRPr sz="20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local</a:t>
            </a:r>
          </a:p>
        </p:txBody>
      </p:sp>
      <p:sp>
        <p:nvSpPr>
          <p:cNvPr id="8" name="pta-ad">
            <a:extLst>
              <a:ext uri="{FF2B5EF4-FFF2-40B4-BE49-F238E27FC236}">
                <a16:creationId xmlns:a16="http://schemas.microsoft.com/office/drawing/2014/main" id="{1CBB15BF-D723-4462-8A73-0A28907AF6B1}"/>
              </a:ext>
            </a:extLst>
          </p:cNvPr>
          <p:cNvSpPr>
            <a:spLocks noGrp="1"/>
          </p:cNvSpPr>
          <p:nvPr/>
        </p:nvSpPr>
        <p:spPr>
          <a:xfrm>
            <a:off x="8877300" y="2419350"/>
            <a:ext cx="2190750" cy="1333500"/>
          </a:xfrm>
          <a:prstGeom prst="rect">
            <a:avLst/>
          </a:prstGeom>
          <a:solidFill>
            <a:srgbClr val="FFF0EC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AD DS</a:t>
            </a:r>
          </a:p>
          <a:p>
            <a:pPr algn="ctr">
              <a:lnSpc>
                <a:spcPct val="100000"/>
              </a:lnSpc>
              <a:buNone/>
              <a:defRPr sz="202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valida</a:t>
            </a:r>
          </a:p>
        </p:txBody>
      </p:sp>
      <p:cxnSp>
        <p:nvCxnSpPr>
          <p:cNvPr id="9" name="Straight Arrow Connector 8"/>
          <p:cNvCxnSpPr>
            <a:stCxn id="5" idx="6"/>
            <a:endCxn id="6" idx="1"/>
          </p:cNvCxnSpPr>
          <p:nvPr/>
        </p:nvCxnSpPr>
        <p:spPr>
          <a:xfrm>
            <a:off x="1866900" y="3086100"/>
            <a:ext cx="876300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>
            <a:off x="4933950" y="3086100"/>
            <a:ext cx="87630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8001000" y="3086100"/>
            <a:ext cx="876300" cy="0"/>
          </a:xfrm>
          <a:prstGeom prst="straightConnector1">
            <a:avLst/>
          </a:prstGeom>
          <a:ln w="28575">
            <a:solidFill>
              <a:srgbClr val="F97360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55695-05E9-4723-9DF7-129B6DE2F6E0}"/>
              </a:ext>
            </a:extLst>
          </p:cNvPr>
          <p:cNvSpPr>
            <a:spLocks noGrp="1"/>
          </p:cNvSpPr>
          <p:nvPr/>
        </p:nvSpPr>
        <p:spPr>
          <a:xfrm>
            <a:off x="1952625" y="27813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90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Solicitud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DCA69F-7F0D-4447-B0C6-DC4C2DA87351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277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Canal seguro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6FC1DB-2DDC-4619-94B9-2721E2EAF4E6}"/>
              </a:ext>
            </a:extLst>
          </p:cNvPr>
          <p:cNvSpPr>
            <a:spLocks noGrp="1"/>
          </p:cNvSpPr>
          <p:nvPr/>
        </p:nvSpPr>
        <p:spPr>
          <a:xfrm>
            <a:off x="8020050" y="27813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623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Credenciales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D42AA-1A17-4997-8CFA-BB154E464F94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108204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37055-9C46-4668-B8CC-B796CC736C56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21145E-1925-4E24-A2CF-DC4B9653520B}"/>
              </a:ext>
            </a:extLst>
          </p:cNvPr>
          <p:cNvSpPr>
            <a:spLocks noGrp="1"/>
          </p:cNvSpPr>
          <p:nvPr/>
        </p:nvSpPr>
        <p:spPr>
          <a:xfrm>
            <a:off x="914400" y="48387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Requiere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C9737D-404C-4B40-B415-DB665C59A4D5}"/>
              </a:ext>
            </a:extLst>
          </p:cNvPr>
          <p:cNvSpPr>
            <a:spLocks noGrp="1"/>
          </p:cNvSpPr>
          <p:nvPr/>
        </p:nvSpPr>
        <p:spPr>
          <a:xfrm>
            <a:off x="914400" y="5133975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Instalar y mantener uno o más agentes locales.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EE0AE-21E5-4E48-AE4B-B2B5F85BC44C}"/>
              </a:ext>
            </a:extLst>
          </p:cNvPr>
          <p:cNvSpPr>
            <a:spLocks noGrp="1"/>
          </p:cNvSpPr>
          <p:nvPr/>
        </p:nvSpPr>
        <p:spPr>
          <a:xfrm>
            <a:off x="6191250" y="4876800"/>
            <a:ext cx="85725" cy="85725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F87281-79AA-4D1D-A817-5E18D7E5B917}"/>
              </a:ext>
            </a:extLst>
          </p:cNvPr>
          <p:cNvSpPr>
            <a:spLocks noGrp="1"/>
          </p:cNvSpPr>
          <p:nvPr/>
        </p:nvSpPr>
        <p:spPr>
          <a:xfrm>
            <a:off x="6419850" y="4838700"/>
            <a:ext cx="4724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Encaja cuando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D893AD-4D88-4B70-BD50-5A683DF25807}"/>
              </a:ext>
            </a:extLst>
          </p:cNvPr>
          <p:cNvSpPr>
            <a:spLocks noGrp="1"/>
          </p:cNvSpPr>
          <p:nvPr/>
        </p:nvSpPr>
        <p:spPr>
          <a:xfrm>
            <a:off x="6419850" y="5133975"/>
            <a:ext cx="472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Importa aplicar inmediatamente estados, horarios y políticas de AD DS.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2E8D8C-559A-4C75-A6F5-31A50CF200A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A0AB36-538A-49E0-B951-DFD7BF0B9D5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9F9DD9-628E-4486-A1BE-208DE60BC05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97385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F7BD8DA-52CF-41F0-913D-9464FA3385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741EEA-55CE-47C4-BDAC-CE5BD583A9E4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AUTENTICACIÓN ADMINISTRADA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A92454D-E6AE-4972-B13F-0BF2C8C80FA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241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PHS simplifica; PTA aplica el estado local al instante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4161CA-D5FB-46B3-A7F5-0A8E9D8EFC0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E1A121-E19C-4129-A54F-80D3B8C6ECE6}"/>
              </a:ext>
            </a:extLst>
          </p:cNvPr>
          <p:cNvSpPr>
            <a:spLocks noGrp="1"/>
          </p:cNvSpPr>
          <p:nvPr/>
        </p:nvSpPr>
        <p:spPr>
          <a:xfrm>
            <a:off x="4095750" y="1444752"/>
            <a:ext cx="2857500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4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PASSWORD HASH
SYNCHRONIZATION (PHS)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D41DBF-52E3-4005-9277-CA03FC644F8A}"/>
              </a:ext>
            </a:extLst>
          </p:cNvPr>
          <p:cNvSpPr>
            <a:spLocks noGrp="1"/>
          </p:cNvSpPr>
          <p:nvPr/>
        </p:nvSpPr>
        <p:spPr>
          <a:xfrm>
            <a:off x="7810499" y="1444752"/>
            <a:ext cx="3143250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0000"/>
              </a:lnSpc>
              <a:buNone/>
              <a:defRPr sz="10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lang="en-US" sz="14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PASS-THROUGH
AUTHENTICATION (PTA)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34D9C-6ABB-4203-B2FE-FF51EC4E77A6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19050"/>
          </a:xfrm>
          <a:prstGeom prst="rect">
            <a:avLst/>
          </a:prstGeom>
          <a:solidFill>
            <a:srgbClr val="17203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CAFBB4-CB61-4412-BA3B-6CCDD1D472C7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Quién autentica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D0BB7C-A296-4A16-862B-1068A9DAC6B5}"/>
              </a:ext>
            </a:extLst>
          </p:cNvPr>
          <p:cNvSpPr>
            <a:spLocks noGrp="1"/>
          </p:cNvSpPr>
          <p:nvPr/>
        </p:nvSpPr>
        <p:spPr>
          <a:xfrm>
            <a:off x="4095750" y="20193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Microsoft Entra 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E812F4-7E34-46C6-BE5B-84211F5E28E4}"/>
              </a:ext>
            </a:extLst>
          </p:cNvPr>
          <p:cNvSpPr>
            <a:spLocks noGrp="1"/>
          </p:cNvSpPr>
          <p:nvPr/>
        </p:nvSpPr>
        <p:spPr>
          <a:xfrm>
            <a:off x="7810500" y="20193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AD DS local mediante agente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1E83D-E1D4-4BC9-A766-24BDDCABABFB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036177-4188-4681-B91D-D4C99951CDC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Dato cloud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486B06-AB84-49C5-B4B5-7A98C7EFBF46}"/>
              </a:ext>
            </a:extLst>
          </p:cNvPr>
          <p:cNvSpPr>
            <a:spLocks noGrp="1"/>
          </p:cNvSpPr>
          <p:nvPr/>
        </p:nvSpPr>
        <p:spPr>
          <a:xfrm>
            <a:off x="4095750" y="26289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Hash derivado sincronizado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D666C4-03DC-4BCD-9525-8B20A27BDB20}"/>
              </a:ext>
            </a:extLst>
          </p:cNvPr>
          <p:cNvSpPr>
            <a:spLocks noGrp="1"/>
          </p:cNvSpPr>
          <p:nvPr/>
        </p:nvSpPr>
        <p:spPr>
          <a:xfrm>
            <a:off x="7810500" y="26289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almacena hash de contraseña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FB079-BEA1-41E8-AF42-0F32D0560CBE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8AA0F0-77C4-46C6-9A4B-BE4B8129F541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29C54B-5C7E-4B8C-9371-97962CE675D6}"/>
              </a:ext>
            </a:extLst>
          </p:cNvPr>
          <p:cNvSpPr>
            <a:spLocks noGrp="1"/>
          </p:cNvSpPr>
          <p:nvPr/>
        </p:nvSpPr>
        <p:spPr>
          <a:xfrm>
            <a:off x="4095750" y="3238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Solo herramienta de sincronización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0663F2-28CA-4A2C-852A-D7D0FCC3DF62}"/>
              </a:ext>
            </a:extLst>
          </p:cNvPr>
          <p:cNvSpPr>
            <a:spLocks noGrp="1"/>
          </p:cNvSpPr>
          <p:nvPr/>
        </p:nvSpPr>
        <p:spPr>
          <a:xfrm>
            <a:off x="7810500" y="32385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Agente local y alta 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BE365A-8B6C-460A-93E0-4A113709C5A4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0D537C-A876-438E-A69A-315AAEBE5731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Estado local inmediato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2D5245-03AC-474D-B276-25FE7CDA5DC1}"/>
              </a:ext>
            </a:extLst>
          </p:cNvPr>
          <p:cNvSpPr>
            <a:spLocks noGrp="1"/>
          </p:cNvSpPr>
          <p:nvPr/>
        </p:nvSpPr>
        <p:spPr>
          <a:xfrm>
            <a:off x="4095750" y="38481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en cada inicio de sesión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61DC9E-67B0-4A52-B810-31A2D677F127}"/>
              </a:ext>
            </a:extLst>
          </p:cNvPr>
          <p:cNvSpPr>
            <a:spLocks noGrp="1"/>
          </p:cNvSpPr>
          <p:nvPr/>
        </p:nvSpPr>
        <p:spPr>
          <a:xfrm>
            <a:off x="7810500" y="38481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Sí: cuenta, horario y políticas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E1D2B3-56C6-437F-8D97-2B01AFE309F9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298DEA-C0AB-4011-A854-5ECAE26A72E0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Resiliencia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676C5F-90BF-4082-8459-D0CB629F801D}"/>
              </a:ext>
            </a:extLst>
          </p:cNvPr>
          <p:cNvSpPr>
            <a:spLocks noGrp="1"/>
          </p:cNvSpPr>
          <p:nvPr/>
        </p:nvSpPr>
        <p:spPr>
          <a:xfrm>
            <a:off x="4095750" y="44577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Menor dependencia local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0363C4-D25F-4BF9-AA96-EA11AE5498F3}"/>
              </a:ext>
            </a:extLst>
          </p:cNvPr>
          <p:cNvSpPr>
            <a:spLocks noGrp="1"/>
          </p:cNvSpPr>
          <p:nvPr/>
        </p:nvSpPr>
        <p:spPr>
          <a:xfrm>
            <a:off x="7810500" y="44577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Depende de agente y AD 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A4F49-EEFF-4A08-BBC0-D1825302C17D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B19D1C-04EE-4CEF-87B5-D7E5907B5DD0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Elección típica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1F44F8-00BF-4A1D-8B0B-4E28FDEADD0F}"/>
              </a:ext>
            </a:extLst>
          </p:cNvPr>
          <p:cNvSpPr>
            <a:spLocks noGrp="1"/>
          </p:cNvSpPr>
          <p:nvPr/>
        </p:nvSpPr>
        <p:spPr>
          <a:xfrm>
            <a:off x="4095750" y="50673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Predeterminado por simplicidad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60DFD1-02C0-4D9F-AA1D-E1E28F49ED31}"/>
              </a:ext>
            </a:extLst>
          </p:cNvPr>
          <p:cNvSpPr>
            <a:spLocks noGrp="1"/>
          </p:cNvSpPr>
          <p:nvPr/>
        </p:nvSpPr>
        <p:spPr>
          <a:xfrm>
            <a:off x="7810500" y="506730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Control local en tiempo real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E99452-B04D-4197-B97E-1277641C1822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2C3710-A552-4250-96CE-8D908497F763}"/>
              </a:ext>
            </a:extLst>
          </p:cNvPr>
          <p:cNvSpPr>
            <a:spLocks noGrp="1"/>
          </p:cNvSpPr>
          <p:nvPr/>
        </p:nvSpPr>
        <p:spPr>
          <a:xfrm>
            <a:off x="4000500" y="1866900"/>
            <a:ext cx="57150" cy="36576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F84607-A5A6-452D-8F85-670CD3F352B1}"/>
              </a:ext>
            </a:extLst>
          </p:cNvPr>
          <p:cNvSpPr>
            <a:spLocks noGrp="1"/>
          </p:cNvSpPr>
          <p:nvPr/>
        </p:nvSpPr>
        <p:spPr>
          <a:xfrm>
            <a:off x="7715250" y="1866900"/>
            <a:ext cx="57150" cy="36576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5E5163-732B-4466-A24D-9EC6CFF96858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Nota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F11BC7-5162-407E-AA83-9CD4F78E935F}"/>
              </a:ext>
            </a:extLst>
          </p:cNvPr>
          <p:cNvSpPr>
            <a:spLocks noGrp="1"/>
          </p:cNvSpPr>
          <p:nvPr/>
        </p:nvSpPr>
        <p:spPr>
          <a:xfrm>
            <a:off x="1390650" y="5781675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34"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Microsoft recomienda mantener </a:t>
            </a: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PHS </a:t>
            </a:r>
            <a:r>
              <a:rPr lang="en-US"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habilitado </a:t>
            </a: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incluso si </a:t>
            </a:r>
            <a:r>
              <a:rPr lang="en-US"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el </a:t>
            </a: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método</a:t>
            </a:r>
            <a:r>
              <a:rPr lang="en-US"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 principal es PTA o federación</a:t>
            </a: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32E827-15CA-4625-944F-50607E7629C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8E91B1-1664-4AD1-980B-D1E6BAD4DA79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10FE7A-248B-481C-83C2-BD3BD5916CD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48342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46888"/>
            <a:ext cx="475488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563EB"/>
                </a:solidFill>
                <a:latin typeface="Aptos"/>
              </a:rPr>
              <a:t>RESILIENCIA DE AUTENTICACIÓN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81735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2033"/>
                </a:solidFill>
                <a:latin typeface="Aptos Display"/>
              </a:rPr>
              <a:t>Mantenga PHS activo como red de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2412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637083"/>
                </a:solidFill>
                <a:latin typeface="Aptos"/>
              </a:rPr>
              <a:t>Microsoft recomienda habilitar Password Hash Synchronization (PHS) cualquiera sea el método principal.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419088"/>
            <a:ext cx="10817352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28816"/>
            <a:ext cx="3621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37083"/>
                </a:solidFill>
                <a:latin typeface="Aptos"/>
              </a:rPr>
              <a:t>FORMACIÓN TÉCNICA · MICROSOFT 365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5952" y="6492240"/>
            <a:ext cx="45720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Aptos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84831"/>
            <a:ext cx="2907792" cy="3456432"/>
          </a:xfrm>
          <a:prstGeom prst="rect">
            <a:avLst/>
          </a:prstGeom>
          <a:solidFill>
            <a:srgbClr val="10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703320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Aptos"/>
              </a:rPr>
              <a:t>SIEMPRE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0520"/>
            <a:ext cx="2304288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Ruta cloud para recuperar el acceso si falla la infraestructura local.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029968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563EB"/>
                </a:solidFill>
                <a:latin typeface="Aptos Display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2075688"/>
            <a:ext cx="36576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38928" y="2029968"/>
            <a:ext cx="21488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033"/>
                </a:solidFill>
                <a:latin typeface="Aptos Display"/>
              </a:rPr>
              <a:t>Alta disponibilidad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29968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7083"/>
                </a:solidFill>
                <a:latin typeface="Aptos"/>
              </a:rPr>
              <a:t>PTA y federación dependen de agentes, proxies, servidores de federación y controladores de dominio locales.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2926080"/>
            <a:ext cx="6153912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3200400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6B6D4"/>
                </a:solidFill>
                <a:latin typeface="Aptos Display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2" y="3246120"/>
            <a:ext cx="36576" cy="6217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38928" y="3200400"/>
            <a:ext cx="21488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033"/>
                </a:solidFill>
                <a:latin typeface="Aptos Display"/>
              </a:rPr>
              <a:t>Supervivencia ante una caída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200400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7083"/>
                </a:solidFill>
                <a:latin typeface="Aptos"/>
              </a:rPr>
              <a:t>Con PHS habilitado, la organización puede cambiar la autenticación principal y recuperar los servicios cloud.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8928" y="4096512"/>
            <a:ext cx="6153912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4370832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97360"/>
                </a:solidFill>
                <a:latin typeface="Aptos Display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28032" y="4416552"/>
            <a:ext cx="36576" cy="621792"/>
          </a:xfrm>
          <a:prstGeom prst="rect">
            <a:avLst/>
          </a:prstGeom>
          <a:solidFill>
            <a:srgbClr val="F9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38928" y="4370832"/>
            <a:ext cx="214884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033"/>
                </a:solidFill>
                <a:latin typeface="Aptos Display"/>
              </a:rPr>
              <a:t>Identity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370832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7083"/>
                </a:solidFill>
                <a:latin typeface="Aptos"/>
              </a:rPr>
              <a:t>Entra ID puede detectar credenciales filtradas y activar bloqueo o cambio de contraseña.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5632704"/>
            <a:ext cx="7132320" cy="32004"/>
          </a:xfrm>
          <a:prstGeom prst="rect">
            <a:avLst/>
          </a:prstGeom>
          <a:solidFill>
            <a:srgbClr val="F97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0520" y="5797296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Aptos"/>
              </a:rPr>
              <a:t>Evite puntos únicos de falla: despliegue redundancia para PTA y federación, y conserve PHS como vía de recuperación.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2907792"/>
            <a:ext cx="230428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 Display"/>
              </a:rPr>
              <a:t>PHS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EFCDCF-F3C4-40F7-88E8-286F30FD23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A33AC2-7A85-4791-B66A-48D08A69F365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BDC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DCE7"/>
                </a:solidFill>
                <a:latin typeface="Aptos"/>
                <a:ea typeface="Aptos"/>
                <a:cs typeface="Aptos"/>
              </a:rPr>
              <a:t>AUTENTICACIÓN FEDERADA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0D8E232-DF07-44C6-ABB5-B97D6182BDD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federación delega la autenticación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B0E2A-3EAD-4E8F-92E1-A7086AE1BD88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971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B5C0D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5C0D8"/>
                </a:solidFill>
                <a:latin typeface="Aptos"/>
                <a:ea typeface="Aptos"/>
                <a:cs typeface="Aptos"/>
              </a:rPr>
              <a:t>Entra ID confía en un sistema de autenticación independiente y redirige al usuario.</a:t>
            </a:r>
          </a:p>
        </p:txBody>
      </p:sp>
      <p:sp>
        <p:nvSpPr>
          <p:cNvPr id="5" name="fed-entra">
            <a:extLst>
              <a:ext uri="{FF2B5EF4-FFF2-40B4-BE49-F238E27FC236}">
                <a16:creationId xmlns:a16="http://schemas.microsoft.com/office/drawing/2014/main" id="{D229E188-EBCA-4798-A6EC-7E09E56E8ADA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2476500" cy="1276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Microsoft</a:t>
            </a:r>
          </a:p>
          <a:p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 ID</a:t>
            </a:r>
          </a:p>
        </p:txBody>
      </p:sp>
      <p:sp>
        <p:nvSpPr>
          <p:cNvPr id="6" name="fed-trust">
            <a:extLst>
              <a:ext uri="{FF2B5EF4-FFF2-40B4-BE49-F238E27FC236}">
                <a16:creationId xmlns:a16="http://schemas.microsoft.com/office/drawing/2014/main" id="{384A3016-5557-4F5F-9046-41CF6A1CA795}"/>
              </a:ext>
            </a:extLst>
          </p:cNvPr>
          <p:cNvSpPr>
            <a:spLocks noGrp="1"/>
          </p:cNvSpPr>
          <p:nvPr/>
        </p:nvSpPr>
        <p:spPr>
          <a:xfrm>
            <a:off x="4953000" y="2381250"/>
            <a:ext cx="2286000" cy="19050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01A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A33"/>
                </a:solidFill>
                <a:latin typeface="Aptos Display"/>
                <a:ea typeface="Aptos Display"/>
                <a:cs typeface="Aptos Display"/>
              </a:rPr>
              <a:t>CONFIANZA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01A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A33"/>
                </a:solidFill>
                <a:latin typeface="Aptos Display"/>
                <a:ea typeface="Aptos Display"/>
                <a:cs typeface="Aptos Display"/>
              </a:rPr>
              <a:t>+ TOKEN</a:t>
            </a:r>
          </a:p>
        </p:txBody>
      </p:sp>
      <p:sp>
        <p:nvSpPr>
          <p:cNvPr id="7" name="fed-idp">
            <a:extLst>
              <a:ext uri="{FF2B5EF4-FFF2-40B4-BE49-F238E27FC236}">
                <a16:creationId xmlns:a16="http://schemas.microsoft.com/office/drawing/2014/main" id="{59898662-B395-472E-9486-18F8E23A455E}"/>
              </a:ext>
            </a:extLst>
          </p:cNvPr>
          <p:cNvSpPr>
            <a:spLocks noGrp="1"/>
          </p:cNvSpPr>
          <p:nvPr/>
        </p:nvSpPr>
        <p:spPr>
          <a:xfrm>
            <a:off x="8763000" y="2686050"/>
            <a:ext cx="2476500" cy="1276350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 FS o</a:t>
            </a:r>
          </a:p>
          <a:p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IdP externo</a:t>
            </a:r>
          </a:p>
        </p:txBody>
      </p:sp>
      <p:cxnSp>
        <p:nvCxnSpPr>
          <p:cNvPr id="8" name="Straight Arrow Connector 7"/>
          <p:cNvCxnSpPr>
            <a:stCxn id="5" idx="3"/>
            <a:endCxn id="6" idx="2"/>
          </p:cNvCxnSpPr>
          <p:nvPr/>
        </p:nvCxnSpPr>
        <p:spPr>
          <a:xfrm>
            <a:off x="3429000" y="3324225"/>
            <a:ext cx="1524000" cy="9525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none" w="med" len="med"/>
          </a:ln>
        </p:spPr>
      </p:cxnSp>
      <p:cxnSp>
        <p:nvCxnSpPr>
          <p:cNvPr id="9" name="Straight Arrow Connector 8"/>
          <p:cNvCxnSpPr>
            <a:stCxn id="6" idx="6"/>
            <a:endCxn id="7" idx="1"/>
          </p:cNvCxnSpPr>
          <p:nvPr/>
        </p:nvCxnSpPr>
        <p:spPr>
          <a:xfrm flipV="1">
            <a:off x="7239000" y="3324225"/>
            <a:ext cx="1524000" cy="9525"/>
          </a:xfrm>
          <a:prstGeom prst="straightConnector1">
            <a:avLst/>
          </a:prstGeom>
          <a:ln w="28575">
            <a:solidFill>
              <a:srgbClr val="F97360"/>
            </a:solidFill>
            <a:prstDash val="solid"/>
            <a:tailEnd type="none" w="med" len="med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4957F93-8EBC-4804-995A-F7FE68778F2E}"/>
              </a:ext>
            </a:extLst>
          </p:cNvPr>
          <p:cNvSpPr>
            <a:spLocks noGrp="1"/>
          </p:cNvSpPr>
          <p:nvPr/>
        </p:nvSpPr>
        <p:spPr>
          <a:xfrm>
            <a:off x="1714500" y="49339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602"/>
          </a:bodyPr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Adecuada para requisitos complejos, SSO extendido y proveedores especializados.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970FC9-6E68-4B8F-9C32-B84CD08E86FE}"/>
              </a:ext>
            </a:extLst>
          </p:cNvPr>
          <p:cNvSpPr>
            <a:spLocks noGrp="1"/>
          </p:cNvSpPr>
          <p:nvPr/>
        </p:nvSpPr>
        <p:spPr>
          <a:xfrm>
            <a:off x="2190750" y="55816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A9B6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9B6D0"/>
                </a:solidFill>
                <a:latin typeface="Aptos"/>
                <a:ea typeface="Aptos"/>
                <a:cs typeface="Aptos"/>
              </a:rPr>
              <a:t>Mayor control especializado  ↔  mayor infraestructura y dependencia operativa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EE4C75-D4C0-4653-B6EC-D4212440DFA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31405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F186DA-3040-4A73-A890-C57A9F396A50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95A4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5A4C6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0F8E80-E0CC-423F-845D-F5B4AC5076A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16</a:t>
            </a:r>
            <a:endParaRPr sz="1050" b="1">
              <a:solidFill>
                <a:srgbClr val="06B6D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82849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E17BA49-F9E4-43B1-BFF5-C1B7A19ACA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CE7B7A-8C8C-4B43-8530-7161FA738AFB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AUTENTICACIÓN FEDERADA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34C37276-DAE9-4A70-85FD-FA301D2A8CA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 FS extiende SSO y confianza a la nube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A29C2-F1EB-4405-96FD-E8C95D9DFC4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763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Las credenciales locales habilitan acceso a recursos cloud o de partners sin identidades separadas.</a:t>
            </a:r>
          </a:p>
        </p:txBody>
      </p:sp>
      <p:sp>
        <p:nvSpPr>
          <p:cNvPr id="5" name="adfs-user">
            <a:extLst>
              <a:ext uri="{FF2B5EF4-FFF2-40B4-BE49-F238E27FC236}">
                <a16:creationId xmlns:a16="http://schemas.microsoft.com/office/drawing/2014/main" id="{8C937329-3652-44A1-94CD-05AACB850CB7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1238250" cy="1238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6" name="adfs-core">
            <a:extLst>
              <a:ext uri="{FF2B5EF4-FFF2-40B4-BE49-F238E27FC236}">
                <a16:creationId xmlns:a16="http://schemas.microsoft.com/office/drawing/2014/main" id="{339ADBFE-4CDC-466B-8109-FD685031235C}"/>
              </a:ext>
            </a:extLst>
          </p:cNvPr>
          <p:cNvSpPr>
            <a:spLocks noGrp="1"/>
          </p:cNvSpPr>
          <p:nvPr/>
        </p:nvSpPr>
        <p:spPr>
          <a:xfrm>
            <a:off x="4695825" y="2209800"/>
            <a:ext cx="2781300" cy="1847850"/>
          </a:xfrm>
          <a:prstGeom prst="rect">
            <a:avLst/>
          </a:prstGeom>
          <a:solidFill>
            <a:srgbClr val="101A33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 FS</a:t>
            </a:r>
          </a:p>
          <a:p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SSO + federación</a:t>
            </a:r>
          </a:p>
        </p:txBody>
      </p:sp>
      <p:sp>
        <p:nvSpPr>
          <p:cNvPr id="7" name="adfs-cloud">
            <a:extLst>
              <a:ext uri="{FF2B5EF4-FFF2-40B4-BE49-F238E27FC236}">
                <a16:creationId xmlns:a16="http://schemas.microsoft.com/office/drawing/2014/main" id="{620A2B68-B847-469C-8453-F6536438BFBB}"/>
              </a:ext>
            </a:extLst>
          </p:cNvPr>
          <p:cNvSpPr>
            <a:spLocks noGrp="1"/>
          </p:cNvSpPr>
          <p:nvPr/>
        </p:nvSpPr>
        <p:spPr>
          <a:xfrm>
            <a:off x="9572625" y="2514600"/>
            <a:ext cx="1238250" cy="123825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  <p:cxnSp>
        <p:nvCxnSpPr>
          <p:cNvPr id="8" name="Straight Arrow Connector 7"/>
          <p:cNvCxnSpPr>
            <a:stCxn id="5" idx="6"/>
            <a:endCxn id="6" idx="1"/>
          </p:cNvCxnSpPr>
          <p:nvPr/>
        </p:nvCxnSpPr>
        <p:spPr>
          <a:xfrm>
            <a:off x="2590800" y="3133725"/>
            <a:ext cx="2105025" cy="0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9" name="Straight Arrow Connector 8"/>
          <p:cNvCxnSpPr>
            <a:stCxn id="6" idx="3"/>
            <a:endCxn id="7" idx="2"/>
          </p:cNvCxnSpPr>
          <p:nvPr/>
        </p:nvCxnSpPr>
        <p:spPr>
          <a:xfrm>
            <a:off x="7477125" y="3133725"/>
            <a:ext cx="2095500" cy="0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5C2FBC1-0C38-4D37-BC3D-BABEBE1D731B}"/>
              </a:ext>
            </a:extLst>
          </p:cNvPr>
          <p:cNvSpPr>
            <a:spLocks noGrp="1"/>
          </p:cNvSpPr>
          <p:nvPr/>
        </p:nvSpPr>
        <p:spPr>
          <a:xfrm>
            <a:off x="2714625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97"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Credenciales locales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5AF53-AA6F-4055-BB66-E6B3C1F55F89}"/>
              </a:ext>
            </a:extLst>
          </p:cNvPr>
          <p:cNvSpPr>
            <a:spLocks noGrp="1"/>
          </p:cNvSpPr>
          <p:nvPr/>
        </p:nvSpPr>
        <p:spPr>
          <a:xfrm>
            <a:off x="7667625" y="2647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21"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Token de seguridad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3A2DB1-297E-4562-95C9-3C96D8D0EED6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314325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BED7B7-9147-47FC-A412-B186CCCFFA2D}"/>
              </a:ext>
            </a:extLst>
          </p:cNvPr>
          <p:cNvSpPr>
            <a:spLocks noGrp="1"/>
          </p:cNvSpPr>
          <p:nvPr/>
        </p:nvSpPr>
        <p:spPr>
          <a:xfrm>
            <a:off x="952500" y="49530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SAML y otros protocolos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E0B681-82F6-4F66-A091-D1BC9905FFE5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Intercambian autenticación y autorización.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D157B8-AC2B-4FA3-AF57-0217CDDDD6DF}"/>
              </a:ext>
            </a:extLst>
          </p:cNvPr>
          <p:cNvSpPr>
            <a:spLocks noGrp="1"/>
          </p:cNvSpPr>
          <p:nvPr/>
        </p:nvSpPr>
        <p:spPr>
          <a:xfrm>
            <a:off x="4714875" y="4762500"/>
            <a:ext cx="3143250" cy="2857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97BF87-BC2C-4682-875F-5CF9AC52A289}"/>
              </a:ext>
            </a:extLst>
          </p:cNvPr>
          <p:cNvSpPr>
            <a:spLocks noGrp="1"/>
          </p:cNvSpPr>
          <p:nvPr/>
        </p:nvSpPr>
        <p:spPr>
          <a:xfrm>
            <a:off x="4714875" y="49530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Single Sign-On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96F497-7EF7-46FF-B2A3-D993B4CB3B3F}"/>
              </a:ext>
            </a:extLst>
          </p:cNvPr>
          <p:cNvSpPr>
            <a:spLocks noGrp="1"/>
          </p:cNvSpPr>
          <p:nvPr/>
        </p:nvSpPr>
        <p:spPr>
          <a:xfrm>
            <a:off x="4714875" y="53054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Una experiencia para múltiples aplicaciones cloud.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162201-EC57-497B-ADE2-8CFC81128A82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143250" cy="2857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F4EDE2-E403-47AF-8482-1E84D55067F1}"/>
              </a:ext>
            </a:extLst>
          </p:cNvPr>
          <p:cNvSpPr>
            <a:spLocks noGrp="1"/>
          </p:cNvSpPr>
          <p:nvPr/>
        </p:nvSpPr>
        <p:spPr>
          <a:xfrm>
            <a:off x="8477250" y="49530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Políticas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7FF73A-3979-4A11-BC82-A23D313E1585}"/>
              </a:ext>
            </a:extLst>
          </p:cNvPr>
          <p:cNvSpPr>
            <a:spLocks noGrp="1"/>
          </p:cNvSpPr>
          <p:nvPr/>
        </p:nvSpPr>
        <p:spPr>
          <a:xfrm>
            <a:off x="8477250" y="5305425"/>
            <a:ext cx="314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Compatible con MFA y Conditional Access.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C382EC-F823-4210-A830-0F9483ABF07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3F3970-6D3D-47B6-B7DB-DE92B479F190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018CB-76BB-4DA3-A338-FD3947F02B2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37090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C5D11EA-B487-491C-AC4F-E0996E2F28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488342-B766-47AD-9B19-1316BE967BD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FLUJO FEDERADO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4611FF0-C348-44C9-B544-2F6B2D06D19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061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El flujo federado original dependía de un proxy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B438CC-DA35-4E83-9F00-83252CFE5A3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Ocho pasos encadenaban la solicitud, la autenticación y el token.</a:t>
            </a:r>
          </a:p>
        </p:txBody>
      </p:sp>
      <p:sp>
        <p:nvSpPr>
          <p:cNvPr id="5" name="flow-1">
            <a:extLst>
              <a:ext uri="{FF2B5EF4-FFF2-40B4-BE49-F238E27FC236}">
                <a16:creationId xmlns:a16="http://schemas.microsoft.com/office/drawing/2014/main" id="{8C6FBF46-FE6C-4C79-86A2-DD79D977CB4F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8943F-88B5-4528-A04E-F6DE87CAA3FE}"/>
              </a:ext>
            </a:extLst>
          </p:cNvPr>
          <p:cNvSpPr>
            <a:spLocks noGrp="1"/>
          </p:cNvSpPr>
          <p:nvPr/>
        </p:nvSpPr>
        <p:spPr>
          <a:xfrm>
            <a:off x="1447800" y="20002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Usuario solicita un recurso de Microsoft 365.</a:t>
            </a:r>
          </a:p>
        </p:txBody>
      </p:sp>
      <p:sp>
        <p:nvSpPr>
          <p:cNvPr id="7" name="flow-2">
            <a:extLst>
              <a:ext uri="{FF2B5EF4-FFF2-40B4-BE49-F238E27FC236}">
                <a16:creationId xmlns:a16="http://schemas.microsoft.com/office/drawing/2014/main" id="{F3B3594B-65A9-4ADC-AA70-E232CF3D5EFE}"/>
              </a:ext>
            </a:extLst>
          </p:cNvPr>
          <p:cNvSpPr>
            <a:spLocks noGrp="1"/>
          </p:cNvSpPr>
          <p:nvPr/>
        </p:nvSpPr>
        <p:spPr>
          <a:xfrm>
            <a:off x="876300" y="2486025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0FF21-D18F-40BD-99B0-A3ED33C16EBC}"/>
              </a:ext>
            </a:extLst>
          </p:cNvPr>
          <p:cNvSpPr>
            <a:spLocks noGrp="1"/>
          </p:cNvSpPr>
          <p:nvPr/>
        </p:nvSpPr>
        <p:spPr>
          <a:xfrm>
            <a:off x="1447800" y="250507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 solicitud llega al federation proxy server.</a:t>
            </a:r>
          </a:p>
        </p:txBody>
      </p:sp>
      <p:sp>
        <p:nvSpPr>
          <p:cNvPr id="9" name="flow-3">
            <a:extLst>
              <a:ext uri="{FF2B5EF4-FFF2-40B4-BE49-F238E27FC236}">
                <a16:creationId xmlns:a16="http://schemas.microsoft.com/office/drawing/2014/main" id="{2A4404F1-AFF7-4FA1-9493-03A3DDD201C1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323850" cy="3238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6ABBD6-E55C-438A-ABEA-61844D21E95E}"/>
              </a:ext>
            </a:extLst>
          </p:cNvPr>
          <p:cNvSpPr>
            <a:spLocks noGrp="1"/>
          </p:cNvSpPr>
          <p:nvPr/>
        </p:nvSpPr>
        <p:spPr>
          <a:xfrm>
            <a:off x="1447800" y="30099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El proxy redirige al proveedor de identidad.</a:t>
            </a:r>
          </a:p>
        </p:txBody>
      </p:sp>
      <p:sp>
        <p:nvSpPr>
          <p:cNvPr id="11" name="flow-4">
            <a:extLst>
              <a:ext uri="{FF2B5EF4-FFF2-40B4-BE49-F238E27FC236}">
                <a16:creationId xmlns:a16="http://schemas.microsoft.com/office/drawing/2014/main" id="{F9E5D2FC-498F-4B15-B40E-716AC395757A}"/>
              </a:ext>
            </a:extLst>
          </p:cNvPr>
          <p:cNvSpPr>
            <a:spLocks noGrp="1"/>
          </p:cNvSpPr>
          <p:nvPr/>
        </p:nvSpPr>
        <p:spPr>
          <a:xfrm>
            <a:off x="876300" y="3495675"/>
            <a:ext cx="323850" cy="3238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791C8C-0297-45F1-82BE-9EC66B19B206}"/>
              </a:ext>
            </a:extLst>
          </p:cNvPr>
          <p:cNvSpPr>
            <a:spLocks noGrp="1"/>
          </p:cNvSpPr>
          <p:nvPr/>
        </p:nvSpPr>
        <p:spPr>
          <a:xfrm>
            <a:off x="1447800" y="351472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AD FS o un IdP SAML/OIDC recibe la solicitud.</a:t>
            </a:r>
          </a:p>
        </p:txBody>
      </p:sp>
      <p:sp>
        <p:nvSpPr>
          <p:cNvPr id="13" name="flow-5">
            <a:extLst>
              <a:ext uri="{FF2B5EF4-FFF2-40B4-BE49-F238E27FC236}">
                <a16:creationId xmlns:a16="http://schemas.microsoft.com/office/drawing/2014/main" id="{42B61B17-21AA-4736-8AB4-37755479E1EE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323850" cy="3238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BBCFF2-5936-4C85-B9D4-623E95566B96}"/>
              </a:ext>
            </a:extLst>
          </p:cNvPr>
          <p:cNvSpPr>
            <a:spLocks noGrp="1"/>
          </p:cNvSpPr>
          <p:nvPr/>
        </p:nvSpPr>
        <p:spPr>
          <a:xfrm>
            <a:off x="1447800" y="40195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El proveedor autentica al usuario.</a:t>
            </a:r>
          </a:p>
        </p:txBody>
      </p:sp>
      <p:sp>
        <p:nvSpPr>
          <p:cNvPr id="15" name="flow-6">
            <a:extLst>
              <a:ext uri="{FF2B5EF4-FFF2-40B4-BE49-F238E27FC236}">
                <a16:creationId xmlns:a16="http://schemas.microsoft.com/office/drawing/2014/main" id="{5AA8C1BC-4DB4-44F3-B6B3-D2477592DD48}"/>
              </a:ext>
            </a:extLst>
          </p:cNvPr>
          <p:cNvSpPr>
            <a:spLocks noGrp="1"/>
          </p:cNvSpPr>
          <p:nvPr/>
        </p:nvSpPr>
        <p:spPr>
          <a:xfrm>
            <a:off x="876300" y="4505325"/>
            <a:ext cx="323850" cy="3238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B3FA03-913F-41C5-BBD1-F7A7FABF0DE8}"/>
              </a:ext>
            </a:extLst>
          </p:cNvPr>
          <p:cNvSpPr>
            <a:spLocks noGrp="1"/>
          </p:cNvSpPr>
          <p:nvPr/>
        </p:nvSpPr>
        <p:spPr>
          <a:xfrm>
            <a:off x="1447800" y="452437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El proveedor devuelve un token al proxy.</a:t>
            </a:r>
          </a:p>
        </p:txBody>
      </p:sp>
      <p:sp>
        <p:nvSpPr>
          <p:cNvPr id="17" name="flow-7">
            <a:extLst>
              <a:ext uri="{FF2B5EF4-FFF2-40B4-BE49-F238E27FC236}">
                <a16:creationId xmlns:a16="http://schemas.microsoft.com/office/drawing/2014/main" id="{B5F4A5A3-8BBC-4E83-9792-7902DE10A56E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323850" cy="32385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FE55A-F1FD-4FD0-8D4D-2BDD8C608596}"/>
              </a:ext>
            </a:extLst>
          </p:cNvPr>
          <p:cNvSpPr>
            <a:spLocks noGrp="1"/>
          </p:cNvSpPr>
          <p:nvPr/>
        </p:nvSpPr>
        <p:spPr>
          <a:xfrm>
            <a:off x="1447800" y="50292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El proxy entrega el token a Microsoft 365.</a:t>
            </a:r>
          </a:p>
        </p:txBody>
      </p:sp>
      <p:sp>
        <p:nvSpPr>
          <p:cNvPr id="19" name="flow-8">
            <a:extLst>
              <a:ext uri="{FF2B5EF4-FFF2-40B4-BE49-F238E27FC236}">
                <a16:creationId xmlns:a16="http://schemas.microsoft.com/office/drawing/2014/main" id="{8FCA221C-773F-4EDF-903B-6C627182BD64}"/>
              </a:ext>
            </a:extLst>
          </p:cNvPr>
          <p:cNvSpPr>
            <a:spLocks noGrp="1"/>
          </p:cNvSpPr>
          <p:nvPr/>
        </p:nvSpPr>
        <p:spPr>
          <a:xfrm>
            <a:off x="876300" y="5514975"/>
            <a:ext cx="323850" cy="32385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 fontScale="36428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D16E96-8F6D-4D9F-98E0-263078154D36}"/>
              </a:ext>
            </a:extLst>
          </p:cNvPr>
          <p:cNvSpPr>
            <a:spLocks noGrp="1"/>
          </p:cNvSpPr>
          <p:nvPr/>
        </p:nvSpPr>
        <p:spPr>
          <a:xfrm>
            <a:off x="1447800" y="5534025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Microsoft 365 autoriza y concede acceso.</a:t>
            </a:r>
          </a:p>
        </p:txBody>
      </p:sp>
      <p:cxnSp>
        <p:nvCxnSpPr>
          <p:cNvPr id="21" name="Straight Arrow Connector 20"/>
          <p:cNvCxnSpPr>
            <a:stCxn id="5" idx="4"/>
            <a:endCxn id="7" idx="0"/>
          </p:cNvCxnSpPr>
          <p:nvPr/>
        </p:nvCxnSpPr>
        <p:spPr>
          <a:xfrm>
            <a:off x="1038225" y="2305050"/>
            <a:ext cx="0" cy="180975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none" w="med" len="med"/>
          </a:ln>
        </p:spPr>
      </p:cxnSp>
      <p:cxnSp>
        <p:nvCxnSpPr>
          <p:cNvPr id="22" name="Straight Arrow Connector 21"/>
          <p:cNvCxnSpPr>
            <a:stCxn id="7" idx="4"/>
            <a:endCxn id="9" idx="0"/>
          </p:cNvCxnSpPr>
          <p:nvPr/>
        </p:nvCxnSpPr>
        <p:spPr>
          <a:xfrm>
            <a:off x="1038225" y="2809875"/>
            <a:ext cx="0" cy="180975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none" w="med" len="med"/>
          </a:ln>
        </p:spPr>
      </p:cxnSp>
      <p:cxnSp>
        <p:nvCxnSpPr>
          <p:cNvPr id="23" name="Straight Arrow Connector 22"/>
          <p:cNvCxnSpPr>
            <a:stCxn id="9" idx="4"/>
            <a:endCxn id="11" idx="0"/>
          </p:cNvCxnSpPr>
          <p:nvPr/>
        </p:nvCxnSpPr>
        <p:spPr>
          <a:xfrm>
            <a:off x="1038225" y="3314700"/>
            <a:ext cx="0" cy="180975"/>
          </a:xfrm>
          <a:prstGeom prst="straightConnector1">
            <a:avLst/>
          </a:prstGeom>
          <a:ln w="28575">
            <a:solidFill>
              <a:srgbClr val="2563EB"/>
            </a:solidFill>
            <a:prstDash val="solid"/>
            <a:tailEnd type="none" w="med" len="med"/>
          </a:ln>
        </p:spPr>
      </p:cxnSp>
      <p:cxnSp>
        <p:nvCxnSpPr>
          <p:cNvPr id="24" name="Straight Arrow Connector 23"/>
          <p:cNvCxnSpPr>
            <a:stCxn id="11" idx="4"/>
            <a:endCxn id="13" idx="0"/>
          </p:cNvCxnSpPr>
          <p:nvPr/>
        </p:nvCxnSpPr>
        <p:spPr>
          <a:xfrm>
            <a:off x="1038225" y="3819525"/>
            <a:ext cx="0" cy="180975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none" w="med" len="med"/>
          </a:ln>
        </p:spPr>
      </p:cxnSp>
      <p:cxnSp>
        <p:nvCxnSpPr>
          <p:cNvPr id="25" name="Straight Arrow Connector 24"/>
          <p:cNvCxnSpPr>
            <a:stCxn id="13" idx="4"/>
            <a:endCxn id="15" idx="0"/>
          </p:cNvCxnSpPr>
          <p:nvPr/>
        </p:nvCxnSpPr>
        <p:spPr>
          <a:xfrm>
            <a:off x="1038225" y="4324350"/>
            <a:ext cx="0" cy="180975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none" w="med" len="med"/>
          </a:ln>
        </p:spPr>
      </p:cxnSp>
      <p:cxnSp>
        <p:nvCxnSpPr>
          <p:cNvPr id="26" name="Straight Arrow Connector 25"/>
          <p:cNvCxnSpPr>
            <a:stCxn id="15" idx="4"/>
            <a:endCxn id="17" idx="0"/>
          </p:cNvCxnSpPr>
          <p:nvPr/>
        </p:nvCxnSpPr>
        <p:spPr>
          <a:xfrm>
            <a:off x="1038225" y="4829175"/>
            <a:ext cx="0" cy="180975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none" w="med" len="med"/>
          </a:ln>
        </p:spPr>
      </p:cxnSp>
      <p:cxnSp>
        <p:nvCxnSpPr>
          <p:cNvPr id="27" name="Straight Arrow Connector 26"/>
          <p:cNvCxnSpPr>
            <a:stCxn id="17" idx="4"/>
            <a:endCxn id="19" idx="0"/>
          </p:cNvCxnSpPr>
          <p:nvPr/>
        </p:nvCxnSpPr>
        <p:spPr>
          <a:xfrm>
            <a:off x="1038225" y="5334000"/>
            <a:ext cx="0" cy="180975"/>
          </a:xfrm>
          <a:prstGeom prst="straightConnector1">
            <a:avLst/>
          </a:prstGeom>
          <a:ln w="28575">
            <a:solidFill>
              <a:srgbClr val="10B981"/>
            </a:solidFill>
            <a:prstDash val="solid"/>
            <a:tailEnd type="none" w="med" len="med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85FB3B6-D5D7-43C1-B0E5-CC3F4CE9829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CE7E82-887A-4904-A5DF-FF6F89490E4C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70591A-1780-4B2A-918D-9FF897D7431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13456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7D0A1E8-6543-4A07-9AA7-F1EFBB83B0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9BC4D-F87E-4E1C-BB1B-37257BD95F10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EVOLUCIÓN DE LA FEDERACIÓN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8580299-ECE9-44AF-B469-EACAD4526A8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778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WAP sustituyó al proxy y amplió la publicación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39F60-5784-44E3-AB90-F2DE5BEF873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585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Desde Windows Server 2012 R2, Web Application Proxy asume el rol de proxy de AD FS.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AE97E-4F31-44B3-B613-119B530ED0EB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3E8E1-3F81-47A5-9771-E5630F1E307F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3714750" cy="1085850"/>
          </a:xfrm>
          <a:prstGeom prst="rect">
            <a:avLst/>
          </a:prstGeom>
          <a:solidFill>
            <a:srgbClr val="FFF0EC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Federation server proxy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EA686-1C69-4CE1-B707-958287615A85}"/>
              </a:ext>
            </a:extLst>
          </p:cNvPr>
          <p:cNvSpPr>
            <a:spLocks noGrp="1"/>
          </p:cNvSpPr>
          <p:nvPr/>
        </p:nvSpPr>
        <p:spPr>
          <a:xfrm>
            <a:off x="5410200" y="19621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DESPUÉS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C50C77-290B-4676-84EA-7C90E0D21573}"/>
              </a:ext>
            </a:extLst>
          </p:cNvPr>
          <p:cNvSpPr>
            <a:spLocks noGrp="1"/>
          </p:cNvSpPr>
          <p:nvPr/>
        </p:nvSpPr>
        <p:spPr>
          <a:xfrm>
            <a:off x="5410200" y="2305050"/>
            <a:ext cx="6096000" cy="1085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Web Application Proxy (WAP)</a:t>
            </a:r>
          </a:p>
        </p:txBody>
      </p:sp>
      <p:cxnSp>
        <p:nvCxnSpPr>
          <p:cNvPr id="9" name="Straight Arrow Connector 8"/>
          <p:cNvCxnSpPr>
            <a:stCxn id="6" idx="3"/>
            <a:endCxn id="8" idx="1"/>
          </p:cNvCxnSpPr>
          <p:nvPr/>
        </p:nvCxnSpPr>
        <p:spPr>
          <a:xfrm>
            <a:off x="4400550" y="2847975"/>
            <a:ext cx="1009650" cy="0"/>
          </a:xfrm>
          <a:prstGeom prst="straightConnector1">
            <a:avLst/>
          </a:prstGeom>
          <a:ln w="28575">
            <a:solidFill>
              <a:srgbClr val="06B6D4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ED5313-06CF-4980-A77B-1FDEDC55665E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49530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5D4635-35EB-4E06-852A-9258E84FC949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970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Protocolos modernos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28603C-12D8-4286-B84A-8B2492E63B98}"/>
              </a:ext>
            </a:extLst>
          </p:cNvPr>
          <p:cNvSpPr>
            <a:spLocks noGrp="1"/>
          </p:cNvSpPr>
          <p:nvPr/>
        </p:nvSpPr>
        <p:spPr>
          <a:xfrm>
            <a:off x="2781300" y="42100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OAuth · OpenID Connect · SAML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78A80-7CC7-4BFB-BE82-9BB9ED06D742}"/>
              </a:ext>
            </a:extLst>
          </p:cNvPr>
          <p:cNvSpPr>
            <a:spLocks noGrp="1"/>
          </p:cNvSpPr>
          <p:nvPr/>
        </p:nvSpPr>
        <p:spPr>
          <a:xfrm>
            <a:off x="6096000" y="4038600"/>
            <a:ext cx="4953000" cy="2857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76A9A-6885-448B-A965-CF73AA86C0F2}"/>
              </a:ext>
            </a:extLst>
          </p:cNvPr>
          <p:cNvSpPr>
            <a:spLocks noGrp="1"/>
          </p:cNvSpPr>
          <p:nvPr/>
        </p:nvSpPr>
        <p:spPr>
          <a:xfrm>
            <a:off x="6096000" y="42100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89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Publicación flexible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A089E4-75DB-4CAA-A5EB-F64E0CE87D1D}"/>
              </a:ext>
            </a:extLst>
          </p:cNvPr>
          <p:cNvSpPr>
            <a:spLocks noGrp="1"/>
          </p:cNvSpPr>
          <p:nvPr/>
        </p:nvSpPr>
        <p:spPr>
          <a:xfrm>
            <a:off x="8191500" y="42100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Preautenticación o </a:t>
            </a:r>
            <a:r>
              <a:rPr lang="en-US"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paso directo (</a:t>
            </a: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pass-through</a:t>
            </a:r>
            <a:r>
              <a:rPr lang="en-US"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)</a:t>
            </a:r>
            <a:endParaRPr sz="1350" b="0">
              <a:solidFill>
                <a:srgbClr val="63708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C4E030-6644-4BD9-823E-1EEA0485130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49530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112BD-C6A7-4D7C-AE95-20AC7F0EBFAA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Reverse proxy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FFD41D-7C40-48D2-BE84-87D973E2E866}"/>
              </a:ext>
            </a:extLst>
          </p:cNvPr>
          <p:cNvSpPr>
            <a:spLocks noGrp="1"/>
          </p:cNvSpPr>
          <p:nvPr/>
        </p:nvSpPr>
        <p:spPr>
          <a:xfrm>
            <a:off x="2781300" y="50863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Aplicaciones web internas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A84F6D-1BF5-4A69-8BC0-814C4F2CC099}"/>
              </a:ext>
            </a:extLst>
          </p:cNvPr>
          <p:cNvSpPr>
            <a:spLocks noGrp="1"/>
          </p:cNvSpPr>
          <p:nvPr/>
        </p:nvSpPr>
        <p:spPr>
          <a:xfrm>
            <a:off x="6096000" y="4914900"/>
            <a:ext cx="4953000" cy="2857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E59E39-3B01-44EB-B40C-79320445D15A}"/>
              </a:ext>
            </a:extLst>
          </p:cNvPr>
          <p:cNvSpPr>
            <a:spLocks noGrp="1"/>
          </p:cNvSpPr>
          <p:nvPr/>
        </p:nvSpPr>
        <p:spPr>
          <a:xfrm>
            <a:off x="6096000" y="5086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Escalabilidad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8F4B0-7D67-4073-A04C-59D031DB6C37}"/>
              </a:ext>
            </a:extLst>
          </p:cNvPr>
          <p:cNvSpPr>
            <a:spLocks noGrp="1"/>
          </p:cNvSpPr>
          <p:nvPr/>
        </p:nvSpPr>
        <p:spPr>
          <a:xfrm>
            <a:off x="8191500" y="50863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Acceso externo, rendimiento y failover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2E7EFC-C3CD-4378-B3DE-5A0B51CA1ED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70A39-4F72-4689-939E-A37C302BB545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5AE2CE-BD59-42E0-BF7C-62FA7D00F2A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0670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0A5CB76-ED19-41CA-8D97-75312C2C8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39438-EC34-4894-978D-8245BB185951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PROVEEDORES DE IDENTIDAD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959FCCDD-8459-4DC4-85A4-361D67AF4DE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Microsoft 365 admite IdP externos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569AD-56BE-44BC-B543-0FE1BDF42F7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Microsoft 365 puede confiar en AD FS local o en un IdP compatible.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D9F01-3DC9-4A61-B41B-84FC72595B57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EJEMPLOS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218A45-C710-4D9B-A105-3FCF0482EBB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431DC6-EFCD-4BAA-9DD6-2F59E6CD7126}"/>
              </a:ext>
            </a:extLst>
          </p:cNvPr>
          <p:cNvSpPr>
            <a:spLocks noGrp="1"/>
          </p:cNvSpPr>
          <p:nvPr/>
        </p:nvSpPr>
        <p:spPr>
          <a:xfrm>
            <a:off x="1390650" y="2419350"/>
            <a:ext cx="28575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DF48B0-ECA7-434E-97D4-8116B058A061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Microsoft Entra ID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F32A5-D065-4233-AE62-013413DB523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3570D-563D-44E6-82FB-145F5EE2BA4A}"/>
              </a:ext>
            </a:extLst>
          </p:cNvPr>
          <p:cNvSpPr>
            <a:spLocks noGrp="1"/>
          </p:cNvSpPr>
          <p:nvPr/>
        </p:nvSpPr>
        <p:spPr>
          <a:xfrm>
            <a:off x="1390650" y="3086100"/>
            <a:ext cx="28575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5CF9B8-77B1-46E1-924E-01474BD014C5}"/>
              </a:ext>
            </a:extLst>
          </p:cNvPr>
          <p:cNvSpPr>
            <a:spLocks noGrp="1"/>
          </p:cNvSpPr>
          <p:nvPr/>
        </p:nvSpPr>
        <p:spPr>
          <a:xfrm>
            <a:off x="1619250" y="30480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PingFederate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A7C511-7490-49BE-9709-7F3E0B3F405D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C249C-3084-4DCA-9ABB-EAA114D8D40B}"/>
              </a:ext>
            </a:extLst>
          </p:cNvPr>
          <p:cNvSpPr>
            <a:spLocks noGrp="1"/>
          </p:cNvSpPr>
          <p:nvPr/>
        </p:nvSpPr>
        <p:spPr>
          <a:xfrm>
            <a:off x="1390650" y="3752850"/>
            <a:ext cx="28575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69FB2-6C8A-4D34-998E-D5C39F6DB1F2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Okta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ABAB23-C9E1-4789-B5E8-6D89FA5A6DE5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F6C755-5F32-4258-92B1-E18529E60427}"/>
              </a:ext>
            </a:extLst>
          </p:cNvPr>
          <p:cNvSpPr>
            <a:spLocks noGrp="1"/>
          </p:cNvSpPr>
          <p:nvPr/>
        </p:nvSpPr>
        <p:spPr>
          <a:xfrm>
            <a:off x="1390650" y="4419600"/>
            <a:ext cx="28575" cy="304800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A563A9-F349-4CB2-98C1-907FE0485126}"/>
              </a:ext>
            </a:extLst>
          </p:cNvPr>
          <p:cNvSpPr>
            <a:spLocks noGrp="1"/>
          </p:cNvSpPr>
          <p:nvPr/>
        </p:nvSpPr>
        <p:spPr>
          <a:xfrm>
            <a:off x="1619250" y="43815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8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Otros IdP SAML / WS-Federation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0B1A3A-9A91-4998-9F01-5FD5CCED116B}"/>
              </a:ext>
            </a:extLst>
          </p:cNvPr>
          <p:cNvSpPr>
            <a:spLocks noGrp="1"/>
          </p:cNvSpPr>
          <p:nvPr/>
        </p:nvSpPr>
        <p:spPr>
          <a:xfrm>
            <a:off x="6096000" y="1943100"/>
            <a:ext cx="19050" cy="346710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169C20-AB2B-4258-9457-931604159118}"/>
              </a:ext>
            </a:extLst>
          </p:cNvPr>
          <p:cNvSpPr>
            <a:spLocks noGrp="1"/>
          </p:cNvSpPr>
          <p:nvPr/>
        </p:nvSpPr>
        <p:spPr>
          <a:xfrm>
            <a:off x="6705600" y="19812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RESPONSABILIDAD COMÚN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2C4D1C-4562-40CE-A9F5-21D603286C06}"/>
              </a:ext>
            </a:extLst>
          </p:cNvPr>
          <p:cNvSpPr>
            <a:spLocks noGrp="1"/>
          </p:cNvSpPr>
          <p:nvPr/>
        </p:nvSpPr>
        <p:spPr>
          <a:xfrm>
            <a:off x="6705600" y="2438400"/>
            <a:ext cx="85725" cy="8572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33161C-BEBC-4730-B6A3-7BA5BF0866BC}"/>
              </a:ext>
            </a:extLst>
          </p:cNvPr>
          <p:cNvSpPr>
            <a:spLocks noGrp="1"/>
          </p:cNvSpPr>
          <p:nvPr/>
        </p:nvSpPr>
        <p:spPr>
          <a:xfrm>
            <a:off x="6934200" y="2400300"/>
            <a:ext cx="405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Sincronizar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06D394-E06C-4C12-8636-6979EFD7AFA3}"/>
              </a:ext>
            </a:extLst>
          </p:cNvPr>
          <p:cNvSpPr>
            <a:spLocks noGrp="1"/>
          </p:cNvSpPr>
          <p:nvPr/>
        </p:nvSpPr>
        <p:spPr>
          <a:xfrm>
            <a:off x="6934200" y="2695575"/>
            <a:ext cx="4057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Objetos del directorio local con Microsoft 365.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3CFFCE-EC38-48AB-89B1-F438FC188718}"/>
              </a:ext>
            </a:extLst>
          </p:cNvPr>
          <p:cNvSpPr>
            <a:spLocks noGrp="1"/>
          </p:cNvSpPr>
          <p:nvPr/>
        </p:nvSpPr>
        <p:spPr>
          <a:xfrm>
            <a:off x="6705600" y="3448050"/>
            <a:ext cx="85725" cy="8572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240ED8-4F06-45BB-8C6A-6728C0B7A3A9}"/>
              </a:ext>
            </a:extLst>
          </p:cNvPr>
          <p:cNvSpPr>
            <a:spLocks noGrp="1"/>
          </p:cNvSpPr>
          <p:nvPr/>
        </p:nvSpPr>
        <p:spPr>
          <a:xfrm>
            <a:off x="6934200" y="3409950"/>
            <a:ext cx="405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Autenticar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90208F-5ADE-4578-8368-189EE2254069}"/>
              </a:ext>
            </a:extLst>
          </p:cNvPr>
          <p:cNvSpPr>
            <a:spLocks noGrp="1"/>
          </p:cNvSpPr>
          <p:nvPr/>
        </p:nvSpPr>
        <p:spPr>
          <a:xfrm>
            <a:off x="6934200" y="3705225"/>
            <a:ext cx="4057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Validar al usuario mediante el sistema confiable.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21C911-4529-4AE4-B8ED-E3842AABFD7B}"/>
              </a:ext>
            </a:extLst>
          </p:cNvPr>
          <p:cNvSpPr>
            <a:spLocks noGrp="1"/>
          </p:cNvSpPr>
          <p:nvPr/>
        </p:nvSpPr>
        <p:spPr>
          <a:xfrm>
            <a:off x="6705600" y="4457700"/>
            <a:ext cx="85725" cy="85725"/>
          </a:xfrm>
          <a:prstGeom prst="rect">
            <a:avLst/>
          </a:prstGeom>
          <a:solidFill>
            <a:srgbClr val="06B6D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3EBC88-FAC4-4541-8C0A-81BDF826B882}"/>
              </a:ext>
            </a:extLst>
          </p:cNvPr>
          <p:cNvSpPr>
            <a:spLocks noGrp="1"/>
          </p:cNvSpPr>
          <p:nvPr/>
        </p:nvSpPr>
        <p:spPr>
          <a:xfrm>
            <a:off x="6934200" y="4419600"/>
            <a:ext cx="4057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Autorizar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CD4186-D34C-4803-A570-D53082FF18AD}"/>
              </a:ext>
            </a:extLst>
          </p:cNvPr>
          <p:cNvSpPr>
            <a:spLocks noGrp="1"/>
          </p:cNvSpPr>
          <p:nvPr/>
        </p:nvSpPr>
        <p:spPr>
          <a:xfrm>
            <a:off x="6934200" y="4714875"/>
            <a:ext cx="4057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Entregar un token que Microsoft 365 pueda usar.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304D88-DD26-40D8-A5EC-3FEE87D08A2D}"/>
              </a:ext>
            </a:extLst>
          </p:cNvPr>
          <p:cNvSpPr>
            <a:spLocks noGrp="1"/>
          </p:cNvSpPr>
          <p:nvPr/>
        </p:nvSpPr>
        <p:spPr>
          <a:xfrm>
            <a:off x="6705600" y="554355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531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interoperabilidad depende de protocolos y confianza, no del nombre del proveedor.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9F23F7-768F-46BA-9828-F216F23E92BA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C1F009-B2D6-45F4-975E-99F2E6E6B93C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C2D557-E70E-4A3F-98C9-6DFF7D3937B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5992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D901D53-7091-4745-91A2-ECBF3E1A98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A1C3BB-73D8-4C72-B794-295AC6FEF49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ADMINISTRACIÓN HÍBRIDA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C33BB89-FED8-4D5D-912D-0A1B911DB1A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038"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 híbrido, administre donde vive la autoridad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5C08E-2AA8-4B18-8AE9-8255B54A6E2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HACER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C1ACE-8BBE-4B9E-A771-502F3716A952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EVITAR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964665-645A-4B64-9A31-330EDD5CFAB0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572000" cy="381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50483-465F-430D-8678-D8D0A8A85AF8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5029200" cy="38100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AA852-97D6-4FA2-AE3F-66D516E08F03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85725" cy="85725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2B95F7-55EC-4263-B0CB-72B83134BB2B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Crear y modificar cuentas en AD 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FA2C2-71F6-4B37-A292-CB91E292BA60}"/>
              </a:ext>
            </a:extLst>
          </p:cNvPr>
          <p:cNvSpPr>
            <a:spLocks noGrp="1"/>
          </p:cNvSpPr>
          <p:nvPr/>
        </p:nvSpPr>
        <p:spPr>
          <a:xfrm>
            <a:off x="914400" y="261937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 fuente autoritativa debe conservar la coherencia.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08B48C-9C94-4C3D-AEC3-97E7146ABB35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85725" cy="85725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A72FAF-C951-4F88-9702-D7C1C57BB61C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Esperar la sincronización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677F93-C4CE-43D3-A2BC-D7E867B0940F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Los cambios fluyen hacia Microsoft Entra ID.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D7EFF-0267-407E-A146-C8F4E92E9C1D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85725" cy="85725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E01A45-76A2-4AD6-AB7F-2E23250BEA41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Asignar ubicación y licencia en cloud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C7A610-AC7A-4602-BA1E-BBAF07D671AC}"/>
              </a:ext>
            </a:extLst>
          </p:cNvPr>
          <p:cNvSpPr>
            <a:spLocks noGrp="1"/>
          </p:cNvSpPr>
          <p:nvPr/>
        </p:nvSpPr>
        <p:spPr>
          <a:xfrm>
            <a:off x="914400" y="475297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Son pasos posteriores al alta sincronizada.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23EB59-FCFF-4BA2-9049-550D3070039A}"/>
              </a:ext>
            </a:extLst>
          </p:cNvPr>
          <p:cNvSpPr>
            <a:spLocks noGrp="1"/>
          </p:cNvSpPr>
          <p:nvPr/>
        </p:nvSpPr>
        <p:spPr>
          <a:xfrm>
            <a:off x="6477000" y="236220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E21971-B2D8-4F65-944B-56473945FFAF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11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Editar la cuenta sincronizada como cloud-only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3CF489-F48C-45DC-98F8-4C42222810A4}"/>
              </a:ext>
            </a:extLst>
          </p:cNvPr>
          <p:cNvSpPr>
            <a:spLocks noGrp="1"/>
          </p:cNvSpPr>
          <p:nvPr/>
        </p:nvSpPr>
        <p:spPr>
          <a:xfrm>
            <a:off x="6705600" y="261937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El admin center o PowerShell no sustituyen AD DS.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F69C18-441B-4298-8A93-750FDF5C5748}"/>
              </a:ext>
            </a:extLst>
          </p:cNvPr>
          <p:cNvSpPr>
            <a:spLocks noGrp="1"/>
          </p:cNvSpPr>
          <p:nvPr/>
        </p:nvSpPr>
        <p:spPr>
          <a:xfrm>
            <a:off x="6477000" y="342900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6BB1AB-B967-4320-94BD-9AC70174F330}"/>
              </a:ext>
            </a:extLst>
          </p:cNvPr>
          <p:cNvSpPr>
            <a:spLocks noGrp="1"/>
          </p:cNvSpPr>
          <p:nvPr/>
        </p:nvSpPr>
        <p:spPr>
          <a:xfrm>
            <a:off x="6705600" y="33909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Romper la autoridad de atributos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738503-D760-4F60-9488-85E2ADC61C50}"/>
              </a:ext>
            </a:extLst>
          </p:cNvPr>
          <p:cNvSpPr>
            <a:spLocks noGrp="1"/>
          </p:cNvSpPr>
          <p:nvPr/>
        </p:nvSpPr>
        <p:spPr>
          <a:xfrm>
            <a:off x="6705600" y="368617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Evite cambios paralelos en dos directorios.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4D002A-65EB-48D7-AD48-9A30617A0E70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85725" cy="85725"/>
          </a:xfrm>
          <a:prstGeom prst="rect">
            <a:avLst/>
          </a:prstGeom>
          <a:solidFill>
            <a:srgbClr val="F9736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C8BA70-6205-4F75-B2F0-272CF98A7826}"/>
              </a:ext>
            </a:extLst>
          </p:cNvPr>
          <p:cNvSpPr>
            <a:spLocks noGrp="1"/>
          </p:cNvSpPr>
          <p:nvPr/>
        </p:nvSpPr>
        <p:spPr>
          <a:xfrm>
            <a:off x="6705600" y="44577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04"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Confundir sincronización con acceso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6D8DD9-F4C1-4DAA-9A06-272A703AF715}"/>
              </a:ext>
            </a:extLst>
          </p:cNvPr>
          <p:cNvSpPr>
            <a:spLocks noGrp="1"/>
          </p:cNvSpPr>
          <p:nvPr/>
        </p:nvSpPr>
        <p:spPr>
          <a:xfrm>
            <a:off x="6705600" y="4752975"/>
            <a:ext cx="453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Una copia de identidad no implica licencia.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7E825E-47F1-4C16-8699-A675FA70C214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514350"/>
          </a:xfrm>
          <a:prstGeom prst="rect">
            <a:avLst/>
          </a:prstGeom>
          <a:solidFill>
            <a:srgbClr val="101A3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AB7914-95FA-494C-86E0-F7A1DECBAABF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1043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57"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Regla: la identidad se administra en AD DS; el consumo cloud se habilita en Microsoft 365.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96DBB4-6E25-4DF6-86E2-49B0E88D80A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43CC4E-2C9E-4C1F-89A7-E49FC9EEBD4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908FEA-BD01-4737-9752-1E58A35D434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67937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18F3459-15A8-4732-9520-40D2833FA3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78DE0-C75E-4F67-81E2-6C1C1E0C0E1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913BDC9-E6EE-48EB-9C7B-1EDFF2F6F8B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Decida en tres preguntas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60451-0332-491F-8F53-E25FAAF0F34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98"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Empiece por la autoridad, continúe por la complejidad y termine por la validación.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CF0D8F-FA28-4560-8121-D0CB39617AA0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66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1BC28-D6C6-4225-979B-31F0327522BE}"/>
              </a:ext>
            </a:extLst>
          </p:cNvPr>
          <p:cNvSpPr>
            <a:spLocks noGrp="1"/>
          </p:cNvSpPr>
          <p:nvPr/>
        </p:nvSpPr>
        <p:spPr>
          <a:xfrm>
            <a:off x="1466850" y="2095500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67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¿Existe y debe seguir existiendo AD DS local?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6D3FA-D913-4877-8770-951CECF681AE}"/>
              </a:ext>
            </a:extLst>
          </p:cNvPr>
          <p:cNvSpPr>
            <a:spLocks noGrp="1"/>
          </p:cNvSpPr>
          <p:nvPr/>
        </p:nvSpPr>
        <p:spPr>
          <a:xfrm>
            <a:off x="7658100" y="20955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NO → Cloud-only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41747-8F59-434B-AE38-135DAF29148F}"/>
              </a:ext>
            </a:extLst>
          </p:cNvPr>
          <p:cNvSpPr>
            <a:spLocks noGrp="1"/>
          </p:cNvSpPr>
          <p:nvPr/>
        </p:nvSpPr>
        <p:spPr>
          <a:xfrm>
            <a:off x="7658100" y="25050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SÍ → Identidad híbrida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7BAF2-B262-4290-BAD7-B7D9B8DAD252}"/>
              </a:ext>
            </a:extLst>
          </p:cNvPr>
          <p:cNvSpPr>
            <a:spLocks noGrp="1"/>
          </p:cNvSpPr>
          <p:nvPr/>
        </p:nvSpPr>
        <p:spPr>
          <a:xfrm>
            <a:off x="1466850" y="3009900"/>
            <a:ext cx="98107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6B6AC-F775-4704-9855-BDEC3C4D8EF5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66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4EE52-3942-4D69-9171-35A767AA2FA7}"/>
              </a:ext>
            </a:extLst>
          </p:cNvPr>
          <p:cNvSpPr>
            <a:spLocks noGrp="1"/>
          </p:cNvSpPr>
          <p:nvPr/>
        </p:nvSpPr>
        <p:spPr>
          <a:xfrm>
            <a:off x="1466850" y="3314700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160"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¿El entorno requiere integraciones y escala complejas?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0D8C47-9BC9-48FF-8F18-0597778D1D03}"/>
              </a:ext>
            </a:extLst>
          </p:cNvPr>
          <p:cNvSpPr>
            <a:spLocks noGrp="1"/>
          </p:cNvSpPr>
          <p:nvPr/>
        </p:nvSpPr>
        <p:spPr>
          <a:xfrm>
            <a:off x="7658100" y="33147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NO → Cloud Sync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4BD652-BDB3-401A-B670-C7A193E7D2DA}"/>
              </a:ext>
            </a:extLst>
          </p:cNvPr>
          <p:cNvSpPr>
            <a:spLocks noGrp="1"/>
          </p:cNvSpPr>
          <p:nvPr/>
        </p:nvSpPr>
        <p:spPr>
          <a:xfrm>
            <a:off x="7658100" y="37242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SÍ → Connect Sync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8F7C2B-5B30-4D0C-B8EF-C05E9BE6EB4E}"/>
              </a:ext>
            </a:extLst>
          </p:cNvPr>
          <p:cNvSpPr>
            <a:spLocks noGrp="1"/>
          </p:cNvSpPr>
          <p:nvPr/>
        </p:nvSpPr>
        <p:spPr>
          <a:xfrm>
            <a:off x="1466850" y="4229100"/>
            <a:ext cx="98107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E6E56F-A8E3-4B45-BC44-AF2276252776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66"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9736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4DFE45-BE00-462B-AF8F-675DEFC013BE}"/>
              </a:ext>
            </a:extLst>
          </p:cNvPr>
          <p:cNvSpPr>
            <a:spLocks noGrp="1"/>
          </p:cNvSpPr>
          <p:nvPr/>
        </p:nvSpPr>
        <p:spPr>
          <a:xfrm>
            <a:off x="1466850" y="4533900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¿Quién debe validar la autenticación?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987B8A-F699-44C6-9D5D-9D999E18E9AD}"/>
              </a:ext>
            </a:extLst>
          </p:cNvPr>
          <p:cNvSpPr>
            <a:spLocks noGrp="1"/>
          </p:cNvSpPr>
          <p:nvPr/>
        </p:nvSpPr>
        <p:spPr>
          <a:xfrm>
            <a:off x="7658100" y="4533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973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Entra ID → PHS </a:t>
            </a:r>
            <a:r>
              <a:rPr lang="en-US" sz="150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o</a:t>
            </a:r>
            <a:r>
              <a:rPr sz="1500" b="1">
                <a:solidFill>
                  <a:srgbClr val="F97360"/>
                </a:solidFill>
                <a:latin typeface="Aptos"/>
                <a:ea typeface="Aptos"/>
                <a:cs typeface="Aptos"/>
              </a:rPr>
              <a:t> PTA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60BDB7-47C9-4C98-8317-7D2382C4B867}"/>
              </a:ext>
            </a:extLst>
          </p:cNvPr>
          <p:cNvSpPr>
            <a:spLocks noGrp="1"/>
          </p:cNvSpPr>
          <p:nvPr/>
        </p:nvSpPr>
        <p:spPr>
          <a:xfrm>
            <a:off x="7658100" y="49434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IdP confiable → Federación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79C22C-2C8E-4929-9C18-06D51E7F6DF9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38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55DE73-75C7-46BA-829D-D83D16EB8226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Principio final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411D3-9FF6-4DFE-97D5-D29CFAAF95E9}"/>
              </a:ext>
            </a:extLst>
          </p:cNvPr>
          <p:cNvSpPr>
            <a:spLocks noGrp="1"/>
          </p:cNvSpPr>
          <p:nvPr/>
        </p:nvSpPr>
        <p:spPr>
          <a:xfrm>
            <a:off x="2781300" y="5962650"/>
            <a:ext cx="849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727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Minimice infraestructura sin renunciar a los controles que el negocio necesita.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D1F1E7-581B-4FCC-B3E4-E1069DB8A2B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B03A73-6961-4F7F-89F9-697384B41AD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FORMACIÓN TÉCNICA · MICROSOFT 365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7E1516-ACE1-4302-B766-3EE9F552E3D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</a:t>
            </a:r>
            <a:endParaRPr sz="10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77839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2012-07-30T22:48:03Z</dcterms:created>
  <dcterms:modified xsi:type="dcterms:W3CDTF">2026-08-26T17:34:51Z</dcterms:modified>
</cp:coreProperties>
</file>
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8-26T21:27:01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48ADD-CEE5-4110-B0F3-DB4247F3AFD9}" type="datetimeFigureOut"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C23E98-A0EF-45DA-9E4D-AB8C6CC3B6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4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D9127AC-AD5D-44FA-BB8C-0D5ED6D0C4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67308A-1F83-4324-B8ED-8B361BBFD571}"/>
              </a:ext>
            </a:extLst>
          </p:cNvPr>
          <p:cNvSpPr>
            <a:spLocks noGrp="1"/>
          </p:cNvSpPr>
          <p:nvPr/>
        </p:nvSpPr>
        <p:spPr>
          <a:xfrm>
            <a:off x="704850" y="6667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FORMACIÓN TÉCNICA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534D94-B09E-4F23-BDD4-62B06FEBC041}"/>
              </a:ext>
            </a:extLst>
          </p:cNvPr>
          <p:cNvSpPr>
            <a:spLocks noGrp="1"/>
          </p:cNvSpPr>
          <p:nvPr/>
        </p:nvSpPr>
        <p:spPr>
          <a:xfrm>
            <a:off x="704850" y="1162050"/>
            <a:ext cx="6191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2465"/>
          </a:bodyPr>
          <a:lstStyle/>
          <a:p>
            <a:pPr algn="l">
              <a:defRPr sz="4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Vectores de amenaza</a:t>
            </a:r>
          </a:p>
          <a:p>
            <a:pPr algn="l">
              <a:defRPr sz="4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y filtraciones de datos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4C765-E6BD-4F2A-89BB-B7306A895A4B}"/>
              </a:ext>
            </a:extLst>
          </p:cNvPr>
          <p:cNvSpPr>
            <a:spLocks noGrp="1"/>
          </p:cNvSpPr>
          <p:nvPr/>
        </p:nvSpPr>
        <p:spPr>
          <a:xfrm>
            <a:off x="723900" y="3162300"/>
            <a:ext cx="5524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Cómo proteger identidades, correo, dispositivos y datos en Microsoft 365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26E0A6-56F6-4CA0-B5A6-2CE8BF318986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1238250" cy="76200"/>
          </a:xfrm>
          <a:prstGeom prst="rect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CF72F8-B414-4CB3-93D8-178F11BCBB5F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466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PREVENIR  ·  DETECTAR  ·  RESPONDER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7CCAB3-A7FE-4807-AB89-D6D812E5B6A0}"/>
              </a:ext>
            </a:extLst>
          </p:cNvPr>
          <p:cNvSpPr>
            <a:spLocks noGrp="1"/>
          </p:cNvSpPr>
          <p:nvPr/>
        </p:nvSpPr>
        <p:spPr>
          <a:xfrm>
            <a:off x="7562850" y="1590675"/>
            <a:ext cx="3200400" cy="3200400"/>
          </a:xfrm>
          <a:prstGeom prst="ellipse">
            <a:avLst/>
          </a:prstGeom>
          <a:noFill/>
          <a:ln w="11430">
            <a:solidFill>
              <a:srgbClr val="145DA0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724EF7-CCF0-44AF-AB3D-C577FC297112}"/>
              </a:ext>
            </a:extLst>
          </p:cNvPr>
          <p:cNvSpPr>
            <a:spLocks noGrp="1"/>
          </p:cNvSpPr>
          <p:nvPr/>
        </p:nvSpPr>
        <p:spPr>
          <a:xfrm>
            <a:off x="8058150" y="2085975"/>
            <a:ext cx="2209800" cy="2209800"/>
          </a:xfrm>
          <a:prstGeom prst="ellipse">
            <a:avLst/>
          </a:prstGeom>
          <a:noFill/>
          <a:ln w="11430">
            <a:solidFill>
              <a:srgbClr val="B9CEDD"/>
            </a:solidFill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4C07603-9EE7-4960-B529-56D7EF9519A6}"/>
              </a:ext>
            </a:extLst>
          </p:cNvPr>
          <p:cNvSpPr>
            <a:spLocks noGrp="1"/>
          </p:cNvSpPr>
          <p:nvPr/>
        </p:nvSpPr>
        <p:spPr>
          <a:xfrm>
            <a:off x="8572500" y="2600325"/>
            <a:ext cx="1181100" cy="1181100"/>
          </a:xfrm>
          <a:prstGeom prst="ellipse">
            <a:avLst/>
          </a:prstGeom>
          <a:solidFill>
            <a:srgbClr val="D9EAF6"/>
          </a:solidFill>
          <a:ln w="11430">
            <a:solidFill>
              <a:srgbClr val="145DA0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3502DD-2230-4B29-8D0A-C9AC675C788D}"/>
              </a:ext>
            </a:extLst>
          </p:cNvPr>
          <p:cNvSpPr>
            <a:spLocks noGrp="1"/>
          </p:cNvSpPr>
          <p:nvPr/>
        </p:nvSpPr>
        <p:spPr>
          <a:xfrm>
            <a:off x="9020175" y="3048000"/>
            <a:ext cx="285750" cy="28575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8CE75F-CF65-4760-91B2-F25D06CB4C46}"/>
              </a:ext>
            </a:extLst>
          </p:cNvPr>
          <p:cNvSpPr>
            <a:spLocks noGrp="1"/>
          </p:cNvSpPr>
          <p:nvPr/>
        </p:nvSpPr>
        <p:spPr>
          <a:xfrm>
            <a:off x="7658100" y="1485900"/>
            <a:ext cx="247650" cy="247650"/>
          </a:xfrm>
          <a:prstGeom prst="ellipse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1D82A30-9F84-46B3-B9E5-87E98DBFCDC9}"/>
              </a:ext>
            </a:extLst>
          </p:cNvPr>
          <p:cNvSpPr>
            <a:spLocks noGrp="1"/>
          </p:cNvSpPr>
          <p:nvPr/>
        </p:nvSpPr>
        <p:spPr>
          <a:xfrm>
            <a:off x="7781925" y="1609725"/>
            <a:ext cx="1381125" cy="1581150"/>
          </a:xfrm>
          <a:prstGeom prst="line">
            <a:avLst/>
          </a:prstGeom>
          <a:noFill/>
          <a:ln w="19050">
            <a:solidFill>
              <a:srgbClr val="B9CEDD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457FD7-4DD5-4044-A016-55679897B466}"/>
              </a:ext>
            </a:extLst>
          </p:cNvPr>
          <p:cNvSpPr>
            <a:spLocks noGrp="1"/>
          </p:cNvSpPr>
          <p:nvPr/>
        </p:nvSpPr>
        <p:spPr>
          <a:xfrm>
            <a:off x="10687050" y="1847850"/>
            <a:ext cx="247650" cy="247650"/>
          </a:xfrm>
          <a:prstGeom prst="ellipse">
            <a:avLst/>
          </a:prstGeom>
          <a:solidFill>
            <a:srgbClr val="1B7F8C"/>
          </a:solidFill>
          <a:ln w="0">
            <a:noFill/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39AF9986-2DF1-48E0-8381-A50FEEF1B6FB}"/>
              </a:ext>
            </a:extLst>
          </p:cNvPr>
          <p:cNvSpPr>
            <a:spLocks noGrp="1"/>
          </p:cNvSpPr>
          <p:nvPr/>
        </p:nvSpPr>
        <p:spPr>
          <a:xfrm>
            <a:off x="10810875" y="1971675"/>
            <a:ext cx="1647825" cy="1219200"/>
          </a:xfrm>
          <a:prstGeom prst="line">
            <a:avLst/>
          </a:prstGeom>
          <a:noFill/>
          <a:ln w="19050">
            <a:solidFill>
              <a:srgbClr val="B9CEDD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BDEFA37-B39F-44B6-96DE-BEDA17F740D6}"/>
              </a:ext>
            </a:extLst>
          </p:cNvPr>
          <p:cNvSpPr>
            <a:spLocks noGrp="1"/>
          </p:cNvSpPr>
          <p:nvPr/>
        </p:nvSpPr>
        <p:spPr>
          <a:xfrm>
            <a:off x="11068050" y="4152900"/>
            <a:ext cx="247650" cy="24765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76750D72-9EBC-4101-A8F6-D2B3FFB6A6F1}"/>
              </a:ext>
            </a:extLst>
          </p:cNvPr>
          <p:cNvSpPr>
            <a:spLocks noGrp="1"/>
          </p:cNvSpPr>
          <p:nvPr/>
        </p:nvSpPr>
        <p:spPr>
          <a:xfrm>
            <a:off x="11191875" y="4276725"/>
            <a:ext cx="2028825" cy="1085850"/>
          </a:xfrm>
          <a:prstGeom prst="line">
            <a:avLst/>
          </a:prstGeom>
          <a:noFill/>
          <a:ln w="19050">
            <a:solidFill>
              <a:srgbClr val="B9CEDD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A3EA99A-704F-4D84-918F-267549DB6991}"/>
              </a:ext>
            </a:extLst>
          </p:cNvPr>
          <p:cNvSpPr>
            <a:spLocks noGrp="1"/>
          </p:cNvSpPr>
          <p:nvPr/>
        </p:nvSpPr>
        <p:spPr>
          <a:xfrm>
            <a:off x="8172450" y="5048250"/>
            <a:ext cx="247650" cy="2476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8B9EC82-F3A8-4322-8DCF-737F08BEF851}"/>
              </a:ext>
            </a:extLst>
          </p:cNvPr>
          <p:cNvSpPr>
            <a:spLocks noGrp="1"/>
          </p:cNvSpPr>
          <p:nvPr/>
        </p:nvSpPr>
        <p:spPr>
          <a:xfrm>
            <a:off x="8296275" y="5172075"/>
            <a:ext cx="866775" cy="1981200"/>
          </a:xfrm>
          <a:prstGeom prst="line">
            <a:avLst/>
          </a:prstGeom>
          <a:noFill/>
          <a:ln w="19050">
            <a:solidFill>
              <a:srgbClr val="B9CED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86EC53-EB8F-46E8-B201-03F2F58E0214}"/>
              </a:ext>
            </a:extLst>
          </p:cNvPr>
          <p:cNvSpPr>
            <a:spLocks noGrp="1"/>
          </p:cNvSpPr>
          <p:nvPr/>
        </p:nvSpPr>
        <p:spPr>
          <a:xfrm>
            <a:off x="8334375" y="5600700"/>
            <a:ext cx="171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SUPERFICIE</a:t>
            </a:r>
          </a:p>
          <a:p>
            <a:pPr algn="ctr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DE ATAQUE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E31C23-F68C-4F8F-A41D-DCE5236ABDD7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620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CC29F63-528B-431E-A650-D86ACEDAFF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DA212-813D-48BA-81AC-53FE356746C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C0F9BB1-67EA-4B59-B60C-38467E060BB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034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 vector conecta una técnica con un activo valioso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EDC3226-30EC-4462-940C-E2DD4BE6C95A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1AC072-A5F0-43AA-BE2C-F2B39D88CA5B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621058-FB24-4DA3-B2EE-43A4AF65AA0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vector">
            <a:extLst>
              <a:ext uri="{FF2B5EF4-FFF2-40B4-BE49-F238E27FC236}">
                <a16:creationId xmlns:a16="http://schemas.microsoft.com/office/drawing/2014/main" id="{B40337D7-B852-4C9A-80F6-436E2A52EE5B}"/>
              </a:ext>
            </a:extLst>
          </p:cNvPr>
          <p:cNvSpPr>
            <a:spLocks noGrp="1"/>
          </p:cNvSpPr>
          <p:nvPr/>
        </p:nvSpPr>
        <p:spPr>
          <a:xfrm>
            <a:off x="4857750" y="2619375"/>
            <a:ext cx="2476500" cy="1066800"/>
          </a:xfrm>
          <a:prstGeom prst="rect">
            <a:avLst/>
          </a:prstGeom>
          <a:solidFill>
            <a:srgbClr val="145DA0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VECTOR DE</a:t>
            </a:r>
          </a:p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AMENAZA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2C3E48-135F-42D6-84B0-A29BA0FB9B5B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476500" cy="876300"/>
          </a:xfrm>
          <a:prstGeom prst="rect">
            <a:avLst/>
          </a:prstGeom>
          <a:solidFill>
            <a:srgbClr val="D9EAF6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Computadoras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y servidores</a:t>
            </a:r>
          </a:p>
        </p:txBody>
      </p:sp>
      <p:cxnSp>
        <p:nvCxnSpPr>
          <p:cNvPr id="9" name="Straight Arrow Connector 8"/>
          <p:cNvCxnSpPr>
            <a:stCxn id="8" idx="3"/>
            <a:endCxn id="7" idx="1"/>
          </p:cNvCxnSpPr>
          <p:nvPr/>
        </p:nvCxnSpPr>
        <p:spPr>
          <a:xfrm>
            <a:off x="3333750" y="2438400"/>
            <a:ext cx="1524000" cy="714375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7163499-A2DE-4566-BB01-C08BB1C39B8D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476500" cy="876300"/>
          </a:xfrm>
          <a:prstGeom prst="rect">
            <a:avLst/>
          </a:prstGeom>
          <a:solidFill>
            <a:srgbClr val="FFF2CF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Credenciales</a:t>
            </a:r>
          </a:p>
        </p:txBody>
      </p:sp>
      <p:cxnSp>
        <p:nvCxnSpPr>
          <p:cNvPr id="11" name="Straight Arrow Connector 10"/>
          <p:cNvCxnSpPr>
            <a:stCxn id="10" idx="3"/>
            <a:endCxn id="7" idx="1"/>
          </p:cNvCxnSpPr>
          <p:nvPr/>
        </p:nvCxnSpPr>
        <p:spPr>
          <a:xfrm flipV="1">
            <a:off x="3333750" y="3152775"/>
            <a:ext cx="1524000" cy="1000125"/>
          </a:xfrm>
          <a:prstGeom prst="straightConnector1">
            <a:avLst/>
          </a:prstGeom>
          <a:ln w="19050">
            <a:solidFill>
              <a:srgbClr val="F2B134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BAD44CD-739A-4B49-BDE7-3065B0295E24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476500" cy="876300"/>
          </a:xfrm>
          <a:prstGeom prst="rect">
            <a:avLst/>
          </a:prstGeom>
          <a:solidFill>
            <a:srgbClr val="E4F2E8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Información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personal</a:t>
            </a:r>
          </a:p>
        </p:txBody>
      </p:sp>
      <p:cxnSp>
        <p:nvCxnSpPr>
          <p:cNvPr id="13" name="Straight Arrow Connector 12"/>
          <p:cNvCxnSpPr>
            <a:stCxn id="7" idx="3"/>
            <a:endCxn id="12" idx="1"/>
          </p:cNvCxnSpPr>
          <p:nvPr/>
        </p:nvCxnSpPr>
        <p:spPr>
          <a:xfrm flipV="1">
            <a:off x="7334250" y="2438400"/>
            <a:ext cx="1524000" cy="714375"/>
          </a:xfrm>
          <a:prstGeom prst="straightConnector1">
            <a:avLst/>
          </a:prstGeom>
          <a:ln w="19050">
            <a:solidFill>
              <a:srgbClr val="1B7F8C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D6216E2-5339-483D-9868-2FB8E835A91D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2476500" cy="87630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Información financiera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y planes internos</a:t>
            </a:r>
          </a:p>
        </p:txBody>
      </p:sp>
      <p:cxnSp>
        <p:nvCxnSpPr>
          <p:cNvPr id="15" name="Straight Arrow Connector 14"/>
          <p:cNvCxnSpPr>
            <a:stCxn id="7" idx="3"/>
            <a:endCxn id="14" idx="1"/>
          </p:cNvCxnSpPr>
          <p:nvPr/>
        </p:nvCxnSpPr>
        <p:spPr>
          <a:xfrm>
            <a:off x="7334250" y="3152775"/>
            <a:ext cx="1524000" cy="1000125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FB6E575-1584-438F-8908-AACB830710C8}"/>
              </a:ext>
            </a:extLst>
          </p:cNvPr>
          <p:cNvSpPr>
            <a:spLocks noGrp="1"/>
          </p:cNvSpPr>
          <p:nvPr/>
        </p:nvSpPr>
        <p:spPr>
          <a:xfrm>
            <a:off x="3790950" y="4743450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06"/>
          </a:bodyPr>
          <a:lstStyle/>
          <a:p>
            <a:pPr algn="ctr">
              <a:defRPr sz="1575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Camino o medio utilizado para acceder, engañar, ejecutar o extraer.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F14509-642F-437B-A5C3-87D29CB9A6CA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762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A303DD-BCBB-4941-893D-6C4C5AEF8E6D}"/>
              </a:ext>
            </a:extLst>
          </p:cNvPr>
          <p:cNvSpPr>
            <a:spLocks noGrp="1"/>
          </p:cNvSpPr>
          <p:nvPr/>
        </p:nvSpPr>
        <p:spPr>
          <a:xfrm>
            <a:off x="876300" y="5676900"/>
            <a:ext cx="1043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defensa comienza identificando la ruta, el activo objetivo y la consecuencia.</a:t>
            </a:r>
          </a:p>
        </p:txBody>
      </p:sp>
    </p:spTree>
    <p:extLst>
      <p:ext uri="{BB962C8B-B14F-4D97-AF65-F5344CB8AC3E}">
        <p14:creationId xmlns:p14="http://schemas.microsoft.com/office/powerpoint/2010/main" val="25681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6977426-3871-474B-B476-1FDAD9C01E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B84E3B-DEE2-448B-8432-34852D96E44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A5579AD-3BD6-43D1-AEEC-CB922C04702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413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Kill Chain ofrece siete oportunidades para interrumpir el ataque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CC91320-FAEE-4F16-BB4D-3A9B433D73C0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57B399-BBA3-423F-B354-95CEE6EF5528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980BC8-0734-4124-A553-17024FA967D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345D48-77DB-460C-8489-0C87B69BA8B9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466850" cy="76200"/>
          </a:xfrm>
          <a:prstGeom prst="rect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8" name="kc-0">
            <a:extLst>
              <a:ext uri="{FF2B5EF4-FFF2-40B4-BE49-F238E27FC236}">
                <a16:creationId xmlns:a16="http://schemas.microsoft.com/office/drawing/2014/main" id="{C654A364-9235-4008-905A-75342DB17A4C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1466850" cy="1123950"/>
          </a:xfrm>
          <a:prstGeom prst="rect">
            <a:avLst/>
          </a:prstGeom>
          <a:solidFill>
            <a:srgbClr val="F7FAFC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Explorar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9176DE-FE68-42C7-8C02-58ECDFC3C9DD}"/>
              </a:ext>
            </a:extLst>
          </p:cNvPr>
          <p:cNvSpPr>
            <a:spLocks noGrp="1"/>
          </p:cNvSpPr>
          <p:nvPr/>
        </p:nvSpPr>
        <p:spPr>
          <a:xfrm>
            <a:off x="2171700" y="2038350"/>
            <a:ext cx="1466850" cy="76200"/>
          </a:xfrm>
          <a:prstGeom prst="rect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10" name="kc-1">
            <a:extLst>
              <a:ext uri="{FF2B5EF4-FFF2-40B4-BE49-F238E27FC236}">
                <a16:creationId xmlns:a16="http://schemas.microsoft.com/office/drawing/2014/main" id="{67D75BD2-3E89-4214-A123-EA9532586D4D}"/>
              </a:ext>
            </a:extLst>
          </p:cNvPr>
          <p:cNvSpPr>
            <a:spLocks noGrp="1"/>
          </p:cNvSpPr>
          <p:nvPr/>
        </p:nvSpPr>
        <p:spPr>
          <a:xfrm>
            <a:off x="2171700" y="2362200"/>
            <a:ext cx="1466850" cy="1123950"/>
          </a:xfrm>
          <a:prstGeom prst="rect">
            <a:avLst/>
          </a:prstGeom>
          <a:solidFill>
            <a:srgbClr val="F7FAFC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Preparar</a:t>
            </a:r>
          </a:p>
        </p:txBody>
      </p:sp>
      <p:cxnSp>
        <p:nvCxnSpPr>
          <p:cNvPr id="11" name="Straight Arrow Connector 10"/>
          <p:cNvCxnSpPr>
            <a:stCxn id="8" idx="3"/>
            <a:endCxn id="10" idx="1"/>
          </p:cNvCxnSpPr>
          <p:nvPr/>
        </p:nvCxnSpPr>
        <p:spPr>
          <a:xfrm>
            <a:off x="2076450" y="2924175"/>
            <a:ext cx="95250" cy="0"/>
          </a:xfrm>
          <a:prstGeom prst="straightConnector1">
            <a:avLst/>
          </a:prstGeom>
          <a:ln w="19050">
            <a:solidFill>
              <a:srgbClr val="486581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C6E8033-F6C8-419D-BA8B-4DD36D4F121D}"/>
              </a:ext>
            </a:extLst>
          </p:cNvPr>
          <p:cNvSpPr>
            <a:spLocks noGrp="1"/>
          </p:cNvSpPr>
          <p:nvPr/>
        </p:nvSpPr>
        <p:spPr>
          <a:xfrm>
            <a:off x="3733800" y="2038350"/>
            <a:ext cx="1466850" cy="7620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3" name="kc-2">
            <a:extLst>
              <a:ext uri="{FF2B5EF4-FFF2-40B4-BE49-F238E27FC236}">
                <a16:creationId xmlns:a16="http://schemas.microsoft.com/office/drawing/2014/main" id="{772A7720-3A09-4DBE-AA2C-42D3F0807D5D}"/>
              </a:ext>
            </a:extLst>
          </p:cNvPr>
          <p:cNvSpPr>
            <a:spLocks noGrp="1"/>
          </p:cNvSpPr>
          <p:nvPr/>
        </p:nvSpPr>
        <p:spPr>
          <a:xfrm>
            <a:off x="3733800" y="2362200"/>
            <a:ext cx="1466850" cy="1123950"/>
          </a:xfrm>
          <a:prstGeom prst="rect">
            <a:avLst/>
          </a:prstGeom>
          <a:solidFill>
            <a:srgbClr val="F7FAFC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Entregar</a:t>
            </a:r>
          </a:p>
        </p:txBody>
      </p:sp>
      <p:cxnSp>
        <p:nvCxnSpPr>
          <p:cNvPr id="14" name="Straight Arrow Connector 13"/>
          <p:cNvCxnSpPr>
            <a:stCxn id="10" idx="3"/>
            <a:endCxn id="13" idx="1"/>
          </p:cNvCxnSpPr>
          <p:nvPr/>
        </p:nvCxnSpPr>
        <p:spPr>
          <a:xfrm>
            <a:off x="3638550" y="2924175"/>
            <a:ext cx="95250" cy="0"/>
          </a:xfrm>
          <a:prstGeom prst="straightConnector1">
            <a:avLst/>
          </a:prstGeom>
          <a:ln w="19050">
            <a:solidFill>
              <a:srgbClr val="486581"/>
            </a:solidFill>
            <a:prstDash val="solid"/>
            <a:tailEnd type="triangle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E59E539-D683-46E5-A916-D2F2C01C9EEA}"/>
              </a:ext>
            </a:extLst>
          </p:cNvPr>
          <p:cNvSpPr>
            <a:spLocks noGrp="1"/>
          </p:cNvSpPr>
          <p:nvPr/>
        </p:nvSpPr>
        <p:spPr>
          <a:xfrm>
            <a:off x="5295900" y="2038350"/>
            <a:ext cx="1466850" cy="7620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6" name="kc-3">
            <a:extLst>
              <a:ext uri="{FF2B5EF4-FFF2-40B4-BE49-F238E27FC236}">
                <a16:creationId xmlns:a16="http://schemas.microsoft.com/office/drawing/2014/main" id="{664CA4C1-A601-488B-9EBD-807F4D1337C1}"/>
              </a:ext>
            </a:extLst>
          </p:cNvPr>
          <p:cNvSpPr>
            <a:spLocks noGrp="1"/>
          </p:cNvSpPr>
          <p:nvPr/>
        </p:nvSpPr>
        <p:spPr>
          <a:xfrm>
            <a:off x="5295900" y="2362200"/>
            <a:ext cx="1466850" cy="1123950"/>
          </a:xfrm>
          <a:prstGeom prst="rect">
            <a:avLst/>
          </a:prstGeom>
          <a:solidFill>
            <a:srgbClr val="F7FAFC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Explotar</a:t>
            </a:r>
          </a:p>
        </p:txBody>
      </p:sp>
      <p:cxnSp>
        <p:nvCxnSpPr>
          <p:cNvPr id="17" name="Straight Arrow Connector 16"/>
          <p:cNvCxnSpPr>
            <a:stCxn id="13" idx="3"/>
            <a:endCxn id="16" idx="1"/>
          </p:cNvCxnSpPr>
          <p:nvPr/>
        </p:nvCxnSpPr>
        <p:spPr>
          <a:xfrm>
            <a:off x="5200650" y="2924175"/>
            <a:ext cx="95250" cy="0"/>
          </a:xfrm>
          <a:prstGeom prst="straightConnector1">
            <a:avLst/>
          </a:prstGeom>
          <a:ln w="19050">
            <a:solidFill>
              <a:srgbClr val="486581"/>
            </a:solidFill>
            <a:prstDash val="solid"/>
            <a:tailEnd type="triangle" w="sm" len="sm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0C3B175-19C5-41CB-B4F8-A61D9535ADFB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1466850" cy="7620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9" name="kc-4">
            <a:extLst>
              <a:ext uri="{FF2B5EF4-FFF2-40B4-BE49-F238E27FC236}">
                <a16:creationId xmlns:a16="http://schemas.microsoft.com/office/drawing/2014/main" id="{22E0E35F-C3E5-4F32-A783-58501845CDE1}"/>
              </a:ext>
            </a:extLst>
          </p:cNvPr>
          <p:cNvSpPr>
            <a:spLocks noGrp="1"/>
          </p:cNvSpPr>
          <p:nvPr/>
        </p:nvSpPr>
        <p:spPr>
          <a:xfrm>
            <a:off x="6858000" y="2362200"/>
            <a:ext cx="1466850" cy="1123950"/>
          </a:xfrm>
          <a:prstGeom prst="rect">
            <a:avLst/>
          </a:prstGeom>
          <a:solidFill>
            <a:srgbClr val="F7FAFC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5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Instalar</a:t>
            </a:r>
          </a:p>
        </p:txBody>
      </p:sp>
      <p:cxnSp>
        <p:nvCxnSpPr>
          <p:cNvPr id="20" name="Straight Arrow Connector 19"/>
          <p:cNvCxnSpPr>
            <a:stCxn id="16" idx="3"/>
            <a:endCxn id="19" idx="1"/>
          </p:cNvCxnSpPr>
          <p:nvPr/>
        </p:nvCxnSpPr>
        <p:spPr>
          <a:xfrm>
            <a:off x="6762750" y="2924175"/>
            <a:ext cx="95250" cy="0"/>
          </a:xfrm>
          <a:prstGeom prst="straightConnector1">
            <a:avLst/>
          </a:prstGeom>
          <a:ln w="19050">
            <a:solidFill>
              <a:srgbClr val="486581"/>
            </a:solidFill>
            <a:prstDash val="solid"/>
            <a:tailEnd type="triangle" w="sm" len="sm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5E39792-CFB9-4EB8-8477-E3B3845432C0}"/>
              </a:ext>
            </a:extLst>
          </p:cNvPr>
          <p:cNvSpPr>
            <a:spLocks noGrp="1"/>
          </p:cNvSpPr>
          <p:nvPr/>
        </p:nvSpPr>
        <p:spPr>
          <a:xfrm>
            <a:off x="8420100" y="2038350"/>
            <a:ext cx="1466850" cy="76200"/>
          </a:xfrm>
          <a:prstGeom prst="rect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22" name="kc-5">
            <a:extLst>
              <a:ext uri="{FF2B5EF4-FFF2-40B4-BE49-F238E27FC236}">
                <a16:creationId xmlns:a16="http://schemas.microsoft.com/office/drawing/2014/main" id="{6115B32B-8CEE-4AE6-A475-BDB6BB7E9157}"/>
              </a:ext>
            </a:extLst>
          </p:cNvPr>
          <p:cNvSpPr>
            <a:spLocks noGrp="1"/>
          </p:cNvSpPr>
          <p:nvPr/>
        </p:nvSpPr>
        <p:spPr>
          <a:xfrm>
            <a:off x="8420100" y="2362200"/>
            <a:ext cx="1466850" cy="1123950"/>
          </a:xfrm>
          <a:prstGeom prst="rect">
            <a:avLst/>
          </a:prstGeom>
          <a:solidFill>
            <a:srgbClr val="F7FAFC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6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Control C2</a:t>
            </a:r>
          </a:p>
        </p:txBody>
      </p:sp>
      <p:cxnSp>
        <p:nvCxnSpPr>
          <p:cNvPr id="23" name="Straight Arrow Connector 22"/>
          <p:cNvCxnSpPr>
            <a:stCxn id="19" idx="3"/>
            <a:endCxn id="22" idx="1"/>
          </p:cNvCxnSpPr>
          <p:nvPr/>
        </p:nvCxnSpPr>
        <p:spPr>
          <a:xfrm>
            <a:off x="8324850" y="2924175"/>
            <a:ext cx="95250" cy="0"/>
          </a:xfrm>
          <a:prstGeom prst="straightConnector1">
            <a:avLst/>
          </a:prstGeom>
          <a:ln w="19050">
            <a:solidFill>
              <a:srgbClr val="486581"/>
            </a:solidFill>
            <a:prstDash val="solid"/>
            <a:tailEnd type="triangle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3774AEC-227C-4B2B-A82D-8D6CC9034ACB}"/>
              </a:ext>
            </a:extLst>
          </p:cNvPr>
          <p:cNvSpPr>
            <a:spLocks noGrp="1"/>
          </p:cNvSpPr>
          <p:nvPr/>
        </p:nvSpPr>
        <p:spPr>
          <a:xfrm>
            <a:off x="9982200" y="2038350"/>
            <a:ext cx="1466850" cy="76200"/>
          </a:xfrm>
          <a:prstGeom prst="rect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25" name="kc-6">
            <a:extLst>
              <a:ext uri="{FF2B5EF4-FFF2-40B4-BE49-F238E27FC236}">
                <a16:creationId xmlns:a16="http://schemas.microsoft.com/office/drawing/2014/main" id="{B282472E-D79E-45CF-9F98-19031EF75123}"/>
              </a:ext>
            </a:extLst>
          </p:cNvPr>
          <p:cNvSpPr>
            <a:spLocks noGrp="1"/>
          </p:cNvSpPr>
          <p:nvPr/>
        </p:nvSpPr>
        <p:spPr>
          <a:xfrm>
            <a:off x="9982200" y="2362200"/>
            <a:ext cx="1466850" cy="1123950"/>
          </a:xfrm>
          <a:prstGeom prst="rect">
            <a:avLst/>
          </a:prstGeom>
          <a:solidFill>
            <a:srgbClr val="F7FAFC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7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Lograr objetivo</a:t>
            </a:r>
          </a:p>
        </p:txBody>
      </p:sp>
      <p:cxnSp>
        <p:nvCxnSpPr>
          <p:cNvPr id="26" name="Straight Arrow Connector 25"/>
          <p:cNvCxnSpPr>
            <a:stCxn id="22" idx="3"/>
            <a:endCxn id="25" idx="1"/>
          </p:cNvCxnSpPr>
          <p:nvPr/>
        </p:nvCxnSpPr>
        <p:spPr>
          <a:xfrm>
            <a:off x="9886950" y="2924175"/>
            <a:ext cx="95250" cy="0"/>
          </a:xfrm>
          <a:prstGeom prst="straightConnector1">
            <a:avLst/>
          </a:prstGeom>
          <a:ln w="19050">
            <a:solidFill>
              <a:srgbClr val="486581"/>
            </a:solidFill>
            <a:prstDash val="solid"/>
            <a:tailEnd type="triangle" w="sm" len="sm"/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93E6EE3-870E-4309-A36C-CD13E0BF1D69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Bloquear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97C6B5-AAB4-4B02-B24B-0DF5DB616AFC}"/>
              </a:ext>
            </a:extLst>
          </p:cNvPr>
          <p:cNvSpPr>
            <a:spLocks noGrp="1"/>
          </p:cNvSpPr>
          <p:nvPr/>
        </p:nvSpPr>
        <p:spPr>
          <a:xfrm>
            <a:off x="2171700" y="39052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428"/>
          </a:bodyPr>
          <a:lstStyle/>
          <a:p>
            <a:pPr algn="ctr">
              <a:defRPr sz="12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Reducir exposición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9A1655-21B1-487D-B4AF-D55691CD5404}"/>
              </a:ext>
            </a:extLst>
          </p:cNvPr>
          <p:cNvSpPr>
            <a:spLocks noGrp="1"/>
          </p:cNvSpPr>
          <p:nvPr/>
        </p:nvSpPr>
        <p:spPr>
          <a:xfrm>
            <a:off x="3733800" y="39052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Filtrar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AEAECD-BC0C-4660-A119-3CEBF9B6E2A7}"/>
              </a:ext>
            </a:extLst>
          </p:cNvPr>
          <p:cNvSpPr>
            <a:spLocks noGrp="1"/>
          </p:cNvSpPr>
          <p:nvPr/>
        </p:nvSpPr>
        <p:spPr>
          <a:xfrm>
            <a:off x="5295900" y="39052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Aislar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2E54ED-CE80-45A7-B88D-C72E4FEB5549}"/>
              </a:ext>
            </a:extLst>
          </p:cNvPr>
          <p:cNvSpPr>
            <a:spLocks noGrp="1"/>
          </p:cNvSpPr>
          <p:nvPr/>
        </p:nvSpPr>
        <p:spPr>
          <a:xfrm>
            <a:off x="6858000" y="39052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Erradicar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9443A00-D54C-4980-BA1D-932C1A661196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Detectar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0A6831-FC88-4BAF-A2F6-AD2A209316F7}"/>
              </a:ext>
            </a:extLst>
          </p:cNvPr>
          <p:cNvSpPr>
            <a:spLocks noGrp="1"/>
          </p:cNvSpPr>
          <p:nvPr/>
        </p:nvSpPr>
        <p:spPr>
          <a:xfrm>
            <a:off x="9982200" y="3905250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2BE2E33D-70A4-4615-AD4D-DD8134784809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7B4A6B-8CB7-4A22-A437-9A4571D310C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Principio operativo: </a:t>
            </a:r>
            <a:r>
              <a:rPr sz="1800">
                <a:solidFill>
                  <a:srgbClr val="243B53"/>
                </a:solidFill>
                <a:latin typeface="Aptos"/>
                <a:ea typeface="Aptos"/>
                <a:cs typeface="Aptos"/>
              </a:rPr>
              <a:t>aplicar controles en cada etapa obliga al atacante a superar múltiples barreras.</a:t>
            </a:r>
          </a:p>
        </p:txBody>
      </p:sp>
    </p:spTree>
    <p:extLst>
      <p:ext uri="{BB962C8B-B14F-4D97-AF65-F5344CB8AC3E}">
        <p14:creationId xmlns:p14="http://schemas.microsoft.com/office/powerpoint/2010/main" val="19536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5EDF892-8D88-4649-BC60-BFE6F32AE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D69A29-DFC4-4453-8565-764AFA47743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B9070A0-2250-4D34-AEBB-A65890360EF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127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nube amplía la superficie que debe protegerse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F55D90B-91B3-47C7-8B1D-94F14CBDBC4C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17147-6A97-4E00-AA53-C9A7F46D6774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18D306-6882-400A-A7C6-AD8D996F66E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E4E054-F34D-468E-9840-641EC1A1AD6E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2524125" cy="11430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B1729-18A5-4E5C-A385-14A6E6F39129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2524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63B40-6332-442E-9FFC-E9E22041CBCA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25241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Credenciales</a:t>
            </a:r>
          </a:p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Sesiones</a:t>
            </a:r>
          </a:p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Privilegios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611D5C3-FB59-4395-9AD5-0B86428CC7E3}"/>
              </a:ext>
            </a:extLst>
          </p:cNvPr>
          <p:cNvSpPr>
            <a:spLocks noGrp="1"/>
          </p:cNvSpPr>
          <p:nvPr/>
        </p:nvSpPr>
        <p:spPr>
          <a:xfrm>
            <a:off x="3305175" y="1962150"/>
            <a:ext cx="0" cy="219075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E2C09-B605-416C-8C0E-07C142075EF8}"/>
              </a:ext>
            </a:extLst>
          </p:cNvPr>
          <p:cNvSpPr>
            <a:spLocks noGrp="1"/>
          </p:cNvSpPr>
          <p:nvPr/>
        </p:nvSpPr>
        <p:spPr>
          <a:xfrm>
            <a:off x="3419475" y="1866900"/>
            <a:ext cx="2524125" cy="114300"/>
          </a:xfrm>
          <a:prstGeom prst="rect">
            <a:avLst/>
          </a:prstGeom>
          <a:solidFill>
            <a:srgbClr val="1B7F8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ABF18E-5F80-4618-86A0-F0A54527AEFB}"/>
              </a:ext>
            </a:extLst>
          </p:cNvPr>
          <p:cNvSpPr>
            <a:spLocks noGrp="1"/>
          </p:cNvSpPr>
          <p:nvPr/>
        </p:nvSpPr>
        <p:spPr>
          <a:xfrm>
            <a:off x="3419475" y="2152650"/>
            <a:ext cx="2524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1B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7F8C"/>
                </a:solidFill>
                <a:latin typeface="Aptos"/>
                <a:ea typeface="Aptos"/>
                <a:cs typeface="Aptos"/>
              </a:rPr>
              <a:t>DISPOSITIVO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0EBFA6-D010-49A1-8986-D0E4969D649E}"/>
              </a:ext>
            </a:extLst>
          </p:cNvPr>
          <p:cNvSpPr>
            <a:spLocks noGrp="1"/>
          </p:cNvSpPr>
          <p:nvPr/>
        </p:nvSpPr>
        <p:spPr>
          <a:xfrm>
            <a:off x="3419475" y="2628900"/>
            <a:ext cx="25241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PCs</a:t>
            </a:r>
          </a:p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Teléfonos</a:t>
            </a:r>
          </a:p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Equipos no administrados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D29372C-772F-4640-8107-58EE5FC7096C}"/>
              </a:ext>
            </a:extLst>
          </p:cNvPr>
          <p:cNvSpPr>
            <a:spLocks noGrp="1"/>
          </p:cNvSpPr>
          <p:nvPr/>
        </p:nvSpPr>
        <p:spPr>
          <a:xfrm>
            <a:off x="6057900" y="1962150"/>
            <a:ext cx="0" cy="219075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6EAC22-CC67-454F-ACDD-2CE5BDB41A7D}"/>
              </a:ext>
            </a:extLst>
          </p:cNvPr>
          <p:cNvSpPr>
            <a:spLocks noGrp="1"/>
          </p:cNvSpPr>
          <p:nvPr/>
        </p:nvSpPr>
        <p:spPr>
          <a:xfrm>
            <a:off x="6172200" y="1866900"/>
            <a:ext cx="2524125" cy="114300"/>
          </a:xfrm>
          <a:prstGeom prst="rect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4C7DA2-DCD0-42A9-A361-2F0F22D6F645}"/>
              </a:ext>
            </a:extLst>
          </p:cNvPr>
          <p:cNvSpPr>
            <a:spLocks noGrp="1"/>
          </p:cNvSpPr>
          <p:nvPr/>
        </p:nvSpPr>
        <p:spPr>
          <a:xfrm>
            <a:off x="6172200" y="2152650"/>
            <a:ext cx="2524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APLICACIÓN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DDD7E4-C128-47D4-8AE9-7DA20A67A7A7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25241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Microsoft 365</a:t>
            </a:r>
          </a:p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SaaS de terceros</a:t>
            </a:r>
          </a:p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Integraciones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CF969C1-FF45-495A-BF48-707F5171AE5B}"/>
              </a:ext>
            </a:extLst>
          </p:cNvPr>
          <p:cNvSpPr>
            <a:spLocks noGrp="1"/>
          </p:cNvSpPr>
          <p:nvPr/>
        </p:nvSpPr>
        <p:spPr>
          <a:xfrm>
            <a:off x="8810625" y="1962150"/>
            <a:ext cx="0" cy="219075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15EEA3-008F-46B3-A5BF-B506FD9D6EAC}"/>
              </a:ext>
            </a:extLst>
          </p:cNvPr>
          <p:cNvSpPr>
            <a:spLocks noGrp="1"/>
          </p:cNvSpPr>
          <p:nvPr/>
        </p:nvSpPr>
        <p:spPr>
          <a:xfrm>
            <a:off x="8924925" y="1866900"/>
            <a:ext cx="2524125" cy="114300"/>
          </a:xfrm>
          <a:prstGeom prst="rect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3054E9-3F3F-4541-98ED-B203674C0F90}"/>
              </a:ext>
            </a:extLst>
          </p:cNvPr>
          <p:cNvSpPr>
            <a:spLocks noGrp="1"/>
          </p:cNvSpPr>
          <p:nvPr/>
        </p:nvSpPr>
        <p:spPr>
          <a:xfrm>
            <a:off x="8924925" y="2152650"/>
            <a:ext cx="2524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DATOS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F17006-E70A-4B30-8275-B4D03B43AB3B}"/>
              </a:ext>
            </a:extLst>
          </p:cNvPr>
          <p:cNvSpPr>
            <a:spLocks noGrp="1"/>
          </p:cNvSpPr>
          <p:nvPr/>
        </p:nvSpPr>
        <p:spPr>
          <a:xfrm>
            <a:off x="8924925" y="2628900"/>
            <a:ext cx="25241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Correo</a:t>
            </a:r>
          </a:p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Documentos</a:t>
            </a:r>
          </a:p>
          <a:p>
            <a:pPr algn="ctr">
              <a:defRPr sz="17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Mensajería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71BC6C6F-5DA3-455F-928C-A0CEAA7A3351}"/>
              </a:ext>
            </a:extLst>
          </p:cNvPr>
          <p:cNvSpPr>
            <a:spLocks noGrp="1"/>
          </p:cNvSpPr>
          <p:nvPr/>
        </p:nvSpPr>
        <p:spPr>
          <a:xfrm>
            <a:off x="11563350" y="1962150"/>
            <a:ext cx="0" cy="219075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7DCD75-442C-4767-90B0-70F3CD89C08B}"/>
              </a:ext>
            </a:extLst>
          </p:cNvPr>
          <p:cNvSpPr>
            <a:spLocks noGrp="1"/>
          </p:cNvSpPr>
          <p:nvPr/>
        </p:nvSpPr>
        <p:spPr>
          <a:xfrm>
            <a:off x="1238250" y="4362450"/>
            <a:ext cx="971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814"/>
          </a:bodyPr>
          <a:lstStyle/>
          <a:p>
            <a:pPr algn="ctr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Los controles perimetrales locales ya no cubren todo el recorrido de los datos.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9ACBD5-13F5-4A75-9A40-046E271E0C93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10972800" cy="685800"/>
          </a:xfrm>
          <a:prstGeom prst="rect">
            <a:avLst/>
          </a:prstGeom>
          <a:solidFill>
            <a:srgbClr val="EAF3F9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C50CCB-007B-4F5F-9A87-732BB8EA3757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Defensa transversal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DE39CD-3307-4006-8346-6CE881C1FB41}"/>
              </a:ext>
            </a:extLst>
          </p:cNvPr>
          <p:cNvSpPr>
            <a:spLocks noGrp="1"/>
          </p:cNvSpPr>
          <p:nvPr/>
        </p:nvSpPr>
        <p:spPr>
          <a:xfrm>
            <a:off x="2876550" y="5124450"/>
            <a:ext cx="83058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MFA  ·  Conditional Access  ·  EOP/Defender  ·  DLP  ·  auditoría y SIEM</a:t>
            </a:r>
          </a:p>
        </p:txBody>
      </p:sp>
    </p:spTree>
    <p:extLst>
      <p:ext uri="{BB962C8B-B14F-4D97-AF65-F5344CB8AC3E}">
        <p14:creationId xmlns:p14="http://schemas.microsoft.com/office/powerpoint/2010/main" val="47663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C881445-BA06-4FEB-A24C-8FD2A12D51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640865-C1C3-4598-942D-8DF95041A3D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4120FFF-21BF-4898-9C63-843488E6F0A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413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 phishing transforma confianza y urgencia en una acción riesgosa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E1DF164-DBA8-4FE8-BC27-B3CDE7968415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68D34-CC69-4832-817C-AF84D42FE445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E8202-66DF-4FE1-8EA4-0C42F137373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A8FFD9-1A7A-4915-AD63-5EFD8D65F37E}"/>
              </a:ext>
            </a:extLst>
          </p:cNvPr>
          <p:cNvSpPr>
            <a:spLocks noGrp="1"/>
          </p:cNvSpPr>
          <p:nvPr/>
        </p:nvSpPr>
        <p:spPr>
          <a:xfrm>
            <a:off x="1476375" y="1790700"/>
            <a:ext cx="476250" cy="4762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60E66-BCB8-46AF-8762-DC6FF09E9C10}"/>
              </a:ext>
            </a:extLst>
          </p:cNvPr>
          <p:cNvSpPr>
            <a:spLocks noGrp="1"/>
          </p:cNvSpPr>
          <p:nvPr/>
        </p:nvSpPr>
        <p:spPr>
          <a:xfrm>
            <a:off x="1476375" y="1790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6F6BE8-DAA0-4EB3-84CA-B88693332DEB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1752600" cy="8953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Mensaje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legítimo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1FA31C-CAC0-438A-82CF-686934734875}"/>
              </a:ext>
            </a:extLst>
          </p:cNvPr>
          <p:cNvSpPr>
            <a:spLocks noGrp="1"/>
          </p:cNvSpPr>
          <p:nvPr/>
        </p:nvSpPr>
        <p:spPr>
          <a:xfrm>
            <a:off x="3743325" y="1790700"/>
            <a:ext cx="476250" cy="4762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40CA6A-8156-48C6-885A-C654CD0553FA}"/>
              </a:ext>
            </a:extLst>
          </p:cNvPr>
          <p:cNvSpPr>
            <a:spLocks noGrp="1"/>
          </p:cNvSpPr>
          <p:nvPr/>
        </p:nvSpPr>
        <p:spPr>
          <a:xfrm>
            <a:off x="3743325" y="1790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DEDA7E-94D6-46E5-B4D9-40E61C2D3738}"/>
              </a:ext>
            </a:extLst>
          </p:cNvPr>
          <p:cNvSpPr>
            <a:spLocks noGrp="1"/>
          </p:cNvSpPr>
          <p:nvPr/>
        </p:nvSpPr>
        <p:spPr>
          <a:xfrm>
            <a:off x="3105150" y="2324100"/>
            <a:ext cx="1752600" cy="8953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Urgencia o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confianza</a:t>
            </a:r>
          </a:p>
        </p:txBody>
      </p:sp>
      <p:cxnSp>
        <p:nvCxnSpPr>
          <p:cNvPr id="13" name="Straight Arrow Connector 12"/>
          <p:cNvCxnSpPr>
            <a:stCxn id="9" idx="3"/>
            <a:endCxn id="12" idx="1"/>
          </p:cNvCxnSpPr>
          <p:nvPr/>
        </p:nvCxnSpPr>
        <p:spPr>
          <a:xfrm>
            <a:off x="2590800" y="2771775"/>
            <a:ext cx="5143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9C825D95-2E98-4284-B01F-1D83248F60B7}"/>
              </a:ext>
            </a:extLst>
          </p:cNvPr>
          <p:cNvSpPr>
            <a:spLocks noGrp="1"/>
          </p:cNvSpPr>
          <p:nvPr/>
        </p:nvSpPr>
        <p:spPr>
          <a:xfrm>
            <a:off x="6010275" y="1790700"/>
            <a:ext cx="476250" cy="4762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0D868A-C4AE-4240-B614-BA690135C8FB}"/>
              </a:ext>
            </a:extLst>
          </p:cNvPr>
          <p:cNvSpPr>
            <a:spLocks noGrp="1"/>
          </p:cNvSpPr>
          <p:nvPr/>
        </p:nvSpPr>
        <p:spPr>
          <a:xfrm>
            <a:off x="6010275" y="1790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F33F0C-41FC-473D-802B-72766807B503}"/>
              </a:ext>
            </a:extLst>
          </p:cNvPr>
          <p:cNvSpPr>
            <a:spLocks noGrp="1"/>
          </p:cNvSpPr>
          <p:nvPr/>
        </p:nvSpPr>
        <p:spPr>
          <a:xfrm>
            <a:off x="5372100" y="2324100"/>
            <a:ext cx="1752600" cy="8953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Selección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del enlace</a:t>
            </a:r>
          </a:p>
        </p:txBody>
      </p:sp>
      <p:cxnSp>
        <p:nvCxnSpPr>
          <p:cNvPr id="17" name="Straight Arrow Connector 16"/>
          <p:cNvCxnSpPr>
            <a:stCxn id="12" idx="3"/>
            <a:endCxn id="16" idx="1"/>
          </p:cNvCxnSpPr>
          <p:nvPr/>
        </p:nvCxnSpPr>
        <p:spPr>
          <a:xfrm>
            <a:off x="4857750" y="2771775"/>
            <a:ext cx="5143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D9BFBABE-878B-44A8-AEBE-C18C81F27544}"/>
              </a:ext>
            </a:extLst>
          </p:cNvPr>
          <p:cNvSpPr>
            <a:spLocks noGrp="1"/>
          </p:cNvSpPr>
          <p:nvPr/>
        </p:nvSpPr>
        <p:spPr>
          <a:xfrm>
            <a:off x="8277225" y="1790700"/>
            <a:ext cx="476250" cy="4762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6531F2-B301-48FF-A424-748D48A001DE}"/>
              </a:ext>
            </a:extLst>
          </p:cNvPr>
          <p:cNvSpPr>
            <a:spLocks noGrp="1"/>
          </p:cNvSpPr>
          <p:nvPr/>
        </p:nvSpPr>
        <p:spPr>
          <a:xfrm>
            <a:off x="8277225" y="1790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1FD63F-4B9F-41C9-B2D5-04288D8B15AB}"/>
              </a:ext>
            </a:extLst>
          </p:cNvPr>
          <p:cNvSpPr>
            <a:spLocks noGrp="1"/>
          </p:cNvSpPr>
          <p:nvPr/>
        </p:nvSpPr>
        <p:spPr>
          <a:xfrm>
            <a:off x="7639050" y="2324100"/>
            <a:ext cx="1752600" cy="8953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Sitio falso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descarga</a:t>
            </a:r>
          </a:p>
        </p:txBody>
      </p:sp>
      <p:cxnSp>
        <p:nvCxnSpPr>
          <p:cNvPr id="21" name="Straight Arrow Connector 20"/>
          <p:cNvCxnSpPr>
            <a:stCxn id="16" idx="3"/>
            <a:endCxn id="20" idx="1"/>
          </p:cNvCxnSpPr>
          <p:nvPr/>
        </p:nvCxnSpPr>
        <p:spPr>
          <a:xfrm>
            <a:off x="7124700" y="2771775"/>
            <a:ext cx="5143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88085EA-56DE-483F-BEEF-F29EA129B9A7}"/>
              </a:ext>
            </a:extLst>
          </p:cNvPr>
          <p:cNvSpPr>
            <a:spLocks noGrp="1"/>
          </p:cNvSpPr>
          <p:nvPr/>
        </p:nvSpPr>
        <p:spPr>
          <a:xfrm>
            <a:off x="10544175" y="1790700"/>
            <a:ext cx="476250" cy="47625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E68457-A451-4B8F-A40A-DCDBD9970FF4}"/>
              </a:ext>
            </a:extLst>
          </p:cNvPr>
          <p:cNvSpPr>
            <a:spLocks noGrp="1"/>
          </p:cNvSpPr>
          <p:nvPr/>
        </p:nvSpPr>
        <p:spPr>
          <a:xfrm>
            <a:off x="10544175" y="1790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357723-5761-445B-9192-612CD2449004}"/>
              </a:ext>
            </a:extLst>
          </p:cNvPr>
          <p:cNvSpPr>
            <a:spLocks noGrp="1"/>
          </p:cNvSpPr>
          <p:nvPr/>
        </p:nvSpPr>
        <p:spPr>
          <a:xfrm>
            <a:off x="9906000" y="2324100"/>
            <a:ext cx="1752600" cy="8953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Credenciales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 malware</a:t>
            </a:r>
          </a:p>
        </p:txBody>
      </p:sp>
      <p:cxnSp>
        <p:nvCxnSpPr>
          <p:cNvPr id="25" name="Straight Arrow Connector 24"/>
          <p:cNvCxnSpPr>
            <a:stCxn id="20" idx="3"/>
            <a:endCxn id="24" idx="1"/>
          </p:cNvCxnSpPr>
          <p:nvPr/>
        </p:nvCxnSpPr>
        <p:spPr>
          <a:xfrm>
            <a:off x="9391650" y="2771775"/>
            <a:ext cx="51435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A02FA9E7-7D01-4810-89E1-32EC936350E5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SEÑALES RECURRENTES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42C52B7-7712-4890-BC3B-CF0CA082C9F8}"/>
              </a:ext>
            </a:extLst>
          </p:cNvPr>
          <p:cNvSpPr>
            <a:spLocks noGrp="1"/>
          </p:cNvSpPr>
          <p:nvPr/>
        </p:nvSpPr>
        <p:spPr>
          <a:xfrm>
            <a:off x="857250" y="4343400"/>
            <a:ext cx="76200" cy="76200"/>
          </a:xfrm>
          <a:prstGeom prst="ellipse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00A4EF-8425-4498-A9CB-193EB76608F5}"/>
              </a:ext>
            </a:extLst>
          </p:cNvPr>
          <p:cNvSpPr>
            <a:spLocks noGrp="1"/>
          </p:cNvSpPr>
          <p:nvPr/>
        </p:nvSpPr>
        <p:spPr>
          <a:xfrm>
            <a:off x="1047750" y="42672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Branding aparentemente legítimo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6217060-DFCC-491D-A238-8D95CF389A16}"/>
              </a:ext>
            </a:extLst>
          </p:cNvPr>
          <p:cNvSpPr>
            <a:spLocks noGrp="1"/>
          </p:cNvSpPr>
          <p:nvPr/>
        </p:nvSpPr>
        <p:spPr>
          <a:xfrm>
            <a:off x="6191250" y="4343400"/>
            <a:ext cx="76200" cy="76200"/>
          </a:xfrm>
          <a:prstGeom prst="ellipse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7B480E-649A-4DAD-BF3C-2223CB34A4DA}"/>
              </a:ext>
            </a:extLst>
          </p:cNvPr>
          <p:cNvSpPr>
            <a:spLocks noGrp="1"/>
          </p:cNvSpPr>
          <p:nvPr/>
        </p:nvSpPr>
        <p:spPr>
          <a:xfrm>
            <a:off x="6381750" y="42672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URL que parece confiable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A5A6EDA-8083-4A74-A894-1B57F4BDFF95}"/>
              </a:ext>
            </a:extLst>
          </p:cNvPr>
          <p:cNvSpPr>
            <a:spLocks noGrp="1"/>
          </p:cNvSpPr>
          <p:nvPr/>
        </p:nvSpPr>
        <p:spPr>
          <a:xfrm>
            <a:off x="857250" y="4876800"/>
            <a:ext cx="76200" cy="7620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E0FEA1-314B-4D7C-B6A1-4981AEB1E444}"/>
              </a:ext>
            </a:extLst>
          </p:cNvPr>
          <p:cNvSpPr>
            <a:spLocks noGrp="1"/>
          </p:cNvSpPr>
          <p:nvPr/>
        </p:nvSpPr>
        <p:spPr>
          <a:xfrm>
            <a:off x="1047750" y="48006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Solicitud de información sensible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FEEBC8C-E279-444E-9693-6778A7D57BDC}"/>
              </a:ext>
            </a:extLst>
          </p:cNvPr>
          <p:cNvSpPr>
            <a:spLocks noGrp="1"/>
          </p:cNvSpPr>
          <p:nvPr/>
        </p:nvSpPr>
        <p:spPr>
          <a:xfrm>
            <a:off x="6191250" y="4876800"/>
            <a:ext cx="76200" cy="7620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54DC2D-16BC-4937-AC57-BC89C01CD8E8}"/>
              </a:ext>
            </a:extLst>
          </p:cNvPr>
          <p:cNvSpPr>
            <a:spLocks noGrp="1"/>
          </p:cNvSpPr>
          <p:nvPr/>
        </p:nvSpPr>
        <p:spPr>
          <a:xfrm>
            <a:off x="6381750" y="48006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Enlace o adjunto ejecutable</a:t>
            </a:r>
          </a:p>
        </p:txBody>
      </p:sp>
    </p:spTree>
    <p:extLst>
      <p:ext uri="{BB962C8B-B14F-4D97-AF65-F5344CB8AC3E}">
        <p14:creationId xmlns:p14="http://schemas.microsoft.com/office/powerpoint/2010/main" val="867732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843A641-62BF-4EE7-A83A-5E7BEA6407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1DEAB7-EF65-43C3-827B-DF621F277E5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EFADA7B-3813-44BA-BC69-B174DEEC80B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 malware suele entregarse en dos etapas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D945707-52DA-46D7-A78C-9D6387B4EF09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A365A-1DCB-4729-AE06-637BA01A1824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70A179-8CDC-4558-8D88-1184F16A257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2EE53-8B67-4266-8518-C3AFF87ECA7F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CADENA DE ENTREGA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131AA7-1DF3-473B-BF8C-00A1D875DF2E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3714750" cy="895350"/>
          </a:xfrm>
          <a:prstGeom prst="rect">
            <a:avLst/>
          </a:prstGeom>
          <a:solidFill>
            <a:srgbClr val="FFF2CF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ETAPA 1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Adjunto, sitio, macro o JavaScript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90DF92-AD62-4D6B-886F-1125B3CE97C2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3714750" cy="8953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ETAPA 2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Payload malicioso</a:t>
            </a:r>
          </a:p>
        </p:txBody>
      </p:sp>
      <p:cxnSp>
        <p:nvCxnSpPr>
          <p:cNvPr id="10" name="Straight Arrow Connector 9"/>
          <p:cNvCxnSpPr>
            <a:stCxn id="8" idx="3"/>
            <a:endCxn id="9" idx="1"/>
          </p:cNvCxnSpPr>
          <p:nvPr/>
        </p:nvCxnSpPr>
        <p:spPr>
          <a:xfrm>
            <a:off x="4667250" y="2543175"/>
            <a:ext cx="285750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D5A9D41-C4AA-4CCA-A6D7-FC810AE30CAE}"/>
              </a:ext>
            </a:extLst>
          </p:cNvPr>
          <p:cNvSpPr>
            <a:spLocks noGrp="1"/>
          </p:cNvSpPr>
          <p:nvPr/>
        </p:nvSpPr>
        <p:spPr>
          <a:xfrm>
            <a:off x="4324350" y="31432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Explota el equipo o induce la ejecución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D55C4BF-1765-4BEB-B277-4F8319E1C4CE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117F65-1BEC-4EFF-83BC-3FB7797751A4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VIRUS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7D15B4-C6E8-41D7-8C0C-C09A19298310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2266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Se replica modificando otros programas.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1972376A-4D15-453C-9A5B-F019795508E4}"/>
              </a:ext>
            </a:extLst>
          </p:cNvPr>
          <p:cNvSpPr>
            <a:spLocks noGrp="1"/>
          </p:cNvSpPr>
          <p:nvPr/>
        </p:nvSpPr>
        <p:spPr>
          <a:xfrm>
            <a:off x="3124200" y="3943350"/>
            <a:ext cx="0" cy="12573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067B31-CD09-471F-87FA-8E13DE60C367}"/>
              </a:ext>
            </a:extLst>
          </p:cNvPr>
          <p:cNvSpPr>
            <a:spLocks noGrp="1"/>
          </p:cNvSpPr>
          <p:nvPr/>
        </p:nvSpPr>
        <p:spPr>
          <a:xfrm>
            <a:off x="3352800" y="39624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TROJAN HORSE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9F1A0B-A6C7-46B0-85C8-CCA33814FAF7}"/>
              </a:ext>
            </a:extLst>
          </p:cNvPr>
          <p:cNvSpPr>
            <a:spLocks noGrp="1"/>
          </p:cNvSpPr>
          <p:nvPr/>
        </p:nvSpPr>
        <p:spPr>
          <a:xfrm>
            <a:off x="3352800" y="4324350"/>
            <a:ext cx="2266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Abre una puerta trasera, roba e instala.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C08F4A3-48BD-4FA9-BF23-622AAB1C70D4}"/>
              </a:ext>
            </a:extLst>
          </p:cNvPr>
          <p:cNvSpPr>
            <a:spLocks noGrp="1"/>
          </p:cNvSpPr>
          <p:nvPr/>
        </p:nvSpPr>
        <p:spPr>
          <a:xfrm>
            <a:off x="5867400" y="3943350"/>
            <a:ext cx="0" cy="12573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814907-EC58-494B-946C-4861AFB1670B}"/>
              </a:ext>
            </a:extLst>
          </p:cNvPr>
          <p:cNvSpPr>
            <a:spLocks noGrp="1"/>
          </p:cNvSpPr>
          <p:nvPr/>
        </p:nvSpPr>
        <p:spPr>
          <a:xfrm>
            <a:off x="6096000" y="39624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B7F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7F8C"/>
                </a:solidFill>
                <a:latin typeface="Aptos"/>
                <a:ea typeface="Aptos"/>
                <a:cs typeface="Aptos"/>
              </a:rPr>
              <a:t>ROOTKIT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39D3CD-576F-4442-B872-5B134C2D6E43}"/>
              </a:ext>
            </a:extLst>
          </p:cNvPr>
          <p:cNvSpPr>
            <a:spLocks noGrp="1"/>
          </p:cNvSpPr>
          <p:nvPr/>
        </p:nvSpPr>
        <p:spPr>
          <a:xfrm>
            <a:off x="6096000" y="4324350"/>
            <a:ext cx="2266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Mantiene acceso administrativo oculto.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F745C52-A306-43C1-9157-56F314E86CC6}"/>
              </a:ext>
            </a:extLst>
          </p:cNvPr>
          <p:cNvSpPr>
            <a:spLocks noGrp="1"/>
          </p:cNvSpPr>
          <p:nvPr/>
        </p:nvSpPr>
        <p:spPr>
          <a:xfrm>
            <a:off x="8610600" y="3943350"/>
            <a:ext cx="0" cy="12573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8D1400-1768-418D-A9B7-F3E2293D1893}"/>
              </a:ext>
            </a:extLst>
          </p:cNvPr>
          <p:cNvSpPr>
            <a:spLocks noGrp="1"/>
          </p:cNvSpPr>
          <p:nvPr/>
        </p:nvSpPr>
        <p:spPr>
          <a:xfrm>
            <a:off x="8839200" y="39624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SPYWARE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EE6DAA-6ED0-4692-80EA-FD14240E2ECF}"/>
              </a:ext>
            </a:extLst>
          </p:cNvPr>
          <p:cNvSpPr>
            <a:spLocks noGrp="1"/>
          </p:cNvSpPr>
          <p:nvPr/>
        </p:nvSpPr>
        <p:spPr>
          <a:xfrm>
            <a:off x="8839200" y="4324350"/>
            <a:ext cx="22669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Captura actividad, teclas y credenciales.</a:t>
            </a:r>
          </a:p>
        </p:txBody>
      </p:sp>
    </p:spTree>
    <p:extLst>
      <p:ext uri="{BB962C8B-B14F-4D97-AF65-F5344CB8AC3E}">
        <p14:creationId xmlns:p14="http://schemas.microsoft.com/office/powerpoint/2010/main" val="1262339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79E03A0-E792-43D3-AD4C-65DC5EF654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FE37A6-ACF1-40FD-ADAC-63D9A4FC88A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C85096E-81A7-47E3-ACEA-C753D46F3F0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8982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Spear phishing y whaling aumentan la precisión del engaño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83DF326-027B-4A61-B25B-86849E2BAF6A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8A2A3D-7C04-4C00-B714-8EEB67BC22BB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FCFC4-2C8D-4EFC-A2CF-66C535447FF0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823AD06-3F84-43EB-B6E3-55BA4409A4B9}"/>
              </a:ext>
            </a:extLst>
          </p:cNvPr>
          <p:cNvSpPr>
            <a:spLocks noGrp="1"/>
          </p:cNvSpPr>
          <p:nvPr/>
        </p:nvSpPr>
        <p:spPr>
          <a:xfrm>
            <a:off x="6096000" y="1790700"/>
            <a:ext cx="0" cy="34290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FBC799-E487-42F4-956F-4780B4488C04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SPEAR PHISHING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B448D-8865-468D-BF58-5360ECB218E3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Individuo específico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5EFA5A-B622-41C5-A438-7182EF968487}"/>
              </a:ext>
            </a:extLst>
          </p:cNvPr>
          <p:cNvSpPr>
            <a:spLocks noGrp="1"/>
          </p:cNvSpPr>
          <p:nvPr/>
        </p:nvSpPr>
        <p:spPr>
          <a:xfrm>
            <a:off x="1352550" y="3143250"/>
            <a:ext cx="1714500" cy="1714500"/>
          </a:xfrm>
          <a:prstGeom prst="ellipse">
            <a:avLst/>
          </a:prstGeom>
          <a:noFill/>
          <a:ln w="11430">
            <a:solidFill>
              <a:srgbClr val="145DA0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FD705F-1A15-4AE5-AB75-ABE9DF99DF85}"/>
              </a:ext>
            </a:extLst>
          </p:cNvPr>
          <p:cNvSpPr>
            <a:spLocks noGrp="1"/>
          </p:cNvSpPr>
          <p:nvPr/>
        </p:nvSpPr>
        <p:spPr>
          <a:xfrm>
            <a:off x="1733550" y="3524250"/>
            <a:ext cx="952500" cy="952500"/>
          </a:xfrm>
          <a:prstGeom prst="ellipse">
            <a:avLst/>
          </a:prstGeom>
          <a:noFill/>
          <a:ln w="11430">
            <a:solidFill>
              <a:srgbClr val="B9CEDD"/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1FF78B-C951-4D55-A3D8-91FC56B7E4C6}"/>
              </a:ext>
            </a:extLst>
          </p:cNvPr>
          <p:cNvSpPr>
            <a:spLocks noGrp="1"/>
          </p:cNvSpPr>
          <p:nvPr/>
        </p:nvSpPr>
        <p:spPr>
          <a:xfrm>
            <a:off x="2066925" y="3857625"/>
            <a:ext cx="285750" cy="2857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43B12C-70EA-4F68-8C61-BA5E01D6B6B1}"/>
              </a:ext>
            </a:extLst>
          </p:cNvPr>
          <p:cNvSpPr>
            <a:spLocks noGrp="1"/>
          </p:cNvSpPr>
          <p:nvPr/>
        </p:nvSpPr>
        <p:spPr>
          <a:xfrm>
            <a:off x="3333750" y="3352800"/>
            <a:ext cx="2095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Personalización por rol, relación o contexto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532F59-CC0D-4EBF-AA9C-A083EEAB49D1}"/>
              </a:ext>
            </a:extLst>
          </p:cNvPr>
          <p:cNvSpPr>
            <a:spLocks noGrp="1"/>
          </p:cNvSpPr>
          <p:nvPr/>
        </p:nvSpPr>
        <p:spPr>
          <a:xfrm>
            <a:off x="6705600" y="18097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WHALING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77221B-CF7C-48FE-8630-C5357591A23E}"/>
              </a:ext>
            </a:extLst>
          </p:cNvPr>
          <p:cNvSpPr>
            <a:spLocks noGrp="1"/>
          </p:cNvSpPr>
          <p:nvPr/>
        </p:nvSpPr>
        <p:spPr>
          <a:xfrm>
            <a:off x="6705600" y="226695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Ejecutivos y alto perfil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13FEFCF-BECE-4C9F-A3ED-8DB5A6276D1E}"/>
              </a:ext>
            </a:extLst>
          </p:cNvPr>
          <p:cNvSpPr>
            <a:spLocks noGrp="1"/>
          </p:cNvSpPr>
          <p:nvPr/>
        </p:nvSpPr>
        <p:spPr>
          <a:xfrm>
            <a:off x="7200900" y="3143250"/>
            <a:ext cx="1714500" cy="1714500"/>
          </a:xfrm>
          <a:prstGeom prst="ellipse">
            <a:avLst/>
          </a:prstGeom>
          <a:noFill/>
          <a:ln w="11430">
            <a:solidFill>
              <a:srgbClr val="C84C3A"/>
            </a:solidFill>
            <a:prstDash val="solid"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ABB349C-BEB9-43CE-986D-4F3FBD47D466}"/>
              </a:ext>
            </a:extLst>
          </p:cNvPr>
          <p:cNvSpPr>
            <a:spLocks noGrp="1"/>
          </p:cNvSpPr>
          <p:nvPr/>
        </p:nvSpPr>
        <p:spPr>
          <a:xfrm>
            <a:off x="7581900" y="3524250"/>
            <a:ext cx="952500" cy="952500"/>
          </a:xfrm>
          <a:prstGeom prst="ellipse">
            <a:avLst/>
          </a:prstGeom>
          <a:noFill/>
          <a:ln w="11430">
            <a:solidFill>
              <a:srgbClr val="B9CEDD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FFCA55-4B58-4ED9-BBD6-4E8A32D14AF5}"/>
              </a:ext>
            </a:extLst>
          </p:cNvPr>
          <p:cNvSpPr>
            <a:spLocks noGrp="1"/>
          </p:cNvSpPr>
          <p:nvPr/>
        </p:nvSpPr>
        <p:spPr>
          <a:xfrm>
            <a:off x="7915275" y="3857625"/>
            <a:ext cx="285750" cy="28575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A7E321-4885-4AB5-9383-3C098D846475}"/>
              </a:ext>
            </a:extLst>
          </p:cNvPr>
          <p:cNvSpPr>
            <a:spLocks noGrp="1"/>
          </p:cNvSpPr>
          <p:nvPr/>
        </p:nvSpPr>
        <p:spPr>
          <a:xfrm>
            <a:off x="9182100" y="3352800"/>
            <a:ext cx="2095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Impacto económico y autoridad aparente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428A0A-4674-4BB3-AB7E-BCF53B0EEFED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10382250" cy="4762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89C807-5BC0-4285-B653-1A82EC63774A}"/>
              </a:ext>
            </a:extLst>
          </p:cNvPr>
          <p:cNvSpPr>
            <a:spLocks noGrp="1"/>
          </p:cNvSpPr>
          <p:nvPr/>
        </p:nvSpPr>
        <p:spPr>
          <a:xfrm>
            <a:off x="1123950" y="5543550"/>
            <a:ext cx="9848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Más contexto del objetivo → mayor credibilidad → mayor probabilidad de acción</a:t>
            </a:r>
          </a:p>
        </p:txBody>
      </p:sp>
    </p:spTree>
    <p:extLst>
      <p:ext uri="{BB962C8B-B14F-4D97-AF65-F5344CB8AC3E}">
        <p14:creationId xmlns:p14="http://schemas.microsoft.com/office/powerpoint/2010/main" val="65698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D613EB3-4E25-4CAD-B444-0AD7FF4B09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976AC7-C6FF-4520-B3A6-737578204C4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1F94BDE-2A00-4CE8-A550-6D1EAC20635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413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 spoofing explota la diferencia entre remitente técnico y visible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8D9D9C5-7D55-4666-9839-B9D4F45390AF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E27360-48B6-4A53-959E-C8E114BF966E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5D2B7F-7BEA-46B7-A473-7CF458C1210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AEC41C-F882-485D-9075-799F87232F09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DOS IDENTIDADES DEL REMITENTE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E0895-1B19-49E6-A92A-CC0A6840EA96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4000500" cy="125730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5321.MailFrom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Remitente usado por el servidor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Visible como Return-Path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B29138-7C55-4C29-9C50-77486A8FA022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4000500" cy="1257300"/>
          </a:xfrm>
          <a:prstGeom prst="rect">
            <a:avLst/>
          </a:prstGeom>
          <a:solidFill>
            <a:srgbClr val="FFF2CF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5322.From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Dirección mostrada por el cliente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como remitente</a:t>
            </a:r>
          </a:p>
        </p:txBody>
      </p:sp>
      <p:cxnSp>
        <p:nvCxnSpPr>
          <p:cNvPr id="10" name="Straight Arrow Connector 9"/>
          <p:cNvCxnSpPr>
            <a:stCxn id="8" idx="3"/>
            <a:endCxn id="9" idx="1"/>
          </p:cNvCxnSpPr>
          <p:nvPr/>
        </p:nvCxnSpPr>
        <p:spPr>
          <a:xfrm>
            <a:off x="4762500" y="2819400"/>
            <a:ext cx="266700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0EF1B1A-CAC2-467D-90A8-8DDFD640D5CD}"/>
              </a:ext>
            </a:extLst>
          </p:cNvPr>
          <p:cNvSpPr>
            <a:spLocks noGrp="1"/>
          </p:cNvSpPr>
          <p:nvPr/>
        </p:nvSpPr>
        <p:spPr>
          <a:xfrm>
            <a:off x="2381250" y="371475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/>
          <a:p>
            <a:pPr algn="ctr">
              <a:defRPr sz="180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El atacante busca que la identidad visible parezca confiable aunque el origen no lo sea.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93E7F9A0-8628-4EB0-BCE7-3AAABA5B010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3CF660-B612-4FBC-87C1-0653CC5350ED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1238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6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EOP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D52EC7-E443-4294-94CC-5C617562276E}"/>
              </a:ext>
            </a:extLst>
          </p:cNvPr>
          <p:cNvSpPr>
            <a:spLocks noGrp="1"/>
          </p:cNvSpPr>
          <p:nvPr/>
        </p:nvSpPr>
        <p:spPr>
          <a:xfrm>
            <a:off x="2190750" y="4686300"/>
            <a:ext cx="8858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Exchange Online Protection analiza automáticamente el correo entrante y utiliza spoof intelligence como parte de la defensa contra phishing.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5038F-6657-47E4-8B38-9C81D8AC6976}"/>
              </a:ext>
            </a:extLst>
          </p:cNvPr>
          <p:cNvSpPr>
            <a:spLocks noGrp="1"/>
          </p:cNvSpPr>
          <p:nvPr/>
        </p:nvSpPr>
        <p:spPr>
          <a:xfrm>
            <a:off x="2190750" y="554355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También existen usos legítimos: terceros autorizados, asistentes, aplicaciones y listas.</a:t>
            </a:r>
          </a:p>
        </p:txBody>
      </p:sp>
    </p:spTree>
    <p:extLst>
      <p:ext uri="{BB962C8B-B14F-4D97-AF65-F5344CB8AC3E}">
        <p14:creationId xmlns:p14="http://schemas.microsoft.com/office/powerpoint/2010/main" val="2070386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8A326F5-9525-4F2F-88DE-61AC17670A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C4CF26-C845-4FD6-8ED2-29E4D685016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7F59FDF-C297-41FA-A76B-15268BF3B09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413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 volumen de correo puede ocultar enlaces y adjuntos maliciosos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205E9DF-715F-4A42-A068-992B38A4F6E3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0D9E6-C906-4B55-9BE8-87B7E11D77BC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BA4713-6780-4797-8162-B4CB3533190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15C7F4-073F-4F4B-93D8-0DD826F4AA75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2667000" cy="99060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CORREO MASIVO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spam · campañas · notificaciones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6CD908-B17B-45AF-A724-4E7B6F717539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2667000" cy="990600"/>
          </a:xfrm>
          <a:prstGeom prst="rect">
            <a:avLst/>
          </a:prstGeom>
          <a:solidFill>
            <a:srgbClr val="145DA0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FILTRADO</a:t>
            </a:r>
          </a:p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reputación · contenido · adjuntos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D7376D-C99D-4DBE-9800-3B26C07CAD80}"/>
              </a:ext>
            </a:extLst>
          </p:cNvPr>
          <p:cNvSpPr>
            <a:spLocks noGrp="1"/>
          </p:cNvSpPr>
          <p:nvPr/>
        </p:nvSpPr>
        <p:spPr>
          <a:xfrm>
            <a:off x="8667750" y="2076450"/>
            <a:ext cx="2667000" cy="99060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RIESGO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malware · robo de credenciales</a:t>
            </a:r>
          </a:p>
        </p:txBody>
      </p:sp>
      <p:cxnSp>
        <p:nvCxnSpPr>
          <p:cNvPr id="10" name="Straight Arrow Connector 9"/>
          <p:cNvCxnSpPr>
            <a:stCxn id="7" idx="3"/>
            <a:endCxn id="8" idx="1"/>
          </p:cNvCxnSpPr>
          <p:nvPr/>
        </p:nvCxnSpPr>
        <p:spPr>
          <a:xfrm>
            <a:off x="3524250" y="2571750"/>
            <a:ext cx="12382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cxnSp>
        <p:nvCxnSpPr>
          <p:cNvPr id="11" name="Straight Arrow Connector 10"/>
          <p:cNvCxnSpPr>
            <a:stCxn id="8" idx="3"/>
            <a:endCxn id="9" idx="1"/>
          </p:cNvCxnSpPr>
          <p:nvPr/>
        </p:nvCxnSpPr>
        <p:spPr>
          <a:xfrm>
            <a:off x="7429500" y="2571750"/>
            <a:ext cx="123825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F6E71AE-11B5-4CAA-880F-44D97FB2CBA6}"/>
              </a:ext>
            </a:extLst>
          </p:cNvPr>
          <p:cNvSpPr>
            <a:spLocks noGrp="1"/>
          </p:cNvSpPr>
          <p:nvPr/>
        </p:nvSpPr>
        <p:spPr>
          <a:xfrm>
            <a:off x="1504950" y="3581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Adjunto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C6A7A6-F64E-45EF-BA72-2AA195364D1A}"/>
              </a:ext>
            </a:extLst>
          </p:cNvPr>
          <p:cNvSpPr>
            <a:spLocks noGrp="1"/>
          </p:cNvSpPr>
          <p:nvPr/>
        </p:nvSpPr>
        <p:spPr>
          <a:xfrm>
            <a:off x="5381625" y="3581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075"/>
          </a:bodyPr>
          <a:lstStyle/>
          <a:p>
            <a:pPr algn="ctr">
              <a:defRPr sz="13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Enlace incrustado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CB215D-09CB-4596-9831-1D52A1CF6580}"/>
              </a:ext>
            </a:extLst>
          </p:cNvPr>
          <p:cNvSpPr>
            <a:spLocks noGrp="1"/>
          </p:cNvSpPr>
          <p:nvPr/>
        </p:nvSpPr>
        <p:spPr>
          <a:xfrm>
            <a:off x="9296400" y="3581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Sitio o archivo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8E66FE7-247F-49A6-B6FF-B6FCD158F81B}"/>
              </a:ext>
            </a:extLst>
          </p:cNvPr>
          <p:cNvSpPr>
            <a:spLocks noGrp="1"/>
          </p:cNvSpPr>
          <p:nvPr/>
        </p:nvSpPr>
        <p:spPr>
          <a:xfrm>
            <a:off x="2190750" y="3352800"/>
            <a:ext cx="0" cy="171450"/>
          </a:xfrm>
          <a:prstGeom prst="line">
            <a:avLst/>
          </a:prstGeom>
          <a:noFill/>
          <a:ln w="19050">
            <a:solidFill>
              <a:srgbClr val="C84C3A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7FDA83C-0E46-41E8-8ABE-AE47323D99A1}"/>
              </a:ext>
            </a:extLst>
          </p:cNvPr>
          <p:cNvSpPr>
            <a:spLocks noGrp="1"/>
          </p:cNvSpPr>
          <p:nvPr/>
        </p:nvSpPr>
        <p:spPr>
          <a:xfrm>
            <a:off x="6096000" y="3352800"/>
            <a:ext cx="0" cy="171450"/>
          </a:xfrm>
          <a:prstGeom prst="line">
            <a:avLst/>
          </a:prstGeom>
          <a:noFill/>
          <a:ln w="19050">
            <a:solidFill>
              <a:srgbClr val="C84C3A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4F8A4D1-FE5C-4A70-A6F7-B83448323D7A}"/>
              </a:ext>
            </a:extLst>
          </p:cNvPr>
          <p:cNvSpPr>
            <a:spLocks noGrp="1"/>
          </p:cNvSpPr>
          <p:nvPr/>
        </p:nvSpPr>
        <p:spPr>
          <a:xfrm>
            <a:off x="10001250" y="3352800"/>
            <a:ext cx="0" cy="171450"/>
          </a:xfrm>
          <a:prstGeom prst="line">
            <a:avLst/>
          </a:prstGeom>
          <a:noFill/>
          <a:ln w="19050">
            <a:solidFill>
              <a:srgbClr val="C84C3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DA1D61-33FF-40D9-B373-6C3771AB56EB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10972800" cy="1066800"/>
          </a:xfrm>
          <a:prstGeom prst="rect">
            <a:avLst/>
          </a:prstGeom>
          <a:solidFill>
            <a:srgbClr val="F7FAFC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696E44-0BBD-45CF-8B7C-32ABD9F0A059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Spam y bulk email: </a:t>
            </a:r>
            <a:r>
              <a:rPr sz="1650">
                <a:solidFill>
                  <a:srgbClr val="243B53"/>
                </a:solidFill>
                <a:latin typeface="Aptos"/>
                <a:ea typeface="Aptos"/>
                <a:cs typeface="Aptos"/>
              </a:rPr>
              <a:t>afectan productividad.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8B4C4B-2A6C-4E24-9A30-EBE926564F38}"/>
              </a:ext>
            </a:extLst>
          </p:cNvPr>
          <p:cNvSpPr>
            <a:spLocks noGrp="1"/>
          </p:cNvSpPr>
          <p:nvPr/>
        </p:nvSpPr>
        <p:spPr>
          <a:xfrm>
            <a:off x="6096000" y="44958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5758"/>
          </a:bodyPr>
          <a:lstStyle/>
          <a:p>
            <a:pPr algn="l">
              <a:defRPr sz="165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Malware: </a:t>
            </a:r>
            <a:r>
              <a:rPr sz="165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convierte ese mismo canal en una vía de ejecución.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61E23F-D03D-4486-B963-71EA4B1C7938}"/>
              </a:ext>
            </a:extLst>
          </p:cNvPr>
          <p:cNvSpPr>
            <a:spLocks noGrp="1"/>
          </p:cNvSpPr>
          <p:nvPr/>
        </p:nvSpPr>
        <p:spPr>
          <a:xfrm>
            <a:off x="876300" y="50292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La diferencia crítica no es el volumen: es la intención y el payload.</a:t>
            </a:r>
          </a:p>
        </p:txBody>
      </p:sp>
    </p:spTree>
    <p:extLst>
      <p:ext uri="{BB962C8B-B14F-4D97-AF65-F5344CB8AC3E}">
        <p14:creationId xmlns:p14="http://schemas.microsoft.com/office/powerpoint/2010/main" val="178113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B848ED5-EA69-4988-8D7E-805C25F73E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2F66AB-05D6-4D3F-80C9-6FE94EA74C9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58B9DC4-D589-482A-9524-684897D7F49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044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Cinco rutas convergen en el compromiso de una cuenta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F0A26E7-3A46-4BE5-8E80-598479638545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E0865F-F5D0-4737-9DBC-6708A04CD53C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CF116-9E28-458D-9802-ACE7CE73E8C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acct">
            <a:extLst>
              <a:ext uri="{FF2B5EF4-FFF2-40B4-BE49-F238E27FC236}">
                <a16:creationId xmlns:a16="http://schemas.microsoft.com/office/drawing/2014/main" id="{E7F4BC12-6B66-430A-AE6F-FEDE7CBA67BA}"/>
              </a:ext>
            </a:extLst>
          </p:cNvPr>
          <p:cNvSpPr>
            <a:spLocks noGrp="1"/>
          </p:cNvSpPr>
          <p:nvPr/>
        </p:nvSpPr>
        <p:spPr>
          <a:xfrm>
            <a:off x="4857750" y="2743200"/>
            <a:ext cx="2476500" cy="1028700"/>
          </a:xfrm>
          <a:prstGeom prst="rect">
            <a:avLst/>
          </a:prstGeom>
          <a:solidFill>
            <a:srgbClr val="C84C3A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CUENTA</a:t>
            </a:r>
          </a:p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COMPROMETIDA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279C1-D062-4E9C-9E88-ACF685552D92}"/>
              </a:ext>
            </a:extLst>
          </p:cNvPr>
          <p:cNvSpPr>
            <a:spLocks noGrp="1"/>
          </p:cNvSpPr>
          <p:nvPr/>
        </p:nvSpPr>
        <p:spPr>
          <a:xfrm>
            <a:off x="990600" y="1981200"/>
            <a:ext cx="2476500" cy="685800"/>
          </a:xfrm>
          <a:prstGeom prst="rect">
            <a:avLst/>
          </a:prstGeom>
          <a:solidFill>
            <a:srgbClr val="FFF2CF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Password attacks</a:t>
            </a:r>
          </a:p>
        </p:txBody>
      </p:sp>
      <p:cxnSp>
        <p:nvCxnSpPr>
          <p:cNvPr id="9" name="Straight Arrow Connector 8"/>
          <p:cNvCxnSpPr>
            <a:stCxn id="8" idx="3"/>
            <a:endCxn id="7" idx="1"/>
          </p:cNvCxnSpPr>
          <p:nvPr/>
        </p:nvCxnSpPr>
        <p:spPr>
          <a:xfrm>
            <a:off x="3467100" y="2324100"/>
            <a:ext cx="1390650" cy="933450"/>
          </a:xfrm>
          <a:prstGeom prst="straightConnector1">
            <a:avLst/>
          </a:prstGeom>
          <a:ln w="19050">
            <a:solidFill>
              <a:srgbClr val="F2B134"/>
            </a:solidFill>
            <a:prstDash val="solid"/>
            <a:tailEnd type="triangle" w="sm" len="sm"/>
          </a:ln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06C3B52-CB97-4899-9D27-D4AE926828F3}"/>
              </a:ext>
            </a:extLst>
          </p:cNvPr>
          <p:cNvSpPr>
            <a:spLocks noGrp="1"/>
          </p:cNvSpPr>
          <p:nvPr/>
        </p:nvSpPr>
        <p:spPr>
          <a:xfrm>
            <a:off x="990600" y="3905250"/>
            <a:ext cx="2476500" cy="68580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Phishing</a:t>
            </a:r>
          </a:p>
        </p:txBody>
      </p:sp>
      <p:cxnSp>
        <p:nvCxnSpPr>
          <p:cNvPr id="11" name="Straight Arrow Connector 10"/>
          <p:cNvCxnSpPr>
            <a:stCxn id="10" idx="3"/>
            <a:endCxn id="7" idx="1"/>
          </p:cNvCxnSpPr>
          <p:nvPr/>
        </p:nvCxnSpPr>
        <p:spPr>
          <a:xfrm flipV="1">
            <a:off x="3467100" y="3257550"/>
            <a:ext cx="1390650" cy="99060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DF7E2-F566-444B-883E-94778AC0B0F3}"/>
              </a:ext>
            </a:extLst>
          </p:cNvPr>
          <p:cNvSpPr>
            <a:spLocks noGrp="1"/>
          </p:cNvSpPr>
          <p:nvPr/>
        </p:nvSpPr>
        <p:spPr>
          <a:xfrm>
            <a:off x="8724900" y="1981200"/>
            <a:ext cx="2476500" cy="68580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Credential stuffing</a:t>
            </a:r>
          </a:p>
        </p:txBody>
      </p:sp>
      <p:cxnSp>
        <p:nvCxnSpPr>
          <p:cNvPr id="13" name="Straight Arrow Connector 12"/>
          <p:cNvCxnSpPr>
            <a:stCxn id="12" idx="1"/>
            <a:endCxn id="7" idx="3"/>
          </p:cNvCxnSpPr>
          <p:nvPr/>
        </p:nvCxnSpPr>
        <p:spPr>
          <a:xfrm flipH="1">
            <a:off x="7334250" y="2324100"/>
            <a:ext cx="1390650" cy="93345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C501302-59E6-4DEE-9012-D6217FFC6CB6}"/>
              </a:ext>
            </a:extLst>
          </p:cNvPr>
          <p:cNvSpPr>
            <a:spLocks noGrp="1"/>
          </p:cNvSpPr>
          <p:nvPr/>
        </p:nvSpPr>
        <p:spPr>
          <a:xfrm>
            <a:off x="8724900" y="3905250"/>
            <a:ext cx="2476500" cy="685800"/>
          </a:xfrm>
          <a:prstGeom prst="rect">
            <a:avLst/>
          </a:prstGeom>
          <a:solidFill>
            <a:srgbClr val="E4F2E8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Key loggers</a:t>
            </a:r>
          </a:p>
        </p:txBody>
      </p:sp>
      <p:cxnSp>
        <p:nvCxnSpPr>
          <p:cNvPr id="15" name="Straight Arrow Connector 14"/>
          <p:cNvCxnSpPr>
            <a:stCxn id="14" idx="1"/>
            <a:endCxn id="7" idx="3"/>
          </p:cNvCxnSpPr>
          <p:nvPr/>
        </p:nvCxnSpPr>
        <p:spPr>
          <a:xfrm flipH="1" flipV="1">
            <a:off x="7334250" y="3257550"/>
            <a:ext cx="1390650" cy="990600"/>
          </a:xfrm>
          <a:prstGeom prst="straightConnector1">
            <a:avLst/>
          </a:prstGeom>
          <a:ln w="19050">
            <a:solidFill>
              <a:srgbClr val="1B7F8C"/>
            </a:solidFill>
            <a:prstDash val="solid"/>
            <a:tailEnd type="triangl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5E02090-E5FA-4D6A-930B-4171D12CDB41}"/>
              </a:ext>
            </a:extLst>
          </p:cNvPr>
          <p:cNvSpPr>
            <a:spLocks noGrp="1"/>
          </p:cNvSpPr>
          <p:nvPr/>
        </p:nvSpPr>
        <p:spPr>
          <a:xfrm>
            <a:off x="4857750" y="4762500"/>
            <a:ext cx="2476500" cy="685800"/>
          </a:xfrm>
          <a:prstGeom prst="rect">
            <a:avLst/>
          </a:prstGeom>
          <a:solidFill>
            <a:srgbClr val="D9EAF6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Social engineering</a:t>
            </a:r>
          </a:p>
        </p:txBody>
      </p:sp>
      <p:cxnSp>
        <p:nvCxnSpPr>
          <p:cNvPr id="17" name="Straight Arrow Connector 16"/>
          <p:cNvCxnSpPr>
            <a:stCxn id="16" idx="0"/>
            <a:endCxn id="7" idx="2"/>
          </p:cNvCxnSpPr>
          <p:nvPr/>
        </p:nvCxnSpPr>
        <p:spPr>
          <a:xfrm flipV="1">
            <a:off x="6096000" y="3771900"/>
            <a:ext cx="0" cy="99060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93980C6-0B75-49DF-A7E8-FAC75CBEA60E}"/>
              </a:ext>
            </a:extLst>
          </p:cNvPr>
          <p:cNvSpPr>
            <a:spLocks noGrp="1"/>
          </p:cNvSpPr>
          <p:nvPr/>
        </p:nvSpPr>
        <p:spPr>
          <a:xfrm>
            <a:off x="2381250" y="58102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982"/>
          </a:bodyPr>
          <a:lstStyle/>
          <a:p>
            <a:pPr algn="ctr">
              <a:defRPr sz="15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Credenciales débiles, robadas, reutilizadas o capturadas son el punto común.</a:t>
            </a:r>
          </a:p>
        </p:txBody>
      </p:sp>
    </p:spTree>
    <p:extLst>
      <p:ext uri="{BB962C8B-B14F-4D97-AF65-F5344CB8AC3E}">
        <p14:creationId xmlns:p14="http://schemas.microsoft.com/office/powerpoint/2010/main" val="1785682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33483AF-E4C0-4034-B8D4-4DB622F304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C868F5-5B8D-4C78-9599-420B3AF93A6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D318226-3EE3-480C-827A-6750136EF252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413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Una cuenta comprometida se convierte en plataforma de ataque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41DF8E0-82DF-4CBF-A435-6ACA27107907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CE1F7-79B8-4D9A-BBB6-745FAB48DC20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523258-DEB4-44A0-A2AE-DB5617A891E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EBADF3-1A6B-4CEA-AA47-57D48761F275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2000250" cy="895350"/>
          </a:xfrm>
          <a:prstGeom prst="rect">
            <a:avLst/>
          </a:prstGeom>
          <a:solidFill>
            <a:srgbClr val="C84C3A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ACCESO NO</a:t>
            </a:r>
          </a:p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AUTORIZADO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0E8DFC-63F2-4CDB-8A06-EA057D1A06C4}"/>
              </a:ext>
            </a:extLst>
          </p:cNvPr>
          <p:cNvSpPr>
            <a:spLocks noGrp="1"/>
          </p:cNvSpPr>
          <p:nvPr/>
        </p:nvSpPr>
        <p:spPr>
          <a:xfrm>
            <a:off x="3276600" y="1885950"/>
            <a:ext cx="2095500" cy="68580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Correo y archivos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34FCF-B9FA-44E3-938D-1C395AC04B89}"/>
              </a:ext>
            </a:extLst>
          </p:cNvPr>
          <p:cNvSpPr>
            <a:spLocks noGrp="1"/>
          </p:cNvSpPr>
          <p:nvPr/>
        </p:nvSpPr>
        <p:spPr>
          <a:xfrm>
            <a:off x="3276600" y="3009900"/>
            <a:ext cx="2095500" cy="68580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 fontScale="94329"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Acciones en nombre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del usuario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F32ADA-8BD6-47FE-B7A5-6BEEA796F14F}"/>
              </a:ext>
            </a:extLst>
          </p:cNvPr>
          <p:cNvSpPr>
            <a:spLocks noGrp="1"/>
          </p:cNvSpPr>
          <p:nvPr/>
        </p:nvSpPr>
        <p:spPr>
          <a:xfrm>
            <a:off x="3276600" y="4133850"/>
            <a:ext cx="2095500" cy="68580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Datos personales</a:t>
            </a:r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 flipV="1">
            <a:off x="2609850" y="2228850"/>
            <a:ext cx="666750" cy="542925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>
          <a:xfrm>
            <a:off x="2609850" y="2771775"/>
            <a:ext cx="666750" cy="581025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cxnSp>
        <p:nvCxnSpPr>
          <p:cNvPr id="13" name="Straight Arrow Connector 12"/>
          <p:cNvCxnSpPr>
            <a:stCxn id="7" idx="3"/>
            <a:endCxn id="10" idx="1"/>
          </p:cNvCxnSpPr>
          <p:nvPr/>
        </p:nvCxnSpPr>
        <p:spPr>
          <a:xfrm>
            <a:off x="2609850" y="2771775"/>
            <a:ext cx="666750" cy="1704975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7432B-DAA3-4F32-BC15-700EB19694FC}"/>
              </a:ext>
            </a:extLst>
          </p:cNvPr>
          <p:cNvSpPr>
            <a:spLocks noGrp="1"/>
          </p:cNvSpPr>
          <p:nvPr/>
        </p:nvSpPr>
        <p:spPr>
          <a:xfrm>
            <a:off x="6762750" y="1790700"/>
            <a:ext cx="2095500" cy="6667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Filtración de datos</a:t>
            </a:r>
          </a:p>
        </p:txBody>
      </p:sp>
      <p:cxnSp>
        <p:nvCxnSpPr>
          <p:cNvPr id="15" name="Straight Arrow Connector 14"/>
          <p:cNvCxnSpPr>
            <a:stCxn id="8" idx="3"/>
            <a:endCxn id="14" idx="1"/>
          </p:cNvCxnSpPr>
          <p:nvPr/>
        </p:nvCxnSpPr>
        <p:spPr>
          <a:xfrm flipV="1">
            <a:off x="5372100" y="2124075"/>
            <a:ext cx="1390650" cy="104775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5A3EB51-E35F-4165-8583-1B09E987BB76}"/>
              </a:ext>
            </a:extLst>
          </p:cNvPr>
          <p:cNvSpPr>
            <a:spLocks noGrp="1"/>
          </p:cNvSpPr>
          <p:nvPr/>
        </p:nvSpPr>
        <p:spPr>
          <a:xfrm>
            <a:off x="9144000" y="2476500"/>
            <a:ext cx="2095500" cy="6667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Pérdida financiera</a:t>
            </a:r>
          </a:p>
        </p:txBody>
      </p:sp>
      <p:cxnSp>
        <p:nvCxnSpPr>
          <p:cNvPr id="17" name="Straight Arrow Connector 16"/>
          <p:cNvCxnSpPr>
            <a:stCxn id="8" idx="3"/>
            <a:endCxn id="16" idx="1"/>
          </p:cNvCxnSpPr>
          <p:nvPr/>
        </p:nvCxnSpPr>
        <p:spPr>
          <a:xfrm>
            <a:off x="5372100" y="2228850"/>
            <a:ext cx="3771900" cy="581025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63B400A-F743-4A63-A84A-5C6CFBD257F8}"/>
              </a:ext>
            </a:extLst>
          </p:cNvPr>
          <p:cNvSpPr>
            <a:spLocks noGrp="1"/>
          </p:cNvSpPr>
          <p:nvPr/>
        </p:nvSpPr>
        <p:spPr>
          <a:xfrm>
            <a:off x="6762750" y="3657600"/>
            <a:ext cx="2095500" cy="6667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Robo de identidad</a:t>
            </a:r>
          </a:p>
        </p:txBody>
      </p:sp>
      <p:cxnSp>
        <p:nvCxnSpPr>
          <p:cNvPr id="19" name="Straight Arrow Connector 18"/>
          <p:cNvCxnSpPr>
            <a:stCxn id="10" idx="3"/>
            <a:endCxn id="18" idx="1"/>
          </p:cNvCxnSpPr>
          <p:nvPr/>
        </p:nvCxnSpPr>
        <p:spPr>
          <a:xfrm flipV="1">
            <a:off x="5372100" y="3990975"/>
            <a:ext cx="1390650" cy="485775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B1B5CB2-2FBC-4925-B68F-E739EB9FDF25}"/>
              </a:ext>
            </a:extLst>
          </p:cNvPr>
          <p:cNvSpPr>
            <a:spLocks noGrp="1"/>
          </p:cNvSpPr>
          <p:nvPr/>
        </p:nvSpPr>
        <p:spPr>
          <a:xfrm>
            <a:off x="9144000" y="4343400"/>
            <a:ext cx="2095500" cy="6667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Nuevos ataques</a:t>
            </a:r>
          </a:p>
        </p:txBody>
      </p:sp>
      <p:cxnSp>
        <p:nvCxnSpPr>
          <p:cNvPr id="21" name="Straight Arrow Connector 20"/>
          <p:cNvCxnSpPr>
            <a:stCxn id="10" idx="3"/>
            <a:endCxn id="20" idx="1"/>
          </p:cNvCxnSpPr>
          <p:nvPr/>
        </p:nvCxnSpPr>
        <p:spPr>
          <a:xfrm>
            <a:off x="5372100" y="4476750"/>
            <a:ext cx="3771900" cy="200025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982008A4-5288-4625-B0A0-5C22E1334B58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4762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3AF41B-435D-4249-B1A2-A2C1A855DB45}"/>
              </a:ext>
            </a:extLst>
          </p:cNvPr>
          <p:cNvSpPr>
            <a:spLocks noGrp="1"/>
          </p:cNvSpPr>
          <p:nvPr/>
        </p:nvSpPr>
        <p:spPr>
          <a:xfrm>
            <a:off x="838200" y="5600700"/>
            <a:ext cx="1051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Contener la sesión no basta: hay que revisar lo que la identidad pudo leer, cambiar y delegar.</a:t>
            </a:r>
          </a:p>
        </p:txBody>
      </p:sp>
    </p:spTree>
    <p:extLst>
      <p:ext uri="{BB962C8B-B14F-4D97-AF65-F5344CB8AC3E}">
        <p14:creationId xmlns:p14="http://schemas.microsoft.com/office/powerpoint/2010/main" val="1331525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A29BCBB-C4FD-4395-8CA2-0C5141BDD8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6D6C8D-2D0F-46C6-BD97-8C2C69BF40B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26388EF-16B4-4E8C-A9B5-E5153283E18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413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mitigación efectiva superpone identidad, privilegios, telemetría y datos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39199C9-EF37-45AC-BFE2-F90FA9EDFC2E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8F2E52-D082-465C-8E8D-CFFC0E9D9C4F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55B94D-6143-4153-B98A-F75CDB0A8FE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A84283-5285-42B6-871F-74207A1027CA}"/>
              </a:ext>
            </a:extLst>
          </p:cNvPr>
          <p:cNvSpPr>
            <a:spLocks noGrp="1"/>
          </p:cNvSpPr>
          <p:nvPr/>
        </p:nvSpPr>
        <p:spPr>
          <a:xfrm>
            <a:off x="857250" y="1790700"/>
            <a:ext cx="95250" cy="6286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119ABB-B33C-46FA-B051-8A9E84C4FC7B}"/>
              </a:ext>
            </a:extLst>
          </p:cNvPr>
          <p:cNvSpPr>
            <a:spLocks noGrp="1"/>
          </p:cNvSpPr>
          <p:nvPr/>
        </p:nvSpPr>
        <p:spPr>
          <a:xfrm>
            <a:off x="1162050" y="1790700"/>
            <a:ext cx="228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1  IDENTIDAD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A806A0-F9D8-415F-B06C-AFBDC5EAB71E}"/>
              </a:ext>
            </a:extLst>
          </p:cNvPr>
          <p:cNvSpPr>
            <a:spLocks noGrp="1"/>
          </p:cNvSpPr>
          <p:nvPr/>
        </p:nvSpPr>
        <p:spPr>
          <a:xfrm>
            <a:off x="3524250" y="1790700"/>
            <a:ext cx="7715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MFA / 2FA · contraseñas únicas · Entra ID Protection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4218C07-DA21-4AC7-8B07-B413764DF92E}"/>
              </a:ext>
            </a:extLst>
          </p:cNvPr>
          <p:cNvSpPr>
            <a:spLocks noGrp="1"/>
          </p:cNvSpPr>
          <p:nvPr/>
        </p:nvSpPr>
        <p:spPr>
          <a:xfrm>
            <a:off x="1162050" y="2495550"/>
            <a:ext cx="1007745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F3AB02-DC75-42A4-9C7A-8AE82EEE5619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95250" cy="628650"/>
          </a:xfrm>
          <a:prstGeom prst="rect">
            <a:avLst/>
          </a:prstGeom>
          <a:solidFill>
            <a:srgbClr val="1B7F8C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5D1046-DD42-4B67-82B3-5125677166BB}"/>
              </a:ext>
            </a:extLst>
          </p:cNvPr>
          <p:cNvSpPr>
            <a:spLocks noGrp="1"/>
          </p:cNvSpPr>
          <p:nvPr/>
        </p:nvSpPr>
        <p:spPr>
          <a:xfrm>
            <a:off x="1162050" y="2667000"/>
            <a:ext cx="228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B7F8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B7F8C"/>
                </a:solidFill>
                <a:latin typeface="Aptos"/>
                <a:ea typeface="Aptos"/>
                <a:cs typeface="Aptos"/>
              </a:rPr>
              <a:t>2  ACCESO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B6D55C-516F-48F1-B117-EE94180AE2E9}"/>
              </a:ext>
            </a:extLst>
          </p:cNvPr>
          <p:cNvSpPr>
            <a:spLocks noGrp="1"/>
          </p:cNvSpPr>
          <p:nvPr/>
        </p:nvSpPr>
        <p:spPr>
          <a:xfrm>
            <a:off x="3524250" y="2667000"/>
            <a:ext cx="7715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Least privilege · revisión de permisos · Conditional Access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87C29760-7B8D-4784-89B1-FF83B0A56D01}"/>
              </a:ext>
            </a:extLst>
          </p:cNvPr>
          <p:cNvSpPr>
            <a:spLocks noGrp="1"/>
          </p:cNvSpPr>
          <p:nvPr/>
        </p:nvSpPr>
        <p:spPr>
          <a:xfrm>
            <a:off x="1162050" y="3371850"/>
            <a:ext cx="1007745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48C69A-DBE3-4E2A-AA03-9BC6D59085F9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95250" cy="628650"/>
          </a:xfrm>
          <a:prstGeom prst="rect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B54420-E1A3-4964-AADE-A00837C9964A}"/>
              </a:ext>
            </a:extLst>
          </p:cNvPr>
          <p:cNvSpPr>
            <a:spLocks noGrp="1"/>
          </p:cNvSpPr>
          <p:nvPr/>
        </p:nvSpPr>
        <p:spPr>
          <a:xfrm>
            <a:off x="1162050" y="3543300"/>
            <a:ext cx="228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3  DETECCIÓN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1D0BAC-6FEF-4BA0-AF8E-E93681DBDC16}"/>
              </a:ext>
            </a:extLst>
          </p:cNvPr>
          <p:cNvSpPr>
            <a:spLocks noGrp="1"/>
          </p:cNvSpPr>
          <p:nvPr/>
        </p:nvSpPr>
        <p:spPr>
          <a:xfrm>
            <a:off x="3524250" y="3543300"/>
            <a:ext cx="7715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Activity Logs · alertas · SIEM · monitoreo continuo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74466E2-017B-49A8-8DFD-A0D38FF14099}"/>
              </a:ext>
            </a:extLst>
          </p:cNvPr>
          <p:cNvSpPr>
            <a:spLocks noGrp="1"/>
          </p:cNvSpPr>
          <p:nvPr/>
        </p:nvSpPr>
        <p:spPr>
          <a:xfrm>
            <a:off x="1162050" y="4248150"/>
            <a:ext cx="1007745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A40722-E65D-46E6-8372-7E9627FB5233}"/>
              </a:ext>
            </a:extLst>
          </p:cNvPr>
          <p:cNvSpPr>
            <a:spLocks noGrp="1"/>
          </p:cNvSpPr>
          <p:nvPr/>
        </p:nvSpPr>
        <p:spPr>
          <a:xfrm>
            <a:off x="857250" y="4419600"/>
            <a:ext cx="95250" cy="628650"/>
          </a:xfrm>
          <a:prstGeom prst="rect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F383DE-DC03-4F6C-BA8F-D8463B9080B7}"/>
              </a:ext>
            </a:extLst>
          </p:cNvPr>
          <p:cNvSpPr>
            <a:spLocks noGrp="1"/>
          </p:cNvSpPr>
          <p:nvPr/>
        </p:nvSpPr>
        <p:spPr>
          <a:xfrm>
            <a:off x="1162050" y="4419600"/>
            <a:ext cx="228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4  DATOS Y RESPUESTA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C01E94-FE89-425D-BFCA-F1B23965C03E}"/>
              </a:ext>
            </a:extLst>
          </p:cNvPr>
          <p:cNvSpPr>
            <a:spLocks noGrp="1"/>
          </p:cNvSpPr>
          <p:nvPr/>
        </p:nvSpPr>
        <p:spPr>
          <a:xfrm>
            <a:off x="3524250" y="4419600"/>
            <a:ext cx="7715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TLS · DLP · cifrado · patching · plan de incidentes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D1E2130C-D33F-455F-8E46-7775EE79201A}"/>
              </a:ext>
            </a:extLst>
          </p:cNvPr>
          <p:cNvSpPr>
            <a:spLocks noGrp="1"/>
          </p:cNvSpPr>
          <p:nvPr/>
        </p:nvSpPr>
        <p:spPr>
          <a:xfrm>
            <a:off x="1162050" y="5124450"/>
            <a:ext cx="1007745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F629B-CE2D-41FE-B112-9FFADAECB23E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10382250" cy="514350"/>
          </a:xfrm>
          <a:prstGeom prst="rect">
            <a:avLst/>
          </a:prstGeom>
          <a:solidFill>
            <a:srgbClr val="FFF2C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5855C1-C542-4EEC-8904-6A0E3B70968C}"/>
              </a:ext>
            </a:extLst>
          </p:cNvPr>
          <p:cNvSpPr>
            <a:spLocks noGrp="1"/>
          </p:cNvSpPr>
          <p:nvPr/>
        </p:nvSpPr>
        <p:spPr>
          <a:xfrm>
            <a:off x="1066800" y="5543550"/>
            <a:ext cx="996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Recomendación: </a:t>
            </a:r>
            <a:r>
              <a:rPr sz="1500">
                <a:solidFill>
                  <a:srgbClr val="243B53"/>
                </a:solidFill>
                <a:latin typeface="Aptos"/>
                <a:ea typeface="Aptos"/>
                <a:cs typeface="Aptos"/>
              </a:rPr>
              <a:t>priorizar MFA; la expiración periódica no contiene una credencial ya comprometida.</a:t>
            </a:r>
          </a:p>
        </p:txBody>
      </p:sp>
    </p:spTree>
    <p:extLst>
      <p:ext uri="{BB962C8B-B14F-4D97-AF65-F5344CB8AC3E}">
        <p14:creationId xmlns:p14="http://schemas.microsoft.com/office/powerpoint/2010/main" val="107920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B7FA46D-74EB-4E0D-9C41-9EE5107100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B29EDC-5EFF-4B87-BC96-5AA6915DA15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6F0FA88-9BF3-4E1E-86A5-819FFFC3AEB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413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elevación de privilegios busca control administrativo persistente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4CA097C-03D1-4812-99FC-4A32949C0B96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87DD8D-70F8-4571-B870-017CE4E68FBC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C05624-0F33-424C-BEDA-4CE4C2B2810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B54911-B285-427B-AD75-1E150E60F5AC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2095500" cy="87630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Cuenta</a:t>
            </a:r>
          </a:p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comprometida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13FE7E-E2BC-4D03-AD72-D962B2EEE0A8}"/>
              </a:ext>
            </a:extLst>
          </p:cNvPr>
          <p:cNvSpPr>
            <a:spLocks noGrp="1"/>
          </p:cNvSpPr>
          <p:nvPr/>
        </p:nvSpPr>
        <p:spPr>
          <a:xfrm>
            <a:off x="3638550" y="2457450"/>
            <a:ext cx="2095500" cy="87630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Crear o modificar</a:t>
            </a:r>
          </a:p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una identidad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BF9756-999D-4DEE-A052-0C375964C4D3}"/>
              </a:ext>
            </a:extLst>
          </p:cNvPr>
          <p:cNvSpPr>
            <a:spLocks noGrp="1"/>
          </p:cNvSpPr>
          <p:nvPr/>
        </p:nvSpPr>
        <p:spPr>
          <a:xfrm>
            <a:off x="6515100" y="2457450"/>
            <a:ext cx="2095500" cy="876300"/>
          </a:xfrm>
          <a:prstGeom prst="rect">
            <a:avLst/>
          </a:prstGeom>
          <a:solidFill>
            <a:srgbClr val="FFF2CF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Asignar privilegios</a:t>
            </a:r>
          </a:p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administrativos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2287E4-BC11-485B-881B-8A6F86D47364}"/>
              </a:ext>
            </a:extLst>
          </p:cNvPr>
          <p:cNvSpPr>
            <a:spLocks noGrp="1"/>
          </p:cNvSpPr>
          <p:nvPr/>
        </p:nvSpPr>
        <p:spPr>
          <a:xfrm>
            <a:off x="9391650" y="2324100"/>
            <a:ext cx="2095500" cy="1143000"/>
          </a:xfrm>
          <a:prstGeom prst="rect">
            <a:avLst/>
          </a:prstGeom>
          <a:solidFill>
            <a:srgbClr val="C84C3A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</a:t>
            </a:r>
          </a:p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ADMINISTRATOR</a:t>
            </a:r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2857500" y="2895600"/>
            <a:ext cx="7810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>
            <a:off x="5734050" y="2895600"/>
            <a:ext cx="7810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cxnSp>
        <p:nvCxnSpPr>
          <p:cNvPr id="13" name="Straight Arrow Connector 12"/>
          <p:cNvCxnSpPr>
            <a:stCxn id="9" idx="3"/>
            <a:endCxn id="10" idx="1"/>
          </p:cNvCxnSpPr>
          <p:nvPr/>
        </p:nvCxnSpPr>
        <p:spPr>
          <a:xfrm>
            <a:off x="8610600" y="2895600"/>
            <a:ext cx="78105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5F67C-C188-4724-8E7F-E163577E0072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342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3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2–5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46A03B-C297-427B-A6C5-DA6318455777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Global Administrators recomendados por tenant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0D448B-F447-45A4-BECE-FA9460F48D50}"/>
              </a:ext>
            </a:extLst>
          </p:cNvPr>
          <p:cNvSpPr>
            <a:spLocks noGrp="1"/>
          </p:cNvSpPr>
          <p:nvPr/>
        </p:nvSpPr>
        <p:spPr>
          <a:xfrm>
            <a:off x="4762500" y="43053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MFA en administradores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87BB1F-F083-463D-8CB3-073613A33F65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Revisión periódica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F8A45A-3749-47E7-B1D1-683863C5F32C}"/>
              </a:ext>
            </a:extLst>
          </p:cNvPr>
          <p:cNvSpPr>
            <a:spLocks noGrp="1"/>
          </p:cNvSpPr>
          <p:nvPr/>
        </p:nvSpPr>
        <p:spPr>
          <a:xfrm>
            <a:off x="4762500" y="51435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Auditoría y alertas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5C4DB2-1EAF-47B4-8446-3735A1CC8FDD}"/>
              </a:ext>
            </a:extLst>
          </p:cNvPr>
          <p:cNvSpPr>
            <a:spLocks noGrp="1"/>
          </p:cNvSpPr>
          <p:nvPr/>
        </p:nvSpPr>
        <p:spPr>
          <a:xfrm>
            <a:off x="8248650" y="4171950"/>
            <a:ext cx="2990850" cy="1238250"/>
          </a:xfrm>
          <a:prstGeom prst="rect">
            <a:avLst/>
          </a:prstGeom>
          <a:solidFill>
            <a:srgbClr val="F7FAFC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D57115-1009-44BE-9AFF-3467B77BD7D9}"/>
              </a:ext>
            </a:extLst>
          </p:cNvPr>
          <p:cNvSpPr>
            <a:spLocks noGrp="1"/>
          </p:cNvSpPr>
          <p:nvPr/>
        </p:nvSpPr>
        <p:spPr>
          <a:xfrm>
            <a:off x="8477250" y="43053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Riesgo táctico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A20921-67F2-4F89-BFDB-A5B2E3BD4913}"/>
              </a:ext>
            </a:extLst>
          </p:cNvPr>
          <p:cNvSpPr>
            <a:spLocks noGrp="1"/>
          </p:cNvSpPr>
          <p:nvPr/>
        </p:nvSpPr>
        <p:spPr>
          <a:xfrm>
            <a:off x="8477250" y="4629150"/>
            <a:ext cx="2476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44"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“Ocultarse a plena vista” con una cuenta administrativa nueva.</a:t>
            </a:r>
          </a:p>
        </p:txBody>
      </p:sp>
    </p:spTree>
    <p:extLst>
      <p:ext uri="{BB962C8B-B14F-4D97-AF65-F5344CB8AC3E}">
        <p14:creationId xmlns:p14="http://schemas.microsoft.com/office/powerpoint/2010/main" val="365272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B2EF4EE-4A40-41A8-99D9-2A23037C0D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E474A6-5BBB-4E58-8BEC-2FDA9D0C6F4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210C20D-17A9-4255-B009-814ED26A388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413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Después del compromiso, la evidencia está en identidad, configuración y datos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E51CDF-6AB2-4F0D-9C15-007187908393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6C4A3D-F9AE-4792-BDD7-A3E7D27CDBFD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AC916A-D7C0-487F-93E4-026B92B6165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DC9873-F1F7-4951-A5E4-376C42608E65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143250" cy="7620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C69516-D308-47FE-BB49-925F87C90452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IDENTIDAD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CE37C3-3EF4-40A5-B0C1-6E6B34CD4C13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C33D8C-5962-4B94-8D71-F343D113A682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Nuevas cuentas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406521C5-9C85-40DF-8FDB-EB4310DE3169}"/>
              </a:ext>
            </a:extLst>
          </p:cNvPr>
          <p:cNvSpPr>
            <a:spLocks noGrp="1"/>
          </p:cNvSpPr>
          <p:nvPr/>
        </p:nvSpPr>
        <p:spPr>
          <a:xfrm>
            <a:off x="990600" y="3086100"/>
            <a:ext cx="2714625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87A289-306B-4D63-8951-CAC3CD091459}"/>
              </a:ext>
            </a:extLst>
          </p:cNvPr>
          <p:cNvSpPr>
            <a:spLocks noGrp="1"/>
          </p:cNvSpPr>
          <p:nvPr/>
        </p:nvSpPr>
        <p:spPr>
          <a:xfrm>
            <a:off x="609600" y="335280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0624F3-25B0-488D-884E-9A8D797DFB8C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Cuentas modificadas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A7D0ACF-B2AF-48AE-8797-B275507E8C2C}"/>
              </a:ext>
            </a:extLst>
          </p:cNvPr>
          <p:cNvSpPr>
            <a:spLocks noGrp="1"/>
          </p:cNvSpPr>
          <p:nvPr/>
        </p:nvSpPr>
        <p:spPr>
          <a:xfrm>
            <a:off x="990600" y="3829050"/>
            <a:ext cx="2714625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A8C36-7A38-4C39-A8B8-F0DD00C17756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7229AB-E63C-460E-B0FA-BC5B200AD3F6}"/>
              </a:ext>
            </a:extLst>
          </p:cNvPr>
          <p:cNvSpPr>
            <a:spLocks noGrp="1"/>
          </p:cNvSpPr>
          <p:nvPr/>
        </p:nvSpPr>
        <p:spPr>
          <a:xfrm>
            <a:off x="990600" y="401955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238"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Promociones a Global Admin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81C278C-80D2-4E4E-BC4A-1AB00AAF6633}"/>
              </a:ext>
            </a:extLst>
          </p:cNvPr>
          <p:cNvSpPr>
            <a:spLocks noGrp="1"/>
          </p:cNvSpPr>
          <p:nvPr/>
        </p:nvSpPr>
        <p:spPr>
          <a:xfrm>
            <a:off x="990600" y="4572000"/>
            <a:ext cx="2714625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4B1CAB-D5D5-4B93-9C09-17FE1152B52A}"/>
              </a:ext>
            </a:extLst>
          </p:cNvPr>
          <p:cNvSpPr>
            <a:spLocks noGrp="1"/>
          </p:cNvSpPr>
          <p:nvPr/>
        </p:nvSpPr>
        <p:spPr>
          <a:xfrm>
            <a:off x="4267200" y="1790700"/>
            <a:ext cx="3143250" cy="76200"/>
          </a:xfrm>
          <a:prstGeom prst="rect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8B771A-673B-47B2-8077-582D804C35F5}"/>
              </a:ext>
            </a:extLst>
          </p:cNvPr>
          <p:cNvSpPr>
            <a:spLocks noGrp="1"/>
          </p:cNvSpPr>
          <p:nvPr/>
        </p:nvSpPr>
        <p:spPr>
          <a:xfrm>
            <a:off x="4267200" y="20383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CONFIGURACIÓN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99902D-0540-4A35-BCF4-7BEF13BF3AAF}"/>
              </a:ext>
            </a:extLst>
          </p:cNvPr>
          <p:cNvSpPr>
            <a:spLocks noGrp="1"/>
          </p:cNvSpPr>
          <p:nvPr/>
        </p:nvSpPr>
        <p:spPr>
          <a:xfrm>
            <a:off x="4267200" y="26098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6BB4C2-C59B-4A04-AED0-C3069A41B3F1}"/>
              </a:ext>
            </a:extLst>
          </p:cNvPr>
          <p:cNvSpPr>
            <a:spLocks noGrp="1"/>
          </p:cNvSpPr>
          <p:nvPr/>
        </p:nvSpPr>
        <p:spPr>
          <a:xfrm>
            <a:off x="4648200" y="253365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Cambios globales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A7C90C56-A1B8-4578-86DE-9D4258E624D2}"/>
              </a:ext>
            </a:extLst>
          </p:cNvPr>
          <p:cNvSpPr>
            <a:spLocks noGrp="1"/>
          </p:cNvSpPr>
          <p:nvPr/>
        </p:nvSpPr>
        <p:spPr>
          <a:xfrm>
            <a:off x="4648200" y="3086100"/>
            <a:ext cx="2714625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D09239-70DD-4E62-8FF2-0AFA5CD2D384}"/>
              </a:ext>
            </a:extLst>
          </p:cNvPr>
          <p:cNvSpPr>
            <a:spLocks noGrp="1"/>
          </p:cNvSpPr>
          <p:nvPr/>
        </p:nvSpPr>
        <p:spPr>
          <a:xfrm>
            <a:off x="4267200" y="335280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7C6819-3EA6-4A3C-B48F-0506C15C5DC6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Permisos y ACL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8CDE5E72-006D-4022-A83F-267921EA0855}"/>
              </a:ext>
            </a:extLst>
          </p:cNvPr>
          <p:cNvSpPr>
            <a:spLocks noGrp="1"/>
          </p:cNvSpPr>
          <p:nvPr/>
        </p:nvSpPr>
        <p:spPr>
          <a:xfrm>
            <a:off x="4648200" y="3829050"/>
            <a:ext cx="2714625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A506DE-6F55-4043-9195-6296157E5983}"/>
              </a:ext>
            </a:extLst>
          </p:cNvPr>
          <p:cNvSpPr>
            <a:spLocks noGrp="1"/>
          </p:cNvSpPr>
          <p:nvPr/>
        </p:nvSpPr>
        <p:spPr>
          <a:xfrm>
            <a:off x="4267200" y="4095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C2898B-1D7A-4D61-B66A-7D6F164AFFC7}"/>
              </a:ext>
            </a:extLst>
          </p:cNvPr>
          <p:cNvSpPr>
            <a:spLocks noGrp="1"/>
          </p:cNvSpPr>
          <p:nvPr/>
        </p:nvSpPr>
        <p:spPr>
          <a:xfrm>
            <a:off x="4648200" y="401955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Delegación de buzones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DC6D3FDF-DC28-4D9D-918C-0BDA6C56EFF2}"/>
              </a:ext>
            </a:extLst>
          </p:cNvPr>
          <p:cNvSpPr>
            <a:spLocks noGrp="1"/>
          </p:cNvSpPr>
          <p:nvPr/>
        </p:nvSpPr>
        <p:spPr>
          <a:xfrm>
            <a:off x="4648200" y="4572000"/>
            <a:ext cx="2714625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F8442D-DACA-4DED-B04B-8239808F0BC2}"/>
              </a:ext>
            </a:extLst>
          </p:cNvPr>
          <p:cNvSpPr>
            <a:spLocks noGrp="1"/>
          </p:cNvSpPr>
          <p:nvPr/>
        </p:nvSpPr>
        <p:spPr>
          <a:xfrm>
            <a:off x="7924800" y="1790700"/>
            <a:ext cx="3143250" cy="76200"/>
          </a:xfrm>
          <a:prstGeom prst="rect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FCF116-5D37-42AF-A99B-1540750A3BCB}"/>
              </a:ext>
            </a:extLst>
          </p:cNvPr>
          <p:cNvSpPr>
            <a:spLocks noGrp="1"/>
          </p:cNvSpPr>
          <p:nvPr/>
        </p:nvSpPr>
        <p:spPr>
          <a:xfrm>
            <a:off x="7924800" y="20383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DATOS Y MENSAJERÍA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9E7B10-3442-4E63-A4D0-3EA7E50F286F}"/>
              </a:ext>
            </a:extLst>
          </p:cNvPr>
          <p:cNvSpPr>
            <a:spLocks noGrp="1"/>
          </p:cNvSpPr>
          <p:nvPr/>
        </p:nvSpPr>
        <p:spPr>
          <a:xfrm>
            <a:off x="7924800" y="26098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A13F4B-6349-4AA6-9AFA-D8E498AAD69E}"/>
              </a:ext>
            </a:extLst>
          </p:cNvPr>
          <p:cNvSpPr>
            <a:spLocks noGrp="1"/>
          </p:cNvSpPr>
          <p:nvPr/>
        </p:nvSpPr>
        <p:spPr>
          <a:xfrm>
            <a:off x="8305800" y="253365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Interacciones con datos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2C8FACF4-C067-4CCF-A468-81117DFC036A}"/>
              </a:ext>
            </a:extLst>
          </p:cNvPr>
          <p:cNvSpPr>
            <a:spLocks noGrp="1"/>
          </p:cNvSpPr>
          <p:nvPr/>
        </p:nvSpPr>
        <p:spPr>
          <a:xfrm>
            <a:off x="8305800" y="3086100"/>
            <a:ext cx="2714625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19E126-3BDF-4584-8696-1DC9123E3472}"/>
              </a:ext>
            </a:extLst>
          </p:cNvPr>
          <p:cNvSpPr>
            <a:spLocks noGrp="1"/>
          </p:cNvSpPr>
          <p:nvPr/>
        </p:nvSpPr>
        <p:spPr>
          <a:xfrm>
            <a:off x="7924800" y="335280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31F272-37C0-4C69-9A16-AB48B41E6FF3}"/>
              </a:ext>
            </a:extLst>
          </p:cNvPr>
          <p:cNvSpPr>
            <a:spLocks noGrp="1"/>
          </p:cNvSpPr>
          <p:nvPr/>
        </p:nvSpPr>
        <p:spPr>
          <a:xfrm>
            <a:off x="8305800" y="327660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Reglas de forwarding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7C1A622F-D0CF-4BE2-9BB1-91E6A20E73D6}"/>
              </a:ext>
            </a:extLst>
          </p:cNvPr>
          <p:cNvSpPr>
            <a:spLocks noGrp="1"/>
          </p:cNvSpPr>
          <p:nvPr/>
        </p:nvSpPr>
        <p:spPr>
          <a:xfrm>
            <a:off x="8305800" y="3829050"/>
            <a:ext cx="2714625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1FA325-F61B-4AC5-805F-1F54EE39AD36}"/>
              </a:ext>
            </a:extLst>
          </p:cNvPr>
          <p:cNvSpPr>
            <a:spLocks noGrp="1"/>
          </p:cNvSpPr>
          <p:nvPr/>
        </p:nvSpPr>
        <p:spPr>
          <a:xfrm>
            <a:off x="7924800" y="409575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E83B82-E7CF-4CE6-930F-BBD03581A185}"/>
              </a:ext>
            </a:extLst>
          </p:cNvPr>
          <p:cNvSpPr>
            <a:spLocks noGrp="1"/>
          </p:cNvSpPr>
          <p:nvPr/>
        </p:nvSpPr>
        <p:spPr>
          <a:xfrm>
            <a:off x="8305800" y="401955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Reglas de transporte</a:t>
            </a:r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CBEEFCBA-B4AF-4512-995F-B172D250FFD2}"/>
              </a:ext>
            </a:extLst>
          </p:cNvPr>
          <p:cNvSpPr>
            <a:spLocks noGrp="1"/>
          </p:cNvSpPr>
          <p:nvPr/>
        </p:nvSpPr>
        <p:spPr>
          <a:xfrm>
            <a:off x="8305800" y="4572000"/>
            <a:ext cx="2714625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F485E71-6ADA-430C-AE89-288A0CC771B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458450" cy="5143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CBEA7-1652-4CD9-8F1F-68D59B7A6881}"/>
              </a:ext>
            </a:extLst>
          </p:cNvPr>
          <p:cNvSpPr>
            <a:spLocks noGrp="1"/>
          </p:cNvSpPr>
          <p:nvPr/>
        </p:nvSpPr>
        <p:spPr>
          <a:xfrm>
            <a:off x="857250" y="5467350"/>
            <a:ext cx="9963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Preservar evidencia antes de corregir acelera el análisis y evita perder contexto.</a:t>
            </a:r>
          </a:p>
        </p:txBody>
      </p:sp>
    </p:spTree>
    <p:extLst>
      <p:ext uri="{BB962C8B-B14F-4D97-AF65-F5344CB8AC3E}">
        <p14:creationId xmlns:p14="http://schemas.microsoft.com/office/powerpoint/2010/main" val="1217403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F444B20-AA63-4FC2-B1C2-920414103F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B8C8DE-71D8-44EC-8A80-45A45B15DFE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6881C0F-E7EB-4F61-A700-01C2CEB03543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9392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exfiltración combina acceso, movimiento y monetización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3BD95A5-A6BC-46F8-BE39-6C09B052AC9D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341F8-5219-4822-85B7-D5CEAF19D65D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3EBFBD-2CE2-4CE2-A2AF-38FD99A3521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636923-4293-404B-88F3-9A154A42094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DATOS DE INTERÉS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0C8C07-3BC2-41E7-A3D5-682B9F453969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16192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Correo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Documentos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Conversaciones</a:t>
            </a:r>
          </a:p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Directorio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50BA3D-A25B-45CC-AE1D-CF9BE9340B60}"/>
              </a:ext>
            </a:extLst>
          </p:cNvPr>
          <p:cNvSpPr>
            <a:spLocks noGrp="1"/>
          </p:cNvSpPr>
          <p:nvPr/>
        </p:nvSpPr>
        <p:spPr>
          <a:xfrm>
            <a:off x="4857750" y="2305050"/>
            <a:ext cx="2476500" cy="1200150"/>
          </a:xfrm>
          <a:prstGeom prst="rect">
            <a:avLst/>
          </a:prstGeom>
          <a:solidFill>
            <a:srgbClr val="C84C3A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EXTRACCIÓN</a:t>
            </a:r>
          </a:p>
          <a:p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AUTORIZADA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6BDA3E-9386-4089-8A61-3B263836E711}"/>
              </a:ext>
            </a:extLst>
          </p:cNvPr>
          <p:cNvSpPr>
            <a:spLocks noGrp="1"/>
          </p:cNvSpPr>
          <p:nvPr/>
        </p:nvSpPr>
        <p:spPr>
          <a:xfrm>
            <a:off x="9296400" y="2095500"/>
            <a:ext cx="2286000" cy="16192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Propiedad intelectual</a:t>
            </a:r>
          </a:p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Extorsión</a:t>
            </a:r>
          </a:p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Venta de datos</a:t>
            </a:r>
          </a:p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Persistencia</a:t>
            </a:r>
          </a:p>
        </p:txBody>
      </p:sp>
      <p:cxnSp>
        <p:nvCxnSpPr>
          <p:cNvPr id="11" name="Straight Arrow Connector 10"/>
          <p:cNvCxnSpPr>
            <a:stCxn id="8" idx="3"/>
            <a:endCxn id="9" idx="1"/>
          </p:cNvCxnSpPr>
          <p:nvPr/>
        </p:nvCxnSpPr>
        <p:spPr>
          <a:xfrm>
            <a:off x="2895600" y="2905125"/>
            <a:ext cx="19621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cxnSp>
        <p:nvCxnSpPr>
          <p:cNvPr id="12" name="Straight Arrow Connector 11"/>
          <p:cNvCxnSpPr>
            <a:stCxn id="9" idx="3"/>
            <a:endCxn id="10" idx="1"/>
          </p:cNvCxnSpPr>
          <p:nvPr/>
        </p:nvCxnSpPr>
        <p:spPr>
          <a:xfrm>
            <a:off x="7334250" y="2905125"/>
            <a:ext cx="196215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2163AE0-1628-4874-99FF-CCFED69BAE37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B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7F8C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62153-F751-4028-95FD-6ACFE976627B}"/>
              </a:ext>
            </a:extLst>
          </p:cNvPr>
          <p:cNvSpPr>
            <a:spLocks noGrp="1"/>
          </p:cNvSpPr>
          <p:nvPr/>
        </p:nvSpPr>
        <p:spPr>
          <a:xfrm>
            <a:off x="609600" y="4629150"/>
            <a:ext cx="76200" cy="628650"/>
          </a:xfrm>
          <a:prstGeom prst="rect">
            <a:avLst/>
          </a:prstGeom>
          <a:solidFill>
            <a:srgbClr val="1B7F8C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84A996-997F-447B-BC93-4E7CB7396F96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1847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ACL y mínimo privilegio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8126DE-3A52-43A9-BFDB-28A9A797B160}"/>
              </a:ext>
            </a:extLst>
          </p:cNvPr>
          <p:cNvSpPr>
            <a:spLocks noGrp="1"/>
          </p:cNvSpPr>
          <p:nvPr/>
        </p:nvSpPr>
        <p:spPr>
          <a:xfrm>
            <a:off x="2800350" y="4629150"/>
            <a:ext cx="76200" cy="628650"/>
          </a:xfrm>
          <a:prstGeom prst="rect">
            <a:avLst/>
          </a:prstGeom>
          <a:solidFill>
            <a:srgbClr val="1B7F8C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A7F564-2D52-4E77-AC75-98F38D942884}"/>
              </a:ext>
            </a:extLst>
          </p:cNvPr>
          <p:cNvSpPr>
            <a:spLocks noGrp="1"/>
          </p:cNvSpPr>
          <p:nvPr/>
        </p:nvSpPr>
        <p:spPr>
          <a:xfrm>
            <a:off x="2990850" y="4591050"/>
            <a:ext cx="1847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External sharing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B9DCF4-6008-4ED1-9E5A-ACB12BC077CB}"/>
              </a:ext>
            </a:extLst>
          </p:cNvPr>
          <p:cNvSpPr>
            <a:spLocks noGrp="1"/>
          </p:cNvSpPr>
          <p:nvPr/>
        </p:nvSpPr>
        <p:spPr>
          <a:xfrm>
            <a:off x="4991100" y="4629150"/>
            <a:ext cx="76200" cy="628650"/>
          </a:xfrm>
          <a:prstGeom prst="rect">
            <a:avLst/>
          </a:prstGeom>
          <a:solidFill>
            <a:srgbClr val="1B7F8C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FAA1CB-1668-4203-A262-A217FE5F5E71}"/>
              </a:ext>
            </a:extLst>
          </p:cNvPr>
          <p:cNvSpPr>
            <a:spLocks noGrp="1"/>
          </p:cNvSpPr>
          <p:nvPr/>
        </p:nvSpPr>
        <p:spPr>
          <a:xfrm>
            <a:off x="5181600" y="4591050"/>
            <a:ext cx="1847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Clasificación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BFC1B7-1378-44DC-A03E-DE739102DDF4}"/>
              </a:ext>
            </a:extLst>
          </p:cNvPr>
          <p:cNvSpPr>
            <a:spLocks noGrp="1"/>
          </p:cNvSpPr>
          <p:nvPr/>
        </p:nvSpPr>
        <p:spPr>
          <a:xfrm>
            <a:off x="7181850" y="4629150"/>
            <a:ext cx="76200" cy="628650"/>
          </a:xfrm>
          <a:prstGeom prst="rect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00CA60-B201-4CB2-84AF-2A8C2ABC2F63}"/>
              </a:ext>
            </a:extLst>
          </p:cNvPr>
          <p:cNvSpPr>
            <a:spLocks noGrp="1"/>
          </p:cNvSpPr>
          <p:nvPr/>
        </p:nvSpPr>
        <p:spPr>
          <a:xfrm>
            <a:off x="7372350" y="4591050"/>
            <a:ext cx="1847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Purview DLP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0739D3-438F-4583-A89D-FA487AB63546}"/>
              </a:ext>
            </a:extLst>
          </p:cNvPr>
          <p:cNvSpPr>
            <a:spLocks noGrp="1"/>
          </p:cNvSpPr>
          <p:nvPr/>
        </p:nvSpPr>
        <p:spPr>
          <a:xfrm>
            <a:off x="9372600" y="4629150"/>
            <a:ext cx="76200" cy="628650"/>
          </a:xfrm>
          <a:prstGeom prst="rect">
            <a:avLst/>
          </a:prstGeom>
          <a:solidFill>
            <a:srgbClr val="1B7F8C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4F9FC6-DC86-4681-812E-B0BBE646CAC2}"/>
              </a:ext>
            </a:extLst>
          </p:cNvPr>
          <p:cNvSpPr>
            <a:spLocks noGrp="1"/>
          </p:cNvSpPr>
          <p:nvPr/>
        </p:nvSpPr>
        <p:spPr>
          <a:xfrm>
            <a:off x="9563100" y="4591050"/>
            <a:ext cx="18478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Auditoría y alertas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1CB9D1-5887-4FA7-9BE8-355B3D92FA85}"/>
              </a:ext>
            </a:extLst>
          </p:cNvPr>
          <p:cNvSpPr>
            <a:spLocks noGrp="1"/>
          </p:cNvSpPr>
          <p:nvPr/>
        </p:nvSpPr>
        <p:spPr>
          <a:xfrm>
            <a:off x="1809750" y="56388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Objetivo: limitar quién accede, qué puede mover y dónde puede compartir.</a:t>
            </a:r>
          </a:p>
        </p:txBody>
      </p:sp>
    </p:spTree>
    <p:extLst>
      <p:ext uri="{BB962C8B-B14F-4D97-AF65-F5344CB8AC3E}">
        <p14:creationId xmlns:p14="http://schemas.microsoft.com/office/powerpoint/2010/main" val="914752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92290CA-EA03-40BB-9F09-B8424A20D5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EA57BD-A4BD-48F9-9D66-8F033AB18CA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DE3A290-6C6E-46C2-B46A-4D40AD1620D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732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eliminación de datos busca negar la recuperación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9444A0E-B79F-4D96-8F8E-F93BCF949032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1C3FAD-386E-4ECA-91D9-B1CF597B3A56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48606-FB08-4E15-8D39-325A4F1E23C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D57055-C0C1-4AB2-92CA-0A3834D1F536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2190750" cy="8191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Compromiso o</a:t>
            </a:r>
          </a:p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vulnerabilidad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41DE0F-3D97-4581-8A51-8BC1476D05CA}"/>
              </a:ext>
            </a:extLst>
          </p:cNvPr>
          <p:cNvSpPr>
            <a:spLocks noGrp="1"/>
          </p:cNvSpPr>
          <p:nvPr/>
        </p:nvSpPr>
        <p:spPr>
          <a:xfrm>
            <a:off x="3867150" y="2038350"/>
            <a:ext cx="2190750" cy="819150"/>
          </a:xfrm>
          <a:prstGeom prst="rect">
            <a:avLst/>
          </a:prstGeom>
          <a:solidFill>
            <a:srgbClr val="C84C3A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Cifrado o</a:t>
            </a:r>
          </a:p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eliminación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6A1835-97A6-4C10-9530-92BCBF585970}"/>
              </a:ext>
            </a:extLst>
          </p:cNvPr>
          <p:cNvSpPr>
            <a:spLocks noGrp="1"/>
          </p:cNvSpPr>
          <p:nvPr/>
        </p:nvSpPr>
        <p:spPr>
          <a:xfrm>
            <a:off x="6877050" y="2038350"/>
            <a:ext cx="2190750" cy="819150"/>
          </a:xfrm>
          <a:prstGeom prst="rect">
            <a:avLst/>
          </a:prstGeom>
          <a:solidFill>
            <a:srgbClr val="FFF2CF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Papelera y copias</a:t>
            </a:r>
          </a:p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online afectadas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10D9F-E130-49D1-8964-13369E29333A}"/>
              </a:ext>
            </a:extLst>
          </p:cNvPr>
          <p:cNvSpPr>
            <a:spLocks noGrp="1"/>
          </p:cNvSpPr>
          <p:nvPr/>
        </p:nvSpPr>
        <p:spPr>
          <a:xfrm>
            <a:off x="9886950" y="2038350"/>
            <a:ext cx="1714500" cy="8191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Interrupción y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extorsión</a:t>
            </a:r>
          </a:p>
        </p:txBody>
      </p:sp>
      <p:cxnSp>
        <p:nvCxnSpPr>
          <p:cNvPr id="11" name="Straight Arrow Connector 10"/>
          <p:cNvCxnSpPr>
            <a:stCxn id="7" idx="3"/>
            <a:endCxn id="8" idx="1"/>
          </p:cNvCxnSpPr>
          <p:nvPr/>
        </p:nvCxnSpPr>
        <p:spPr>
          <a:xfrm>
            <a:off x="3048000" y="2447925"/>
            <a:ext cx="81915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cxnSp>
        <p:nvCxnSpPr>
          <p:cNvPr id="12" name="Straight Arrow Connector 11"/>
          <p:cNvCxnSpPr>
            <a:stCxn id="8" idx="3"/>
            <a:endCxn id="9" idx="1"/>
          </p:cNvCxnSpPr>
          <p:nvPr/>
        </p:nvCxnSpPr>
        <p:spPr>
          <a:xfrm>
            <a:off x="6057900" y="2447925"/>
            <a:ext cx="81915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cxnSp>
        <p:nvCxnSpPr>
          <p:cNvPr id="13" name="Straight Arrow Connector 12"/>
          <p:cNvCxnSpPr>
            <a:stCxn id="9" idx="3"/>
            <a:endCxn id="10" idx="1"/>
          </p:cNvCxnSpPr>
          <p:nvPr/>
        </p:nvCxnSpPr>
        <p:spPr>
          <a:xfrm>
            <a:off x="9067800" y="2447925"/>
            <a:ext cx="81915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8EB748B-0AB8-4F59-9C03-0BAD83B78792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10744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1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RANSOMWARE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01EA5D7-C07C-468F-ADAF-87E116398DDB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293FC1-F440-4A46-9BBB-227A5BCD4DFA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MFA + RBAC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690F19-E879-41AE-9B1C-1BC7094DF69B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limitar acceso y eliminación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F502026-47D6-4F83-B440-D39DBAC37C43}"/>
              </a:ext>
            </a:extLst>
          </p:cNvPr>
          <p:cNvSpPr>
            <a:spLocks noGrp="1"/>
          </p:cNvSpPr>
          <p:nvPr/>
        </p:nvSpPr>
        <p:spPr>
          <a:xfrm>
            <a:off x="3124200" y="4305300"/>
            <a:ext cx="0" cy="10287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5A9908-40E5-43F7-BC5C-7F8928AC84C2}"/>
              </a:ext>
            </a:extLst>
          </p:cNvPr>
          <p:cNvSpPr>
            <a:spLocks noGrp="1"/>
          </p:cNvSpPr>
          <p:nvPr/>
        </p:nvSpPr>
        <p:spPr>
          <a:xfrm>
            <a:off x="3352800" y="4324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Alertas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C4F48C-0D74-4BB2-A57A-F798D51C110B}"/>
              </a:ext>
            </a:extLst>
          </p:cNvPr>
          <p:cNvSpPr>
            <a:spLocks noGrp="1"/>
          </p:cNvSpPr>
          <p:nvPr/>
        </p:nvSpPr>
        <p:spPr>
          <a:xfrm>
            <a:off x="3352800" y="47053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detectar sesiones y borrados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72548B44-C361-4725-AD69-5B1735F1DAAE}"/>
              </a:ext>
            </a:extLst>
          </p:cNvPr>
          <p:cNvSpPr>
            <a:spLocks noGrp="1"/>
          </p:cNvSpPr>
          <p:nvPr/>
        </p:nvSpPr>
        <p:spPr>
          <a:xfrm>
            <a:off x="5867400" y="4305300"/>
            <a:ext cx="0" cy="10287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3B21A9-C59A-4072-A6FE-B18FEC4AE177}"/>
              </a:ext>
            </a:extLst>
          </p:cNvPr>
          <p:cNvSpPr>
            <a:spLocks noGrp="1"/>
          </p:cNvSpPr>
          <p:nvPr/>
        </p:nvSpPr>
        <p:spPr>
          <a:xfrm>
            <a:off x="6096000" y="4324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Patching + Defender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131343-0160-484C-B048-EDA295852E99}"/>
              </a:ext>
            </a:extLst>
          </p:cNvPr>
          <p:cNvSpPr>
            <a:spLocks noGrp="1"/>
          </p:cNvSpPr>
          <p:nvPr/>
        </p:nvSpPr>
        <p:spPr>
          <a:xfrm>
            <a:off x="6096000" y="47053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reducir ejecución maliciosa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5B778D7A-5B56-4173-8DEF-7CA6E34E75B3}"/>
              </a:ext>
            </a:extLst>
          </p:cNvPr>
          <p:cNvSpPr>
            <a:spLocks noGrp="1"/>
          </p:cNvSpPr>
          <p:nvPr/>
        </p:nvSpPr>
        <p:spPr>
          <a:xfrm>
            <a:off x="8610600" y="4305300"/>
            <a:ext cx="0" cy="10287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D3CC29-F47E-4303-9D2B-0C8B382BBABA}"/>
              </a:ext>
            </a:extLst>
          </p:cNvPr>
          <p:cNvSpPr>
            <a:spLocks noGrp="1"/>
          </p:cNvSpPr>
          <p:nvPr/>
        </p:nvSpPr>
        <p:spPr>
          <a:xfrm>
            <a:off x="8839200" y="4324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BACKUP OFFLINE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44472E-EA27-44A0-B90D-C4EF2ADA53AC}"/>
              </a:ext>
            </a:extLst>
          </p:cNvPr>
          <p:cNvSpPr>
            <a:spLocks noGrp="1"/>
          </p:cNvSpPr>
          <p:nvPr/>
        </p:nvSpPr>
        <p:spPr>
          <a:xfrm>
            <a:off x="8839200" y="47053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restaurar fuera de las cuentas online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846559-EA73-4763-845D-197A8F3AC845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361950"/>
          </a:xfrm>
          <a:prstGeom prst="rect">
            <a:avLst/>
          </a:prstGeom>
          <a:solidFill>
            <a:srgbClr val="FFF2C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0DBD1C-EE36-46E5-80B0-405072C3E01C}"/>
              </a:ext>
            </a:extLst>
          </p:cNvPr>
          <p:cNvSpPr>
            <a:spLocks noGrp="1"/>
          </p:cNvSpPr>
          <p:nvPr/>
        </p:nvSpPr>
        <p:spPr>
          <a:xfrm>
            <a:off x="781050" y="5676900"/>
            <a:ext cx="1062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redundancia de Microsoft 365 favorece disponibilidad; no sustituye la copia offline de datos críticos.</a:t>
            </a:r>
          </a:p>
        </p:txBody>
      </p:sp>
    </p:spTree>
    <p:extLst>
      <p:ext uri="{BB962C8B-B14F-4D97-AF65-F5344CB8AC3E}">
        <p14:creationId xmlns:p14="http://schemas.microsoft.com/office/powerpoint/2010/main" val="1915314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365F59D-A791-4AE0-93C7-3C4607F3B3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86285-D90B-40A2-9DCF-A56608BAE51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B8A5C91-05D5-4042-85DC-3D5EFD0037A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9427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 incidente de data spillage exige ocho pasos controlados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FEA962F-0B82-4BE4-A8D5-807F8622B01E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A59319-80D8-464A-B294-AE4710E1E056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8CF2D-1C99-4AC6-9A9B-C8FD11226E6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FCBC93-9A18-496E-BF3D-31EA0661A8A4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400050" cy="4000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A5207-107C-4B4B-B96A-F8CD7CDDAC51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spill-0">
            <a:extLst>
              <a:ext uri="{FF2B5EF4-FFF2-40B4-BE49-F238E27FC236}">
                <a16:creationId xmlns:a16="http://schemas.microsoft.com/office/drawing/2014/main" id="{5E374CC7-C6BE-40A8-B6F7-27390165EC3B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1905000" cy="7048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Controlar acceso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FD5F96C-B498-402E-95E8-DA40556A458A}"/>
              </a:ext>
            </a:extLst>
          </p:cNvPr>
          <p:cNvSpPr>
            <a:spLocks noGrp="1"/>
          </p:cNvSpPr>
          <p:nvPr/>
        </p:nvSpPr>
        <p:spPr>
          <a:xfrm>
            <a:off x="3505200" y="2038350"/>
            <a:ext cx="400050" cy="4000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805D72-9D28-4992-AAF2-EE25BC0D786E}"/>
              </a:ext>
            </a:extLst>
          </p:cNvPr>
          <p:cNvSpPr>
            <a:spLocks noGrp="1"/>
          </p:cNvSpPr>
          <p:nvPr/>
        </p:nvSpPr>
        <p:spPr>
          <a:xfrm>
            <a:off x="3505200" y="2038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spill-1">
            <a:extLst>
              <a:ext uri="{FF2B5EF4-FFF2-40B4-BE49-F238E27FC236}">
                <a16:creationId xmlns:a16="http://schemas.microsoft.com/office/drawing/2014/main" id="{0E390A4E-39D1-40E2-B71E-F32F1F05A662}"/>
              </a:ext>
            </a:extLst>
          </p:cNvPr>
          <p:cNvSpPr>
            <a:spLocks noGrp="1"/>
          </p:cNvSpPr>
          <p:nvPr/>
        </p:nvSpPr>
        <p:spPr>
          <a:xfrm>
            <a:off x="4057650" y="1962150"/>
            <a:ext cx="1905000" cy="7048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Crear caso</a:t>
            </a:r>
          </a:p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eDiscovery</a:t>
            </a:r>
          </a:p>
        </p:txBody>
      </p:sp>
      <p:cxnSp>
        <p:nvCxnSpPr>
          <p:cNvPr id="13" name="Straight Arrow Connector 12"/>
          <p:cNvCxnSpPr>
            <a:stCxn id="9" idx="3"/>
            <a:endCxn id="12" idx="1"/>
          </p:cNvCxnSpPr>
          <p:nvPr/>
        </p:nvCxnSpPr>
        <p:spPr>
          <a:xfrm>
            <a:off x="3162300" y="2314575"/>
            <a:ext cx="8953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C2A011B-282D-4BCC-A769-0B0804139FC1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400050" cy="4000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B9456E-7DC9-43D3-BF52-2A1C2E637D4B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spill-2">
            <a:extLst>
              <a:ext uri="{FF2B5EF4-FFF2-40B4-BE49-F238E27FC236}">
                <a16:creationId xmlns:a16="http://schemas.microsoft.com/office/drawing/2014/main" id="{3AD08F4C-2D9C-4F50-BD35-25D23A3C2E82}"/>
              </a:ext>
            </a:extLst>
          </p:cNvPr>
          <p:cNvSpPr>
            <a:spLocks noGrp="1"/>
          </p:cNvSpPr>
          <p:nvPr/>
        </p:nvSpPr>
        <p:spPr>
          <a:xfrm>
            <a:off x="6858000" y="1962150"/>
            <a:ext cx="1905000" cy="7048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Buscar datos</a:t>
            </a:r>
          </a:p>
        </p:txBody>
      </p:sp>
      <p:cxnSp>
        <p:nvCxnSpPr>
          <p:cNvPr id="17" name="Straight Arrow Connector 16"/>
          <p:cNvCxnSpPr>
            <a:stCxn id="12" idx="3"/>
            <a:endCxn id="16" idx="1"/>
          </p:cNvCxnSpPr>
          <p:nvPr/>
        </p:nvCxnSpPr>
        <p:spPr>
          <a:xfrm>
            <a:off x="5962650" y="2314575"/>
            <a:ext cx="8953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7BF1F9A-4A9B-4747-98E9-0A75F590DF27}"/>
              </a:ext>
            </a:extLst>
          </p:cNvPr>
          <p:cNvSpPr>
            <a:spLocks noGrp="1"/>
          </p:cNvSpPr>
          <p:nvPr/>
        </p:nvSpPr>
        <p:spPr>
          <a:xfrm>
            <a:off x="9105900" y="2038350"/>
            <a:ext cx="400050" cy="4000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4227B2-7073-4347-AD53-8EA9091357DA}"/>
              </a:ext>
            </a:extLst>
          </p:cNvPr>
          <p:cNvSpPr>
            <a:spLocks noGrp="1"/>
          </p:cNvSpPr>
          <p:nvPr/>
        </p:nvSpPr>
        <p:spPr>
          <a:xfrm>
            <a:off x="9105900" y="2038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spill-3">
            <a:extLst>
              <a:ext uri="{FF2B5EF4-FFF2-40B4-BE49-F238E27FC236}">
                <a16:creationId xmlns:a16="http://schemas.microsoft.com/office/drawing/2014/main" id="{55A454C6-310E-423F-8B56-E68CABC6D751}"/>
              </a:ext>
            </a:extLst>
          </p:cNvPr>
          <p:cNvSpPr>
            <a:spLocks noGrp="1"/>
          </p:cNvSpPr>
          <p:nvPr/>
        </p:nvSpPr>
        <p:spPr>
          <a:xfrm>
            <a:off x="9658350" y="1962150"/>
            <a:ext cx="1905000" cy="7048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Validar</a:t>
            </a:r>
          </a:p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cxnSp>
        <p:nvCxnSpPr>
          <p:cNvPr id="21" name="Straight Arrow Connector 20"/>
          <p:cNvCxnSpPr>
            <a:stCxn id="16" idx="3"/>
            <a:endCxn id="20" idx="1"/>
          </p:cNvCxnSpPr>
          <p:nvPr/>
        </p:nvCxnSpPr>
        <p:spPr>
          <a:xfrm>
            <a:off x="8763000" y="2314575"/>
            <a:ext cx="8953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4FEF6E29-4FC9-4E6E-B66C-BF6B2313908E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400050" cy="4000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15A621-C13E-42DD-98BF-F5A513ECD83C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spill-4">
            <a:extLst>
              <a:ext uri="{FF2B5EF4-FFF2-40B4-BE49-F238E27FC236}">
                <a16:creationId xmlns:a16="http://schemas.microsoft.com/office/drawing/2014/main" id="{B155AABE-4069-41AD-BC60-B91EABA37D22}"/>
              </a:ext>
            </a:extLst>
          </p:cNvPr>
          <p:cNvSpPr>
            <a:spLocks noGrp="1"/>
          </p:cNvSpPr>
          <p:nvPr/>
        </p:nvSpPr>
        <p:spPr>
          <a:xfrm>
            <a:off x="1257300" y="4019550"/>
            <a:ext cx="1905000" cy="7048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Revisar</a:t>
            </a:r>
          </a:p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Message Trace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8011149-6246-4F07-AE06-46EA21ABBD3B}"/>
              </a:ext>
            </a:extLst>
          </p:cNvPr>
          <p:cNvSpPr>
            <a:spLocks noGrp="1"/>
          </p:cNvSpPr>
          <p:nvPr/>
        </p:nvSpPr>
        <p:spPr>
          <a:xfrm>
            <a:off x="3505200" y="4095750"/>
            <a:ext cx="400050" cy="4000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E5C720-5617-4E48-997C-812E3B857AEB}"/>
              </a:ext>
            </a:extLst>
          </p:cNvPr>
          <p:cNvSpPr>
            <a:spLocks noGrp="1"/>
          </p:cNvSpPr>
          <p:nvPr/>
        </p:nvSpPr>
        <p:spPr>
          <a:xfrm>
            <a:off x="3505200" y="4095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spill-5">
            <a:extLst>
              <a:ext uri="{FF2B5EF4-FFF2-40B4-BE49-F238E27FC236}">
                <a16:creationId xmlns:a16="http://schemas.microsoft.com/office/drawing/2014/main" id="{D8B43460-1392-4132-8C4E-65ECADD2373E}"/>
              </a:ext>
            </a:extLst>
          </p:cNvPr>
          <p:cNvSpPr>
            <a:spLocks noGrp="1"/>
          </p:cNvSpPr>
          <p:nvPr/>
        </p:nvSpPr>
        <p:spPr>
          <a:xfrm>
            <a:off x="4057650" y="4019550"/>
            <a:ext cx="1905000" cy="7048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Preparar</a:t>
            </a:r>
          </a:p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buzones</a:t>
            </a:r>
          </a:p>
        </p:txBody>
      </p:sp>
      <p:cxnSp>
        <p:nvCxnSpPr>
          <p:cNvPr id="28" name="Straight Arrow Connector 27"/>
          <p:cNvCxnSpPr>
            <a:stCxn id="24" idx="3"/>
            <a:endCxn id="27" idx="1"/>
          </p:cNvCxnSpPr>
          <p:nvPr/>
        </p:nvCxnSpPr>
        <p:spPr>
          <a:xfrm>
            <a:off x="3162300" y="4371975"/>
            <a:ext cx="8953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71414E64-D27A-4625-8C33-D7A6196E5854}"/>
              </a:ext>
            </a:extLst>
          </p:cNvPr>
          <p:cNvSpPr>
            <a:spLocks noGrp="1"/>
          </p:cNvSpPr>
          <p:nvPr/>
        </p:nvSpPr>
        <p:spPr>
          <a:xfrm>
            <a:off x="6305550" y="4095750"/>
            <a:ext cx="400050" cy="40005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AE98A1-DFB2-406E-BC3A-D97165B2F6D3}"/>
              </a:ext>
            </a:extLst>
          </p:cNvPr>
          <p:cNvSpPr>
            <a:spLocks noGrp="1"/>
          </p:cNvSpPr>
          <p:nvPr/>
        </p:nvSpPr>
        <p:spPr>
          <a:xfrm>
            <a:off x="6305550" y="4095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1" name="spill-6">
            <a:extLst>
              <a:ext uri="{FF2B5EF4-FFF2-40B4-BE49-F238E27FC236}">
                <a16:creationId xmlns:a16="http://schemas.microsoft.com/office/drawing/2014/main" id="{9747A51F-1E99-4AEF-88DF-697AC4BE88CB}"/>
              </a:ext>
            </a:extLst>
          </p:cNvPr>
          <p:cNvSpPr>
            <a:spLocks noGrp="1"/>
          </p:cNvSpPr>
          <p:nvPr/>
        </p:nvSpPr>
        <p:spPr>
          <a:xfrm>
            <a:off x="6858000" y="4019550"/>
            <a:ext cx="1905000" cy="704850"/>
          </a:xfrm>
          <a:prstGeom prst="rect">
            <a:avLst/>
          </a:prstGeom>
          <a:solidFill>
            <a:srgbClr val="FBE3DE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Eliminar datos</a:t>
            </a:r>
          </a:p>
        </p:txBody>
      </p:sp>
      <p:cxnSp>
        <p:nvCxnSpPr>
          <p:cNvPr id="32" name="Straight Arrow Connector 31"/>
          <p:cNvCxnSpPr>
            <a:stCxn id="27" idx="3"/>
            <a:endCxn id="31" idx="1"/>
          </p:cNvCxnSpPr>
          <p:nvPr/>
        </p:nvCxnSpPr>
        <p:spPr>
          <a:xfrm>
            <a:off x="5962650" y="4371975"/>
            <a:ext cx="895350" cy="0"/>
          </a:xfrm>
          <a:prstGeom prst="straightConnector1">
            <a:avLst/>
          </a:prstGeom>
          <a:ln w="19050">
            <a:solidFill>
              <a:srgbClr val="C84C3A"/>
            </a:solidFill>
            <a:prstDash val="solid"/>
            <a:tailEnd type="triangle" w="sm" len="sm"/>
          </a:ln>
        </p:spPr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998B5B09-98E5-49C9-9908-3A23E8374746}"/>
              </a:ext>
            </a:extLst>
          </p:cNvPr>
          <p:cNvSpPr>
            <a:spLocks noGrp="1"/>
          </p:cNvSpPr>
          <p:nvPr/>
        </p:nvSpPr>
        <p:spPr>
          <a:xfrm>
            <a:off x="9105900" y="4095750"/>
            <a:ext cx="400050" cy="4000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8FB712-CFB9-431C-889D-16597F2BC610}"/>
              </a:ext>
            </a:extLst>
          </p:cNvPr>
          <p:cNvSpPr>
            <a:spLocks noGrp="1"/>
          </p:cNvSpPr>
          <p:nvPr/>
        </p:nvSpPr>
        <p:spPr>
          <a:xfrm>
            <a:off x="9105900" y="4095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5" name="spill-7">
            <a:extLst>
              <a:ext uri="{FF2B5EF4-FFF2-40B4-BE49-F238E27FC236}">
                <a16:creationId xmlns:a16="http://schemas.microsoft.com/office/drawing/2014/main" id="{433CC8EC-F949-4A56-BE9C-48DC4E671507}"/>
              </a:ext>
            </a:extLst>
          </p:cNvPr>
          <p:cNvSpPr>
            <a:spLocks noGrp="1"/>
          </p:cNvSpPr>
          <p:nvPr/>
        </p:nvSpPr>
        <p:spPr>
          <a:xfrm>
            <a:off x="9658350" y="4019550"/>
            <a:ext cx="1905000" cy="704850"/>
          </a:xfrm>
          <a:prstGeom prst="rect">
            <a:avLst/>
          </a:prstGeom>
          <a:solidFill>
            <a:srgbClr val="EAF3F9"/>
          </a:solidFill>
          <a:ln w="11430">
            <a:solidFill>
              <a:srgbClr val="B9CEDD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Verificar y</a:t>
            </a:r>
          </a:p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generar evidencia</a:t>
            </a:r>
          </a:p>
        </p:txBody>
      </p:sp>
      <p:cxnSp>
        <p:nvCxnSpPr>
          <p:cNvPr id="36" name="Straight Arrow Connector 35"/>
          <p:cNvCxnSpPr>
            <a:stCxn id="31" idx="3"/>
            <a:endCxn id="35" idx="1"/>
          </p:cNvCxnSpPr>
          <p:nvPr/>
        </p:nvCxnSpPr>
        <p:spPr>
          <a:xfrm>
            <a:off x="8763000" y="4371975"/>
            <a:ext cx="895350" cy="0"/>
          </a:xfrm>
          <a:prstGeom prst="straightConnector1">
            <a:avLst/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cxnSp>
        <p:nvCxnSpPr>
          <p:cNvPr id="37" name="Connector: Elbow 36"/>
          <p:cNvCxnSpPr>
            <a:stCxn id="20" idx="2"/>
            <a:endCxn id="24" idx="0"/>
          </p:cNvCxnSpPr>
          <p:nvPr/>
        </p:nvCxnSpPr>
        <p:spPr>
          <a:xfrm flipH="1">
            <a:off x="2209800" y="2667000"/>
            <a:ext cx="8401050" cy="1352550"/>
          </a:xfrm>
          <a:prstGeom prst="bentConnector4">
            <a:avLst>
              <a:gd name="adj1" fmla="val 0"/>
              <a:gd name="adj2" fmla="val 83099"/>
            </a:avLst>
          </a:prstGeom>
          <a:ln w="19050">
            <a:solidFill>
              <a:srgbClr val="145DA0"/>
            </a:solidFill>
            <a:prstDash val="solid"/>
            <a:tailEnd type="triangle" w="sm" len="sm"/>
          </a:ln>
        </p:spPr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9E02BBE-320D-4BF8-92F2-25C273ABEF61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Búsqueda iterativa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BD2214-41F6-4C26-8E7F-F2E9AB6FB716}"/>
              </a:ext>
            </a:extLst>
          </p:cNvPr>
          <p:cNvSpPr>
            <a:spLocks noGrp="1"/>
          </p:cNvSpPr>
          <p:nvPr/>
        </p:nvSpPr>
        <p:spPr>
          <a:xfrm>
            <a:off x="6305550" y="52006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125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Rol Search And Purge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958A28-E5C2-4868-8461-C6A77B83D604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0858500" cy="2857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807161-27C2-4B75-9513-CA0CD6CF936C}"/>
              </a:ext>
            </a:extLst>
          </p:cNvPr>
          <p:cNvSpPr>
            <a:spLocks noGrp="1"/>
          </p:cNvSpPr>
          <p:nvPr/>
        </p:nvSpPr>
        <p:spPr>
          <a:xfrm>
            <a:off x="895350" y="584835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Cerrar el caso solo después de confirmar cero resultados y conservar evidencia.</a:t>
            </a:r>
          </a:p>
        </p:txBody>
      </p:sp>
    </p:spTree>
    <p:extLst>
      <p:ext uri="{BB962C8B-B14F-4D97-AF65-F5344CB8AC3E}">
        <p14:creationId xmlns:p14="http://schemas.microsoft.com/office/powerpoint/2010/main" val="1755094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E9C3035-F555-480B-8692-27C27162D9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74C77D-2FEB-45D3-AF88-9F417E659A5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48594D8-F8B5-4D3F-903A-9E6D3234423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3413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 investigación tiene límites operativos que condicionan la estrategia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FB17C98-48F2-46F2-A83C-F38104CF2490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38953-75A0-4D39-8FE0-5D0FAC352710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E3C4C2-822E-4E84-AFF4-E551BD7BDAD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F78C66-41C0-48E2-BFB8-088151310E06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238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3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CC07D2-A359-487F-9EFB-13811931F37A}"/>
              </a:ext>
            </a:extLst>
          </p:cNvPr>
          <p:cNvSpPr>
            <a:spLocks noGrp="1"/>
          </p:cNvSpPr>
          <p:nvPr/>
        </p:nvSpPr>
        <p:spPr>
          <a:xfrm>
            <a:off x="704850" y="251460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mensajes previsualizables como muestra aleatoria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C7FF64-BD81-4584-B874-3F21C9134C78}"/>
              </a:ext>
            </a:extLst>
          </p:cNvPr>
          <p:cNvSpPr>
            <a:spLocks noGrp="1"/>
          </p:cNvSpPr>
          <p:nvPr/>
        </p:nvSpPr>
        <p:spPr>
          <a:xfrm>
            <a:off x="3409950" y="1790700"/>
            <a:ext cx="2571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350" b="1">
                <a:solidFill>
                  <a:srgbClr val="1B7F8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B7F8C"/>
                </a:solidFill>
                <a:latin typeface="Aptos"/>
                <a:ea typeface="Aptos"/>
                <a:cs typeface="Aptos"/>
              </a:rPr>
              <a:t>10.000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16779F-2611-4883-B915-7BF51434E949}"/>
              </a:ext>
            </a:extLst>
          </p:cNvPr>
          <p:cNvSpPr>
            <a:spLocks noGrp="1"/>
          </p:cNvSpPr>
          <p:nvPr/>
        </p:nvSpPr>
        <p:spPr>
          <a:xfrm>
            <a:off x="3409950" y="2514600"/>
            <a:ext cx="257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1871"/>
          </a:bodyPr>
          <a:lstStyle/>
          <a:p>
            <a:pPr algn="l"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resultados simultáneos con eDiscovery Premium y licencias elegibles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DC0E7A-CF99-4128-8FD5-A3B4D00C9591}"/>
              </a:ext>
            </a:extLst>
          </p:cNvPr>
          <p:cNvSpPr>
            <a:spLocks noGrp="1"/>
          </p:cNvSpPr>
          <p:nvPr/>
        </p:nvSpPr>
        <p:spPr>
          <a:xfrm>
            <a:off x="6419850" y="1790700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35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F52EF0-B83A-4B3E-A7AB-1649199A4F43}"/>
              </a:ext>
            </a:extLst>
          </p:cNvPr>
          <p:cNvSpPr>
            <a:spLocks noGrp="1"/>
          </p:cNvSpPr>
          <p:nvPr/>
        </p:nvSpPr>
        <p:spPr>
          <a:xfrm>
            <a:off x="6419850" y="25146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días de Message Trace en tiempo real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251462-8A8E-41CA-B2FE-22994A920DE1}"/>
              </a:ext>
            </a:extLst>
          </p:cNvPr>
          <p:cNvSpPr>
            <a:spLocks noGrp="1"/>
          </p:cNvSpPr>
          <p:nvPr/>
        </p:nvSpPr>
        <p:spPr>
          <a:xfrm>
            <a:off x="9163050" y="1790700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35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C5FFDF-D48E-4107-9469-67C8DFEEB4DC}"/>
              </a:ext>
            </a:extLst>
          </p:cNvPr>
          <p:cNvSpPr>
            <a:spLocks noGrp="1"/>
          </p:cNvSpPr>
          <p:nvPr/>
        </p:nvSpPr>
        <p:spPr>
          <a:xfrm>
            <a:off x="9163050" y="2514600"/>
            <a:ext cx="209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945"/>
          </a:bodyPr>
          <a:lstStyle/>
          <a:p>
            <a:pPr algn="l">
              <a:defRPr sz="14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días de datos históricos de Message Trace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79E31834-3734-432B-B840-B7E35A12EA09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A1BDB0-8B30-486E-8873-28857B0A0F4A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DECISIONES DE INVESTIGACIÓN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5CEE35-4782-41EF-9BFE-DB50EC55C8CE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76200" cy="7620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4B61CF-7E72-4C55-8B4C-7E7B1853AA82}"/>
              </a:ext>
            </a:extLst>
          </p:cNvPr>
          <p:cNvSpPr>
            <a:spLocks noGrp="1"/>
          </p:cNvSpPr>
          <p:nvPr/>
        </p:nvSpPr>
        <p:spPr>
          <a:xfrm>
            <a:off x="800100" y="40767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Dividir resultados por palabra clave, fecha, remitente o destinatario.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6A8678-4F14-43CF-A52A-AA5B45170231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76200" cy="7620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0CC6EC-DA17-44A1-A64E-35C420BFC4E6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504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Revisar destinatarios para determinar si hubo intercambio externo.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D852185-289F-4859-A2DF-0D705E79AB9B}"/>
              </a:ext>
            </a:extLst>
          </p:cNvPr>
          <p:cNvSpPr>
            <a:spLocks noGrp="1"/>
          </p:cNvSpPr>
          <p:nvPr/>
        </p:nvSpPr>
        <p:spPr>
          <a:xfrm>
            <a:off x="6191250" y="4152900"/>
            <a:ext cx="76200" cy="7620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0F0B3F-66C7-477F-A9D4-9EAA1DC557FE}"/>
              </a:ext>
            </a:extLst>
          </p:cNvPr>
          <p:cNvSpPr>
            <a:spLocks noGrp="1"/>
          </p:cNvSpPr>
          <p:nvPr/>
        </p:nvSpPr>
        <p:spPr>
          <a:xfrm>
            <a:off x="6381750" y="40767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Eliminar consultas que contengan el dato sensible usado como criterio.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358991-5E6E-48BB-ADED-3471C12DBE48}"/>
              </a:ext>
            </a:extLst>
          </p:cNvPr>
          <p:cNvSpPr>
            <a:spLocks noGrp="1"/>
          </p:cNvSpPr>
          <p:nvPr/>
        </p:nvSpPr>
        <p:spPr>
          <a:xfrm>
            <a:off x="6191250" y="4686300"/>
            <a:ext cx="76200" cy="76200"/>
          </a:xfrm>
          <a:prstGeom prst="ellipse">
            <a:avLst/>
          </a:prstGeom>
          <a:solidFill>
            <a:srgbClr val="1B7F8C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39D7B2-9557-47D6-96E2-9F135AC64723}"/>
              </a:ext>
            </a:extLst>
          </p:cNvPr>
          <p:cNvSpPr>
            <a:spLocks noGrp="1"/>
          </p:cNvSpPr>
          <p:nvPr/>
        </p:nvSpPr>
        <p:spPr>
          <a:xfrm>
            <a:off x="6381750" y="4610100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Usar OCR, threading, etiquetado y predictive coding cuando corresponda.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3180D2-3CDB-463A-B9CD-69E36B2253A1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457200"/>
          </a:xfrm>
          <a:prstGeom prst="rect">
            <a:avLst/>
          </a:prstGeom>
          <a:solidFill>
            <a:srgbClr val="FFF2C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634989-F8EE-41EF-A3D8-0D01F87001E6}"/>
              </a:ext>
            </a:extLst>
          </p:cNvPr>
          <p:cNvSpPr>
            <a:spLocks noGrp="1"/>
          </p:cNvSpPr>
          <p:nvPr/>
        </p:nvSpPr>
        <p:spPr>
          <a:xfrm>
            <a:off x="838200" y="5524500"/>
            <a:ext cx="1051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Message Trace ayuda a reconstruir el recorrido, pero no garantiza resultados exhaustivos.</a:t>
            </a:r>
          </a:p>
        </p:txBody>
      </p:sp>
    </p:spTree>
    <p:extLst>
      <p:ext uri="{BB962C8B-B14F-4D97-AF65-F5344CB8AC3E}">
        <p14:creationId xmlns:p14="http://schemas.microsoft.com/office/powerpoint/2010/main" val="1565830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E2261D7-06D9-4A72-9242-9AC51CD4AF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7AD76-2EC3-466C-A274-3A2435EE492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SEGURIDAD EN MICROSOFT 365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0A8ED05-1DCB-48CD-9AB4-31E56479EB9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506"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Password cracking e insiders requieren controles distintos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211FBE6-9250-4984-85B2-76B9059155ED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D945F9-ED6F-4138-89DF-3148E5C5A80E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B81253-4504-4B23-B096-E54FB93FCCE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C4DF8E74-4AFD-44B7-B92C-A1CA851C6237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0" cy="38100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5B2065-E0FA-4259-BF8F-F1779B486370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PASSWORD CRACKING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3C7CC2-6F43-42F9-BCFC-0B76BFD1B1B5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438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766"/>
          </a:bodyPr>
          <a:lstStyle/>
          <a:p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Alta velocidad</a:t>
            </a:r>
          </a:p>
          <a:p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contra credenciales débiles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C623BC-6CB7-4512-94EE-49112544F329}"/>
              </a:ext>
            </a:extLst>
          </p:cNvPr>
          <p:cNvSpPr>
            <a:spLocks noGrp="1"/>
          </p:cNvSpPr>
          <p:nvPr/>
        </p:nvSpPr>
        <p:spPr>
          <a:xfrm>
            <a:off x="704850" y="3467100"/>
            <a:ext cx="76200" cy="76200"/>
          </a:xfrm>
          <a:prstGeom prst="ellipse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AC5CA1-70B1-43B0-8B5E-BEF87C3DFB88}"/>
              </a:ext>
            </a:extLst>
          </p:cNvPr>
          <p:cNvSpPr>
            <a:spLocks noGrp="1"/>
          </p:cNvSpPr>
          <p:nvPr/>
        </p:nvSpPr>
        <p:spPr>
          <a:xfrm>
            <a:off x="895350" y="33909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Contraseñas cortas, comunes o reutilizadas.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35A0A43-C4CB-4D60-BFEF-C1D44BA5C40C}"/>
              </a:ext>
            </a:extLst>
          </p:cNvPr>
          <p:cNvSpPr>
            <a:spLocks noGrp="1"/>
          </p:cNvSpPr>
          <p:nvPr/>
        </p:nvSpPr>
        <p:spPr>
          <a:xfrm>
            <a:off x="704850" y="4019550"/>
            <a:ext cx="76200" cy="7620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F36060-C1D1-46F4-AB6B-4237DA60B0AF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152"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Smart password lockout en Entra ID sin federation.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9D728F-2092-4E71-9AD4-261BEAE0B0DE}"/>
              </a:ext>
            </a:extLst>
          </p:cNvPr>
          <p:cNvSpPr>
            <a:spLocks noGrp="1"/>
          </p:cNvSpPr>
          <p:nvPr/>
        </p:nvSpPr>
        <p:spPr>
          <a:xfrm>
            <a:off x="704850" y="4572000"/>
            <a:ext cx="76200" cy="7620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79F184-5F98-4151-9FD6-B3315DC802EE}"/>
              </a:ext>
            </a:extLst>
          </p:cNvPr>
          <p:cNvSpPr>
            <a:spLocks noGrp="1"/>
          </p:cNvSpPr>
          <p:nvPr/>
        </p:nvSpPr>
        <p:spPr>
          <a:xfrm>
            <a:off x="895350" y="44958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862"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Ajustar umbrales según el directorio y el riesgo.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5828E3-B28F-4226-BD58-7D48EE217021}"/>
              </a:ext>
            </a:extLst>
          </p:cNvPr>
          <p:cNvSpPr>
            <a:spLocks noGrp="1"/>
          </p:cNvSpPr>
          <p:nvPr/>
        </p:nvSpPr>
        <p:spPr>
          <a:xfrm>
            <a:off x="6705600" y="18097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MALICIOUS INSIDER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1B53D2-A161-4FAB-AC42-8F75C62984DE}"/>
              </a:ext>
            </a:extLst>
          </p:cNvPr>
          <p:cNvSpPr>
            <a:spLocks noGrp="1"/>
          </p:cNvSpPr>
          <p:nvPr/>
        </p:nvSpPr>
        <p:spPr>
          <a:xfrm>
            <a:off x="6705600" y="2209800"/>
            <a:ext cx="438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Acceso legítimo</a:t>
            </a:r>
          </a:p>
          <a:p>
            <a:pPr algn="l">
              <a:defRPr sz="23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 intención ilícita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FC4A2BC-B4E2-4BBD-B84E-A6A1BE9F199B}"/>
              </a:ext>
            </a:extLst>
          </p:cNvPr>
          <p:cNvSpPr>
            <a:spLocks noGrp="1"/>
          </p:cNvSpPr>
          <p:nvPr/>
        </p:nvSpPr>
        <p:spPr>
          <a:xfrm>
            <a:off x="6705600" y="3467100"/>
            <a:ext cx="76200" cy="7620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CD814C-F929-4944-8246-88A613236C77}"/>
              </a:ext>
            </a:extLst>
          </p:cNvPr>
          <p:cNvSpPr>
            <a:spLocks noGrp="1"/>
          </p:cNvSpPr>
          <p:nvPr/>
        </p:nvSpPr>
        <p:spPr>
          <a:xfrm>
            <a:off x="6896100" y="33909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Puede crear backdoors, exfiltrar o eliminar.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6A8E2A9-C367-467F-92C7-DBE5C803AA9C}"/>
              </a:ext>
            </a:extLst>
          </p:cNvPr>
          <p:cNvSpPr>
            <a:spLocks noGrp="1"/>
          </p:cNvSpPr>
          <p:nvPr/>
        </p:nvSpPr>
        <p:spPr>
          <a:xfrm>
            <a:off x="6705600" y="4019550"/>
            <a:ext cx="76200" cy="7620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ADD906-F277-4594-9342-6AB2BBE78C43}"/>
              </a:ext>
            </a:extLst>
          </p:cNvPr>
          <p:cNvSpPr>
            <a:spLocks noGrp="1"/>
          </p:cNvSpPr>
          <p:nvPr/>
        </p:nvSpPr>
        <p:spPr>
          <a:xfrm>
            <a:off x="6896100" y="394335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312"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El privilegio administrativo amplifica el impacto.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9BB18D-CDD8-4814-BA44-B60985DAE650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76200" cy="76200"/>
          </a:xfrm>
          <a:prstGeom prst="ellipse">
            <a:avLst/>
          </a:prstGeom>
          <a:solidFill>
            <a:srgbClr val="1B7F8C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1FB138-53BA-4E39-8CFA-601C5E2389CB}"/>
              </a:ext>
            </a:extLst>
          </p:cNvPr>
          <p:cNvSpPr>
            <a:spLocks noGrp="1"/>
          </p:cNvSpPr>
          <p:nvPr/>
        </p:nvSpPr>
        <p:spPr>
          <a:xfrm>
            <a:off x="6896100" y="44958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77"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Controlar acceso, auditoría y salida de personal.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BB195D-4485-403E-84AE-DC18BF3B2775}"/>
              </a:ext>
            </a:extLst>
          </p:cNvPr>
          <p:cNvSpPr>
            <a:spLocks noGrp="1"/>
          </p:cNvSpPr>
          <p:nvPr/>
        </p:nvSpPr>
        <p:spPr>
          <a:xfrm>
            <a:off x="704850" y="5562600"/>
            <a:ext cx="10382250" cy="4000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EDDAAB-E7D9-4453-87B4-325771E92D81}"/>
              </a:ext>
            </a:extLst>
          </p:cNvPr>
          <p:cNvSpPr>
            <a:spLocks noGrp="1"/>
          </p:cNvSpPr>
          <p:nvPr/>
        </p:nvSpPr>
        <p:spPr>
          <a:xfrm>
            <a:off x="933450" y="5600700"/>
            <a:ext cx="992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039"/>
          </a:bodyPr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Automatización externa y conocimiento interno son riesgos diferentes: medirlos igual deja brechas.</a:t>
            </a:r>
          </a:p>
        </p:txBody>
      </p:sp>
    </p:spTree>
    <p:extLst>
      <p:ext uri="{BB962C8B-B14F-4D97-AF65-F5344CB8AC3E}">
        <p14:creationId xmlns:p14="http://schemas.microsoft.com/office/powerpoint/2010/main" val="1412145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D4A38D47-5907-4BDF-B2D3-2BD1870A92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0C0554-4BE3-4EC1-A0C2-75D03D230CD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SÍNTESIS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BF79A75-BAB4-4B28-A273-6783991252E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Proteger, detectar y responder cierra el ciclo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751B030-AEEF-4278-A332-A517B0531F6C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FAA597-3C14-4E61-B8B0-EA8A4C0D459C}"/>
              </a:ext>
            </a:extLst>
          </p:cNvPr>
          <p:cNvSpPr>
            <a:spLocks noGrp="1"/>
          </p:cNvSpPr>
          <p:nvPr/>
        </p:nvSpPr>
        <p:spPr>
          <a:xfrm>
            <a:off x="11258550" y="643890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58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9B1082-5E88-4ECC-875C-1893E270E03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48658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86581"/>
                </a:solidFill>
                <a:latin typeface="Aptos"/>
                <a:ea typeface="Aptos"/>
                <a:cs typeface="Aptos"/>
              </a:rPr>
              <a:t>Fuente: material de formación proporcionado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5846BC-4C1B-49EC-9FAB-BE0E93C608A4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143250" cy="95250"/>
          </a:xfrm>
          <a:prstGeom prst="rect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8DAC2C-C71F-49C6-A396-9786311FA76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145DA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5DA0"/>
                </a:solidFill>
                <a:latin typeface="Aptos"/>
                <a:ea typeface="Aptos"/>
                <a:cs typeface="Aptos"/>
              </a:rPr>
              <a:t>PROTEGER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D0065E-62B5-47A8-8FDF-DE6CD756CCAF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583160-F33F-4D6C-85DC-9E1250C867B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" cy="2857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BB4C77-9180-438D-90DD-778FA39E32FA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3BBC62-2408-49D9-9304-59614530E6BE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MFA y Conditional Access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B359AF-ABB4-4BFA-AF2A-C800F65D57AF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2EB414-DD3C-49C0-81BF-F77E3EF60011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285750" cy="2857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284CC5-88B5-4FDB-ACC4-CEDDA8683197}"/>
              </a:ext>
            </a:extLst>
          </p:cNvPr>
          <p:cNvSpPr>
            <a:spLocks noGrp="1"/>
          </p:cNvSpPr>
          <p:nvPr/>
        </p:nvSpPr>
        <p:spPr>
          <a:xfrm>
            <a:off x="609600" y="3562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082457-5F7F-4B68-9803-4DC820746E62}"/>
              </a:ext>
            </a:extLst>
          </p:cNvPr>
          <p:cNvSpPr>
            <a:spLocks noGrp="1"/>
          </p:cNvSpPr>
          <p:nvPr/>
        </p:nvSpPr>
        <p:spPr>
          <a:xfrm>
            <a:off x="1066800" y="348615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Least privilege y RBAC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4DCC40-4CFC-4724-B6F7-E963AFDA4B91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1FDD6F-BC6B-420C-B620-8912E0A7CE47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285750" cy="285750"/>
          </a:xfrm>
          <a:prstGeom prst="ellipse">
            <a:avLst/>
          </a:prstGeom>
          <a:solidFill>
            <a:srgbClr val="145DA0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7684C4-8CEC-42A6-9847-D32C01EA08BC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0BEB64-FCE3-4F8D-A7B7-60F35220CF77}"/>
              </a:ext>
            </a:extLst>
          </p:cNvPr>
          <p:cNvSpPr>
            <a:spLocks noGrp="1"/>
          </p:cNvSpPr>
          <p:nvPr/>
        </p:nvSpPr>
        <p:spPr>
          <a:xfrm>
            <a:off x="1066800" y="419100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EOP / Defender / DLP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7DC2B83-36B2-43EB-ACE4-EA7F0ECACC36}"/>
              </a:ext>
            </a:extLst>
          </p:cNvPr>
          <p:cNvSpPr>
            <a:spLocks noGrp="1"/>
          </p:cNvSpPr>
          <p:nvPr/>
        </p:nvSpPr>
        <p:spPr>
          <a:xfrm>
            <a:off x="3943350" y="1962150"/>
            <a:ext cx="0" cy="30480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DF22B6-F628-4005-91C1-95D918D15DBB}"/>
              </a:ext>
            </a:extLst>
          </p:cNvPr>
          <p:cNvSpPr>
            <a:spLocks noGrp="1"/>
          </p:cNvSpPr>
          <p:nvPr/>
        </p:nvSpPr>
        <p:spPr>
          <a:xfrm>
            <a:off x="4267200" y="1790700"/>
            <a:ext cx="3143250" cy="95250"/>
          </a:xfrm>
          <a:prstGeom prst="rect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6FC140-F53A-4A0B-89C3-6B4EE06188E8}"/>
              </a:ext>
            </a:extLst>
          </p:cNvPr>
          <p:cNvSpPr>
            <a:spLocks noGrp="1"/>
          </p:cNvSpPr>
          <p:nvPr/>
        </p:nvSpPr>
        <p:spPr>
          <a:xfrm>
            <a:off x="4267200" y="20955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DETECTAR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7F8A99-48F4-4AD0-9831-E57D4A3BC64D}"/>
              </a:ext>
            </a:extLst>
          </p:cNvPr>
          <p:cNvSpPr>
            <a:spLocks noGrp="1"/>
          </p:cNvSpPr>
          <p:nvPr/>
        </p:nvSpPr>
        <p:spPr>
          <a:xfrm>
            <a:off x="4267200" y="28575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09F31C2-5280-4D04-99A2-A8B827D42AB5}"/>
              </a:ext>
            </a:extLst>
          </p:cNvPr>
          <p:cNvSpPr>
            <a:spLocks noGrp="1"/>
          </p:cNvSpPr>
          <p:nvPr/>
        </p:nvSpPr>
        <p:spPr>
          <a:xfrm>
            <a:off x="4267200" y="2857500"/>
            <a:ext cx="285750" cy="285750"/>
          </a:xfrm>
          <a:prstGeom prst="ellipse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722408-BE1F-41FF-9E84-244AA0066E42}"/>
              </a:ext>
            </a:extLst>
          </p:cNvPr>
          <p:cNvSpPr>
            <a:spLocks noGrp="1"/>
          </p:cNvSpPr>
          <p:nvPr/>
        </p:nvSpPr>
        <p:spPr>
          <a:xfrm>
            <a:off x="4267200" y="28575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8C092D-17D9-4191-8088-56069C325F9E}"/>
              </a:ext>
            </a:extLst>
          </p:cNvPr>
          <p:cNvSpPr>
            <a:spLocks noGrp="1"/>
          </p:cNvSpPr>
          <p:nvPr/>
        </p:nvSpPr>
        <p:spPr>
          <a:xfrm>
            <a:off x="4724400" y="278130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Entra ID Protection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C1454C-CD2F-4834-8915-3943783B7CF1}"/>
              </a:ext>
            </a:extLst>
          </p:cNvPr>
          <p:cNvSpPr>
            <a:spLocks noGrp="1"/>
          </p:cNvSpPr>
          <p:nvPr/>
        </p:nvSpPr>
        <p:spPr>
          <a:xfrm>
            <a:off x="4267200" y="3562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317300F-5134-49E8-BA9A-BE4E0271A083}"/>
              </a:ext>
            </a:extLst>
          </p:cNvPr>
          <p:cNvSpPr>
            <a:spLocks noGrp="1"/>
          </p:cNvSpPr>
          <p:nvPr/>
        </p:nvSpPr>
        <p:spPr>
          <a:xfrm>
            <a:off x="4267200" y="3562350"/>
            <a:ext cx="285750" cy="285750"/>
          </a:xfrm>
          <a:prstGeom prst="ellipse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FF5361-4FF5-48D9-8104-29A4F32BF231}"/>
              </a:ext>
            </a:extLst>
          </p:cNvPr>
          <p:cNvSpPr>
            <a:spLocks noGrp="1"/>
          </p:cNvSpPr>
          <p:nvPr/>
        </p:nvSpPr>
        <p:spPr>
          <a:xfrm>
            <a:off x="4267200" y="3562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1C23D7-4095-4CF8-BC06-42086B055429}"/>
              </a:ext>
            </a:extLst>
          </p:cNvPr>
          <p:cNvSpPr>
            <a:spLocks noGrp="1"/>
          </p:cNvSpPr>
          <p:nvPr/>
        </p:nvSpPr>
        <p:spPr>
          <a:xfrm>
            <a:off x="4724400" y="348615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Activity Logs y SIEM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B11080-505B-4001-B749-81958B6FB263}"/>
              </a:ext>
            </a:extLst>
          </p:cNvPr>
          <p:cNvSpPr>
            <a:spLocks noGrp="1"/>
          </p:cNvSpPr>
          <p:nvPr/>
        </p:nvSpPr>
        <p:spPr>
          <a:xfrm>
            <a:off x="4267200" y="4267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80DF831-ABA6-4F7D-8074-D6118B433D41}"/>
              </a:ext>
            </a:extLst>
          </p:cNvPr>
          <p:cNvSpPr>
            <a:spLocks noGrp="1"/>
          </p:cNvSpPr>
          <p:nvPr/>
        </p:nvSpPr>
        <p:spPr>
          <a:xfrm>
            <a:off x="4267200" y="4267200"/>
            <a:ext cx="285750" cy="285750"/>
          </a:xfrm>
          <a:prstGeom prst="ellipse">
            <a:avLst/>
          </a:prstGeom>
          <a:solidFill>
            <a:srgbClr val="F2B134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260D74-9C6A-43BF-AD7D-D507EA303896}"/>
              </a:ext>
            </a:extLst>
          </p:cNvPr>
          <p:cNvSpPr>
            <a:spLocks noGrp="1"/>
          </p:cNvSpPr>
          <p:nvPr/>
        </p:nvSpPr>
        <p:spPr>
          <a:xfrm>
            <a:off x="4267200" y="4267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7211824-4B16-4AFD-BA86-9F60A7A9C480}"/>
              </a:ext>
            </a:extLst>
          </p:cNvPr>
          <p:cNvSpPr>
            <a:spLocks noGrp="1"/>
          </p:cNvSpPr>
          <p:nvPr/>
        </p:nvSpPr>
        <p:spPr>
          <a:xfrm>
            <a:off x="4724400" y="419100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Alertas de sharing y borrado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029937B3-A1A5-4C5A-ABE9-AFA87640FC77}"/>
              </a:ext>
            </a:extLst>
          </p:cNvPr>
          <p:cNvSpPr>
            <a:spLocks noGrp="1"/>
          </p:cNvSpPr>
          <p:nvPr/>
        </p:nvSpPr>
        <p:spPr>
          <a:xfrm>
            <a:off x="7600950" y="1962150"/>
            <a:ext cx="0" cy="3048000"/>
          </a:xfrm>
          <a:prstGeom prst="line">
            <a:avLst/>
          </a:prstGeom>
          <a:noFill/>
          <a:ln w="9525">
            <a:solidFill>
              <a:srgbClr val="B9CEDD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03BF3A-26A9-430D-8996-E59A28FF29A9}"/>
              </a:ext>
            </a:extLst>
          </p:cNvPr>
          <p:cNvSpPr>
            <a:spLocks noGrp="1"/>
          </p:cNvSpPr>
          <p:nvPr/>
        </p:nvSpPr>
        <p:spPr>
          <a:xfrm>
            <a:off x="7924800" y="1790700"/>
            <a:ext cx="3143250" cy="95250"/>
          </a:xfrm>
          <a:prstGeom prst="rect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EAD772-E4A3-4042-A228-8F626F8A05E8}"/>
              </a:ext>
            </a:extLst>
          </p:cNvPr>
          <p:cNvSpPr>
            <a:spLocks noGrp="1"/>
          </p:cNvSpPr>
          <p:nvPr/>
        </p:nvSpPr>
        <p:spPr>
          <a:xfrm>
            <a:off x="7924800" y="209550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C84C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C3A"/>
                </a:solidFill>
                <a:latin typeface="Aptos"/>
                <a:ea typeface="Aptos"/>
                <a:cs typeface="Aptos"/>
              </a:rPr>
              <a:t>RESPONDER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31BC8D-5A9A-4C32-B504-FEA21CE64DCD}"/>
              </a:ext>
            </a:extLst>
          </p:cNvPr>
          <p:cNvSpPr>
            <a:spLocks noGrp="1"/>
          </p:cNvSpPr>
          <p:nvPr/>
        </p:nvSpPr>
        <p:spPr>
          <a:xfrm>
            <a:off x="7924800" y="28575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4A24005-867E-440A-9478-48A3D5777918}"/>
              </a:ext>
            </a:extLst>
          </p:cNvPr>
          <p:cNvSpPr>
            <a:spLocks noGrp="1"/>
          </p:cNvSpPr>
          <p:nvPr/>
        </p:nvSpPr>
        <p:spPr>
          <a:xfrm>
            <a:off x="7924800" y="2857500"/>
            <a:ext cx="285750" cy="28575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1E0EC3-C8BF-490C-B61E-20225C96ABCB}"/>
              </a:ext>
            </a:extLst>
          </p:cNvPr>
          <p:cNvSpPr>
            <a:spLocks noGrp="1"/>
          </p:cNvSpPr>
          <p:nvPr/>
        </p:nvSpPr>
        <p:spPr>
          <a:xfrm>
            <a:off x="7924800" y="28575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2C1C06-CE14-4BCD-9273-132B30AADA12}"/>
              </a:ext>
            </a:extLst>
          </p:cNvPr>
          <p:cNvSpPr>
            <a:spLocks noGrp="1"/>
          </p:cNvSpPr>
          <p:nvPr/>
        </p:nvSpPr>
        <p:spPr>
          <a:xfrm>
            <a:off x="8382000" y="278130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Contener sesiones y privilegios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7D0AA8-E562-48E0-8BA3-C58F701F0B50}"/>
              </a:ext>
            </a:extLst>
          </p:cNvPr>
          <p:cNvSpPr>
            <a:spLocks noGrp="1"/>
          </p:cNvSpPr>
          <p:nvPr/>
        </p:nvSpPr>
        <p:spPr>
          <a:xfrm>
            <a:off x="7924800" y="3562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8FB1A82-E5B2-4E92-9A51-37D4B0E7EAE2}"/>
              </a:ext>
            </a:extLst>
          </p:cNvPr>
          <p:cNvSpPr>
            <a:spLocks noGrp="1"/>
          </p:cNvSpPr>
          <p:nvPr/>
        </p:nvSpPr>
        <p:spPr>
          <a:xfrm>
            <a:off x="7924800" y="3562350"/>
            <a:ext cx="285750" cy="28575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C0B2AE-7562-4D68-B248-80AA58FAF08C}"/>
              </a:ext>
            </a:extLst>
          </p:cNvPr>
          <p:cNvSpPr>
            <a:spLocks noGrp="1"/>
          </p:cNvSpPr>
          <p:nvPr/>
        </p:nvSpPr>
        <p:spPr>
          <a:xfrm>
            <a:off x="7924800" y="3562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DFC8C83-0E7E-482A-8DD9-E013DDA12963}"/>
              </a:ext>
            </a:extLst>
          </p:cNvPr>
          <p:cNvSpPr>
            <a:spLocks noGrp="1"/>
          </p:cNvSpPr>
          <p:nvPr/>
        </p:nvSpPr>
        <p:spPr>
          <a:xfrm>
            <a:off x="8382000" y="348615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Investigar con eDiscovery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38C8A99-AD5A-4077-B6C5-A8197CC80B35}"/>
              </a:ext>
            </a:extLst>
          </p:cNvPr>
          <p:cNvSpPr>
            <a:spLocks noGrp="1"/>
          </p:cNvSpPr>
          <p:nvPr/>
        </p:nvSpPr>
        <p:spPr>
          <a:xfrm>
            <a:off x="7924800" y="4267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C27EA85-4C37-47B7-A3C6-939CEEF451E9}"/>
              </a:ext>
            </a:extLst>
          </p:cNvPr>
          <p:cNvSpPr>
            <a:spLocks noGrp="1"/>
          </p:cNvSpPr>
          <p:nvPr/>
        </p:nvSpPr>
        <p:spPr>
          <a:xfrm>
            <a:off x="7924800" y="4267200"/>
            <a:ext cx="285750" cy="285750"/>
          </a:xfrm>
          <a:prstGeom prst="ellipse">
            <a:avLst/>
          </a:prstGeom>
          <a:solidFill>
            <a:srgbClr val="C84C3A"/>
          </a:solidFill>
          <a:ln w="0">
            <a:noFill/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63F2B6-A010-4272-9C68-16E12296B404}"/>
              </a:ext>
            </a:extLst>
          </p:cNvPr>
          <p:cNvSpPr>
            <a:spLocks noGrp="1"/>
          </p:cNvSpPr>
          <p:nvPr/>
        </p:nvSpPr>
        <p:spPr>
          <a:xfrm>
            <a:off x="7924800" y="42672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717462-B43D-4986-84C1-F5C9A7B9AE7F}"/>
              </a:ext>
            </a:extLst>
          </p:cNvPr>
          <p:cNvSpPr>
            <a:spLocks noGrp="1"/>
          </p:cNvSpPr>
          <p:nvPr/>
        </p:nvSpPr>
        <p:spPr>
          <a:xfrm>
            <a:off x="8382000" y="4191000"/>
            <a:ext cx="2628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Eliminar, restaurar y documentar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7F1EB91-4333-49C0-8EB9-7C8E1EBFDFE2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458450" cy="60960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F9C0FA6-98D5-42F6-A2AE-4230F6E237AA}"/>
              </a:ext>
            </a:extLst>
          </p:cNvPr>
          <p:cNvSpPr>
            <a:spLocks noGrp="1"/>
          </p:cNvSpPr>
          <p:nvPr/>
        </p:nvSpPr>
        <p:spPr>
          <a:xfrm>
            <a:off x="876300" y="55054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1">
                <a:solidFill>
                  <a:srgbClr val="F2B1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134"/>
                </a:solidFill>
                <a:latin typeface="Aptos"/>
                <a:ea typeface="Aptos"/>
                <a:cs typeface="Aptos"/>
              </a:rPr>
              <a:t>DEFENSA EN PROFUNDIDAD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71839D-074A-44A0-8A19-98E0667DAF0C}"/>
              </a:ext>
            </a:extLst>
          </p:cNvPr>
          <p:cNvSpPr>
            <a:spLocks noGrp="1"/>
          </p:cNvSpPr>
          <p:nvPr/>
        </p:nvSpPr>
        <p:spPr>
          <a:xfrm>
            <a:off x="4095750" y="5448300"/>
            <a:ext cx="666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438"/>
          </a:bodyPr>
          <a:lstStyle/>
          <a:p>
            <a:pPr algn="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Ningún control aislado detiene todos los vectores.</a:t>
            </a:r>
          </a:p>
        </p:txBody>
      </p:sp>
    </p:spTree>
    <p:extLst>
      <p:ext uri="{BB962C8B-B14F-4D97-AF65-F5344CB8AC3E}">
        <p14:creationId xmlns:p14="http://schemas.microsoft.com/office/powerpoint/2010/main" val="15185683"/>
      </p:ext>
    </p:extLst>
  </p:cSld>
  <p:clrMapOvr>
    <a:masterClrMapping/>
  </p:clrMapOvr>
</p:sld>
</file>

<file path=ppt/theme/theme1.xml><?xml version="1.0" encoding="utf-8"?>
<a:theme xmlns:a="http://schemas.openxmlformats.org/drawingml/2006/main" name="Claro y Técnico">
  <a:themeElements>
    <a:clrScheme name="Claro y Técnico">
      <a:dk1>
        <a:srgbClr val="071A2B"/>
      </a:dk1>
      <a:lt1>
        <a:srgbClr val="FFFFFF"/>
      </a:lt1>
      <a:dk2>
        <a:srgbClr val="243B53"/>
      </a:dk2>
      <a:lt2>
        <a:srgbClr val="D9E7F2"/>
      </a:lt2>
      <a:accent1>
        <a:srgbClr val="145DA0"/>
      </a:accent1>
      <a:accent2>
        <a:srgbClr val="1B7F8C"/>
      </a:accent2>
      <a:accent3>
        <a:srgbClr val="F2B134"/>
      </a:accent3>
      <a:accent4>
        <a:srgbClr val="C84C3A"/>
      </a:accent4>
      <a:accent5>
        <a:srgbClr val="5C6AC4"/>
      </a:accent5>
      <a:accent6>
        <a:srgbClr val="3E8E5B"/>
      </a:accent6>
      <a:hlink>
        <a:srgbClr val="145DA0"/>
      </a:hlink>
      <a:folHlink>
        <a:srgbClr val="5C6AC4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ro y Técnico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Claro y Técnico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2026-08-26T21:33:13Z</dcterms:modified>
</cp:coreProperties>
</file>
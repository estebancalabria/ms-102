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 dt="2026-08-26T21:17:01.2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51375-4C53-4F1E-892B-65176E6B258A}" type="datetimeFigureOut">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19EF39-5171-4D6D-909D-C16BCF2A223B}" type="slidenum">
              <a:t>‹#›</a:t>
            </a:fld>
            <a:endParaRPr lang="en-US"/>
          </a:p>
        </p:txBody>
      </p:sp>
    </p:spTree>
    <p:extLst>
      <p:ext uri="{BB962C8B-B14F-4D97-AF65-F5344CB8AC3E}">
        <p14:creationId xmlns:p14="http://schemas.microsoft.com/office/powerpoint/2010/main" val="1662757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tenant permite inicialmente 50.000 objetos. Al verificar un dominio, el límite aumenta a 300.000. Para superar ese límite se puede solicitar un aumento mediante soporte. Para más de 500.000 objetos se necesita una licencia, como Microsoft 365, Microsoft Entra ID P1/P2 o Enterprise Mobility + Security.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Express Settings instala el motor, configura Microsoft Entra Connect Sync y el conector de Active Directory local, habilita PHS, configura los servicios de sincronización, permite configurar Exchange híbrido y habilita la actualización automática. Al finalizar se puede elegir iniciar la sincronización.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Custom permite especificar ubicación de instalación, SQL Server, cuenta de servicio y grupos locales personalizados. Los grupos personalizados deben ser locales al servidor. Las características incluyen método de SSO, múltiples directorios, matching entre bosques, filtrado por OU, source anchor, atributo de inicio de sesión, Exchange híbrido, public folders, filtrado de atributos, password/group/device writeback y extensiones de directorio.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PTA autentica en tiempo real contra Active Directory local. PHS sincroniza hashes y puede aportar continuidad. El material proporcionado indica que al habilitar SSO se configuran PHS + PTA; valide el método exacto durante Custom Setup según el diseño. Si existe AD FS, el asistente puede solicitar nombre de granja, cuenta de servicio y certificado TLS/SSL.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Solo un servidor puede estar activo. Puede haber varios servidores en staging mode. En staging mode no se exportan cambios a Microsoft Entra ID y no se ejecutan Password Hash Synchronization ni Password Writeback.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Health permite consultar alertas, rendimiento, patrones de uso y configuración. Health for Sync supervisa sincronización; Health for AD FS supervisa AD FS. También puede supervisar AD DS y replicación. El portal incluye Quick Start, Sync, AD FS, AD DS y Configure. La actualización automática del agente puede habilitarse; el acceso de Microsoft a datos de health para troubleshooting está deshabilitado de forma predeterminada.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Instalación: Microsoft 365 admin center → Admin centers → Identity → Hybrid management → Microsoft Entra Connect → Cloud Sync → Agents → Download on-premises agent. Instale y configure la extensión, inicie sesión con Global Administrator y cree o especifique la gMSA cuando corresponda. Verificación: agente Active en el portal y servicios Microsoft Azure AD Connect Agent Updater y Microsoft Azure AD Connect Provisioning Agent en estado Running. Configuración: New configuration → AD to Microsoft Entra ID sync → dominio → PHS opcional → Create. Configure Scope, Manage attributes, Validate con Provision a user, Settings con notification email y prevent accidental deletion, luego Enable y Save.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Cloud Sync: servidor unido al dominio, Windows Server 2016+, mínimo 4 GB RAM, .NET 4.7.1+, PowerShell Undefined o RemoteSigned. Firewall saliente: 80 para CRL, 443 para servicio y 8080 opcional para estado. No habilitar NTLM. Considerar límites de delta sync y scoping: grupos de hasta 50.000 miembros, hasta 59 OUs separadas por configuración, y efectos de renombrar grupos u OUs.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CA74096-6715-4A72-AC5D-CB9A955B4ABC}"/>
              </a:ext>
            </a:extLst>
          </p:cNvPr>
          <p:cNvSpPr>
            <a:spLocks noGrp="1"/>
          </p:cNvSpPr>
          <p:nvPr/>
        </p:nvSpPr>
        <p:spPr>
          <a:xfrm>
            <a:off x="0" y="0"/>
            <a:ext cx="285750" cy="68580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519DCCC6-7260-46D7-AEE6-E9886C3F32BF}"/>
              </a:ext>
            </a:extLst>
          </p:cNvPr>
          <p:cNvSpPr>
            <a:spLocks noGrp="1"/>
          </p:cNvSpPr>
          <p:nvPr/>
        </p:nvSpPr>
        <p:spPr>
          <a:xfrm>
            <a:off x="876300" y="723900"/>
            <a:ext cx="3429000" cy="228600"/>
          </a:xfrm>
          <a:prstGeom prst="rect">
            <a:avLst/>
          </a:prstGeom>
          <a:noFill/>
          <a:ln w="0">
            <a:noFill/>
            <a:prstDash val="solid"/>
          </a:ln>
        </p:spPr>
        <p:txBody>
          <a:bodyPr wrap="square" lIns="0" tIns="0" rIns="0" bIns="0" anchor="t">
            <a:normAutofit/>
          </a:bodyPr>
          <a:lstStyle/>
          <a:p>
            <a:pPr algn="l">
              <a:lnSpc>
                <a:spcPct val="104000"/>
              </a:lnSpc>
              <a:buNone/>
              <a:defRPr sz="1200" b="1">
                <a:solidFill>
                  <a:srgbClr val="0F6CBD"/>
                </a:solidFill>
                <a:latin typeface="Aptos"/>
                <a:ea typeface="Aptos"/>
                <a:cs typeface="Aptos"/>
              </a:defRPr>
            </a:pPr>
            <a:r>
              <a:rPr sz="1200" b="1">
                <a:solidFill>
                  <a:srgbClr val="0F6CBD"/>
                </a:solidFill>
                <a:latin typeface="Aptos"/>
                <a:ea typeface="Aptos"/>
                <a:cs typeface="Aptos"/>
              </a:rPr>
              <a:t>FORMACIÓN TÉCNICA</a:t>
            </a:r>
          </a:p>
        </p:txBody>
      </p:sp>
      <p:sp>
        <p:nvSpPr>
          <p:cNvPr id="3" name="Rectangle 2">
            <a:extLst>
              <a:ext uri="{FF2B5EF4-FFF2-40B4-BE49-F238E27FC236}">
                <a16:creationId xmlns:a16="http://schemas.microsoft.com/office/drawing/2014/main" id="{0C0C1034-4F58-468E-A779-E7790CA54BEF}"/>
              </a:ext>
            </a:extLst>
          </p:cNvPr>
          <p:cNvSpPr>
            <a:spLocks noGrp="1"/>
          </p:cNvSpPr>
          <p:nvPr/>
        </p:nvSpPr>
        <p:spPr>
          <a:xfrm>
            <a:off x="876300" y="1524000"/>
            <a:ext cx="8858250" cy="1714500"/>
          </a:xfrm>
          <a:prstGeom prst="rect">
            <a:avLst/>
          </a:prstGeom>
          <a:noFill/>
          <a:ln w="0">
            <a:noFill/>
            <a:prstDash val="solid"/>
          </a:ln>
        </p:spPr>
        <p:txBody>
          <a:bodyPr wrap="square" lIns="0" tIns="0" rIns="0" bIns="0" anchor="t">
            <a:normAutofit fontScale="79427"/>
          </a:bodyPr>
          <a:lstStyle/>
          <a:p>
            <a:pPr algn="l">
              <a:lnSpc>
                <a:spcPct val="94000"/>
              </a:lnSpc>
              <a:buNone/>
              <a:defRPr sz="5400" b="1">
                <a:solidFill>
                  <a:srgbClr val="17233C"/>
                </a:solidFill>
                <a:latin typeface="Aptos Display"/>
                <a:ea typeface="Aptos Display"/>
                <a:cs typeface="Aptos Display"/>
              </a:defRPr>
            </a:pPr>
            <a:r>
              <a:rPr sz="5400" b="1">
                <a:solidFill>
                  <a:srgbClr val="17233C"/>
                </a:solidFill>
                <a:latin typeface="Aptos Display"/>
                <a:ea typeface="Aptos Display"/>
                <a:cs typeface="Aptos Display"/>
              </a:rPr>
              <a:t>Implementación de</a:t>
            </a:r>
          </a:p>
          <a:p>
            <a:pPr algn="l">
              <a:lnSpc>
                <a:spcPct val="94000"/>
              </a:lnSpc>
              <a:buNone/>
              <a:defRPr sz="5400" b="1">
                <a:solidFill>
                  <a:srgbClr val="17233C"/>
                </a:solidFill>
                <a:latin typeface="Aptos Display"/>
                <a:ea typeface="Aptos Display"/>
                <a:cs typeface="Aptos Display"/>
              </a:defRPr>
            </a:pPr>
            <a:r>
              <a:rPr sz="5400" b="1">
                <a:solidFill>
                  <a:srgbClr val="17233C"/>
                </a:solidFill>
                <a:latin typeface="Aptos Display"/>
                <a:ea typeface="Aptos Display"/>
                <a:cs typeface="Aptos Display"/>
              </a:rPr>
              <a:t>sincronización de directorios</a:t>
            </a:r>
          </a:p>
        </p:txBody>
      </p:sp>
      <p:sp>
        <p:nvSpPr>
          <p:cNvPr id="4" name="Rectangle 3">
            <a:extLst>
              <a:ext uri="{FF2B5EF4-FFF2-40B4-BE49-F238E27FC236}">
                <a16:creationId xmlns:a16="http://schemas.microsoft.com/office/drawing/2014/main" id="{28003ADA-D8A5-4363-8C5E-2F6C6E097DCF}"/>
              </a:ext>
            </a:extLst>
          </p:cNvPr>
          <p:cNvSpPr>
            <a:spLocks noGrp="1"/>
          </p:cNvSpPr>
          <p:nvPr/>
        </p:nvSpPr>
        <p:spPr>
          <a:xfrm>
            <a:off x="914400" y="3600450"/>
            <a:ext cx="8096250" cy="323850"/>
          </a:xfrm>
          <a:prstGeom prst="rect">
            <a:avLst/>
          </a:prstGeom>
          <a:noFill/>
          <a:ln w="0">
            <a:noFill/>
            <a:prstDash val="solid"/>
          </a:ln>
        </p:spPr>
        <p:txBody>
          <a:bodyPr wrap="square" lIns="0" tIns="0" rIns="0" bIns="0" anchor="t">
            <a:normAutofit/>
          </a:bodyPr>
          <a:lstStyle/>
          <a:p>
            <a:pPr algn="l">
              <a:lnSpc>
                <a:spcPct val="104000"/>
              </a:lnSpc>
              <a:buNone/>
              <a:defRPr sz="1875" b="0">
                <a:solidFill>
                  <a:srgbClr val="51627A"/>
                </a:solidFill>
                <a:latin typeface="Aptos"/>
                <a:ea typeface="Aptos"/>
                <a:cs typeface="Aptos"/>
              </a:defRPr>
            </a:pPr>
            <a:r>
              <a:rPr sz="1875" b="0">
                <a:solidFill>
                  <a:srgbClr val="51627A"/>
                </a:solidFill>
                <a:latin typeface="Aptos"/>
                <a:ea typeface="Aptos"/>
                <a:cs typeface="Aptos"/>
              </a:rPr>
              <a:t>Microsoft Entra Connect Sync · Microsoft Entra Cloud Sync</a:t>
            </a:r>
          </a:p>
        </p:txBody>
      </p:sp>
      <p:sp>
        <p:nvSpPr>
          <p:cNvPr id="5" name="Rectangle 4">
            <a:extLst>
              <a:ext uri="{FF2B5EF4-FFF2-40B4-BE49-F238E27FC236}">
                <a16:creationId xmlns:a16="http://schemas.microsoft.com/office/drawing/2014/main" id="{0F3B5808-0E3F-40A1-8A45-C7D5AA1E230D}"/>
              </a:ext>
            </a:extLst>
          </p:cNvPr>
          <p:cNvSpPr>
            <a:spLocks noGrp="1"/>
          </p:cNvSpPr>
          <p:nvPr/>
        </p:nvSpPr>
        <p:spPr>
          <a:xfrm>
            <a:off x="6572250" y="4762500"/>
            <a:ext cx="1619250" cy="685800"/>
          </a:xfrm>
          <a:prstGeom prst="rect">
            <a:avLst/>
          </a:prstGeom>
          <a:solidFill>
            <a:srgbClr val="F3F6F9"/>
          </a:solidFill>
          <a:ln w="19050">
            <a:solidFill>
              <a:srgbClr val="0F6CBD"/>
            </a:solidFill>
            <a:prstDash val="solid"/>
          </a:ln>
        </p:spPr>
      </p:sp>
      <p:sp>
        <p:nvSpPr>
          <p:cNvPr id="6" name="Rectangle 5">
            <a:extLst>
              <a:ext uri="{FF2B5EF4-FFF2-40B4-BE49-F238E27FC236}">
                <a16:creationId xmlns:a16="http://schemas.microsoft.com/office/drawing/2014/main" id="{E5A53BFF-9E72-4914-BE1F-4C3B4C16356F}"/>
              </a:ext>
            </a:extLst>
          </p:cNvPr>
          <p:cNvSpPr>
            <a:spLocks noGrp="1"/>
          </p:cNvSpPr>
          <p:nvPr/>
        </p:nvSpPr>
        <p:spPr>
          <a:xfrm>
            <a:off x="6686550" y="4857750"/>
            <a:ext cx="1390650" cy="4953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AD DS local</a:t>
            </a:r>
          </a:p>
        </p:txBody>
      </p:sp>
      <p:sp>
        <p:nvSpPr>
          <p:cNvPr id="7" name="Rectangle 6">
            <a:extLst>
              <a:ext uri="{FF2B5EF4-FFF2-40B4-BE49-F238E27FC236}">
                <a16:creationId xmlns:a16="http://schemas.microsoft.com/office/drawing/2014/main" id="{B34C5B99-C731-40CB-8511-5E69075689A3}"/>
              </a:ext>
            </a:extLst>
          </p:cNvPr>
          <p:cNvSpPr>
            <a:spLocks noGrp="1"/>
          </p:cNvSpPr>
          <p:nvPr/>
        </p:nvSpPr>
        <p:spPr>
          <a:xfrm>
            <a:off x="9620250" y="4762500"/>
            <a:ext cx="1809750" cy="685800"/>
          </a:xfrm>
          <a:prstGeom prst="rect">
            <a:avLst/>
          </a:prstGeom>
          <a:solidFill>
            <a:srgbClr val="DFF3FF"/>
          </a:solidFill>
          <a:ln w="19050">
            <a:solidFill>
              <a:srgbClr val="0F6CBD"/>
            </a:solidFill>
            <a:prstDash val="solid"/>
          </a:ln>
        </p:spPr>
      </p:sp>
      <p:sp>
        <p:nvSpPr>
          <p:cNvPr id="8" name="Rectangle 7">
            <a:extLst>
              <a:ext uri="{FF2B5EF4-FFF2-40B4-BE49-F238E27FC236}">
                <a16:creationId xmlns:a16="http://schemas.microsoft.com/office/drawing/2014/main" id="{A69CF882-B24A-4984-ADD5-CC4D944C7F2C}"/>
              </a:ext>
            </a:extLst>
          </p:cNvPr>
          <p:cNvSpPr>
            <a:spLocks noGrp="1"/>
          </p:cNvSpPr>
          <p:nvPr/>
        </p:nvSpPr>
        <p:spPr>
          <a:xfrm>
            <a:off x="9734550" y="4857750"/>
            <a:ext cx="1581150" cy="4953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Microsoft Entra ID</a:t>
            </a:r>
          </a:p>
        </p:txBody>
      </p:sp>
      <p:cxnSp>
        <p:nvCxnSpPr>
          <p:cNvPr id="9" name="Straight Arrow Connector 8"/>
          <p:cNvCxnSpPr>
            <a:stCxn id="5" idx="3"/>
            <a:endCxn id="7" idx="1"/>
          </p:cNvCxnSpPr>
          <p:nvPr/>
        </p:nvCxnSpPr>
        <p:spPr>
          <a:xfrm>
            <a:off x="8191500" y="5105400"/>
            <a:ext cx="1428750" cy="0"/>
          </a:xfrm>
          <a:prstGeom prst="straightConnector1">
            <a:avLst/>
          </a:prstGeom>
          <a:ln w="28575">
            <a:solidFill>
              <a:srgbClr val="0F6CBD"/>
            </a:solidFill>
            <a:prstDash val="solid"/>
            <a:tailEnd type="arrow" w="med" len="med"/>
          </a:ln>
        </p:spPr>
      </p:cxnSp>
      <p:sp>
        <p:nvSpPr>
          <p:cNvPr id="10" name="Rectangle 9">
            <a:extLst>
              <a:ext uri="{FF2B5EF4-FFF2-40B4-BE49-F238E27FC236}">
                <a16:creationId xmlns:a16="http://schemas.microsoft.com/office/drawing/2014/main" id="{BE8B3600-2AC7-4D11-98BB-3DCAAB2A64BE}"/>
              </a:ext>
            </a:extLst>
          </p:cNvPr>
          <p:cNvSpPr>
            <a:spLocks noGrp="1"/>
          </p:cNvSpPr>
          <p:nvPr/>
        </p:nvSpPr>
        <p:spPr>
          <a:xfrm>
            <a:off x="876300" y="5905500"/>
            <a:ext cx="4572000" cy="247650"/>
          </a:xfrm>
          <a:prstGeom prst="rect">
            <a:avLst/>
          </a:prstGeom>
          <a:noFill/>
          <a:ln w="0">
            <a:noFill/>
            <a:prstDash val="solid"/>
          </a:ln>
        </p:spPr>
        <p:txBody>
          <a:bodyPr wrap="square" lIns="0" tIns="0" rIns="0" bIns="0" anchor="t">
            <a:normAutofit/>
          </a:bodyPr>
          <a:lstStyle/>
          <a:p>
            <a:pPr algn="l">
              <a:lnSpc>
                <a:spcPct val="104000"/>
              </a:lnSpc>
              <a:buNone/>
              <a:defRPr sz="1425" b="1">
                <a:solidFill>
                  <a:srgbClr val="008A88"/>
                </a:solidFill>
                <a:latin typeface="Aptos"/>
                <a:ea typeface="Aptos"/>
                <a:cs typeface="Aptos"/>
              </a:defRPr>
            </a:pPr>
            <a:r>
              <a:rPr sz="1425" b="1">
                <a:solidFill>
                  <a:srgbClr val="008A88"/>
                </a:solidFill>
                <a:latin typeface="Aptos"/>
                <a:ea typeface="Aptos"/>
                <a:cs typeface="Aptos"/>
              </a:rPr>
              <a:t>Desplegar · proteger · validar</a:t>
            </a:r>
          </a:p>
        </p:txBody>
      </p:sp>
      <p:sp>
        <p:nvSpPr>
          <p:cNvPr id="11" name="Rectangle 10">
            <a:extLst>
              <a:ext uri="{FF2B5EF4-FFF2-40B4-BE49-F238E27FC236}">
                <a16:creationId xmlns:a16="http://schemas.microsoft.com/office/drawing/2014/main" id="{4A77EFB2-1E72-4FFE-8CD7-46DA17C7BC93}"/>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01</a:t>
            </a:r>
          </a:p>
        </p:txBody>
      </p:sp>
    </p:spTree>
    <p:extLst>
      <p:ext uri="{BB962C8B-B14F-4D97-AF65-F5344CB8AC3E}">
        <p14:creationId xmlns:p14="http://schemas.microsoft.com/office/powerpoint/2010/main" val="1315155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86879B0-7F54-4BDB-AF08-3A9A42B91469}"/>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D6D15137-00E4-4D3D-B97D-1EF360F078E7}"/>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MARCO DE IMPLEMENTACIÓN</a:t>
            </a:r>
          </a:p>
        </p:txBody>
      </p:sp>
      <p:sp>
        <p:nvSpPr>
          <p:cNvPr id="3" name="Rectangle 2">
            <a:extLst>
              <a:ext uri="{FF2B5EF4-FFF2-40B4-BE49-F238E27FC236}">
                <a16:creationId xmlns:a16="http://schemas.microsoft.com/office/drawing/2014/main" id="{997A5991-7670-4EB6-A2AB-00F718BA8BA9}"/>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97036"/>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El despliegue empieza con tres decisiones</a:t>
            </a:r>
          </a:p>
        </p:txBody>
      </p:sp>
      <p:sp>
        <p:nvSpPr>
          <p:cNvPr id="4" name="Straight Connector 3">
            <a:extLst>
              <a:ext uri="{FF2B5EF4-FFF2-40B4-BE49-F238E27FC236}">
                <a16:creationId xmlns:a16="http://schemas.microsoft.com/office/drawing/2014/main" id="{5E23395D-C9DB-46E7-B59E-A910616D3DF6}"/>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04871B4B-3D32-43FD-A90D-BDD300C55A2D}"/>
              </a:ext>
            </a:extLst>
          </p:cNvPr>
          <p:cNvSpPr>
            <a:spLocks noGrp="1"/>
          </p:cNvSpPr>
          <p:nvPr/>
        </p:nvSpPr>
        <p:spPr>
          <a:xfrm>
            <a:off x="952500" y="2038350"/>
            <a:ext cx="952500" cy="666750"/>
          </a:xfrm>
          <a:prstGeom prst="rect">
            <a:avLst/>
          </a:prstGeom>
          <a:noFill/>
          <a:ln w="0">
            <a:noFill/>
            <a:prstDash val="solid"/>
          </a:ln>
        </p:spPr>
        <p:txBody>
          <a:bodyPr wrap="square" lIns="0" tIns="0" rIns="0" bIns="0" anchor="t">
            <a:normAutofit/>
          </a:bodyPr>
          <a:lstStyle/>
          <a:p>
            <a:pPr algn="l">
              <a:lnSpc>
                <a:spcPct val="104000"/>
              </a:lnSpc>
              <a:buNone/>
              <a:defRPr sz="4200" b="1">
                <a:solidFill>
                  <a:srgbClr val="0F6CBD"/>
                </a:solidFill>
                <a:latin typeface="Aptos Display"/>
                <a:ea typeface="Aptos Display"/>
                <a:cs typeface="Aptos Display"/>
              </a:defRPr>
            </a:pPr>
            <a:r>
              <a:rPr sz="4200" b="1">
                <a:solidFill>
                  <a:srgbClr val="0F6CBD"/>
                </a:solidFill>
                <a:latin typeface="Aptos Display"/>
                <a:ea typeface="Aptos Display"/>
                <a:cs typeface="Aptos Display"/>
              </a:rPr>
              <a:t>01</a:t>
            </a:r>
          </a:p>
        </p:txBody>
      </p:sp>
      <p:sp>
        <p:nvSpPr>
          <p:cNvPr id="6" name="Straight Connector 5">
            <a:extLst>
              <a:ext uri="{FF2B5EF4-FFF2-40B4-BE49-F238E27FC236}">
                <a16:creationId xmlns:a16="http://schemas.microsoft.com/office/drawing/2014/main" id="{ACABCC16-5252-483E-989C-625F09F9FC30}"/>
              </a:ext>
            </a:extLst>
          </p:cNvPr>
          <p:cNvSpPr>
            <a:spLocks noGrp="1"/>
          </p:cNvSpPr>
          <p:nvPr/>
        </p:nvSpPr>
        <p:spPr>
          <a:xfrm>
            <a:off x="952500" y="2857500"/>
            <a:ext cx="2714625" cy="0"/>
          </a:xfrm>
          <a:prstGeom prst="line">
            <a:avLst/>
          </a:prstGeom>
          <a:noFill/>
          <a:ln w="38100">
            <a:solidFill>
              <a:srgbClr val="0F6CBD"/>
            </a:solidFill>
            <a:prstDash val="solid"/>
          </a:ln>
        </p:spPr>
      </p:sp>
      <p:sp>
        <p:nvSpPr>
          <p:cNvPr id="7" name="Rectangle 6">
            <a:extLst>
              <a:ext uri="{FF2B5EF4-FFF2-40B4-BE49-F238E27FC236}">
                <a16:creationId xmlns:a16="http://schemas.microsoft.com/office/drawing/2014/main" id="{5F128A57-11F0-40C9-86D0-A66EF13EB4FC}"/>
              </a:ext>
            </a:extLst>
          </p:cNvPr>
          <p:cNvSpPr>
            <a:spLocks noGrp="1"/>
          </p:cNvSpPr>
          <p:nvPr/>
        </p:nvSpPr>
        <p:spPr>
          <a:xfrm>
            <a:off x="952500" y="3105150"/>
            <a:ext cx="2714625" cy="342900"/>
          </a:xfrm>
          <a:prstGeom prst="rect">
            <a:avLst/>
          </a:prstGeom>
          <a:noFill/>
          <a:ln w="0">
            <a:noFill/>
            <a:prstDash val="solid"/>
          </a:ln>
        </p:spPr>
        <p:txBody>
          <a:bodyPr wrap="square" lIns="0" tIns="0" rIns="0" bIns="0" anchor="t">
            <a:normAutofit fontScale="96154"/>
          </a:bodyPr>
          <a:lstStyle/>
          <a:p>
            <a:pPr algn="l">
              <a:lnSpc>
                <a:spcPct val="104000"/>
              </a:lnSpc>
              <a:buNone/>
              <a:defRPr sz="2250" b="1">
                <a:solidFill>
                  <a:srgbClr val="17233C"/>
                </a:solidFill>
                <a:latin typeface="Aptos"/>
                <a:ea typeface="Aptos"/>
                <a:cs typeface="Aptos"/>
              </a:defRPr>
            </a:pPr>
            <a:r>
              <a:rPr sz="2250" b="1">
                <a:solidFill>
                  <a:srgbClr val="17233C"/>
                </a:solidFill>
                <a:latin typeface="Aptos"/>
                <a:ea typeface="Aptos"/>
                <a:cs typeface="Aptos"/>
              </a:rPr>
              <a:t>Herramienta</a:t>
            </a:r>
          </a:p>
        </p:txBody>
      </p:sp>
      <p:sp>
        <p:nvSpPr>
          <p:cNvPr id="8" name="Rectangle 7">
            <a:extLst>
              <a:ext uri="{FF2B5EF4-FFF2-40B4-BE49-F238E27FC236}">
                <a16:creationId xmlns:a16="http://schemas.microsoft.com/office/drawing/2014/main" id="{6FB29379-AF6B-49F1-9060-42B542D6D9E3}"/>
              </a:ext>
            </a:extLst>
          </p:cNvPr>
          <p:cNvSpPr>
            <a:spLocks noGrp="1"/>
          </p:cNvSpPr>
          <p:nvPr/>
        </p:nvSpPr>
        <p:spPr>
          <a:xfrm>
            <a:off x="952500" y="3619500"/>
            <a:ext cx="2714625" cy="1428750"/>
          </a:xfrm>
          <a:prstGeom prst="rect">
            <a:avLst/>
          </a:prstGeom>
          <a:noFill/>
          <a:ln w="0">
            <a:noFill/>
            <a:prstDash val="solid"/>
          </a:ln>
        </p:spPr>
        <p:txBody>
          <a:bodyPr wrap="square" lIns="0" tIns="0" rIns="0" bIns="0" anchor="t">
            <a:normAutofit/>
          </a:bodyPr>
          <a:lstStyle/>
          <a:p>
            <a:pPr algn="l">
              <a:lnSpc>
                <a:spcPct val="112000"/>
              </a:lnSpc>
              <a:buNone/>
              <a:defRPr sz="1575" b="0">
                <a:solidFill>
                  <a:srgbClr val="51627A"/>
                </a:solidFill>
                <a:latin typeface="Aptos"/>
                <a:ea typeface="Aptos"/>
                <a:cs typeface="Aptos"/>
              </a:defRPr>
            </a:pPr>
            <a:r>
              <a:rPr sz="1575" b="0">
                <a:solidFill>
                  <a:srgbClr val="51627A"/>
                </a:solidFill>
                <a:latin typeface="Aptos"/>
                <a:ea typeface="Aptos"/>
                <a:cs typeface="Aptos"/>
              </a:rPr>
              <a:t>Connect Sync para control y funciones avanzadas; Cloud Sync para agentes ligeros y alta disponibilidad distribuida.</a:t>
            </a:r>
          </a:p>
        </p:txBody>
      </p:sp>
      <p:sp>
        <p:nvSpPr>
          <p:cNvPr id="9" name="Rectangle 8">
            <a:extLst>
              <a:ext uri="{FF2B5EF4-FFF2-40B4-BE49-F238E27FC236}">
                <a16:creationId xmlns:a16="http://schemas.microsoft.com/office/drawing/2014/main" id="{941FE07A-B9BF-4D95-BB2E-80F47CF3E03C}"/>
              </a:ext>
            </a:extLst>
          </p:cNvPr>
          <p:cNvSpPr>
            <a:spLocks noGrp="1"/>
          </p:cNvSpPr>
          <p:nvPr/>
        </p:nvSpPr>
        <p:spPr>
          <a:xfrm>
            <a:off x="4429125" y="2038350"/>
            <a:ext cx="952500" cy="666750"/>
          </a:xfrm>
          <a:prstGeom prst="rect">
            <a:avLst/>
          </a:prstGeom>
          <a:noFill/>
          <a:ln w="0">
            <a:noFill/>
            <a:prstDash val="solid"/>
          </a:ln>
        </p:spPr>
        <p:txBody>
          <a:bodyPr wrap="square" lIns="0" tIns="0" rIns="0" bIns="0" anchor="t">
            <a:normAutofit/>
          </a:bodyPr>
          <a:lstStyle/>
          <a:p>
            <a:pPr algn="l">
              <a:lnSpc>
                <a:spcPct val="104000"/>
              </a:lnSpc>
              <a:buNone/>
              <a:defRPr sz="4200" b="1">
                <a:solidFill>
                  <a:srgbClr val="008A88"/>
                </a:solidFill>
                <a:latin typeface="Aptos Display"/>
                <a:ea typeface="Aptos Display"/>
                <a:cs typeface="Aptos Display"/>
              </a:defRPr>
            </a:pPr>
            <a:r>
              <a:rPr sz="4200" b="1">
                <a:solidFill>
                  <a:srgbClr val="008A88"/>
                </a:solidFill>
                <a:latin typeface="Aptos Display"/>
                <a:ea typeface="Aptos Display"/>
                <a:cs typeface="Aptos Display"/>
              </a:rPr>
              <a:t>02</a:t>
            </a:r>
          </a:p>
        </p:txBody>
      </p:sp>
      <p:sp>
        <p:nvSpPr>
          <p:cNvPr id="10" name="Straight Connector 9">
            <a:extLst>
              <a:ext uri="{FF2B5EF4-FFF2-40B4-BE49-F238E27FC236}">
                <a16:creationId xmlns:a16="http://schemas.microsoft.com/office/drawing/2014/main" id="{6BD78285-5308-453E-8A23-474BE6529334}"/>
              </a:ext>
            </a:extLst>
          </p:cNvPr>
          <p:cNvSpPr>
            <a:spLocks noGrp="1"/>
          </p:cNvSpPr>
          <p:nvPr/>
        </p:nvSpPr>
        <p:spPr>
          <a:xfrm>
            <a:off x="4429125" y="2857500"/>
            <a:ext cx="2714625" cy="0"/>
          </a:xfrm>
          <a:prstGeom prst="line">
            <a:avLst/>
          </a:prstGeom>
          <a:noFill/>
          <a:ln w="38100">
            <a:solidFill>
              <a:srgbClr val="008A88"/>
            </a:solidFill>
            <a:prstDash val="solid"/>
          </a:ln>
        </p:spPr>
      </p:sp>
      <p:sp>
        <p:nvSpPr>
          <p:cNvPr id="11" name="Rectangle 10">
            <a:extLst>
              <a:ext uri="{FF2B5EF4-FFF2-40B4-BE49-F238E27FC236}">
                <a16:creationId xmlns:a16="http://schemas.microsoft.com/office/drawing/2014/main" id="{9F787A1D-D66D-4704-B575-E7E23656B0CA}"/>
              </a:ext>
            </a:extLst>
          </p:cNvPr>
          <p:cNvSpPr>
            <a:spLocks noGrp="1"/>
          </p:cNvSpPr>
          <p:nvPr/>
        </p:nvSpPr>
        <p:spPr>
          <a:xfrm>
            <a:off x="4429125" y="3105150"/>
            <a:ext cx="2714625" cy="342900"/>
          </a:xfrm>
          <a:prstGeom prst="rect">
            <a:avLst/>
          </a:prstGeom>
          <a:noFill/>
          <a:ln w="0">
            <a:noFill/>
            <a:prstDash val="solid"/>
          </a:ln>
        </p:spPr>
        <p:txBody>
          <a:bodyPr wrap="square" lIns="0" tIns="0" rIns="0" bIns="0" anchor="t">
            <a:normAutofit fontScale="96154"/>
          </a:bodyPr>
          <a:lstStyle/>
          <a:p>
            <a:pPr algn="l">
              <a:lnSpc>
                <a:spcPct val="104000"/>
              </a:lnSpc>
              <a:buNone/>
              <a:defRPr sz="2250" b="1">
                <a:solidFill>
                  <a:srgbClr val="17233C"/>
                </a:solidFill>
                <a:latin typeface="Aptos"/>
                <a:ea typeface="Aptos"/>
                <a:cs typeface="Aptos"/>
              </a:defRPr>
            </a:pPr>
            <a:r>
              <a:rPr sz="2250" b="1">
                <a:solidFill>
                  <a:srgbClr val="17233C"/>
                </a:solidFill>
                <a:latin typeface="Aptos"/>
                <a:ea typeface="Aptos"/>
                <a:cs typeface="Aptos"/>
              </a:rPr>
              <a:t>Topología</a:t>
            </a:r>
          </a:p>
        </p:txBody>
      </p:sp>
      <p:sp>
        <p:nvSpPr>
          <p:cNvPr id="12" name="Rectangle 11">
            <a:extLst>
              <a:ext uri="{FF2B5EF4-FFF2-40B4-BE49-F238E27FC236}">
                <a16:creationId xmlns:a16="http://schemas.microsoft.com/office/drawing/2014/main" id="{6839D92B-D0DE-4C6C-83FC-03191A138F23}"/>
              </a:ext>
            </a:extLst>
          </p:cNvPr>
          <p:cNvSpPr>
            <a:spLocks noGrp="1"/>
          </p:cNvSpPr>
          <p:nvPr/>
        </p:nvSpPr>
        <p:spPr>
          <a:xfrm>
            <a:off x="4429125" y="3619500"/>
            <a:ext cx="2714625" cy="1428750"/>
          </a:xfrm>
          <a:prstGeom prst="rect">
            <a:avLst/>
          </a:prstGeom>
          <a:noFill/>
          <a:ln w="0">
            <a:noFill/>
            <a:prstDash val="solid"/>
          </a:ln>
        </p:spPr>
        <p:txBody>
          <a:bodyPr wrap="square" lIns="0" tIns="0" rIns="0" bIns="0" anchor="t">
            <a:normAutofit/>
          </a:bodyPr>
          <a:lstStyle/>
          <a:p>
            <a:pPr algn="l">
              <a:lnSpc>
                <a:spcPct val="112000"/>
              </a:lnSpc>
              <a:buNone/>
              <a:defRPr sz="1575" b="0">
                <a:solidFill>
                  <a:srgbClr val="51627A"/>
                </a:solidFill>
                <a:latin typeface="Aptos"/>
                <a:ea typeface="Aptos"/>
                <a:cs typeface="Aptos"/>
              </a:defRPr>
            </a:pPr>
            <a:r>
              <a:rPr sz="1575" b="0">
                <a:solidFill>
                  <a:srgbClr val="51627A"/>
                </a:solidFill>
                <a:latin typeface="Aptos"/>
                <a:ea typeface="Aptos"/>
                <a:cs typeface="Aptos"/>
              </a:rPr>
              <a:t>Bosques, dominios, OUs, volumen de objetos, SQL y patrón activo/staging o multiagente.</a:t>
            </a:r>
          </a:p>
        </p:txBody>
      </p:sp>
      <p:sp>
        <p:nvSpPr>
          <p:cNvPr id="13" name="Rectangle 12">
            <a:extLst>
              <a:ext uri="{FF2B5EF4-FFF2-40B4-BE49-F238E27FC236}">
                <a16:creationId xmlns:a16="http://schemas.microsoft.com/office/drawing/2014/main" id="{AB50315A-A114-4D1B-A0D7-57B130682A81}"/>
              </a:ext>
            </a:extLst>
          </p:cNvPr>
          <p:cNvSpPr>
            <a:spLocks noGrp="1"/>
          </p:cNvSpPr>
          <p:nvPr/>
        </p:nvSpPr>
        <p:spPr>
          <a:xfrm>
            <a:off x="7905750" y="2038350"/>
            <a:ext cx="952500" cy="666750"/>
          </a:xfrm>
          <a:prstGeom prst="rect">
            <a:avLst/>
          </a:prstGeom>
          <a:noFill/>
          <a:ln w="0">
            <a:noFill/>
            <a:prstDash val="solid"/>
          </a:ln>
        </p:spPr>
        <p:txBody>
          <a:bodyPr wrap="square" lIns="0" tIns="0" rIns="0" bIns="0" anchor="t">
            <a:normAutofit/>
          </a:bodyPr>
          <a:lstStyle/>
          <a:p>
            <a:pPr algn="l">
              <a:lnSpc>
                <a:spcPct val="104000"/>
              </a:lnSpc>
              <a:buNone/>
              <a:defRPr sz="4200" b="1">
                <a:solidFill>
                  <a:srgbClr val="0F6CBD"/>
                </a:solidFill>
                <a:latin typeface="Aptos Display"/>
                <a:ea typeface="Aptos Display"/>
                <a:cs typeface="Aptos Display"/>
              </a:defRPr>
            </a:pPr>
            <a:r>
              <a:rPr sz="4200" b="1">
                <a:solidFill>
                  <a:srgbClr val="0F6CBD"/>
                </a:solidFill>
                <a:latin typeface="Aptos Display"/>
                <a:ea typeface="Aptos Display"/>
                <a:cs typeface="Aptos Display"/>
              </a:rPr>
              <a:t>03</a:t>
            </a:r>
          </a:p>
        </p:txBody>
      </p:sp>
      <p:sp>
        <p:nvSpPr>
          <p:cNvPr id="14" name="Straight Connector 13">
            <a:extLst>
              <a:ext uri="{FF2B5EF4-FFF2-40B4-BE49-F238E27FC236}">
                <a16:creationId xmlns:a16="http://schemas.microsoft.com/office/drawing/2014/main" id="{B53B172A-0171-4F66-8EA1-97257AE7FD95}"/>
              </a:ext>
            </a:extLst>
          </p:cNvPr>
          <p:cNvSpPr>
            <a:spLocks noGrp="1"/>
          </p:cNvSpPr>
          <p:nvPr/>
        </p:nvSpPr>
        <p:spPr>
          <a:xfrm>
            <a:off x="7905750" y="2857500"/>
            <a:ext cx="2714625" cy="0"/>
          </a:xfrm>
          <a:prstGeom prst="line">
            <a:avLst/>
          </a:prstGeom>
          <a:noFill/>
          <a:ln w="38100">
            <a:solidFill>
              <a:srgbClr val="0F6CBD"/>
            </a:solidFill>
            <a:prstDash val="solid"/>
          </a:ln>
        </p:spPr>
      </p:sp>
      <p:sp>
        <p:nvSpPr>
          <p:cNvPr id="15" name="Rectangle 14">
            <a:extLst>
              <a:ext uri="{FF2B5EF4-FFF2-40B4-BE49-F238E27FC236}">
                <a16:creationId xmlns:a16="http://schemas.microsoft.com/office/drawing/2014/main" id="{34DA42C0-6C23-40FA-ABAC-68C83066D145}"/>
              </a:ext>
            </a:extLst>
          </p:cNvPr>
          <p:cNvSpPr>
            <a:spLocks noGrp="1"/>
          </p:cNvSpPr>
          <p:nvPr/>
        </p:nvSpPr>
        <p:spPr>
          <a:xfrm>
            <a:off x="7905750" y="3105150"/>
            <a:ext cx="2714625" cy="342900"/>
          </a:xfrm>
          <a:prstGeom prst="rect">
            <a:avLst/>
          </a:prstGeom>
          <a:noFill/>
          <a:ln w="0">
            <a:noFill/>
            <a:prstDash val="solid"/>
          </a:ln>
        </p:spPr>
        <p:txBody>
          <a:bodyPr wrap="square" lIns="0" tIns="0" rIns="0" bIns="0" anchor="t">
            <a:normAutofit fontScale="96154"/>
          </a:bodyPr>
          <a:lstStyle/>
          <a:p>
            <a:pPr algn="l">
              <a:lnSpc>
                <a:spcPct val="104000"/>
              </a:lnSpc>
              <a:buNone/>
              <a:defRPr sz="2250" b="1">
                <a:solidFill>
                  <a:srgbClr val="17233C"/>
                </a:solidFill>
                <a:latin typeface="Aptos"/>
                <a:ea typeface="Aptos"/>
                <a:cs typeface="Aptos"/>
              </a:defRPr>
            </a:pPr>
            <a:r>
              <a:rPr sz="2250" b="1">
                <a:solidFill>
                  <a:srgbClr val="17233C"/>
                </a:solidFill>
                <a:latin typeface="Aptos"/>
                <a:ea typeface="Aptos"/>
                <a:cs typeface="Aptos"/>
              </a:rPr>
              <a:t>Inicio de sesión</a:t>
            </a:r>
          </a:p>
        </p:txBody>
      </p:sp>
      <p:sp>
        <p:nvSpPr>
          <p:cNvPr id="16" name="Rectangle 15">
            <a:extLst>
              <a:ext uri="{FF2B5EF4-FFF2-40B4-BE49-F238E27FC236}">
                <a16:creationId xmlns:a16="http://schemas.microsoft.com/office/drawing/2014/main" id="{1398314C-5E90-4E60-AD58-F150364AD450}"/>
              </a:ext>
            </a:extLst>
          </p:cNvPr>
          <p:cNvSpPr>
            <a:spLocks noGrp="1"/>
          </p:cNvSpPr>
          <p:nvPr/>
        </p:nvSpPr>
        <p:spPr>
          <a:xfrm>
            <a:off x="7905750" y="3619500"/>
            <a:ext cx="2714625" cy="1428750"/>
          </a:xfrm>
          <a:prstGeom prst="rect">
            <a:avLst/>
          </a:prstGeom>
          <a:noFill/>
          <a:ln w="0">
            <a:noFill/>
            <a:prstDash val="solid"/>
          </a:ln>
        </p:spPr>
        <p:txBody>
          <a:bodyPr wrap="square" lIns="0" tIns="0" rIns="0" bIns="0" anchor="t">
            <a:normAutofit/>
          </a:bodyPr>
          <a:lstStyle/>
          <a:p>
            <a:pPr algn="l">
              <a:lnSpc>
                <a:spcPct val="112000"/>
              </a:lnSpc>
              <a:buNone/>
              <a:defRPr sz="1575" b="0">
                <a:solidFill>
                  <a:srgbClr val="51627A"/>
                </a:solidFill>
                <a:latin typeface="Aptos"/>
                <a:ea typeface="Aptos"/>
                <a:cs typeface="Aptos"/>
              </a:defRPr>
            </a:pPr>
            <a:r>
              <a:rPr sz="1575" b="0">
                <a:solidFill>
                  <a:srgbClr val="51627A"/>
                </a:solidFill>
                <a:latin typeface="Aptos"/>
                <a:ea typeface="Aptos"/>
                <a:cs typeface="Aptos"/>
              </a:rPr>
              <a:t>PHS, PTA, SSO o AD FS según continuidad, dependencia local y requisitos operativos.</a:t>
            </a:r>
          </a:p>
        </p:txBody>
      </p:sp>
      <p:sp>
        <p:nvSpPr>
          <p:cNvPr id="17" name="Rectangle 16">
            <a:extLst>
              <a:ext uri="{FF2B5EF4-FFF2-40B4-BE49-F238E27FC236}">
                <a16:creationId xmlns:a16="http://schemas.microsoft.com/office/drawing/2014/main" id="{029A0CBD-9D4F-4BD1-A13F-C9AE34AF6CF4}"/>
              </a:ext>
            </a:extLst>
          </p:cNvPr>
          <p:cNvSpPr>
            <a:spLocks noGrp="1"/>
          </p:cNvSpPr>
          <p:nvPr/>
        </p:nvSpPr>
        <p:spPr>
          <a:xfrm>
            <a:off x="952500" y="5810250"/>
            <a:ext cx="9525000" cy="323850"/>
          </a:xfrm>
          <a:prstGeom prst="rect">
            <a:avLst/>
          </a:prstGeom>
          <a:noFill/>
          <a:ln w="0">
            <a:noFill/>
            <a:prstDash val="solid"/>
          </a:ln>
        </p:spPr>
        <p:txBody>
          <a:bodyPr wrap="square" lIns="0" tIns="0" rIns="0" bIns="0" anchor="t">
            <a:normAutofit fontScale="97298"/>
          </a:bodyPr>
          <a:lstStyle/>
          <a:p>
            <a:pPr algn="l">
              <a:lnSpc>
                <a:spcPct val="104000"/>
              </a:lnSpc>
              <a:buNone/>
              <a:defRPr sz="2100" b="1">
                <a:solidFill>
                  <a:srgbClr val="0F6CBD"/>
                </a:solidFill>
                <a:latin typeface="Aptos"/>
                <a:ea typeface="Aptos"/>
                <a:cs typeface="Aptos"/>
              </a:defRPr>
            </a:pPr>
            <a:r>
              <a:rPr sz="2100" b="1">
                <a:solidFill>
                  <a:srgbClr val="0F6CBD"/>
                </a:solidFill>
                <a:latin typeface="Aptos"/>
                <a:ea typeface="Aptos"/>
                <a:cs typeface="Aptos"/>
              </a:rPr>
              <a:t>La elección técnica precede a la instalación.</a:t>
            </a:r>
          </a:p>
        </p:txBody>
      </p:sp>
      <p:sp>
        <p:nvSpPr>
          <p:cNvPr id="18" name="Rectangle 17">
            <a:extLst>
              <a:ext uri="{FF2B5EF4-FFF2-40B4-BE49-F238E27FC236}">
                <a16:creationId xmlns:a16="http://schemas.microsoft.com/office/drawing/2014/main" id="{ABE27404-5017-4AC7-9C38-82EB95EDE370}"/>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02</a:t>
            </a:r>
          </a:p>
        </p:txBody>
      </p:sp>
    </p:spTree>
    <p:extLst>
      <p:ext uri="{BB962C8B-B14F-4D97-AF65-F5344CB8AC3E}">
        <p14:creationId xmlns:p14="http://schemas.microsoft.com/office/powerpoint/2010/main" val="1958761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A451-FF40-4CA1-B614-27822359B41A}"/>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386B342E-5C59-49F7-9EF8-E2FD64595FE6}"/>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SELECCIÓN DE HERRAMIENTA</a:t>
            </a:r>
          </a:p>
        </p:txBody>
      </p:sp>
      <p:sp>
        <p:nvSpPr>
          <p:cNvPr id="3" name="Rectangle 2">
            <a:extLst>
              <a:ext uri="{FF2B5EF4-FFF2-40B4-BE49-F238E27FC236}">
                <a16:creationId xmlns:a16="http://schemas.microsoft.com/office/drawing/2014/main" id="{844C4CB9-122D-4617-BFE5-7190F99FCC98}"/>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Connect Sync y Cloud Sync resuelven necesidades distintas</a:t>
            </a:r>
          </a:p>
        </p:txBody>
      </p:sp>
      <p:sp>
        <p:nvSpPr>
          <p:cNvPr id="4" name="Straight Connector 3">
            <a:extLst>
              <a:ext uri="{FF2B5EF4-FFF2-40B4-BE49-F238E27FC236}">
                <a16:creationId xmlns:a16="http://schemas.microsoft.com/office/drawing/2014/main" id="{0E8921E6-1A0D-48EC-9B56-33C7F145BF0D}"/>
              </a:ext>
            </a:extLst>
          </p:cNvPr>
          <p:cNvSpPr>
            <a:spLocks noGrp="1"/>
          </p:cNvSpPr>
          <p:nvPr/>
        </p:nvSpPr>
        <p:spPr>
          <a:xfrm>
            <a:off x="762000" y="1809750"/>
            <a:ext cx="10668000" cy="0"/>
          </a:xfrm>
          <a:prstGeom prst="line">
            <a:avLst/>
          </a:prstGeom>
          <a:noFill/>
          <a:ln w="9525">
            <a:solidFill>
              <a:srgbClr val="C9D5E3"/>
            </a:solidFill>
            <a:prstDash val="solid"/>
          </a:ln>
        </p:spPr>
      </p:sp>
      <p:graphicFrame>
        <p:nvGraphicFramePr>
          <p:cNvPr id="5" name="Table 4"/>
          <p:cNvGraphicFramePr/>
          <p:nvPr/>
        </p:nvGraphicFramePr>
        <p:xfrm>
          <a:off x="857250" y="1952625"/>
          <a:ext cx="10477500" cy="3429000"/>
        </p:xfrm>
        <a:graphic>
          <a:graphicData uri="http://schemas.openxmlformats.org/drawingml/2006/table">
            <a:tbl>
              <a:tblPr/>
              <a:tblGrid>
                <a:gridCol w="20955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571500">
                <a:tc>
                  <a:txBody>
                    <a:bodyPr/>
                    <a:lstStyle/>
                    <a:p>
                      <a:r>
                        <a:rPr sz="1425" b="1">
                          <a:solidFill>
                            <a:srgbClr val="FFFFFF"/>
                          </a:solidFill>
                          <a:latin typeface="Aptos"/>
                          <a:ea typeface="Aptos"/>
                          <a:cs typeface="Aptos"/>
                        </a:rPr>
                        <a:t>Criterio</a:t>
                      </a:r>
                    </a:p>
                  </a:txBody>
                  <a:tcPr>
                    <a:solidFill>
                      <a:srgbClr val="0F6CBD"/>
                    </a:solidFill>
                  </a:tcPr>
                </a:tc>
                <a:tc>
                  <a:txBody>
                    <a:bodyPr/>
                    <a:lstStyle/>
                    <a:p>
                      <a:r>
                        <a:rPr sz="1425" b="1">
                          <a:solidFill>
                            <a:srgbClr val="FFFFFF"/>
                          </a:solidFill>
                          <a:latin typeface="Aptos"/>
                          <a:ea typeface="Aptos"/>
                          <a:cs typeface="Aptos"/>
                        </a:rPr>
                        <a:t>Microsoft Entra Connect Sync</a:t>
                      </a:r>
                    </a:p>
                  </a:txBody>
                  <a:tcPr>
                    <a:solidFill>
                      <a:srgbClr val="0F6CBD"/>
                    </a:solidFill>
                  </a:tcPr>
                </a:tc>
                <a:tc>
                  <a:txBody>
                    <a:bodyPr/>
                    <a:lstStyle/>
                    <a:p>
                      <a:r>
                        <a:rPr sz="1425" b="1">
                          <a:solidFill>
                            <a:srgbClr val="FFFFFF"/>
                          </a:solidFill>
                          <a:latin typeface="Aptos"/>
                          <a:ea typeface="Aptos"/>
                          <a:cs typeface="Aptos"/>
                        </a:rPr>
                        <a:t>Microsoft Entra Cloud Sync</a:t>
                      </a:r>
                    </a:p>
                  </a:txBody>
                  <a:tcPr>
                    <a:solidFill>
                      <a:srgbClr val="0F6CBD"/>
                    </a:solidFill>
                  </a:tcPr>
                </a:tc>
                <a:extLst>
                  <a:ext uri="{0D108BD9-81ED-4DB2-BD59-A6C34878D82A}">
                    <a16:rowId xmlns:a16="http://schemas.microsoft.com/office/drawing/2014/main" val="10000"/>
                  </a:ext>
                </a:extLst>
              </a:tr>
              <a:tr h="571500">
                <a:tc>
                  <a:txBody>
                    <a:bodyPr/>
                    <a:lstStyle/>
                    <a:p>
                      <a:r>
                        <a:rPr sz="1425" b="0">
                          <a:solidFill>
                            <a:srgbClr val="17233C"/>
                          </a:solidFill>
                          <a:latin typeface="Aptos"/>
                          <a:ea typeface="Aptos"/>
                          <a:cs typeface="Aptos"/>
                        </a:rPr>
                        <a:t>Arquitectura</a:t>
                      </a:r>
                    </a:p>
                  </a:txBody>
                  <a:tcPr>
                    <a:solidFill>
                      <a:srgbClr val="FFFFFF"/>
                    </a:solidFill>
                  </a:tcPr>
                </a:tc>
                <a:tc>
                  <a:txBody>
                    <a:bodyPr/>
                    <a:lstStyle/>
                    <a:p>
                      <a:r>
                        <a:rPr sz="1425" b="0">
                          <a:solidFill>
                            <a:srgbClr val="17233C"/>
                          </a:solidFill>
                          <a:latin typeface="Aptos"/>
                          <a:ea typeface="Aptos"/>
                          <a:cs typeface="Aptos"/>
                        </a:rPr>
                        <a:t>Motor completo en servidor dedicado</a:t>
                      </a:r>
                    </a:p>
                  </a:txBody>
                  <a:tcPr>
                    <a:solidFill>
                      <a:srgbClr val="FFFFFF"/>
                    </a:solidFill>
                  </a:tcPr>
                </a:tc>
                <a:tc>
                  <a:txBody>
                    <a:bodyPr/>
                    <a:lstStyle/>
                    <a:p>
                      <a:r>
                        <a:rPr sz="1425" b="0">
                          <a:solidFill>
                            <a:srgbClr val="17233C"/>
                          </a:solidFill>
                          <a:latin typeface="Aptos"/>
                          <a:ea typeface="Aptos"/>
                          <a:cs typeface="Aptos"/>
                        </a:rPr>
                        <a:t>Agentes ligeros; varios activos</a:t>
                      </a:r>
                    </a:p>
                  </a:txBody>
                  <a:tcPr>
                    <a:solidFill>
                      <a:srgbClr val="FFFFFF"/>
                    </a:solidFill>
                  </a:tcPr>
                </a:tc>
                <a:extLst>
                  <a:ext uri="{0D108BD9-81ED-4DB2-BD59-A6C34878D82A}">
                    <a16:rowId xmlns:a16="http://schemas.microsoft.com/office/drawing/2014/main" val="10001"/>
                  </a:ext>
                </a:extLst>
              </a:tr>
              <a:tr h="571500">
                <a:tc>
                  <a:txBody>
                    <a:bodyPr/>
                    <a:lstStyle/>
                    <a:p>
                      <a:r>
                        <a:rPr sz="1425" b="0">
                          <a:solidFill>
                            <a:srgbClr val="17233C"/>
                          </a:solidFill>
                          <a:latin typeface="Aptos"/>
                          <a:ea typeface="Aptos"/>
                          <a:cs typeface="Aptos"/>
                        </a:rPr>
                        <a:t>Escenarios</a:t>
                      </a:r>
                    </a:p>
                  </a:txBody>
                  <a:tcPr>
                    <a:solidFill>
                      <a:srgbClr val="F3F6F9"/>
                    </a:solidFill>
                  </a:tcPr>
                </a:tc>
                <a:tc>
                  <a:txBody>
                    <a:bodyPr/>
                    <a:lstStyle/>
                    <a:p>
                      <a:r>
                        <a:rPr sz="1425" b="0">
                          <a:solidFill>
                            <a:srgbClr val="17233C"/>
                          </a:solidFill>
                          <a:latin typeface="Aptos"/>
                          <a:ea typeface="Aptos"/>
                          <a:cs typeface="Aptos"/>
                        </a:rPr>
                        <a:t>Múltiples bosques, SQL externo, writeback, AD FS</a:t>
                      </a:r>
                    </a:p>
                  </a:txBody>
                  <a:tcPr>
                    <a:solidFill>
                      <a:srgbClr val="F3F6F9"/>
                    </a:solidFill>
                  </a:tcPr>
                </a:tc>
                <a:tc>
                  <a:txBody>
                    <a:bodyPr/>
                    <a:lstStyle/>
                    <a:p>
                      <a:r>
                        <a:rPr sz="1425" b="0">
                          <a:solidFill>
                            <a:srgbClr val="17233C"/>
                          </a:solidFill>
                          <a:latin typeface="Aptos"/>
                          <a:ea typeface="Aptos"/>
                          <a:cs typeface="Aptos"/>
                        </a:rPr>
                        <a:t>Sincronización AD → Entra simplificada</a:t>
                      </a:r>
                    </a:p>
                  </a:txBody>
                  <a:tcPr>
                    <a:solidFill>
                      <a:srgbClr val="F3F6F9"/>
                    </a:solidFill>
                  </a:tcPr>
                </a:tc>
                <a:extLst>
                  <a:ext uri="{0D108BD9-81ED-4DB2-BD59-A6C34878D82A}">
                    <a16:rowId xmlns:a16="http://schemas.microsoft.com/office/drawing/2014/main" val="10002"/>
                  </a:ext>
                </a:extLst>
              </a:tr>
              <a:tr h="571500">
                <a:tc>
                  <a:txBody>
                    <a:bodyPr/>
                    <a:lstStyle/>
                    <a:p>
                      <a:r>
                        <a:rPr sz="1425" b="0">
                          <a:solidFill>
                            <a:srgbClr val="17233C"/>
                          </a:solidFill>
                          <a:latin typeface="Aptos"/>
                          <a:ea typeface="Aptos"/>
                          <a:cs typeface="Aptos"/>
                        </a:rPr>
                        <a:t>Alta disponibilidad</a:t>
                      </a:r>
                    </a:p>
                  </a:txBody>
                  <a:tcPr>
                    <a:solidFill>
                      <a:srgbClr val="FFFFFF"/>
                    </a:solidFill>
                  </a:tcPr>
                </a:tc>
                <a:tc>
                  <a:txBody>
                    <a:bodyPr/>
                    <a:lstStyle/>
                    <a:p>
                      <a:r>
                        <a:rPr sz="1425" b="0">
                          <a:solidFill>
                            <a:srgbClr val="17233C"/>
                          </a:solidFill>
                          <a:latin typeface="Aptos"/>
                          <a:ea typeface="Aptos"/>
                          <a:cs typeface="Aptos"/>
                        </a:rPr>
                        <a:t>Un activo + servidores en staging mode</a:t>
                      </a:r>
                    </a:p>
                  </a:txBody>
                  <a:tcPr>
                    <a:solidFill>
                      <a:srgbClr val="FFFFFF"/>
                    </a:solidFill>
                  </a:tcPr>
                </a:tc>
                <a:tc>
                  <a:txBody>
                    <a:bodyPr/>
                    <a:lstStyle/>
                    <a:p>
                      <a:r>
                        <a:rPr sz="1425" b="0">
                          <a:solidFill>
                            <a:srgbClr val="17233C"/>
                          </a:solidFill>
                          <a:latin typeface="Aptos"/>
                          <a:ea typeface="Aptos"/>
                          <a:cs typeface="Aptos"/>
                        </a:rPr>
                        <a:t>Microsoft recomienda tres agentes activos</a:t>
                      </a:r>
                    </a:p>
                  </a:txBody>
                  <a:tcPr>
                    <a:solidFill>
                      <a:srgbClr val="FFFFFF"/>
                    </a:solidFill>
                  </a:tcPr>
                </a:tc>
                <a:extLst>
                  <a:ext uri="{0D108BD9-81ED-4DB2-BD59-A6C34878D82A}">
                    <a16:rowId xmlns:a16="http://schemas.microsoft.com/office/drawing/2014/main" val="10003"/>
                  </a:ext>
                </a:extLst>
              </a:tr>
              <a:tr h="571500">
                <a:tc>
                  <a:txBody>
                    <a:bodyPr/>
                    <a:lstStyle/>
                    <a:p>
                      <a:r>
                        <a:rPr sz="1425" b="0">
                          <a:solidFill>
                            <a:srgbClr val="17233C"/>
                          </a:solidFill>
                          <a:latin typeface="Aptos"/>
                          <a:ea typeface="Aptos"/>
                          <a:cs typeface="Aptos"/>
                        </a:rPr>
                        <a:t>Cuenta de servicio</a:t>
                      </a:r>
                    </a:p>
                  </a:txBody>
                  <a:tcPr>
                    <a:solidFill>
                      <a:srgbClr val="F3F6F9"/>
                    </a:solidFill>
                  </a:tcPr>
                </a:tc>
                <a:tc>
                  <a:txBody>
                    <a:bodyPr/>
                    <a:lstStyle/>
                    <a:p>
                      <a:r>
                        <a:rPr sz="1425" b="0">
                          <a:solidFill>
                            <a:srgbClr val="17233C"/>
                          </a:solidFill>
                          <a:latin typeface="Aptos"/>
                          <a:ea typeface="Aptos"/>
                          <a:cs typeface="Aptos"/>
                        </a:rPr>
                        <a:t>Creada o existente según instalación</a:t>
                      </a:r>
                    </a:p>
                  </a:txBody>
                  <a:tcPr>
                    <a:solidFill>
                      <a:srgbClr val="F3F6F9"/>
                    </a:solidFill>
                  </a:tcPr>
                </a:tc>
                <a:tc>
                  <a:txBody>
                    <a:bodyPr/>
                    <a:lstStyle/>
                    <a:p>
                      <a:r>
                        <a:rPr sz="1425" b="0">
                          <a:solidFill>
                            <a:srgbClr val="17233C"/>
                          </a:solidFill>
                          <a:latin typeface="Aptos"/>
                          <a:ea typeface="Aptos"/>
                          <a:cs typeface="Aptos"/>
                        </a:rPr>
                        <a:t>gMSA para el provisioning agent</a:t>
                      </a:r>
                    </a:p>
                  </a:txBody>
                  <a:tcPr>
                    <a:solidFill>
                      <a:srgbClr val="F3F6F9"/>
                    </a:solidFill>
                  </a:tcPr>
                </a:tc>
                <a:extLst>
                  <a:ext uri="{0D108BD9-81ED-4DB2-BD59-A6C34878D82A}">
                    <a16:rowId xmlns:a16="http://schemas.microsoft.com/office/drawing/2014/main" val="10004"/>
                  </a:ext>
                </a:extLst>
              </a:tr>
              <a:tr h="571500">
                <a:tc>
                  <a:txBody>
                    <a:bodyPr/>
                    <a:lstStyle/>
                    <a:p>
                      <a:r>
                        <a:rPr sz="1425" b="0">
                          <a:solidFill>
                            <a:srgbClr val="17233C"/>
                          </a:solidFill>
                          <a:latin typeface="Aptos"/>
                          <a:ea typeface="Aptos"/>
                          <a:cs typeface="Aptos"/>
                        </a:rPr>
                        <a:t>Configuración</a:t>
                      </a:r>
                    </a:p>
                  </a:txBody>
                  <a:tcPr>
                    <a:solidFill>
                      <a:srgbClr val="FFFFFF"/>
                    </a:solidFill>
                  </a:tcPr>
                </a:tc>
                <a:tc>
                  <a:txBody>
                    <a:bodyPr/>
                    <a:lstStyle/>
                    <a:p>
                      <a:r>
                        <a:rPr sz="1425" b="0">
                          <a:solidFill>
                            <a:srgbClr val="17233C"/>
                          </a:solidFill>
                          <a:latin typeface="Aptos"/>
                          <a:ea typeface="Aptos"/>
                          <a:cs typeface="Aptos"/>
                        </a:rPr>
                        <a:t>Express o Custom</a:t>
                      </a:r>
                    </a:p>
                  </a:txBody>
                  <a:tcPr>
                    <a:solidFill>
                      <a:srgbClr val="FFFFFF"/>
                    </a:solidFill>
                  </a:tcPr>
                </a:tc>
                <a:tc>
                  <a:txBody>
                    <a:bodyPr/>
                    <a:lstStyle/>
                    <a:p>
                      <a:r>
                        <a:rPr sz="1425" b="0">
                          <a:solidFill>
                            <a:srgbClr val="17233C"/>
                          </a:solidFill>
                          <a:latin typeface="Aptos"/>
                          <a:ea typeface="Aptos"/>
                          <a:cs typeface="Aptos"/>
                        </a:rPr>
                        <a:t>Configuración desde Cloud Sync</a:t>
                      </a:r>
                    </a:p>
                  </a:txBody>
                  <a:tcP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DC27CD75-2D5B-418C-B764-3DBF8A420368}"/>
              </a:ext>
            </a:extLst>
          </p:cNvPr>
          <p:cNvSpPr>
            <a:spLocks noGrp="1"/>
          </p:cNvSpPr>
          <p:nvPr/>
        </p:nvSpPr>
        <p:spPr>
          <a:xfrm>
            <a:off x="876300" y="5695950"/>
            <a:ext cx="1619250" cy="228600"/>
          </a:xfrm>
          <a:prstGeom prst="rect">
            <a:avLst/>
          </a:prstGeom>
          <a:noFill/>
          <a:ln w="0">
            <a:noFill/>
            <a:prstDash val="solid"/>
          </a:ln>
        </p:spPr>
        <p:txBody>
          <a:bodyPr wrap="square" lIns="0" tIns="0" rIns="0" bIns="0" anchor="t">
            <a:normAutofit/>
          </a:bodyPr>
          <a:lstStyle/>
          <a:p>
            <a:pPr algn="l">
              <a:lnSpc>
                <a:spcPct val="104000"/>
              </a:lnSpc>
              <a:buNone/>
              <a:defRPr sz="1200" b="1">
                <a:solidFill>
                  <a:srgbClr val="0F6CBD"/>
                </a:solidFill>
                <a:latin typeface="Aptos"/>
                <a:ea typeface="Aptos"/>
                <a:cs typeface="Aptos"/>
              </a:defRPr>
            </a:pPr>
            <a:r>
              <a:rPr sz="1200" b="1">
                <a:solidFill>
                  <a:srgbClr val="0F6CBD"/>
                </a:solidFill>
                <a:latin typeface="Aptos"/>
                <a:ea typeface="Aptos"/>
                <a:cs typeface="Aptos"/>
              </a:rPr>
              <a:t>Regla práctica</a:t>
            </a:r>
          </a:p>
        </p:txBody>
      </p:sp>
      <p:sp>
        <p:nvSpPr>
          <p:cNvPr id="7" name="Rectangle 6">
            <a:extLst>
              <a:ext uri="{FF2B5EF4-FFF2-40B4-BE49-F238E27FC236}">
                <a16:creationId xmlns:a16="http://schemas.microsoft.com/office/drawing/2014/main" id="{D9EA1517-E387-4431-A8BA-C74183B1E793}"/>
              </a:ext>
            </a:extLst>
          </p:cNvPr>
          <p:cNvSpPr>
            <a:spLocks noGrp="1"/>
          </p:cNvSpPr>
          <p:nvPr/>
        </p:nvSpPr>
        <p:spPr>
          <a:xfrm>
            <a:off x="2619375" y="5657850"/>
            <a:ext cx="8477250" cy="323850"/>
          </a:xfrm>
          <a:prstGeom prst="rect">
            <a:avLst/>
          </a:prstGeom>
          <a:noFill/>
          <a:ln w="0">
            <a:noFill/>
            <a:prstDash val="solid"/>
          </a:ln>
        </p:spPr>
        <p:txBody>
          <a:bodyPr wrap="square" lIns="0" tIns="0" rIns="0" bIns="0" anchor="t">
            <a:normAutofit fontScale="78902"/>
          </a:bodyPr>
          <a:lstStyle/>
          <a:p>
            <a:pPr algn="l">
              <a:lnSpc>
                <a:spcPct val="104000"/>
              </a:lnSpc>
              <a:buNone/>
              <a:defRPr sz="1650" b="1">
                <a:solidFill>
                  <a:srgbClr val="17233C"/>
                </a:solidFill>
                <a:latin typeface="Aptos"/>
                <a:ea typeface="Aptos"/>
                <a:cs typeface="Aptos"/>
              </a:defRPr>
            </a:pPr>
            <a:r>
              <a:rPr sz="1650" b="1">
                <a:solidFill>
                  <a:srgbClr val="17233C"/>
                </a:solidFill>
                <a:latin typeface="Aptos"/>
                <a:ea typeface="Aptos"/>
                <a:cs typeface="Aptos"/>
              </a:rPr>
              <a:t>más control centralizado → Connect Sync | más simplicidad y agentes activos → Cloud Sync</a:t>
            </a:r>
          </a:p>
        </p:txBody>
      </p:sp>
      <p:sp>
        <p:nvSpPr>
          <p:cNvPr id="8" name="Rectangle 7">
            <a:extLst>
              <a:ext uri="{FF2B5EF4-FFF2-40B4-BE49-F238E27FC236}">
                <a16:creationId xmlns:a16="http://schemas.microsoft.com/office/drawing/2014/main" id="{DD913F35-AA5E-43EE-B78A-865740B58176}"/>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03</a:t>
            </a:r>
          </a:p>
        </p:txBody>
      </p:sp>
    </p:spTree>
    <p:extLst>
      <p:ext uri="{BB962C8B-B14F-4D97-AF65-F5344CB8AC3E}">
        <p14:creationId xmlns:p14="http://schemas.microsoft.com/office/powerpoint/2010/main" val="517470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0B86B36-5EC7-4837-993E-056428340FB2}"/>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689212B6-B146-4C1B-8DC7-98EF6D75AC2D}"/>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PRERREQUISITOS</a:t>
            </a:r>
          </a:p>
        </p:txBody>
      </p:sp>
      <p:sp>
        <p:nvSpPr>
          <p:cNvPr id="3" name="Rectangle 2">
            <a:extLst>
              <a:ext uri="{FF2B5EF4-FFF2-40B4-BE49-F238E27FC236}">
                <a16:creationId xmlns:a16="http://schemas.microsoft.com/office/drawing/2014/main" id="{3E1EFA16-B100-4BAE-B521-2966B8FDE463}"/>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9654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La preparación se valida en cuatro frentes</a:t>
            </a:r>
          </a:p>
        </p:txBody>
      </p:sp>
      <p:sp>
        <p:nvSpPr>
          <p:cNvPr id="4" name="Straight Connector 3">
            <a:extLst>
              <a:ext uri="{FF2B5EF4-FFF2-40B4-BE49-F238E27FC236}">
                <a16:creationId xmlns:a16="http://schemas.microsoft.com/office/drawing/2014/main" id="{911F17DA-4A5F-4D63-A578-9E4A4BC4A6C6}"/>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CC67A40A-751F-4632-97B2-8C94CB4A22B6}"/>
              </a:ext>
            </a:extLst>
          </p:cNvPr>
          <p:cNvSpPr>
            <a:spLocks noGrp="1"/>
          </p:cNvSpPr>
          <p:nvPr/>
        </p:nvSpPr>
        <p:spPr>
          <a:xfrm>
            <a:off x="809625" y="2057400"/>
            <a:ext cx="457200" cy="590550"/>
          </a:xfrm>
          <a:prstGeom prst="rect">
            <a:avLst/>
          </a:prstGeom>
          <a:noFill/>
          <a:ln w="0">
            <a:noFill/>
            <a:prstDash val="solid"/>
          </a:ln>
        </p:spPr>
        <p:txBody>
          <a:bodyPr wrap="square" lIns="0" tIns="0" rIns="0" bIns="0" anchor="t">
            <a:normAutofit/>
          </a:bodyPr>
          <a:lstStyle/>
          <a:p>
            <a:pPr algn="l">
              <a:lnSpc>
                <a:spcPct val="104000"/>
              </a:lnSpc>
              <a:buNone/>
              <a:defRPr sz="3450" b="1">
                <a:solidFill>
                  <a:srgbClr val="0F6CBD"/>
                </a:solidFill>
                <a:latin typeface="Aptos Display"/>
                <a:ea typeface="Aptos Display"/>
                <a:cs typeface="Aptos Display"/>
              </a:defRPr>
            </a:pPr>
            <a:r>
              <a:rPr sz="3450" b="1">
                <a:solidFill>
                  <a:srgbClr val="0F6CBD"/>
                </a:solidFill>
                <a:latin typeface="Aptos Display"/>
                <a:ea typeface="Aptos Display"/>
                <a:cs typeface="Aptos Display"/>
              </a:rPr>
              <a:t>1</a:t>
            </a:r>
          </a:p>
        </p:txBody>
      </p:sp>
      <p:sp>
        <p:nvSpPr>
          <p:cNvPr id="6" name="Rectangle 5">
            <a:extLst>
              <a:ext uri="{FF2B5EF4-FFF2-40B4-BE49-F238E27FC236}">
                <a16:creationId xmlns:a16="http://schemas.microsoft.com/office/drawing/2014/main" id="{B6FD2E96-796D-44C6-BDC8-CD6968F67D0C}"/>
              </a:ext>
            </a:extLst>
          </p:cNvPr>
          <p:cNvSpPr>
            <a:spLocks noGrp="1"/>
          </p:cNvSpPr>
          <p:nvPr/>
        </p:nvSpPr>
        <p:spPr>
          <a:xfrm>
            <a:off x="809625" y="2781300"/>
            <a:ext cx="2333625" cy="247650"/>
          </a:xfrm>
          <a:prstGeom prst="rect">
            <a:avLst/>
          </a:prstGeom>
          <a:noFill/>
          <a:ln w="0">
            <a:noFill/>
            <a:prstDash val="solid"/>
          </a:ln>
        </p:spPr>
        <p:txBody>
          <a:bodyPr wrap="square" lIns="0" tIns="0" rIns="0" bIns="0" anchor="t">
            <a:normAutofit/>
          </a:bodyPr>
          <a:lstStyle/>
          <a:p>
            <a:pPr algn="l">
              <a:lnSpc>
                <a:spcPct val="104000"/>
              </a:lnSpc>
              <a:buNone/>
              <a:defRPr sz="1275" b="1">
                <a:solidFill>
                  <a:srgbClr val="0F6CBD"/>
                </a:solidFill>
                <a:latin typeface="Aptos"/>
                <a:ea typeface="Aptos"/>
                <a:cs typeface="Aptos"/>
              </a:defRPr>
            </a:pPr>
            <a:r>
              <a:rPr sz="1275" b="1">
                <a:solidFill>
                  <a:srgbClr val="0F6CBD"/>
                </a:solidFill>
                <a:latin typeface="Aptos"/>
                <a:ea typeface="Aptos"/>
                <a:cs typeface="Aptos"/>
              </a:rPr>
              <a:t>TENANT</a:t>
            </a:r>
          </a:p>
        </p:txBody>
      </p:sp>
      <p:sp>
        <p:nvSpPr>
          <p:cNvPr id="7" name="Straight Connector 6">
            <a:extLst>
              <a:ext uri="{FF2B5EF4-FFF2-40B4-BE49-F238E27FC236}">
                <a16:creationId xmlns:a16="http://schemas.microsoft.com/office/drawing/2014/main" id="{125C858F-569F-4D9B-8BAC-92133B22B3BF}"/>
              </a:ext>
            </a:extLst>
          </p:cNvPr>
          <p:cNvSpPr>
            <a:spLocks noGrp="1"/>
          </p:cNvSpPr>
          <p:nvPr/>
        </p:nvSpPr>
        <p:spPr>
          <a:xfrm>
            <a:off x="809625" y="3105150"/>
            <a:ext cx="2238375" cy="0"/>
          </a:xfrm>
          <a:prstGeom prst="line">
            <a:avLst/>
          </a:prstGeom>
          <a:noFill/>
          <a:ln w="19050">
            <a:solidFill>
              <a:srgbClr val="C9D5E3"/>
            </a:solidFill>
            <a:prstDash val="solid"/>
          </a:ln>
        </p:spPr>
      </p:sp>
      <p:sp>
        <p:nvSpPr>
          <p:cNvPr id="8" name="Rectangle 7">
            <a:extLst>
              <a:ext uri="{FF2B5EF4-FFF2-40B4-BE49-F238E27FC236}">
                <a16:creationId xmlns:a16="http://schemas.microsoft.com/office/drawing/2014/main" id="{A23E6FCE-A461-4466-AFBE-F3A5F276F5C9}"/>
              </a:ext>
            </a:extLst>
          </p:cNvPr>
          <p:cNvSpPr>
            <a:spLocks noGrp="1"/>
          </p:cNvSpPr>
          <p:nvPr/>
        </p:nvSpPr>
        <p:spPr>
          <a:xfrm>
            <a:off x="809625" y="3333750"/>
            <a:ext cx="2333625" cy="1619250"/>
          </a:xfrm>
          <a:prstGeom prst="rect">
            <a:avLst/>
          </a:prstGeom>
          <a:noFill/>
          <a:ln w="0">
            <a:noFill/>
            <a:prstDash val="solid"/>
          </a:ln>
        </p:spPr>
        <p:txBody>
          <a:bodyPr wrap="square" lIns="0" tIns="0" rIns="0" bIns="0" anchor="t">
            <a:normAutofit/>
          </a:bodyPr>
          <a:lstStyle/>
          <a:p>
            <a:pPr algn="l">
              <a:lnSpc>
                <a:spcPct val="112000"/>
              </a:lnSpc>
              <a:buNone/>
              <a:defRPr sz="1575" b="0">
                <a:solidFill>
                  <a:srgbClr val="17233C"/>
                </a:solidFill>
                <a:latin typeface="Aptos"/>
                <a:ea typeface="Aptos"/>
                <a:cs typeface="Aptos"/>
              </a:defRPr>
            </a:pPr>
            <a:r>
              <a:rPr sz="1575" b="0">
                <a:solidFill>
                  <a:srgbClr val="17233C"/>
                </a:solidFill>
                <a:latin typeface="Aptos"/>
                <a:ea typeface="Aptos"/>
                <a:cs typeface="Aptos"/>
              </a:rPr>
              <a:t>Tenant existente, dominio agregado y verificado, cuenta administrativa adecuada.</a:t>
            </a:r>
          </a:p>
        </p:txBody>
      </p:sp>
      <p:sp>
        <p:nvSpPr>
          <p:cNvPr id="9" name="Rectangle 8">
            <a:extLst>
              <a:ext uri="{FF2B5EF4-FFF2-40B4-BE49-F238E27FC236}">
                <a16:creationId xmlns:a16="http://schemas.microsoft.com/office/drawing/2014/main" id="{F50A9CCF-F278-41BC-8482-8E4DE73AF9D6}"/>
              </a:ext>
            </a:extLst>
          </p:cNvPr>
          <p:cNvSpPr>
            <a:spLocks noGrp="1"/>
          </p:cNvSpPr>
          <p:nvPr/>
        </p:nvSpPr>
        <p:spPr>
          <a:xfrm>
            <a:off x="3619500" y="2057400"/>
            <a:ext cx="457200" cy="590550"/>
          </a:xfrm>
          <a:prstGeom prst="rect">
            <a:avLst/>
          </a:prstGeom>
          <a:noFill/>
          <a:ln w="0">
            <a:noFill/>
            <a:prstDash val="solid"/>
          </a:ln>
        </p:spPr>
        <p:txBody>
          <a:bodyPr wrap="square" lIns="0" tIns="0" rIns="0" bIns="0" anchor="t">
            <a:normAutofit/>
          </a:bodyPr>
          <a:lstStyle/>
          <a:p>
            <a:pPr algn="l">
              <a:lnSpc>
                <a:spcPct val="104000"/>
              </a:lnSpc>
              <a:buNone/>
              <a:defRPr sz="3450" b="1">
                <a:solidFill>
                  <a:srgbClr val="0F6CBD"/>
                </a:solidFill>
                <a:latin typeface="Aptos Display"/>
                <a:ea typeface="Aptos Display"/>
                <a:cs typeface="Aptos Display"/>
              </a:defRPr>
            </a:pPr>
            <a:r>
              <a:rPr sz="3450" b="1">
                <a:solidFill>
                  <a:srgbClr val="0F6CBD"/>
                </a:solidFill>
                <a:latin typeface="Aptos Display"/>
                <a:ea typeface="Aptos Display"/>
                <a:cs typeface="Aptos Display"/>
              </a:rPr>
              <a:t>2</a:t>
            </a:r>
          </a:p>
        </p:txBody>
      </p:sp>
      <p:sp>
        <p:nvSpPr>
          <p:cNvPr id="10" name="Rectangle 9">
            <a:extLst>
              <a:ext uri="{FF2B5EF4-FFF2-40B4-BE49-F238E27FC236}">
                <a16:creationId xmlns:a16="http://schemas.microsoft.com/office/drawing/2014/main" id="{4E2C7DDB-C2EF-4A4B-879D-C06DE7A287D4}"/>
              </a:ext>
            </a:extLst>
          </p:cNvPr>
          <p:cNvSpPr>
            <a:spLocks noGrp="1"/>
          </p:cNvSpPr>
          <p:nvPr/>
        </p:nvSpPr>
        <p:spPr>
          <a:xfrm>
            <a:off x="3619500" y="2781300"/>
            <a:ext cx="2333625" cy="247650"/>
          </a:xfrm>
          <a:prstGeom prst="rect">
            <a:avLst/>
          </a:prstGeom>
          <a:noFill/>
          <a:ln w="0">
            <a:noFill/>
            <a:prstDash val="solid"/>
          </a:ln>
        </p:spPr>
        <p:txBody>
          <a:bodyPr wrap="square" lIns="0" tIns="0" rIns="0" bIns="0" anchor="t">
            <a:normAutofit/>
          </a:bodyPr>
          <a:lstStyle/>
          <a:p>
            <a:pPr algn="l">
              <a:lnSpc>
                <a:spcPct val="104000"/>
              </a:lnSpc>
              <a:buNone/>
              <a:defRPr sz="1275" b="1">
                <a:solidFill>
                  <a:srgbClr val="0F6CBD"/>
                </a:solidFill>
                <a:latin typeface="Aptos"/>
                <a:ea typeface="Aptos"/>
                <a:cs typeface="Aptos"/>
              </a:defRPr>
            </a:pPr>
            <a:r>
              <a:rPr sz="1275" b="1">
                <a:solidFill>
                  <a:srgbClr val="0F6CBD"/>
                </a:solidFill>
                <a:latin typeface="Aptos"/>
                <a:ea typeface="Aptos"/>
                <a:cs typeface="Aptos"/>
              </a:rPr>
              <a:t>DATOS</a:t>
            </a:r>
          </a:p>
        </p:txBody>
      </p:sp>
      <p:sp>
        <p:nvSpPr>
          <p:cNvPr id="11" name="Straight Connector 10">
            <a:extLst>
              <a:ext uri="{FF2B5EF4-FFF2-40B4-BE49-F238E27FC236}">
                <a16:creationId xmlns:a16="http://schemas.microsoft.com/office/drawing/2014/main" id="{5B85A352-DD37-4D2F-BFC9-FC4C0F24219F}"/>
              </a:ext>
            </a:extLst>
          </p:cNvPr>
          <p:cNvSpPr>
            <a:spLocks noGrp="1"/>
          </p:cNvSpPr>
          <p:nvPr/>
        </p:nvSpPr>
        <p:spPr>
          <a:xfrm>
            <a:off x="3619500" y="3105150"/>
            <a:ext cx="2238375" cy="0"/>
          </a:xfrm>
          <a:prstGeom prst="line">
            <a:avLst/>
          </a:prstGeom>
          <a:noFill/>
          <a:ln w="19050">
            <a:solidFill>
              <a:srgbClr val="C9D5E3"/>
            </a:solidFill>
            <a:prstDash val="solid"/>
          </a:ln>
        </p:spPr>
      </p:sp>
      <p:sp>
        <p:nvSpPr>
          <p:cNvPr id="12" name="Rectangle 11">
            <a:extLst>
              <a:ext uri="{FF2B5EF4-FFF2-40B4-BE49-F238E27FC236}">
                <a16:creationId xmlns:a16="http://schemas.microsoft.com/office/drawing/2014/main" id="{6279DF66-5733-40BC-A68F-78C94382629D}"/>
              </a:ext>
            </a:extLst>
          </p:cNvPr>
          <p:cNvSpPr>
            <a:spLocks noGrp="1"/>
          </p:cNvSpPr>
          <p:nvPr/>
        </p:nvSpPr>
        <p:spPr>
          <a:xfrm>
            <a:off x="3619500" y="3333750"/>
            <a:ext cx="2333625" cy="1619250"/>
          </a:xfrm>
          <a:prstGeom prst="rect">
            <a:avLst/>
          </a:prstGeom>
          <a:noFill/>
          <a:ln w="0">
            <a:noFill/>
            <a:prstDash val="solid"/>
          </a:ln>
        </p:spPr>
        <p:txBody>
          <a:bodyPr wrap="square" lIns="0" tIns="0" rIns="0" bIns="0" anchor="t">
            <a:normAutofit/>
          </a:bodyPr>
          <a:lstStyle/>
          <a:p>
            <a:pPr algn="l">
              <a:lnSpc>
                <a:spcPct val="112000"/>
              </a:lnSpc>
              <a:buNone/>
              <a:defRPr sz="1575" b="0">
                <a:solidFill>
                  <a:srgbClr val="17233C"/>
                </a:solidFill>
                <a:latin typeface="Aptos"/>
                <a:ea typeface="Aptos"/>
                <a:cs typeface="Aptos"/>
              </a:defRPr>
            </a:pPr>
            <a:r>
              <a:rPr sz="1575" b="0">
                <a:solidFill>
                  <a:srgbClr val="17233C"/>
                </a:solidFill>
                <a:latin typeface="Aptos"/>
                <a:ea typeface="Aptos"/>
                <a:cs typeface="Aptos"/>
              </a:rPr>
              <a:t>IdFix, duplicados, formato y revisión de características opcionales.</a:t>
            </a:r>
          </a:p>
        </p:txBody>
      </p:sp>
      <p:sp>
        <p:nvSpPr>
          <p:cNvPr id="13" name="Rectangle 12">
            <a:extLst>
              <a:ext uri="{FF2B5EF4-FFF2-40B4-BE49-F238E27FC236}">
                <a16:creationId xmlns:a16="http://schemas.microsoft.com/office/drawing/2014/main" id="{49D8744E-DBB6-4DFC-993A-919D3085CFE1}"/>
              </a:ext>
            </a:extLst>
          </p:cNvPr>
          <p:cNvSpPr>
            <a:spLocks noGrp="1"/>
          </p:cNvSpPr>
          <p:nvPr/>
        </p:nvSpPr>
        <p:spPr>
          <a:xfrm>
            <a:off x="6429375" y="2057400"/>
            <a:ext cx="457200" cy="590550"/>
          </a:xfrm>
          <a:prstGeom prst="rect">
            <a:avLst/>
          </a:prstGeom>
          <a:noFill/>
          <a:ln w="0">
            <a:noFill/>
            <a:prstDash val="solid"/>
          </a:ln>
        </p:spPr>
        <p:txBody>
          <a:bodyPr wrap="square" lIns="0" tIns="0" rIns="0" bIns="0" anchor="t">
            <a:normAutofit/>
          </a:bodyPr>
          <a:lstStyle/>
          <a:p>
            <a:pPr algn="l">
              <a:lnSpc>
                <a:spcPct val="104000"/>
              </a:lnSpc>
              <a:buNone/>
              <a:defRPr sz="3450" b="1">
                <a:solidFill>
                  <a:srgbClr val="008A88"/>
                </a:solidFill>
                <a:latin typeface="Aptos Display"/>
                <a:ea typeface="Aptos Display"/>
                <a:cs typeface="Aptos Display"/>
              </a:defRPr>
            </a:pPr>
            <a:r>
              <a:rPr sz="3450" b="1">
                <a:solidFill>
                  <a:srgbClr val="008A88"/>
                </a:solidFill>
                <a:latin typeface="Aptos Display"/>
                <a:ea typeface="Aptos Display"/>
                <a:cs typeface="Aptos Display"/>
              </a:rPr>
              <a:t>3</a:t>
            </a:r>
          </a:p>
        </p:txBody>
      </p:sp>
      <p:sp>
        <p:nvSpPr>
          <p:cNvPr id="14" name="Rectangle 13">
            <a:extLst>
              <a:ext uri="{FF2B5EF4-FFF2-40B4-BE49-F238E27FC236}">
                <a16:creationId xmlns:a16="http://schemas.microsoft.com/office/drawing/2014/main" id="{BB440A91-500B-485F-BC2A-850DA7F05DB7}"/>
              </a:ext>
            </a:extLst>
          </p:cNvPr>
          <p:cNvSpPr>
            <a:spLocks noGrp="1"/>
          </p:cNvSpPr>
          <p:nvPr/>
        </p:nvSpPr>
        <p:spPr>
          <a:xfrm>
            <a:off x="6429375" y="2781300"/>
            <a:ext cx="2333625" cy="247650"/>
          </a:xfrm>
          <a:prstGeom prst="rect">
            <a:avLst/>
          </a:prstGeom>
          <a:noFill/>
          <a:ln w="0">
            <a:noFill/>
            <a:prstDash val="solid"/>
          </a:ln>
        </p:spPr>
        <p:txBody>
          <a:bodyPr wrap="square" lIns="0" tIns="0" rIns="0" bIns="0" anchor="t">
            <a:normAutofit/>
          </a:bodyPr>
          <a:lstStyle/>
          <a:p>
            <a:pPr algn="l">
              <a:lnSpc>
                <a:spcPct val="104000"/>
              </a:lnSpc>
              <a:buNone/>
              <a:defRPr sz="1275" b="1">
                <a:solidFill>
                  <a:srgbClr val="0F6CBD"/>
                </a:solidFill>
                <a:latin typeface="Aptos"/>
                <a:ea typeface="Aptos"/>
                <a:cs typeface="Aptos"/>
              </a:defRPr>
            </a:pPr>
            <a:r>
              <a:rPr sz="1275" b="1">
                <a:solidFill>
                  <a:srgbClr val="0F6CBD"/>
                </a:solidFill>
                <a:latin typeface="Aptos"/>
                <a:ea typeface="Aptos"/>
                <a:cs typeface="Aptos"/>
              </a:rPr>
              <a:t>ACTIVE DIRECTORY</a:t>
            </a:r>
          </a:p>
        </p:txBody>
      </p:sp>
      <p:sp>
        <p:nvSpPr>
          <p:cNvPr id="15" name="Straight Connector 14">
            <a:extLst>
              <a:ext uri="{FF2B5EF4-FFF2-40B4-BE49-F238E27FC236}">
                <a16:creationId xmlns:a16="http://schemas.microsoft.com/office/drawing/2014/main" id="{99C6EBFD-7EAB-4FA3-887D-10F4B2D841CC}"/>
              </a:ext>
            </a:extLst>
          </p:cNvPr>
          <p:cNvSpPr>
            <a:spLocks noGrp="1"/>
          </p:cNvSpPr>
          <p:nvPr/>
        </p:nvSpPr>
        <p:spPr>
          <a:xfrm>
            <a:off x="6429375" y="3105150"/>
            <a:ext cx="2238375" cy="0"/>
          </a:xfrm>
          <a:prstGeom prst="line">
            <a:avLst/>
          </a:prstGeom>
          <a:noFill/>
          <a:ln w="19050">
            <a:solidFill>
              <a:srgbClr val="C9D5E3"/>
            </a:solidFill>
            <a:prstDash val="solid"/>
          </a:ln>
        </p:spPr>
      </p:sp>
      <p:sp>
        <p:nvSpPr>
          <p:cNvPr id="16" name="Rectangle 15">
            <a:extLst>
              <a:ext uri="{FF2B5EF4-FFF2-40B4-BE49-F238E27FC236}">
                <a16:creationId xmlns:a16="http://schemas.microsoft.com/office/drawing/2014/main" id="{9E7E6DF1-93EC-4D27-8439-DF792E18E563}"/>
              </a:ext>
            </a:extLst>
          </p:cNvPr>
          <p:cNvSpPr>
            <a:spLocks noGrp="1"/>
          </p:cNvSpPr>
          <p:nvPr/>
        </p:nvSpPr>
        <p:spPr>
          <a:xfrm>
            <a:off x="6429375" y="3333750"/>
            <a:ext cx="2333625" cy="1619250"/>
          </a:xfrm>
          <a:prstGeom prst="rect">
            <a:avLst/>
          </a:prstGeom>
          <a:noFill/>
          <a:ln w="0">
            <a:noFill/>
            <a:prstDash val="solid"/>
          </a:ln>
        </p:spPr>
        <p:txBody>
          <a:bodyPr wrap="square" lIns="0" tIns="0" rIns="0" bIns="0" anchor="t">
            <a:normAutofit/>
          </a:bodyPr>
          <a:lstStyle/>
          <a:p>
            <a:pPr algn="l">
              <a:lnSpc>
                <a:spcPct val="112000"/>
              </a:lnSpc>
              <a:buNone/>
              <a:defRPr sz="1575" b="0">
                <a:solidFill>
                  <a:srgbClr val="17233C"/>
                </a:solidFill>
                <a:latin typeface="Aptos"/>
                <a:ea typeface="Aptos"/>
                <a:cs typeface="Aptos"/>
              </a:defRPr>
            </a:pPr>
            <a:r>
              <a:rPr sz="1575" b="0">
                <a:solidFill>
                  <a:srgbClr val="17233C"/>
                </a:solidFill>
                <a:latin typeface="Aptos"/>
                <a:ea typeface="Aptos"/>
                <a:cs typeface="Aptos"/>
              </a:rPr>
              <a:t>Esquema y nivel funcional 2003+, DC escribible, sin RODC, papelera recomendada.</a:t>
            </a:r>
          </a:p>
        </p:txBody>
      </p:sp>
      <p:sp>
        <p:nvSpPr>
          <p:cNvPr id="17" name="Rectangle 16">
            <a:extLst>
              <a:ext uri="{FF2B5EF4-FFF2-40B4-BE49-F238E27FC236}">
                <a16:creationId xmlns:a16="http://schemas.microsoft.com/office/drawing/2014/main" id="{841394F2-BF84-4C72-A310-7852924D6B47}"/>
              </a:ext>
            </a:extLst>
          </p:cNvPr>
          <p:cNvSpPr>
            <a:spLocks noGrp="1"/>
          </p:cNvSpPr>
          <p:nvPr/>
        </p:nvSpPr>
        <p:spPr>
          <a:xfrm>
            <a:off x="9239250" y="2057400"/>
            <a:ext cx="457200" cy="590550"/>
          </a:xfrm>
          <a:prstGeom prst="rect">
            <a:avLst/>
          </a:prstGeom>
          <a:noFill/>
          <a:ln w="0">
            <a:noFill/>
            <a:prstDash val="solid"/>
          </a:ln>
        </p:spPr>
        <p:txBody>
          <a:bodyPr wrap="square" lIns="0" tIns="0" rIns="0" bIns="0" anchor="t">
            <a:normAutofit/>
          </a:bodyPr>
          <a:lstStyle/>
          <a:p>
            <a:pPr algn="l">
              <a:lnSpc>
                <a:spcPct val="104000"/>
              </a:lnSpc>
              <a:buNone/>
              <a:defRPr sz="3450" b="1">
                <a:solidFill>
                  <a:srgbClr val="0F6CBD"/>
                </a:solidFill>
                <a:latin typeface="Aptos Display"/>
                <a:ea typeface="Aptos Display"/>
                <a:cs typeface="Aptos Display"/>
              </a:defRPr>
            </a:pPr>
            <a:r>
              <a:rPr sz="3450" b="1">
                <a:solidFill>
                  <a:srgbClr val="0F6CBD"/>
                </a:solidFill>
                <a:latin typeface="Aptos Display"/>
                <a:ea typeface="Aptos Display"/>
                <a:cs typeface="Aptos Display"/>
              </a:rPr>
              <a:t>4</a:t>
            </a:r>
          </a:p>
        </p:txBody>
      </p:sp>
      <p:sp>
        <p:nvSpPr>
          <p:cNvPr id="18" name="Rectangle 17">
            <a:extLst>
              <a:ext uri="{FF2B5EF4-FFF2-40B4-BE49-F238E27FC236}">
                <a16:creationId xmlns:a16="http://schemas.microsoft.com/office/drawing/2014/main" id="{CEEFA548-245A-4AF3-995A-0A0A2B64FD4A}"/>
              </a:ext>
            </a:extLst>
          </p:cNvPr>
          <p:cNvSpPr>
            <a:spLocks noGrp="1"/>
          </p:cNvSpPr>
          <p:nvPr/>
        </p:nvSpPr>
        <p:spPr>
          <a:xfrm>
            <a:off x="9239250" y="2781300"/>
            <a:ext cx="2333625" cy="247650"/>
          </a:xfrm>
          <a:prstGeom prst="rect">
            <a:avLst/>
          </a:prstGeom>
          <a:noFill/>
          <a:ln w="0">
            <a:noFill/>
            <a:prstDash val="solid"/>
          </a:ln>
        </p:spPr>
        <p:txBody>
          <a:bodyPr wrap="square" lIns="0" tIns="0" rIns="0" bIns="0" anchor="t">
            <a:normAutofit/>
          </a:bodyPr>
          <a:lstStyle/>
          <a:p>
            <a:pPr algn="l">
              <a:lnSpc>
                <a:spcPct val="104000"/>
              </a:lnSpc>
              <a:buNone/>
              <a:defRPr sz="1275" b="1">
                <a:solidFill>
                  <a:srgbClr val="0F6CBD"/>
                </a:solidFill>
                <a:latin typeface="Aptos"/>
                <a:ea typeface="Aptos"/>
                <a:cs typeface="Aptos"/>
              </a:defRPr>
            </a:pPr>
            <a:r>
              <a:rPr sz="1275" b="1">
                <a:solidFill>
                  <a:srgbClr val="0F6CBD"/>
                </a:solidFill>
                <a:latin typeface="Aptos"/>
                <a:ea typeface="Aptos"/>
                <a:cs typeface="Aptos"/>
              </a:rPr>
              <a:t>HOST</a:t>
            </a:r>
          </a:p>
        </p:txBody>
      </p:sp>
      <p:sp>
        <p:nvSpPr>
          <p:cNvPr id="19" name="Straight Connector 18">
            <a:extLst>
              <a:ext uri="{FF2B5EF4-FFF2-40B4-BE49-F238E27FC236}">
                <a16:creationId xmlns:a16="http://schemas.microsoft.com/office/drawing/2014/main" id="{2B746EA2-29CA-4BE8-9B71-35DCD4172547}"/>
              </a:ext>
            </a:extLst>
          </p:cNvPr>
          <p:cNvSpPr>
            <a:spLocks noGrp="1"/>
          </p:cNvSpPr>
          <p:nvPr/>
        </p:nvSpPr>
        <p:spPr>
          <a:xfrm>
            <a:off x="9239250" y="3105150"/>
            <a:ext cx="2238375" cy="0"/>
          </a:xfrm>
          <a:prstGeom prst="line">
            <a:avLst/>
          </a:prstGeom>
          <a:noFill/>
          <a:ln w="19050">
            <a:solidFill>
              <a:srgbClr val="C9D5E3"/>
            </a:solidFill>
            <a:prstDash val="solid"/>
          </a:ln>
        </p:spPr>
      </p:sp>
      <p:sp>
        <p:nvSpPr>
          <p:cNvPr id="20" name="Rectangle 19">
            <a:extLst>
              <a:ext uri="{FF2B5EF4-FFF2-40B4-BE49-F238E27FC236}">
                <a16:creationId xmlns:a16="http://schemas.microsoft.com/office/drawing/2014/main" id="{47A33A37-C255-42BF-8C37-A9B141FCE655}"/>
              </a:ext>
            </a:extLst>
          </p:cNvPr>
          <p:cNvSpPr>
            <a:spLocks noGrp="1"/>
          </p:cNvSpPr>
          <p:nvPr/>
        </p:nvSpPr>
        <p:spPr>
          <a:xfrm>
            <a:off x="9239250" y="3333750"/>
            <a:ext cx="2333625" cy="1619250"/>
          </a:xfrm>
          <a:prstGeom prst="rect">
            <a:avLst/>
          </a:prstGeom>
          <a:noFill/>
          <a:ln w="0">
            <a:noFill/>
            <a:prstDash val="solid"/>
          </a:ln>
        </p:spPr>
        <p:txBody>
          <a:bodyPr wrap="square" lIns="0" tIns="0" rIns="0" bIns="0" anchor="t">
            <a:normAutofit/>
          </a:bodyPr>
          <a:lstStyle/>
          <a:p>
            <a:pPr algn="l">
              <a:lnSpc>
                <a:spcPct val="112000"/>
              </a:lnSpc>
              <a:buNone/>
              <a:defRPr sz="1575" b="0">
                <a:solidFill>
                  <a:srgbClr val="17233C"/>
                </a:solidFill>
                <a:latin typeface="Aptos"/>
                <a:ea typeface="Aptos"/>
                <a:cs typeface="Aptos"/>
              </a:defRPr>
            </a:pPr>
            <a:r>
              <a:rPr sz="1575" b="0">
                <a:solidFill>
                  <a:srgbClr val="17233C"/>
                </a:solidFill>
                <a:latin typeface="Aptos"/>
                <a:ea typeface="Aptos"/>
                <a:cs typeface="Aptos"/>
              </a:rPr>
              <a:t>Windows Server compatible, PowerShell, .NET, DNS, firewall y TLS 1.2.</a:t>
            </a:r>
          </a:p>
        </p:txBody>
      </p:sp>
      <p:sp>
        <p:nvSpPr>
          <p:cNvPr id="21" name="Rectangle 20">
            <a:extLst>
              <a:ext uri="{FF2B5EF4-FFF2-40B4-BE49-F238E27FC236}">
                <a16:creationId xmlns:a16="http://schemas.microsoft.com/office/drawing/2014/main" id="{D73A040B-FCC5-46C6-8493-DD3F0490F310}"/>
              </a:ext>
            </a:extLst>
          </p:cNvPr>
          <p:cNvSpPr>
            <a:spLocks noGrp="1"/>
          </p:cNvSpPr>
          <p:nvPr/>
        </p:nvSpPr>
        <p:spPr>
          <a:xfrm>
            <a:off x="800100" y="5524500"/>
            <a:ext cx="10572750" cy="495300"/>
          </a:xfrm>
          <a:prstGeom prst="rect">
            <a:avLst/>
          </a:prstGeom>
          <a:solidFill>
            <a:srgbClr val="DFF3FF"/>
          </a:solidFill>
          <a:ln w="0">
            <a:noFill/>
            <a:prstDash val="solid"/>
          </a:ln>
        </p:spPr>
      </p:sp>
      <p:sp>
        <p:nvSpPr>
          <p:cNvPr id="22" name="Rectangle 21">
            <a:extLst>
              <a:ext uri="{FF2B5EF4-FFF2-40B4-BE49-F238E27FC236}">
                <a16:creationId xmlns:a16="http://schemas.microsoft.com/office/drawing/2014/main" id="{985AA151-2509-4AC0-AA92-7FAFEB64D045}"/>
              </a:ext>
            </a:extLst>
          </p:cNvPr>
          <p:cNvSpPr>
            <a:spLocks noGrp="1"/>
          </p:cNvSpPr>
          <p:nvPr/>
        </p:nvSpPr>
        <p:spPr>
          <a:xfrm>
            <a:off x="1047750" y="5657850"/>
            <a:ext cx="9906000" cy="266700"/>
          </a:xfrm>
          <a:prstGeom prst="rect">
            <a:avLst/>
          </a:prstGeom>
          <a:noFill/>
          <a:ln w="0">
            <a:noFill/>
            <a:prstDash val="solid"/>
          </a:ln>
        </p:spPr>
        <p:txBody>
          <a:bodyPr wrap="square" lIns="0" tIns="0" rIns="0" bIns="0" anchor="t">
            <a:normAutofit/>
          </a:bodyPr>
          <a:lstStyle/>
          <a:p>
            <a:pPr algn="ctr">
              <a:lnSpc>
                <a:spcPct val="104000"/>
              </a:lnSpc>
              <a:buNone/>
              <a:defRPr sz="1650" b="1">
                <a:solidFill>
                  <a:srgbClr val="0F6CBD"/>
                </a:solidFill>
                <a:latin typeface="Aptos"/>
                <a:ea typeface="Aptos"/>
                <a:cs typeface="Aptos"/>
              </a:defRPr>
            </a:pPr>
            <a:r>
              <a:rPr sz="1650" b="1">
                <a:solidFill>
                  <a:srgbClr val="0F6CBD"/>
                </a:solidFill>
                <a:latin typeface="Aptos"/>
                <a:ea typeface="Aptos"/>
                <a:cs typeface="Aptos"/>
              </a:rPr>
              <a:t>No inicie el asistente hasta que los cuatro frentes estén validados.</a:t>
            </a:r>
          </a:p>
        </p:txBody>
      </p:sp>
      <p:sp>
        <p:nvSpPr>
          <p:cNvPr id="23" name="Rectangle 22">
            <a:extLst>
              <a:ext uri="{FF2B5EF4-FFF2-40B4-BE49-F238E27FC236}">
                <a16:creationId xmlns:a16="http://schemas.microsoft.com/office/drawing/2014/main" id="{68C5B679-CD89-45E8-AE3A-3C7C51162458}"/>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04</a:t>
            </a:r>
          </a:p>
        </p:txBody>
      </p:sp>
    </p:spTree>
    <p:extLst>
      <p:ext uri="{BB962C8B-B14F-4D97-AF65-F5344CB8AC3E}">
        <p14:creationId xmlns:p14="http://schemas.microsoft.com/office/powerpoint/2010/main" val="1140064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ED0D962-F6F4-464E-A3D9-E9898FEBD359}"/>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20393B37-721E-4288-8139-82BE63DC5D0C}"/>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ESCALA DE OBJETOS</a:t>
            </a:r>
          </a:p>
        </p:txBody>
      </p:sp>
      <p:sp>
        <p:nvSpPr>
          <p:cNvPr id="3" name="Rectangle 2">
            <a:extLst>
              <a:ext uri="{FF2B5EF4-FFF2-40B4-BE49-F238E27FC236}">
                <a16:creationId xmlns:a16="http://schemas.microsoft.com/office/drawing/2014/main" id="{AB5A718E-1064-4FE2-BFF4-2FAA93C8C2DC}"/>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Los límites del tenant cambian el diseño de capacidad</a:t>
            </a:r>
          </a:p>
        </p:txBody>
      </p:sp>
      <p:sp>
        <p:nvSpPr>
          <p:cNvPr id="4" name="Straight Connector 3">
            <a:extLst>
              <a:ext uri="{FF2B5EF4-FFF2-40B4-BE49-F238E27FC236}">
                <a16:creationId xmlns:a16="http://schemas.microsoft.com/office/drawing/2014/main" id="{00DF889E-D6E4-4081-B7F9-23A50D06C797}"/>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Straight Connector 4">
            <a:extLst>
              <a:ext uri="{FF2B5EF4-FFF2-40B4-BE49-F238E27FC236}">
                <a16:creationId xmlns:a16="http://schemas.microsoft.com/office/drawing/2014/main" id="{E6491760-FEC7-4694-953C-1BAEAAD93CA7}"/>
              </a:ext>
            </a:extLst>
          </p:cNvPr>
          <p:cNvSpPr>
            <a:spLocks noGrp="1"/>
          </p:cNvSpPr>
          <p:nvPr/>
        </p:nvSpPr>
        <p:spPr>
          <a:xfrm>
            <a:off x="1428750" y="3714750"/>
            <a:ext cx="9334500" cy="0"/>
          </a:xfrm>
          <a:prstGeom prst="line">
            <a:avLst/>
          </a:prstGeom>
          <a:noFill/>
          <a:ln w="47625">
            <a:solidFill>
              <a:srgbClr val="C9D5E3"/>
            </a:solidFill>
            <a:prstDash val="solid"/>
          </a:ln>
        </p:spPr>
      </p:sp>
      <p:sp>
        <p:nvSpPr>
          <p:cNvPr id="6" name="Oval 5">
            <a:extLst>
              <a:ext uri="{FF2B5EF4-FFF2-40B4-BE49-F238E27FC236}">
                <a16:creationId xmlns:a16="http://schemas.microsoft.com/office/drawing/2014/main" id="{B8DCD028-B09B-4C2E-A43B-14A237972723}"/>
              </a:ext>
            </a:extLst>
          </p:cNvPr>
          <p:cNvSpPr>
            <a:spLocks noGrp="1"/>
          </p:cNvSpPr>
          <p:nvPr/>
        </p:nvSpPr>
        <p:spPr>
          <a:xfrm>
            <a:off x="1924050" y="3543300"/>
            <a:ext cx="342900" cy="342900"/>
          </a:xfrm>
          <a:prstGeom prst="ellipse">
            <a:avLst/>
          </a:prstGeom>
          <a:solidFill>
            <a:srgbClr val="0F6CBD"/>
          </a:solidFill>
          <a:ln w="0">
            <a:noFill/>
            <a:prstDash val="solid"/>
          </a:ln>
        </p:spPr>
      </p:sp>
      <p:sp>
        <p:nvSpPr>
          <p:cNvPr id="7" name="Rectangle 6">
            <a:extLst>
              <a:ext uri="{FF2B5EF4-FFF2-40B4-BE49-F238E27FC236}">
                <a16:creationId xmlns:a16="http://schemas.microsoft.com/office/drawing/2014/main" id="{F4E53875-9606-4023-AF06-02F53390A8DC}"/>
              </a:ext>
            </a:extLst>
          </p:cNvPr>
          <p:cNvSpPr>
            <a:spLocks noGrp="1"/>
          </p:cNvSpPr>
          <p:nvPr/>
        </p:nvSpPr>
        <p:spPr>
          <a:xfrm>
            <a:off x="1095375" y="2333625"/>
            <a:ext cx="2000250" cy="647700"/>
          </a:xfrm>
          <a:prstGeom prst="rect">
            <a:avLst/>
          </a:prstGeom>
          <a:noFill/>
          <a:ln w="0">
            <a:noFill/>
            <a:prstDash val="solid"/>
          </a:ln>
        </p:spPr>
        <p:txBody>
          <a:bodyPr wrap="square" lIns="0" tIns="0" rIns="0" bIns="0" anchor="t">
            <a:normAutofit/>
          </a:bodyPr>
          <a:lstStyle/>
          <a:p>
            <a:pPr algn="ctr">
              <a:lnSpc>
                <a:spcPct val="104000"/>
              </a:lnSpc>
              <a:buNone/>
              <a:defRPr sz="3600" b="1">
                <a:solidFill>
                  <a:srgbClr val="0F6CBD"/>
                </a:solidFill>
                <a:latin typeface="Aptos Display"/>
                <a:ea typeface="Aptos Display"/>
                <a:cs typeface="Aptos Display"/>
              </a:defRPr>
            </a:pPr>
            <a:r>
              <a:rPr sz="3600" b="1">
                <a:solidFill>
                  <a:srgbClr val="0F6CBD"/>
                </a:solidFill>
                <a:latin typeface="Aptos Display"/>
                <a:ea typeface="Aptos Display"/>
                <a:cs typeface="Aptos Display"/>
              </a:rPr>
              <a:t>50.000</a:t>
            </a:r>
          </a:p>
        </p:txBody>
      </p:sp>
      <p:sp>
        <p:nvSpPr>
          <p:cNvPr id="8" name="Rectangle 7">
            <a:extLst>
              <a:ext uri="{FF2B5EF4-FFF2-40B4-BE49-F238E27FC236}">
                <a16:creationId xmlns:a16="http://schemas.microsoft.com/office/drawing/2014/main" id="{5B0702D7-8B91-4CD7-916D-E02127D05C0F}"/>
              </a:ext>
            </a:extLst>
          </p:cNvPr>
          <p:cNvSpPr>
            <a:spLocks noGrp="1"/>
          </p:cNvSpPr>
          <p:nvPr/>
        </p:nvSpPr>
        <p:spPr>
          <a:xfrm>
            <a:off x="1000125" y="4095750"/>
            <a:ext cx="2190750" cy="457200"/>
          </a:xfrm>
          <a:prstGeom prst="rect">
            <a:avLst/>
          </a:prstGeom>
          <a:noFill/>
          <a:ln w="0">
            <a:noFill/>
            <a:prstDash val="solid"/>
          </a:ln>
        </p:spPr>
        <p:txBody>
          <a:bodyPr wrap="square" lIns="0" tIns="0" rIns="0" bIns="0" anchor="t">
            <a:normAutofit/>
          </a:bodyPr>
          <a:lstStyle/>
          <a:p>
            <a:pPr algn="ctr">
              <a:lnSpc>
                <a:spcPct val="104000"/>
              </a:lnSpc>
              <a:buNone/>
              <a:defRPr sz="1500" b="0">
                <a:solidFill>
                  <a:srgbClr val="51627A"/>
                </a:solidFill>
                <a:latin typeface="Aptos"/>
                <a:ea typeface="Aptos"/>
                <a:cs typeface="Aptos"/>
              </a:defRPr>
            </a:pPr>
            <a:r>
              <a:rPr sz="1500" b="0">
                <a:solidFill>
                  <a:srgbClr val="51627A"/>
                </a:solidFill>
                <a:latin typeface="Aptos"/>
                <a:ea typeface="Aptos"/>
                <a:cs typeface="Aptos"/>
              </a:rPr>
              <a:t>límite inicial</a:t>
            </a:r>
          </a:p>
        </p:txBody>
      </p:sp>
      <p:sp>
        <p:nvSpPr>
          <p:cNvPr id="9" name="Oval 8">
            <a:extLst>
              <a:ext uri="{FF2B5EF4-FFF2-40B4-BE49-F238E27FC236}">
                <a16:creationId xmlns:a16="http://schemas.microsoft.com/office/drawing/2014/main" id="{6DFF3C95-A363-44E6-8ED9-346FAC72286B}"/>
              </a:ext>
            </a:extLst>
          </p:cNvPr>
          <p:cNvSpPr>
            <a:spLocks noGrp="1"/>
          </p:cNvSpPr>
          <p:nvPr/>
        </p:nvSpPr>
        <p:spPr>
          <a:xfrm>
            <a:off x="5638800" y="3543300"/>
            <a:ext cx="342900" cy="342900"/>
          </a:xfrm>
          <a:prstGeom prst="ellipse">
            <a:avLst/>
          </a:prstGeom>
          <a:solidFill>
            <a:srgbClr val="008A88"/>
          </a:solidFill>
          <a:ln w="0">
            <a:noFill/>
            <a:prstDash val="solid"/>
          </a:ln>
        </p:spPr>
      </p:sp>
      <p:sp>
        <p:nvSpPr>
          <p:cNvPr id="10" name="Rectangle 9">
            <a:extLst>
              <a:ext uri="{FF2B5EF4-FFF2-40B4-BE49-F238E27FC236}">
                <a16:creationId xmlns:a16="http://schemas.microsoft.com/office/drawing/2014/main" id="{CA904FD1-9DFE-4CFB-9037-A53CDA7C0E22}"/>
              </a:ext>
            </a:extLst>
          </p:cNvPr>
          <p:cNvSpPr>
            <a:spLocks noGrp="1"/>
          </p:cNvSpPr>
          <p:nvPr/>
        </p:nvSpPr>
        <p:spPr>
          <a:xfrm>
            <a:off x="4810125" y="2333625"/>
            <a:ext cx="2000250" cy="647700"/>
          </a:xfrm>
          <a:prstGeom prst="rect">
            <a:avLst/>
          </a:prstGeom>
          <a:noFill/>
          <a:ln w="0">
            <a:noFill/>
            <a:prstDash val="solid"/>
          </a:ln>
        </p:spPr>
        <p:txBody>
          <a:bodyPr wrap="square" lIns="0" tIns="0" rIns="0" bIns="0" anchor="t">
            <a:normAutofit fontScale="96059"/>
          </a:bodyPr>
          <a:lstStyle/>
          <a:p>
            <a:pPr algn="ctr">
              <a:lnSpc>
                <a:spcPct val="104000"/>
              </a:lnSpc>
              <a:buNone/>
              <a:defRPr sz="3600" b="1">
                <a:solidFill>
                  <a:srgbClr val="008A88"/>
                </a:solidFill>
                <a:latin typeface="Aptos Display"/>
                <a:ea typeface="Aptos Display"/>
                <a:cs typeface="Aptos Display"/>
              </a:defRPr>
            </a:pPr>
            <a:r>
              <a:rPr sz="3600" b="1">
                <a:solidFill>
                  <a:srgbClr val="008A88"/>
                </a:solidFill>
                <a:latin typeface="Aptos Display"/>
                <a:ea typeface="Aptos Display"/>
                <a:cs typeface="Aptos Display"/>
              </a:rPr>
              <a:t>300.000</a:t>
            </a:r>
          </a:p>
        </p:txBody>
      </p:sp>
      <p:sp>
        <p:nvSpPr>
          <p:cNvPr id="11" name="Rectangle 10">
            <a:extLst>
              <a:ext uri="{FF2B5EF4-FFF2-40B4-BE49-F238E27FC236}">
                <a16:creationId xmlns:a16="http://schemas.microsoft.com/office/drawing/2014/main" id="{DED9721F-E529-477E-8F43-A251B00D0CF9}"/>
              </a:ext>
            </a:extLst>
          </p:cNvPr>
          <p:cNvSpPr>
            <a:spLocks noGrp="1"/>
          </p:cNvSpPr>
          <p:nvPr/>
        </p:nvSpPr>
        <p:spPr>
          <a:xfrm>
            <a:off x="4714875" y="4095750"/>
            <a:ext cx="2190750" cy="457200"/>
          </a:xfrm>
          <a:prstGeom prst="rect">
            <a:avLst/>
          </a:prstGeom>
          <a:noFill/>
          <a:ln w="0">
            <a:noFill/>
            <a:prstDash val="solid"/>
          </a:ln>
        </p:spPr>
        <p:txBody>
          <a:bodyPr wrap="square" lIns="0" tIns="0" rIns="0" bIns="0" anchor="t">
            <a:normAutofit/>
          </a:bodyPr>
          <a:lstStyle/>
          <a:p>
            <a:pPr algn="ctr">
              <a:lnSpc>
                <a:spcPct val="104000"/>
              </a:lnSpc>
              <a:buNone/>
              <a:defRPr sz="1500" b="0">
                <a:solidFill>
                  <a:srgbClr val="51627A"/>
                </a:solidFill>
                <a:latin typeface="Aptos"/>
                <a:ea typeface="Aptos"/>
                <a:cs typeface="Aptos"/>
              </a:defRPr>
            </a:pPr>
            <a:r>
              <a:rPr sz="1500" b="0">
                <a:solidFill>
                  <a:srgbClr val="51627A"/>
                </a:solidFill>
                <a:latin typeface="Aptos"/>
                <a:ea typeface="Aptos"/>
                <a:cs typeface="Aptos"/>
              </a:rPr>
              <a:t>con dominio verificado</a:t>
            </a:r>
          </a:p>
        </p:txBody>
      </p:sp>
      <p:sp>
        <p:nvSpPr>
          <p:cNvPr id="12" name="Oval 11">
            <a:extLst>
              <a:ext uri="{FF2B5EF4-FFF2-40B4-BE49-F238E27FC236}">
                <a16:creationId xmlns:a16="http://schemas.microsoft.com/office/drawing/2014/main" id="{EC76F996-5877-48F9-9F97-00ED189A1E32}"/>
              </a:ext>
            </a:extLst>
          </p:cNvPr>
          <p:cNvSpPr>
            <a:spLocks noGrp="1"/>
          </p:cNvSpPr>
          <p:nvPr/>
        </p:nvSpPr>
        <p:spPr>
          <a:xfrm>
            <a:off x="9544050" y="3543300"/>
            <a:ext cx="342900" cy="342900"/>
          </a:xfrm>
          <a:prstGeom prst="ellipse">
            <a:avLst/>
          </a:prstGeom>
          <a:solidFill>
            <a:srgbClr val="0F6CBD"/>
          </a:solidFill>
          <a:ln w="0">
            <a:noFill/>
            <a:prstDash val="solid"/>
          </a:ln>
        </p:spPr>
      </p:sp>
      <p:sp>
        <p:nvSpPr>
          <p:cNvPr id="13" name="Rectangle 12">
            <a:extLst>
              <a:ext uri="{FF2B5EF4-FFF2-40B4-BE49-F238E27FC236}">
                <a16:creationId xmlns:a16="http://schemas.microsoft.com/office/drawing/2014/main" id="{6F6A125C-4816-4CAF-8E0A-A267733D1CBD}"/>
              </a:ext>
            </a:extLst>
          </p:cNvPr>
          <p:cNvSpPr>
            <a:spLocks noGrp="1"/>
          </p:cNvSpPr>
          <p:nvPr/>
        </p:nvSpPr>
        <p:spPr>
          <a:xfrm>
            <a:off x="8715375" y="2333625"/>
            <a:ext cx="2000250" cy="647700"/>
          </a:xfrm>
          <a:prstGeom prst="rect">
            <a:avLst/>
          </a:prstGeom>
          <a:noFill/>
          <a:ln w="0">
            <a:noFill/>
            <a:prstDash val="solid"/>
          </a:ln>
        </p:spPr>
        <p:txBody>
          <a:bodyPr wrap="square" lIns="0" tIns="0" rIns="0" bIns="0" anchor="t">
            <a:normAutofit fontScale="81151"/>
          </a:bodyPr>
          <a:lstStyle/>
          <a:p>
            <a:pPr algn="ctr">
              <a:lnSpc>
                <a:spcPct val="104000"/>
              </a:lnSpc>
              <a:buNone/>
              <a:defRPr sz="3600" b="1">
                <a:solidFill>
                  <a:srgbClr val="0F6CBD"/>
                </a:solidFill>
                <a:latin typeface="Aptos Display"/>
                <a:ea typeface="Aptos Display"/>
                <a:cs typeface="Aptos Display"/>
              </a:defRPr>
            </a:pPr>
            <a:r>
              <a:rPr sz="3600" b="1">
                <a:solidFill>
                  <a:srgbClr val="0F6CBD"/>
                </a:solidFill>
                <a:latin typeface="Aptos Display"/>
                <a:ea typeface="Aptos Display"/>
                <a:cs typeface="Aptos Display"/>
              </a:rPr>
              <a:t>&gt;500.000</a:t>
            </a:r>
          </a:p>
        </p:txBody>
      </p:sp>
      <p:sp>
        <p:nvSpPr>
          <p:cNvPr id="14" name="Rectangle 13">
            <a:extLst>
              <a:ext uri="{FF2B5EF4-FFF2-40B4-BE49-F238E27FC236}">
                <a16:creationId xmlns:a16="http://schemas.microsoft.com/office/drawing/2014/main" id="{E8CA132D-1585-4EBA-B983-C849C53857B9}"/>
              </a:ext>
            </a:extLst>
          </p:cNvPr>
          <p:cNvSpPr>
            <a:spLocks noGrp="1"/>
          </p:cNvSpPr>
          <p:nvPr/>
        </p:nvSpPr>
        <p:spPr>
          <a:xfrm>
            <a:off x="8620125" y="4095750"/>
            <a:ext cx="2190750" cy="457200"/>
          </a:xfrm>
          <a:prstGeom prst="rect">
            <a:avLst/>
          </a:prstGeom>
          <a:noFill/>
          <a:ln w="0">
            <a:noFill/>
            <a:prstDash val="solid"/>
          </a:ln>
        </p:spPr>
        <p:txBody>
          <a:bodyPr wrap="square" lIns="0" tIns="0" rIns="0" bIns="0" anchor="t">
            <a:normAutofit fontScale="96154"/>
          </a:bodyPr>
          <a:lstStyle/>
          <a:p>
            <a:pPr algn="ctr">
              <a:lnSpc>
                <a:spcPct val="104000"/>
              </a:lnSpc>
              <a:buNone/>
              <a:defRPr sz="1500" b="0">
                <a:solidFill>
                  <a:srgbClr val="51627A"/>
                </a:solidFill>
                <a:latin typeface="Aptos"/>
                <a:ea typeface="Aptos"/>
                <a:cs typeface="Aptos"/>
              </a:defRPr>
            </a:pPr>
            <a:r>
              <a:rPr sz="1500" b="0">
                <a:solidFill>
                  <a:srgbClr val="51627A"/>
                </a:solidFill>
                <a:latin typeface="Aptos"/>
                <a:ea typeface="Aptos"/>
                <a:cs typeface="Aptos"/>
              </a:rPr>
              <a:t>requiere licencia adecuada</a:t>
            </a:r>
          </a:p>
        </p:txBody>
      </p:sp>
      <p:sp>
        <p:nvSpPr>
          <p:cNvPr id="15" name="Rectangle 14">
            <a:extLst>
              <a:ext uri="{FF2B5EF4-FFF2-40B4-BE49-F238E27FC236}">
                <a16:creationId xmlns:a16="http://schemas.microsoft.com/office/drawing/2014/main" id="{81D80659-5683-46DB-AFCF-5C8C2EE689A9}"/>
              </a:ext>
            </a:extLst>
          </p:cNvPr>
          <p:cNvSpPr>
            <a:spLocks noGrp="1"/>
          </p:cNvSpPr>
          <p:nvPr/>
        </p:nvSpPr>
        <p:spPr>
          <a:xfrm>
            <a:off x="1619250" y="5219700"/>
            <a:ext cx="8953500" cy="609600"/>
          </a:xfrm>
          <a:prstGeom prst="rect">
            <a:avLst/>
          </a:prstGeom>
          <a:noFill/>
          <a:ln w="0">
            <a:noFill/>
            <a:prstDash val="solid"/>
          </a:ln>
        </p:spPr>
        <p:txBody>
          <a:bodyPr wrap="square" lIns="0" tIns="0" rIns="0" bIns="0" anchor="t">
            <a:normAutofit fontScale="98619"/>
          </a:bodyPr>
          <a:lstStyle/>
          <a:p>
            <a:pPr algn="ctr">
              <a:lnSpc>
                <a:spcPct val="104000"/>
              </a:lnSpc>
              <a:buNone/>
              <a:defRPr sz="1950" b="1">
                <a:solidFill>
                  <a:srgbClr val="17233C"/>
                </a:solidFill>
                <a:latin typeface="Aptos"/>
                <a:ea typeface="Aptos"/>
                <a:cs typeface="Aptos"/>
              </a:defRPr>
            </a:pPr>
            <a:r>
              <a:rPr sz="1950" b="1">
                <a:solidFill>
                  <a:srgbClr val="17233C"/>
                </a:solidFill>
                <a:latin typeface="Aptos"/>
                <a:ea typeface="Aptos"/>
                <a:cs typeface="Aptos"/>
              </a:rPr>
              <a:t>Para superar límites, planifique soporte, licenciamiento y base de datos antes del despliegue.</a:t>
            </a:r>
          </a:p>
        </p:txBody>
      </p:sp>
      <p:sp>
        <p:nvSpPr>
          <p:cNvPr id="16" name="Rectangle 15">
            <a:extLst>
              <a:ext uri="{FF2B5EF4-FFF2-40B4-BE49-F238E27FC236}">
                <a16:creationId xmlns:a16="http://schemas.microsoft.com/office/drawing/2014/main" id="{8C9FAA65-7AA2-46D4-90C1-B7CA12168862}"/>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05</a:t>
            </a:r>
          </a:p>
        </p:txBody>
      </p:sp>
    </p:spTree>
    <p:extLst>
      <p:ext uri="{BB962C8B-B14F-4D97-AF65-F5344CB8AC3E}">
        <p14:creationId xmlns:p14="http://schemas.microsoft.com/office/powerpoint/2010/main" val="1205220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CBAA287-3939-4B99-81B7-6A08524494D9}"/>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CFEDA378-65CC-419C-922E-8339F7D70462}"/>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PREPARACIÓN DE DATOS</a:t>
            </a:r>
          </a:p>
        </p:txBody>
      </p:sp>
      <p:sp>
        <p:nvSpPr>
          <p:cNvPr id="3" name="Rectangle 2">
            <a:extLst>
              <a:ext uri="{FF2B5EF4-FFF2-40B4-BE49-F238E27FC236}">
                <a16:creationId xmlns:a16="http://schemas.microsoft.com/office/drawing/2014/main" id="{5949A250-32EB-4D06-9492-DDE5AE21B81F}"/>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85026"/>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IdFix evita que errores locales lleguen a la nube</a:t>
            </a:r>
          </a:p>
        </p:txBody>
      </p:sp>
      <p:sp>
        <p:nvSpPr>
          <p:cNvPr id="4" name="Straight Connector 3">
            <a:extLst>
              <a:ext uri="{FF2B5EF4-FFF2-40B4-BE49-F238E27FC236}">
                <a16:creationId xmlns:a16="http://schemas.microsoft.com/office/drawing/2014/main" id="{123066E9-D2C3-4E7B-8C2A-78CF881D072E}"/>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F98DC8E9-DEBE-425B-83BB-DBAA436D7640}"/>
              </a:ext>
            </a:extLst>
          </p:cNvPr>
          <p:cNvSpPr>
            <a:spLocks noGrp="1"/>
          </p:cNvSpPr>
          <p:nvPr/>
        </p:nvSpPr>
        <p:spPr>
          <a:xfrm>
            <a:off x="1000125" y="2724150"/>
            <a:ext cx="2381250" cy="819150"/>
          </a:xfrm>
          <a:prstGeom prst="rect">
            <a:avLst/>
          </a:prstGeom>
          <a:solidFill>
            <a:srgbClr val="F3F6F9"/>
          </a:solidFill>
          <a:ln w="19050">
            <a:solidFill>
              <a:srgbClr val="0F6CBD"/>
            </a:solidFill>
            <a:prstDash val="solid"/>
          </a:ln>
        </p:spPr>
      </p:sp>
      <p:sp>
        <p:nvSpPr>
          <p:cNvPr id="6" name="Rectangle 5">
            <a:extLst>
              <a:ext uri="{FF2B5EF4-FFF2-40B4-BE49-F238E27FC236}">
                <a16:creationId xmlns:a16="http://schemas.microsoft.com/office/drawing/2014/main" id="{A99AA78E-DCBA-4A92-948D-0BC29DA3438F}"/>
              </a:ext>
            </a:extLst>
          </p:cNvPr>
          <p:cNvSpPr>
            <a:spLocks noGrp="1"/>
          </p:cNvSpPr>
          <p:nvPr/>
        </p:nvSpPr>
        <p:spPr>
          <a:xfrm>
            <a:off x="1114425" y="2819400"/>
            <a:ext cx="2152650" cy="6286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Directorio local</a:t>
            </a:r>
          </a:p>
        </p:txBody>
      </p:sp>
      <p:sp>
        <p:nvSpPr>
          <p:cNvPr id="7" name="Rectangle 6">
            <a:extLst>
              <a:ext uri="{FF2B5EF4-FFF2-40B4-BE49-F238E27FC236}">
                <a16:creationId xmlns:a16="http://schemas.microsoft.com/office/drawing/2014/main" id="{831D9B42-E8FB-401E-BB70-192C34083DCE}"/>
              </a:ext>
            </a:extLst>
          </p:cNvPr>
          <p:cNvSpPr>
            <a:spLocks noGrp="1"/>
          </p:cNvSpPr>
          <p:nvPr/>
        </p:nvSpPr>
        <p:spPr>
          <a:xfrm>
            <a:off x="1000125" y="3762375"/>
            <a:ext cx="2381250" cy="552450"/>
          </a:xfrm>
          <a:prstGeom prst="rect">
            <a:avLst/>
          </a:prstGeom>
          <a:noFill/>
          <a:ln w="0">
            <a:noFill/>
            <a:prstDash val="solid"/>
          </a:ln>
        </p:spPr>
        <p:txBody>
          <a:bodyPr wrap="square" lIns="0" tIns="0" rIns="0" bIns="0" anchor="t">
            <a:normAutofit/>
          </a:bodyPr>
          <a:lstStyle/>
          <a:p>
            <a:pPr algn="ctr">
              <a:lnSpc>
                <a:spcPct val="104000"/>
              </a:lnSpc>
              <a:buNone/>
              <a:defRPr sz="1350" b="0">
                <a:solidFill>
                  <a:srgbClr val="51627A"/>
                </a:solidFill>
                <a:latin typeface="Aptos"/>
                <a:ea typeface="Aptos"/>
                <a:cs typeface="Aptos"/>
              </a:defRPr>
            </a:pPr>
            <a:r>
              <a:rPr sz="1350" b="0">
                <a:solidFill>
                  <a:srgbClr val="51627A"/>
                </a:solidFill>
                <a:latin typeface="Aptos"/>
                <a:ea typeface="Aptos"/>
                <a:cs typeface="Aptos"/>
              </a:rPr>
              <a:t>usuarios · grupos · contactos</a:t>
            </a:r>
          </a:p>
        </p:txBody>
      </p:sp>
      <p:sp>
        <p:nvSpPr>
          <p:cNvPr id="8" name="Rectangle 7">
            <a:extLst>
              <a:ext uri="{FF2B5EF4-FFF2-40B4-BE49-F238E27FC236}">
                <a16:creationId xmlns:a16="http://schemas.microsoft.com/office/drawing/2014/main" id="{63B7F9A3-B23A-44C3-8AD5-0FEFDB3148BB}"/>
              </a:ext>
            </a:extLst>
          </p:cNvPr>
          <p:cNvSpPr>
            <a:spLocks noGrp="1"/>
          </p:cNvSpPr>
          <p:nvPr/>
        </p:nvSpPr>
        <p:spPr>
          <a:xfrm>
            <a:off x="3857625" y="2724150"/>
            <a:ext cx="2381250" cy="819150"/>
          </a:xfrm>
          <a:prstGeom prst="rect">
            <a:avLst/>
          </a:prstGeom>
          <a:solidFill>
            <a:srgbClr val="DFF3FF"/>
          </a:solidFill>
          <a:ln w="19050">
            <a:solidFill>
              <a:srgbClr val="008A88"/>
            </a:solidFill>
            <a:prstDash val="solid"/>
          </a:ln>
        </p:spPr>
      </p:sp>
      <p:sp>
        <p:nvSpPr>
          <p:cNvPr id="9" name="Rectangle 8">
            <a:extLst>
              <a:ext uri="{FF2B5EF4-FFF2-40B4-BE49-F238E27FC236}">
                <a16:creationId xmlns:a16="http://schemas.microsoft.com/office/drawing/2014/main" id="{484DB854-084E-48AE-9CE1-10DACD2691D0}"/>
              </a:ext>
            </a:extLst>
          </p:cNvPr>
          <p:cNvSpPr>
            <a:spLocks noGrp="1"/>
          </p:cNvSpPr>
          <p:nvPr/>
        </p:nvSpPr>
        <p:spPr>
          <a:xfrm>
            <a:off x="3971925" y="2819400"/>
            <a:ext cx="2152650" cy="6286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IdFix</a:t>
            </a:r>
          </a:p>
        </p:txBody>
      </p:sp>
      <p:sp>
        <p:nvSpPr>
          <p:cNvPr id="10" name="Rectangle 9">
            <a:extLst>
              <a:ext uri="{FF2B5EF4-FFF2-40B4-BE49-F238E27FC236}">
                <a16:creationId xmlns:a16="http://schemas.microsoft.com/office/drawing/2014/main" id="{B1199BEA-86FF-485C-890A-63815ABD6767}"/>
              </a:ext>
            </a:extLst>
          </p:cNvPr>
          <p:cNvSpPr>
            <a:spLocks noGrp="1"/>
          </p:cNvSpPr>
          <p:nvPr/>
        </p:nvSpPr>
        <p:spPr>
          <a:xfrm>
            <a:off x="3857625" y="3762375"/>
            <a:ext cx="2381250" cy="552450"/>
          </a:xfrm>
          <a:prstGeom prst="rect">
            <a:avLst/>
          </a:prstGeom>
          <a:noFill/>
          <a:ln w="0">
            <a:noFill/>
            <a:prstDash val="solid"/>
          </a:ln>
        </p:spPr>
        <p:txBody>
          <a:bodyPr wrap="square" lIns="0" tIns="0" rIns="0" bIns="0" anchor="t">
            <a:normAutofit/>
          </a:bodyPr>
          <a:lstStyle/>
          <a:p>
            <a:pPr algn="ctr">
              <a:lnSpc>
                <a:spcPct val="104000"/>
              </a:lnSpc>
              <a:buNone/>
              <a:defRPr sz="1350" b="0">
                <a:solidFill>
                  <a:srgbClr val="51627A"/>
                </a:solidFill>
                <a:latin typeface="Aptos"/>
                <a:ea typeface="Aptos"/>
                <a:cs typeface="Aptos"/>
              </a:defRPr>
            </a:pPr>
            <a:r>
              <a:rPr sz="1350" b="0">
                <a:solidFill>
                  <a:srgbClr val="51627A"/>
                </a:solidFill>
                <a:latin typeface="Aptos"/>
                <a:ea typeface="Aptos"/>
                <a:cs typeface="Aptos"/>
              </a:rPr>
              <a:t>duplicados · formato · atributos</a:t>
            </a:r>
          </a:p>
        </p:txBody>
      </p:sp>
      <p:cxnSp>
        <p:nvCxnSpPr>
          <p:cNvPr id="11" name="Straight Arrow Connector 10"/>
          <p:cNvCxnSpPr>
            <a:stCxn id="5" idx="3"/>
            <a:endCxn id="8" idx="1"/>
          </p:cNvCxnSpPr>
          <p:nvPr/>
        </p:nvCxnSpPr>
        <p:spPr>
          <a:xfrm>
            <a:off x="3381375" y="3133725"/>
            <a:ext cx="476250" cy="0"/>
          </a:xfrm>
          <a:prstGeom prst="straightConnector1">
            <a:avLst/>
          </a:prstGeom>
          <a:ln w="19050">
            <a:solidFill>
              <a:srgbClr val="0F6CBD"/>
            </a:solidFill>
            <a:prstDash val="solid"/>
            <a:tailEnd type="arrow" w="sm" len="sm"/>
          </a:ln>
        </p:spPr>
      </p:cxnSp>
      <p:sp>
        <p:nvSpPr>
          <p:cNvPr id="12" name="Rectangle 11">
            <a:extLst>
              <a:ext uri="{FF2B5EF4-FFF2-40B4-BE49-F238E27FC236}">
                <a16:creationId xmlns:a16="http://schemas.microsoft.com/office/drawing/2014/main" id="{29088405-B19F-4661-AA3E-3912B96620B9}"/>
              </a:ext>
            </a:extLst>
          </p:cNvPr>
          <p:cNvSpPr>
            <a:spLocks noGrp="1"/>
          </p:cNvSpPr>
          <p:nvPr/>
        </p:nvSpPr>
        <p:spPr>
          <a:xfrm>
            <a:off x="6715125" y="2724150"/>
            <a:ext cx="2381250" cy="819150"/>
          </a:xfrm>
          <a:prstGeom prst="rect">
            <a:avLst/>
          </a:prstGeom>
          <a:solidFill>
            <a:srgbClr val="E9F7F2"/>
          </a:solidFill>
          <a:ln w="19050">
            <a:solidFill>
              <a:srgbClr val="0F6CBD"/>
            </a:solidFill>
            <a:prstDash val="solid"/>
          </a:ln>
        </p:spPr>
      </p:sp>
      <p:sp>
        <p:nvSpPr>
          <p:cNvPr id="13" name="Rectangle 12">
            <a:extLst>
              <a:ext uri="{FF2B5EF4-FFF2-40B4-BE49-F238E27FC236}">
                <a16:creationId xmlns:a16="http://schemas.microsoft.com/office/drawing/2014/main" id="{69FD6C8B-591B-44EA-9F58-27169601404A}"/>
              </a:ext>
            </a:extLst>
          </p:cNvPr>
          <p:cNvSpPr>
            <a:spLocks noGrp="1"/>
          </p:cNvSpPr>
          <p:nvPr/>
        </p:nvSpPr>
        <p:spPr>
          <a:xfrm>
            <a:off x="6829425" y="2819400"/>
            <a:ext cx="2152650" cy="6286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Corrección</a:t>
            </a:r>
          </a:p>
        </p:txBody>
      </p:sp>
      <p:sp>
        <p:nvSpPr>
          <p:cNvPr id="14" name="Rectangle 13">
            <a:extLst>
              <a:ext uri="{FF2B5EF4-FFF2-40B4-BE49-F238E27FC236}">
                <a16:creationId xmlns:a16="http://schemas.microsoft.com/office/drawing/2014/main" id="{7637EAB7-8032-45D2-BA96-807BBFFD5E42}"/>
              </a:ext>
            </a:extLst>
          </p:cNvPr>
          <p:cNvSpPr>
            <a:spLocks noGrp="1"/>
          </p:cNvSpPr>
          <p:nvPr/>
        </p:nvSpPr>
        <p:spPr>
          <a:xfrm>
            <a:off x="6715125" y="3762375"/>
            <a:ext cx="2381250" cy="552450"/>
          </a:xfrm>
          <a:prstGeom prst="rect">
            <a:avLst/>
          </a:prstGeom>
          <a:noFill/>
          <a:ln w="0">
            <a:noFill/>
            <a:prstDash val="solid"/>
          </a:ln>
        </p:spPr>
        <p:txBody>
          <a:bodyPr wrap="square" lIns="0" tIns="0" rIns="0" bIns="0" anchor="t">
            <a:normAutofit/>
          </a:bodyPr>
          <a:lstStyle/>
          <a:p>
            <a:pPr algn="ctr">
              <a:lnSpc>
                <a:spcPct val="104000"/>
              </a:lnSpc>
              <a:buNone/>
              <a:defRPr sz="1350" b="0">
                <a:solidFill>
                  <a:srgbClr val="51627A"/>
                </a:solidFill>
                <a:latin typeface="Aptos"/>
                <a:ea typeface="Aptos"/>
                <a:cs typeface="Aptos"/>
              </a:defRPr>
            </a:pPr>
            <a:r>
              <a:rPr sz="1350" b="0">
                <a:solidFill>
                  <a:srgbClr val="51627A"/>
                </a:solidFill>
                <a:latin typeface="Aptos"/>
                <a:ea typeface="Aptos"/>
                <a:cs typeface="Aptos"/>
              </a:rPr>
              <a:t>resolver antes de sincronizar</a:t>
            </a:r>
          </a:p>
        </p:txBody>
      </p:sp>
      <p:cxnSp>
        <p:nvCxnSpPr>
          <p:cNvPr id="15" name="Straight Arrow Connector 14"/>
          <p:cNvCxnSpPr>
            <a:stCxn id="8" idx="3"/>
            <a:endCxn id="12" idx="1"/>
          </p:cNvCxnSpPr>
          <p:nvPr/>
        </p:nvCxnSpPr>
        <p:spPr>
          <a:xfrm>
            <a:off x="6238875" y="3133725"/>
            <a:ext cx="476250" cy="0"/>
          </a:xfrm>
          <a:prstGeom prst="straightConnector1">
            <a:avLst/>
          </a:prstGeom>
          <a:ln w="19050">
            <a:solidFill>
              <a:srgbClr val="0F6CBD"/>
            </a:solidFill>
            <a:prstDash val="solid"/>
            <a:tailEnd type="arrow" w="sm" len="sm"/>
          </a:ln>
        </p:spPr>
      </p:cxnSp>
      <p:sp>
        <p:nvSpPr>
          <p:cNvPr id="16" name="Rectangle 15">
            <a:extLst>
              <a:ext uri="{FF2B5EF4-FFF2-40B4-BE49-F238E27FC236}">
                <a16:creationId xmlns:a16="http://schemas.microsoft.com/office/drawing/2014/main" id="{730FFCA2-EB62-4553-94F8-00392388CB62}"/>
              </a:ext>
            </a:extLst>
          </p:cNvPr>
          <p:cNvSpPr>
            <a:spLocks noGrp="1"/>
          </p:cNvSpPr>
          <p:nvPr/>
        </p:nvSpPr>
        <p:spPr>
          <a:xfrm>
            <a:off x="9572625" y="2724150"/>
            <a:ext cx="1619250" cy="819150"/>
          </a:xfrm>
          <a:prstGeom prst="rect">
            <a:avLst/>
          </a:prstGeom>
          <a:solidFill>
            <a:srgbClr val="FFFFFF"/>
          </a:solidFill>
          <a:ln w="19050">
            <a:solidFill>
              <a:srgbClr val="0F6CBD"/>
            </a:solidFill>
            <a:prstDash val="solid"/>
          </a:ln>
        </p:spPr>
      </p:sp>
      <p:sp>
        <p:nvSpPr>
          <p:cNvPr id="17" name="Rectangle 16">
            <a:extLst>
              <a:ext uri="{FF2B5EF4-FFF2-40B4-BE49-F238E27FC236}">
                <a16:creationId xmlns:a16="http://schemas.microsoft.com/office/drawing/2014/main" id="{E60C645C-E41E-481E-8E46-5E2002D17ED1}"/>
              </a:ext>
            </a:extLst>
          </p:cNvPr>
          <p:cNvSpPr>
            <a:spLocks noGrp="1"/>
          </p:cNvSpPr>
          <p:nvPr/>
        </p:nvSpPr>
        <p:spPr>
          <a:xfrm>
            <a:off x="9686925" y="2819400"/>
            <a:ext cx="1390650" cy="6286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Sincronización</a:t>
            </a:r>
          </a:p>
        </p:txBody>
      </p:sp>
      <p:sp>
        <p:nvSpPr>
          <p:cNvPr id="18" name="Rectangle 17">
            <a:extLst>
              <a:ext uri="{FF2B5EF4-FFF2-40B4-BE49-F238E27FC236}">
                <a16:creationId xmlns:a16="http://schemas.microsoft.com/office/drawing/2014/main" id="{3B906361-6744-4AD5-B935-6FB767F99E78}"/>
              </a:ext>
            </a:extLst>
          </p:cNvPr>
          <p:cNvSpPr>
            <a:spLocks noGrp="1"/>
          </p:cNvSpPr>
          <p:nvPr/>
        </p:nvSpPr>
        <p:spPr>
          <a:xfrm>
            <a:off x="9572625" y="3762375"/>
            <a:ext cx="1619250" cy="552450"/>
          </a:xfrm>
          <a:prstGeom prst="rect">
            <a:avLst/>
          </a:prstGeom>
          <a:noFill/>
          <a:ln w="0">
            <a:noFill/>
            <a:prstDash val="solid"/>
          </a:ln>
        </p:spPr>
        <p:txBody>
          <a:bodyPr wrap="square" lIns="0" tIns="0" rIns="0" bIns="0" anchor="t">
            <a:normAutofit/>
          </a:bodyPr>
          <a:lstStyle/>
          <a:p>
            <a:pPr algn="ctr">
              <a:lnSpc>
                <a:spcPct val="104000"/>
              </a:lnSpc>
              <a:buNone/>
              <a:defRPr sz="1350" b="0">
                <a:solidFill>
                  <a:srgbClr val="51627A"/>
                </a:solidFill>
                <a:latin typeface="Aptos"/>
                <a:ea typeface="Aptos"/>
                <a:cs typeface="Aptos"/>
              </a:defRPr>
            </a:pPr>
            <a:r>
              <a:rPr sz="1350" b="0">
                <a:solidFill>
                  <a:srgbClr val="51627A"/>
                </a:solidFill>
                <a:latin typeface="Aptos"/>
                <a:ea typeface="Aptos"/>
                <a:cs typeface="Aptos"/>
              </a:rPr>
              <a:t>objetos aptos</a:t>
            </a:r>
          </a:p>
        </p:txBody>
      </p:sp>
      <p:cxnSp>
        <p:nvCxnSpPr>
          <p:cNvPr id="19" name="Straight Arrow Connector 18"/>
          <p:cNvCxnSpPr>
            <a:stCxn id="12" idx="3"/>
            <a:endCxn id="16" idx="1"/>
          </p:cNvCxnSpPr>
          <p:nvPr/>
        </p:nvCxnSpPr>
        <p:spPr>
          <a:xfrm>
            <a:off x="9096375" y="3133725"/>
            <a:ext cx="476250" cy="0"/>
          </a:xfrm>
          <a:prstGeom prst="straightConnector1">
            <a:avLst/>
          </a:prstGeom>
          <a:ln w="19050">
            <a:solidFill>
              <a:srgbClr val="0F6CBD"/>
            </a:solidFill>
            <a:prstDash val="solid"/>
            <a:tailEnd type="arrow" w="sm" len="sm"/>
          </a:ln>
        </p:spPr>
      </p:cxnSp>
      <p:sp>
        <p:nvSpPr>
          <p:cNvPr id="20" name="Rectangle 19">
            <a:extLst>
              <a:ext uri="{FF2B5EF4-FFF2-40B4-BE49-F238E27FC236}">
                <a16:creationId xmlns:a16="http://schemas.microsoft.com/office/drawing/2014/main" id="{2CA486AF-878B-404C-AA32-711D84AEA572}"/>
              </a:ext>
            </a:extLst>
          </p:cNvPr>
          <p:cNvSpPr>
            <a:spLocks noGrp="1"/>
          </p:cNvSpPr>
          <p:nvPr/>
        </p:nvSpPr>
        <p:spPr>
          <a:xfrm>
            <a:off x="1238250" y="5238750"/>
            <a:ext cx="9715500" cy="609600"/>
          </a:xfrm>
          <a:prstGeom prst="rect">
            <a:avLst/>
          </a:prstGeom>
          <a:noFill/>
          <a:ln w="0">
            <a:noFill/>
            <a:prstDash val="solid"/>
          </a:ln>
        </p:spPr>
        <p:txBody>
          <a:bodyPr wrap="square" lIns="0" tIns="0" rIns="0" bIns="0" anchor="t">
            <a:normAutofit/>
          </a:bodyPr>
          <a:lstStyle/>
          <a:p>
            <a:pPr algn="ctr">
              <a:lnSpc>
                <a:spcPct val="104000"/>
              </a:lnSpc>
              <a:buNone/>
              <a:defRPr sz="1875" b="1">
                <a:solidFill>
                  <a:srgbClr val="0F6CBD"/>
                </a:solidFill>
                <a:latin typeface="Aptos"/>
                <a:ea typeface="Aptos"/>
                <a:cs typeface="Aptos"/>
              </a:defRPr>
            </a:pPr>
            <a:r>
              <a:rPr sz="1875" b="1">
                <a:solidFill>
                  <a:srgbClr val="0F6CBD"/>
                </a:solidFill>
                <a:latin typeface="Aptos"/>
                <a:ea typeface="Aptos"/>
                <a:cs typeface="Aptos"/>
              </a:rPr>
              <a:t>Revisar también las características opcionales de sincronización evita rediseños posteriores.</a:t>
            </a:r>
          </a:p>
        </p:txBody>
      </p:sp>
      <p:sp>
        <p:nvSpPr>
          <p:cNvPr id="21" name="Rectangle 20">
            <a:extLst>
              <a:ext uri="{FF2B5EF4-FFF2-40B4-BE49-F238E27FC236}">
                <a16:creationId xmlns:a16="http://schemas.microsoft.com/office/drawing/2014/main" id="{7DC6078E-04E0-49C6-84DF-6649C74C4DD7}"/>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06</a:t>
            </a:r>
          </a:p>
        </p:txBody>
      </p:sp>
    </p:spTree>
    <p:extLst>
      <p:ext uri="{BB962C8B-B14F-4D97-AF65-F5344CB8AC3E}">
        <p14:creationId xmlns:p14="http://schemas.microsoft.com/office/powerpoint/2010/main" val="616632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12C6CE4-722A-419D-B3D5-E317ECDAEFE1}"/>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875A3F03-FF94-4919-88DD-BDBC21AECA0E}"/>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REQUISITOS DEL SERVIDOR</a:t>
            </a:r>
          </a:p>
        </p:txBody>
      </p:sp>
      <p:sp>
        <p:nvSpPr>
          <p:cNvPr id="3" name="Rectangle 2">
            <a:extLst>
              <a:ext uri="{FF2B5EF4-FFF2-40B4-BE49-F238E27FC236}">
                <a16:creationId xmlns:a16="http://schemas.microsoft.com/office/drawing/2014/main" id="{6F29CD3B-5562-4D64-B4C8-30CB40F3EA36}"/>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Connect Sync necesita un host de servidor completo y protegido</a:t>
            </a:r>
          </a:p>
        </p:txBody>
      </p:sp>
      <p:sp>
        <p:nvSpPr>
          <p:cNvPr id="4" name="Straight Connector 3">
            <a:extLst>
              <a:ext uri="{FF2B5EF4-FFF2-40B4-BE49-F238E27FC236}">
                <a16:creationId xmlns:a16="http://schemas.microsoft.com/office/drawing/2014/main" id="{C0F24638-08EE-4FFA-805C-7238DC94D34A}"/>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83202A78-FC56-45C3-8620-6019603F34A2}"/>
              </a:ext>
            </a:extLst>
          </p:cNvPr>
          <p:cNvSpPr>
            <a:spLocks noGrp="1"/>
          </p:cNvSpPr>
          <p:nvPr/>
        </p:nvSpPr>
        <p:spPr>
          <a:xfrm>
            <a:off x="904875" y="2038350"/>
            <a:ext cx="4286250" cy="266700"/>
          </a:xfrm>
          <a:prstGeom prst="rect">
            <a:avLst/>
          </a:prstGeom>
          <a:noFill/>
          <a:ln w="0">
            <a:noFill/>
            <a:prstDash val="solid"/>
          </a:ln>
        </p:spPr>
        <p:txBody>
          <a:bodyPr wrap="square" lIns="0" tIns="0" rIns="0" bIns="0" anchor="t">
            <a:normAutofit/>
          </a:bodyPr>
          <a:lstStyle/>
          <a:p>
            <a:pPr algn="l">
              <a:lnSpc>
                <a:spcPct val="104000"/>
              </a:lnSpc>
              <a:buNone/>
              <a:defRPr sz="1350" b="1">
                <a:solidFill>
                  <a:srgbClr val="2D8C68"/>
                </a:solidFill>
                <a:latin typeface="Aptos"/>
                <a:ea typeface="Aptos"/>
                <a:cs typeface="Aptos"/>
              </a:defRPr>
            </a:pPr>
            <a:r>
              <a:rPr sz="1350" b="1">
                <a:solidFill>
                  <a:srgbClr val="2D8C68"/>
                </a:solidFill>
                <a:latin typeface="Aptos"/>
                <a:ea typeface="Aptos"/>
                <a:cs typeface="Aptos"/>
              </a:rPr>
              <a:t>COMPATIBLE</a:t>
            </a:r>
          </a:p>
        </p:txBody>
      </p:sp>
      <p:sp>
        <p:nvSpPr>
          <p:cNvPr id="6" name="Rectangle 5">
            <a:extLst>
              <a:ext uri="{FF2B5EF4-FFF2-40B4-BE49-F238E27FC236}">
                <a16:creationId xmlns:a16="http://schemas.microsoft.com/office/drawing/2014/main" id="{3DBFAD02-8919-4EA1-A6F1-4AC90FED2F3E}"/>
              </a:ext>
            </a:extLst>
          </p:cNvPr>
          <p:cNvSpPr>
            <a:spLocks noGrp="1"/>
          </p:cNvSpPr>
          <p:nvPr/>
        </p:nvSpPr>
        <p:spPr>
          <a:xfrm>
            <a:off x="904875" y="2457450"/>
            <a:ext cx="4667250" cy="2571750"/>
          </a:xfrm>
          <a:prstGeom prst="rect">
            <a:avLst/>
          </a:prstGeom>
          <a:noFill/>
          <a:ln w="0">
            <a:noFill/>
            <a:prstDash val="solid"/>
          </a:ln>
        </p:spPr>
        <p:txBody>
          <a:bodyPr wrap="square" lIns="0" tIns="0" rIns="0" bIns="0">
            <a:normAutofit/>
          </a:bodyPr>
          <a:lstStyle/>
          <a:p>
            <a:pPr marL="22" indent="-14">
              <a:lnSpc>
                <a:spcPct val="108000"/>
              </a:lnSpc>
              <a:spcAft>
                <a:spcPts val="14"/>
              </a:spcAft>
              <a:buNone/>
              <a:defRPr sz="1650">
                <a:solidFill>
                  <a:srgbClr val="17233C"/>
                </a:solidFill>
                <a:latin typeface="Aptos"/>
                <a:ea typeface="Aptos"/>
                <a:cs typeface="Aptos"/>
              </a:defRPr>
            </a:pPr>
            <a:r>
              <a:rPr sz="1650">
                <a:solidFill>
                  <a:srgbClr val="17233C"/>
                </a:solidFill>
                <a:latin typeface="Aptos"/>
                <a:ea typeface="Aptos"/>
                <a:cs typeface="Aptos"/>
              </a:rPr>
              <a:t>Windows Server 2016 o posterior</a:t>
            </a:r>
          </a:p>
          <a:p>
            <a:pPr marL="22" indent="-14">
              <a:lnSpc>
                <a:spcPct val="108000"/>
              </a:lnSpc>
              <a:spcAft>
                <a:spcPts val="14"/>
              </a:spcAft>
              <a:buNone/>
              <a:defRPr sz="1650">
                <a:solidFill>
                  <a:srgbClr val="17233C"/>
                </a:solidFill>
                <a:latin typeface="Aptos"/>
                <a:ea typeface="Aptos"/>
                <a:cs typeface="Aptos"/>
              </a:defRPr>
            </a:pPr>
            <a:r>
              <a:rPr sz="1650">
                <a:solidFill>
                  <a:srgbClr val="17233C"/>
                </a:solidFill>
                <a:latin typeface="Aptos"/>
                <a:ea typeface="Aptos"/>
                <a:cs typeface="Aptos"/>
              </a:rPr>
              <a:t>Windows Server 2022 recomendado</a:t>
            </a:r>
          </a:p>
          <a:p>
            <a:pPr marL="22" indent="-14">
              <a:lnSpc>
                <a:spcPct val="108000"/>
              </a:lnSpc>
              <a:spcAft>
                <a:spcPts val="14"/>
              </a:spcAft>
              <a:buNone/>
              <a:defRPr sz="1650">
                <a:solidFill>
                  <a:srgbClr val="17233C"/>
                </a:solidFill>
                <a:latin typeface="Aptos"/>
                <a:ea typeface="Aptos"/>
                <a:cs typeface="Aptos"/>
              </a:defRPr>
            </a:pPr>
            <a:r>
              <a:rPr sz="1650">
                <a:solidFill>
                  <a:srgbClr val="17233C"/>
                </a:solidFill>
                <a:latin typeface="Aptos"/>
                <a:ea typeface="Aptos"/>
                <a:cs typeface="Aptos"/>
              </a:rPr>
              <a:t>Standard o superior; instalación con GUI</a:t>
            </a:r>
          </a:p>
          <a:p>
            <a:pPr marL="22" indent="-14">
              <a:lnSpc>
                <a:spcPct val="108000"/>
              </a:lnSpc>
              <a:spcAft>
                <a:spcPts val="14"/>
              </a:spcAft>
              <a:buNone/>
              <a:defRPr sz="1650">
                <a:solidFill>
                  <a:srgbClr val="17233C"/>
                </a:solidFill>
                <a:latin typeface="Aptos"/>
                <a:ea typeface="Aptos"/>
                <a:cs typeface="Aptos"/>
              </a:defRPr>
            </a:pPr>
            <a:r>
              <a:rPr sz="1650">
                <a:solidFill>
                  <a:srgbClr val="17233C"/>
                </a:solidFill>
                <a:latin typeface="Aptos"/>
                <a:ea typeface="Aptos"/>
                <a:cs typeface="Aptos"/>
              </a:rPr>
              <a:t>.NET Framework 4.6.2 mínimo</a:t>
            </a:r>
          </a:p>
          <a:p>
            <a:pPr marL="22" indent="-14">
              <a:lnSpc>
                <a:spcPct val="108000"/>
              </a:lnSpc>
              <a:spcAft>
                <a:spcPts val="14"/>
              </a:spcAft>
              <a:buNone/>
              <a:defRPr sz="1650">
                <a:solidFill>
                  <a:srgbClr val="17233C"/>
                </a:solidFill>
                <a:latin typeface="Aptos"/>
                <a:ea typeface="Aptos"/>
                <a:cs typeface="Aptos"/>
              </a:defRPr>
            </a:pPr>
            <a:r>
              <a:rPr sz="1650">
                <a:solidFill>
                  <a:srgbClr val="17233C"/>
                </a:solidFill>
                <a:latin typeface="Aptos"/>
                <a:ea typeface="Aptos"/>
                <a:cs typeface="Aptos"/>
              </a:rPr>
              <a:t>PowerShell: RemoteSigned durante la instalación</a:t>
            </a:r>
          </a:p>
        </p:txBody>
      </p:sp>
      <p:sp>
        <p:nvSpPr>
          <p:cNvPr id="7" name="Straight Connector 6">
            <a:extLst>
              <a:ext uri="{FF2B5EF4-FFF2-40B4-BE49-F238E27FC236}">
                <a16:creationId xmlns:a16="http://schemas.microsoft.com/office/drawing/2014/main" id="{FCEFC485-F16E-48B5-AD88-6110CFEDB199}"/>
              </a:ext>
            </a:extLst>
          </p:cNvPr>
          <p:cNvSpPr>
            <a:spLocks noGrp="1"/>
          </p:cNvSpPr>
          <p:nvPr/>
        </p:nvSpPr>
        <p:spPr>
          <a:xfrm>
            <a:off x="6096000" y="2038350"/>
            <a:ext cx="0" cy="3295650"/>
          </a:xfrm>
          <a:prstGeom prst="line">
            <a:avLst/>
          </a:prstGeom>
          <a:noFill/>
          <a:ln w="19050">
            <a:solidFill>
              <a:srgbClr val="C9D5E3"/>
            </a:solidFill>
            <a:prstDash val="solid"/>
          </a:ln>
        </p:spPr>
      </p:sp>
      <p:sp>
        <p:nvSpPr>
          <p:cNvPr id="8" name="Rectangle 7">
            <a:extLst>
              <a:ext uri="{FF2B5EF4-FFF2-40B4-BE49-F238E27FC236}">
                <a16:creationId xmlns:a16="http://schemas.microsoft.com/office/drawing/2014/main" id="{0A5D3C58-9CE1-401E-B0C6-4332C457AB91}"/>
              </a:ext>
            </a:extLst>
          </p:cNvPr>
          <p:cNvSpPr>
            <a:spLocks noGrp="1"/>
          </p:cNvSpPr>
          <p:nvPr/>
        </p:nvSpPr>
        <p:spPr>
          <a:xfrm>
            <a:off x="6667500" y="2038350"/>
            <a:ext cx="4286250" cy="266700"/>
          </a:xfrm>
          <a:prstGeom prst="rect">
            <a:avLst/>
          </a:prstGeom>
          <a:noFill/>
          <a:ln w="0">
            <a:noFill/>
            <a:prstDash val="solid"/>
          </a:ln>
        </p:spPr>
        <p:txBody>
          <a:bodyPr wrap="square" lIns="0" tIns="0" rIns="0" bIns="0" anchor="t">
            <a:normAutofit/>
          </a:bodyPr>
          <a:lstStyle/>
          <a:p>
            <a:pPr algn="l">
              <a:lnSpc>
                <a:spcPct val="104000"/>
              </a:lnSpc>
              <a:buNone/>
              <a:defRPr sz="1350" b="1">
                <a:solidFill>
                  <a:srgbClr val="C43A31"/>
                </a:solidFill>
                <a:latin typeface="Aptos"/>
                <a:ea typeface="Aptos"/>
                <a:cs typeface="Aptos"/>
              </a:defRPr>
            </a:pPr>
            <a:r>
              <a:rPr sz="1350" b="1">
                <a:solidFill>
                  <a:srgbClr val="C43A31"/>
                </a:solidFill>
                <a:latin typeface="Aptos"/>
                <a:ea typeface="Aptos"/>
                <a:cs typeface="Aptos"/>
              </a:rPr>
              <a:t>RESTRICCIONES</a:t>
            </a:r>
          </a:p>
        </p:txBody>
      </p:sp>
      <p:sp>
        <p:nvSpPr>
          <p:cNvPr id="9" name="Rectangle 8">
            <a:extLst>
              <a:ext uri="{FF2B5EF4-FFF2-40B4-BE49-F238E27FC236}">
                <a16:creationId xmlns:a16="http://schemas.microsoft.com/office/drawing/2014/main" id="{9360E32B-59B3-415E-9A6D-4B0FEB3DF93E}"/>
              </a:ext>
            </a:extLst>
          </p:cNvPr>
          <p:cNvSpPr>
            <a:spLocks noGrp="1"/>
          </p:cNvSpPr>
          <p:nvPr/>
        </p:nvSpPr>
        <p:spPr>
          <a:xfrm>
            <a:off x="6667500" y="2457450"/>
            <a:ext cx="4762500" cy="2571750"/>
          </a:xfrm>
          <a:prstGeom prst="rect">
            <a:avLst/>
          </a:prstGeom>
          <a:noFill/>
          <a:ln w="0">
            <a:noFill/>
            <a:prstDash val="solid"/>
          </a:ln>
        </p:spPr>
        <p:txBody>
          <a:bodyPr wrap="square" lIns="0" tIns="0" rIns="0" bIns="0">
            <a:normAutofit/>
          </a:bodyPr>
          <a:lstStyle/>
          <a:p>
            <a:pPr marL="22" indent="-14">
              <a:lnSpc>
                <a:spcPct val="108000"/>
              </a:lnSpc>
              <a:spcAft>
                <a:spcPts val="14"/>
              </a:spcAft>
              <a:buNone/>
              <a:defRPr sz="1650">
                <a:solidFill>
                  <a:srgbClr val="17233C"/>
                </a:solidFill>
                <a:latin typeface="Aptos"/>
                <a:ea typeface="Aptos"/>
                <a:cs typeface="Aptos"/>
              </a:defRPr>
            </a:pPr>
            <a:r>
              <a:rPr sz="1650">
                <a:solidFill>
                  <a:srgbClr val="17233C"/>
                </a:solidFill>
                <a:latin typeface="Aptos"/>
                <a:ea typeface="Aptos"/>
                <a:cs typeface="Aptos"/>
              </a:rPr>
              <a:t>No Windows Server Core</a:t>
            </a:r>
          </a:p>
          <a:p>
            <a:pPr marL="22" indent="-14">
              <a:lnSpc>
                <a:spcPct val="108000"/>
              </a:lnSpc>
              <a:spcAft>
                <a:spcPts val="14"/>
              </a:spcAft>
              <a:buNone/>
              <a:defRPr sz="1650">
                <a:solidFill>
                  <a:srgbClr val="17233C"/>
                </a:solidFill>
                <a:latin typeface="Aptos"/>
                <a:ea typeface="Aptos"/>
                <a:cs typeface="Aptos"/>
              </a:defRPr>
            </a:pPr>
            <a:r>
              <a:rPr sz="1650">
                <a:solidFill>
                  <a:srgbClr val="17233C"/>
                </a:solidFill>
                <a:latin typeface="Aptos"/>
                <a:ea typeface="Aptos"/>
                <a:cs typeface="Aptos"/>
              </a:rPr>
              <a:t>No SBS ni Essentials anterior a 2019</a:t>
            </a:r>
          </a:p>
          <a:p>
            <a:pPr marL="22" indent="-14">
              <a:lnSpc>
                <a:spcPct val="108000"/>
              </a:lnSpc>
              <a:spcAft>
                <a:spcPts val="14"/>
              </a:spcAft>
              <a:buNone/>
              <a:defRPr sz="1650">
                <a:solidFill>
                  <a:srgbClr val="17233C"/>
                </a:solidFill>
                <a:latin typeface="Aptos"/>
                <a:ea typeface="Aptos"/>
                <a:cs typeface="Aptos"/>
              </a:defRPr>
            </a:pPr>
            <a:r>
              <a:rPr sz="1650">
                <a:solidFill>
                  <a:srgbClr val="17233C"/>
                </a:solidFill>
                <a:latin typeface="Aptos"/>
                <a:ea typeface="Aptos"/>
                <a:cs typeface="Aptos"/>
              </a:rPr>
              <a:t>Solo un servidor activo por tenant</a:t>
            </a:r>
          </a:p>
          <a:p>
            <a:pPr marL="22" indent="-14">
              <a:lnSpc>
                <a:spcPct val="108000"/>
              </a:lnSpc>
              <a:spcAft>
                <a:spcPts val="14"/>
              </a:spcAft>
              <a:buNone/>
              <a:defRPr sz="1650">
                <a:solidFill>
                  <a:srgbClr val="17233C"/>
                </a:solidFill>
                <a:latin typeface="Aptos"/>
                <a:ea typeface="Aptos"/>
                <a:cs typeface="Aptos"/>
              </a:defRPr>
            </a:pPr>
            <a:r>
              <a:rPr sz="1650">
                <a:solidFill>
                  <a:srgbClr val="17233C"/>
                </a:solidFill>
                <a:latin typeface="Aptos"/>
                <a:ea typeface="Aptos"/>
                <a:cs typeface="Aptos"/>
              </a:rPr>
              <a:t>Puede ser DC, miembro o no unido al dominio</a:t>
            </a:r>
          </a:p>
          <a:p>
            <a:pPr marL="22" indent="-14">
              <a:lnSpc>
                <a:spcPct val="108000"/>
              </a:lnSpc>
              <a:spcAft>
                <a:spcPts val="14"/>
              </a:spcAft>
              <a:buNone/>
              <a:defRPr sz="1650">
                <a:solidFill>
                  <a:srgbClr val="17233C"/>
                </a:solidFill>
                <a:latin typeface="Aptos"/>
                <a:ea typeface="Aptos"/>
                <a:cs typeface="Aptos"/>
              </a:defRPr>
            </a:pPr>
            <a:r>
              <a:rPr sz="1650">
                <a:solidFill>
                  <a:srgbClr val="17233C"/>
                </a:solidFill>
                <a:latin typeface="Aptos"/>
                <a:ea typeface="Aptos"/>
                <a:cs typeface="Aptos"/>
              </a:rPr>
              <a:t>PowerShell Transcription: revisar si administra AD FS</a:t>
            </a:r>
          </a:p>
        </p:txBody>
      </p:sp>
      <p:sp>
        <p:nvSpPr>
          <p:cNvPr id="10" name="Rectangle 9">
            <a:extLst>
              <a:ext uri="{FF2B5EF4-FFF2-40B4-BE49-F238E27FC236}">
                <a16:creationId xmlns:a16="http://schemas.microsoft.com/office/drawing/2014/main" id="{145E01DA-A206-4B2A-B491-361AA2E4BBFE}"/>
              </a:ext>
            </a:extLst>
          </p:cNvPr>
          <p:cNvSpPr>
            <a:spLocks noGrp="1"/>
          </p:cNvSpPr>
          <p:nvPr/>
        </p:nvSpPr>
        <p:spPr>
          <a:xfrm>
            <a:off x="895350" y="5572125"/>
            <a:ext cx="10477500" cy="419100"/>
          </a:xfrm>
          <a:prstGeom prst="rect">
            <a:avLst/>
          </a:prstGeom>
          <a:solidFill>
            <a:srgbClr val="F3F6F9"/>
          </a:solidFill>
          <a:ln w="0">
            <a:noFill/>
            <a:prstDash val="solid"/>
          </a:ln>
        </p:spPr>
      </p:sp>
      <p:sp>
        <p:nvSpPr>
          <p:cNvPr id="11" name="Rectangle 10">
            <a:extLst>
              <a:ext uri="{FF2B5EF4-FFF2-40B4-BE49-F238E27FC236}">
                <a16:creationId xmlns:a16="http://schemas.microsoft.com/office/drawing/2014/main" id="{ABD945C2-4855-4C0E-8307-59B89F25D700}"/>
              </a:ext>
            </a:extLst>
          </p:cNvPr>
          <p:cNvSpPr>
            <a:spLocks noGrp="1"/>
          </p:cNvSpPr>
          <p:nvPr/>
        </p:nvSpPr>
        <p:spPr>
          <a:xfrm>
            <a:off x="1095375" y="5676900"/>
            <a:ext cx="10096500" cy="247650"/>
          </a:xfrm>
          <a:prstGeom prst="rect">
            <a:avLst/>
          </a:prstGeom>
          <a:noFill/>
          <a:ln w="0">
            <a:noFill/>
            <a:prstDash val="solid"/>
          </a:ln>
        </p:spPr>
        <p:txBody>
          <a:bodyPr wrap="square" lIns="0" tIns="0" rIns="0" bIns="0" anchor="t">
            <a:normAutofit fontScale="99206"/>
          </a:bodyPr>
          <a:lstStyle/>
          <a:p>
            <a:pPr algn="ctr">
              <a:lnSpc>
                <a:spcPct val="104000"/>
              </a:lnSpc>
              <a:buNone/>
              <a:defRPr sz="1575" b="1">
                <a:solidFill>
                  <a:srgbClr val="17233C"/>
                </a:solidFill>
                <a:latin typeface="Aptos"/>
                <a:ea typeface="Aptos"/>
                <a:cs typeface="Aptos"/>
              </a:defRPr>
            </a:pPr>
            <a:r>
              <a:rPr sz="1575" b="1">
                <a:solidFill>
                  <a:srgbClr val="17233C"/>
                </a:solidFill>
                <a:latin typeface="Aptos"/>
                <a:ea typeface="Aptos"/>
                <a:cs typeface="Aptos"/>
              </a:rPr>
              <a:t>El servidor contiene datos críticos de identidad: protegerlo como Tier 0 / Control Plane.</a:t>
            </a:r>
          </a:p>
        </p:txBody>
      </p:sp>
      <p:sp>
        <p:nvSpPr>
          <p:cNvPr id="12" name="Rectangle 11">
            <a:extLst>
              <a:ext uri="{FF2B5EF4-FFF2-40B4-BE49-F238E27FC236}">
                <a16:creationId xmlns:a16="http://schemas.microsoft.com/office/drawing/2014/main" id="{986E0FE9-D0CD-442D-A472-80A64B97B14B}"/>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07</a:t>
            </a:r>
          </a:p>
        </p:txBody>
      </p:sp>
    </p:spTree>
    <p:extLst>
      <p:ext uri="{BB962C8B-B14F-4D97-AF65-F5344CB8AC3E}">
        <p14:creationId xmlns:p14="http://schemas.microsoft.com/office/powerpoint/2010/main" val="449670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B79D4C6-A5F1-4AF9-9BCD-F8B32869E84C}"/>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D093E9BF-84A8-4CBB-82A1-29EBC665C03B}"/>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ENDURECIMIENTO TIER 0</a:t>
            </a:r>
          </a:p>
        </p:txBody>
      </p:sp>
      <p:sp>
        <p:nvSpPr>
          <p:cNvPr id="3" name="Rectangle 2">
            <a:extLst>
              <a:ext uri="{FF2B5EF4-FFF2-40B4-BE49-F238E27FC236}">
                <a16:creationId xmlns:a16="http://schemas.microsoft.com/office/drawing/2014/main" id="{9B24280C-EBD1-4364-A218-28E3CBF91B92}"/>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El servidor de sincronización pertenece al Control Plane</a:t>
            </a:r>
          </a:p>
        </p:txBody>
      </p:sp>
      <p:sp>
        <p:nvSpPr>
          <p:cNvPr id="4" name="Straight Connector 3">
            <a:extLst>
              <a:ext uri="{FF2B5EF4-FFF2-40B4-BE49-F238E27FC236}">
                <a16:creationId xmlns:a16="http://schemas.microsoft.com/office/drawing/2014/main" id="{9BD04667-E128-4738-9FCF-082ED2D0C406}"/>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134DCD4A-F409-42B4-BC19-33F618DA0D14}"/>
              </a:ext>
            </a:extLst>
          </p:cNvPr>
          <p:cNvSpPr>
            <a:spLocks noGrp="1"/>
          </p:cNvSpPr>
          <p:nvPr/>
        </p:nvSpPr>
        <p:spPr>
          <a:xfrm>
            <a:off x="4667250" y="2857500"/>
            <a:ext cx="2857500" cy="1104900"/>
          </a:xfrm>
          <a:prstGeom prst="rect">
            <a:avLst/>
          </a:prstGeom>
          <a:solidFill>
            <a:srgbClr val="DFF3FF"/>
          </a:solidFill>
          <a:ln w="19050">
            <a:solidFill>
              <a:srgbClr val="0F6CBD"/>
            </a:solidFill>
            <a:prstDash val="solid"/>
          </a:ln>
        </p:spPr>
      </p:sp>
      <p:sp>
        <p:nvSpPr>
          <p:cNvPr id="6" name="Rectangle 5">
            <a:extLst>
              <a:ext uri="{FF2B5EF4-FFF2-40B4-BE49-F238E27FC236}">
                <a16:creationId xmlns:a16="http://schemas.microsoft.com/office/drawing/2014/main" id="{4308F6EC-6FB1-440B-ACA6-7299C5FF2CF4}"/>
              </a:ext>
            </a:extLst>
          </p:cNvPr>
          <p:cNvSpPr>
            <a:spLocks noGrp="1"/>
          </p:cNvSpPr>
          <p:nvPr/>
        </p:nvSpPr>
        <p:spPr>
          <a:xfrm>
            <a:off x="4781550" y="2952750"/>
            <a:ext cx="2628900" cy="9144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Microsoft Entra</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Connect Sync</a:t>
            </a:r>
          </a:p>
        </p:txBody>
      </p:sp>
      <p:sp>
        <p:nvSpPr>
          <p:cNvPr id="7" name="Rectangle 6">
            <a:extLst>
              <a:ext uri="{FF2B5EF4-FFF2-40B4-BE49-F238E27FC236}">
                <a16:creationId xmlns:a16="http://schemas.microsoft.com/office/drawing/2014/main" id="{2B3B2B17-9EC1-4AA8-826C-567B959A3D5A}"/>
              </a:ext>
            </a:extLst>
          </p:cNvPr>
          <p:cNvSpPr>
            <a:spLocks noGrp="1"/>
          </p:cNvSpPr>
          <p:nvPr/>
        </p:nvSpPr>
        <p:spPr>
          <a:xfrm>
            <a:off x="857250" y="2190750"/>
            <a:ext cx="2381250" cy="685800"/>
          </a:xfrm>
          <a:prstGeom prst="rect">
            <a:avLst/>
          </a:prstGeom>
          <a:solidFill>
            <a:srgbClr val="FFFFFF"/>
          </a:solidFill>
          <a:ln w="19050">
            <a:solidFill>
              <a:srgbClr val="C9D5E3"/>
            </a:solidFill>
            <a:prstDash val="solid"/>
          </a:ln>
        </p:spPr>
      </p:sp>
      <p:sp>
        <p:nvSpPr>
          <p:cNvPr id="8" name="Rectangle 7">
            <a:extLst>
              <a:ext uri="{FF2B5EF4-FFF2-40B4-BE49-F238E27FC236}">
                <a16:creationId xmlns:a16="http://schemas.microsoft.com/office/drawing/2014/main" id="{1A156E64-E125-4B5E-AC55-88270DF2A205}"/>
              </a:ext>
            </a:extLst>
          </p:cNvPr>
          <p:cNvSpPr>
            <a:spLocks noGrp="1"/>
          </p:cNvSpPr>
          <p:nvPr/>
        </p:nvSpPr>
        <p:spPr>
          <a:xfrm>
            <a:off x="971550" y="2286000"/>
            <a:ext cx="2152650" cy="495300"/>
          </a:xfrm>
          <a:prstGeom prst="rect">
            <a:avLst/>
          </a:prstGeom>
          <a:noFill/>
          <a:ln w="0">
            <a:noFill/>
            <a:prstDash val="solid"/>
          </a:ln>
        </p:spPr>
        <p:txBody>
          <a:bodyPr wrap="square" lIns="0" tIns="0" rIns="0" bIns="0" anchor="ctr">
            <a:normAutofit fontScale="90467"/>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Acceso administrativo</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restringido</a:t>
            </a:r>
          </a:p>
        </p:txBody>
      </p:sp>
      <p:cxnSp>
        <p:nvCxnSpPr>
          <p:cNvPr id="9" name="Straight Arrow Connector 8"/>
          <p:cNvCxnSpPr>
            <a:stCxn id="7" idx="3"/>
            <a:endCxn id="5" idx="1"/>
          </p:cNvCxnSpPr>
          <p:nvPr/>
        </p:nvCxnSpPr>
        <p:spPr>
          <a:xfrm>
            <a:off x="3238500" y="2533650"/>
            <a:ext cx="1428750" cy="876300"/>
          </a:xfrm>
          <a:prstGeom prst="straightConnector1">
            <a:avLst/>
          </a:prstGeom>
          <a:ln w="19050">
            <a:solidFill>
              <a:srgbClr val="008A88"/>
            </a:solidFill>
            <a:prstDash val="solid"/>
          </a:ln>
        </p:spPr>
      </p:cxnSp>
      <p:sp>
        <p:nvSpPr>
          <p:cNvPr id="10" name="Rectangle 9">
            <a:extLst>
              <a:ext uri="{FF2B5EF4-FFF2-40B4-BE49-F238E27FC236}">
                <a16:creationId xmlns:a16="http://schemas.microsoft.com/office/drawing/2014/main" id="{95C0138B-25A5-4088-B113-B0D15A8C9479}"/>
              </a:ext>
            </a:extLst>
          </p:cNvPr>
          <p:cNvSpPr>
            <a:spLocks noGrp="1"/>
          </p:cNvSpPr>
          <p:nvPr/>
        </p:nvSpPr>
        <p:spPr>
          <a:xfrm>
            <a:off x="857250" y="4238625"/>
            <a:ext cx="2381250" cy="685800"/>
          </a:xfrm>
          <a:prstGeom prst="rect">
            <a:avLst/>
          </a:prstGeom>
          <a:solidFill>
            <a:srgbClr val="FFFFFF"/>
          </a:solidFill>
          <a:ln w="19050">
            <a:solidFill>
              <a:srgbClr val="C9D5E3"/>
            </a:solidFill>
            <a:prstDash val="solid"/>
          </a:ln>
        </p:spPr>
      </p:sp>
      <p:sp>
        <p:nvSpPr>
          <p:cNvPr id="11" name="Rectangle 10">
            <a:extLst>
              <a:ext uri="{FF2B5EF4-FFF2-40B4-BE49-F238E27FC236}">
                <a16:creationId xmlns:a16="http://schemas.microsoft.com/office/drawing/2014/main" id="{CFC28C7B-B3D7-4BD7-9287-47D9BC3CC75E}"/>
              </a:ext>
            </a:extLst>
          </p:cNvPr>
          <p:cNvSpPr>
            <a:spLocks noGrp="1"/>
          </p:cNvSpPr>
          <p:nvPr/>
        </p:nvSpPr>
        <p:spPr>
          <a:xfrm>
            <a:off x="971550" y="4333875"/>
            <a:ext cx="2152650" cy="495300"/>
          </a:xfrm>
          <a:prstGeom prst="rect">
            <a:avLst/>
          </a:prstGeom>
          <a:noFill/>
          <a:ln w="0">
            <a:noFill/>
            <a:prstDash val="solid"/>
          </a:ln>
        </p:spPr>
        <p:txBody>
          <a:bodyPr wrap="square" lIns="0" tIns="0" rIns="0" bIns="0" anchor="ctr">
            <a:normAutofit fontScale="92497"/>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Cuentas privilegiadas</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dedicadas</a:t>
            </a:r>
          </a:p>
        </p:txBody>
      </p:sp>
      <p:cxnSp>
        <p:nvCxnSpPr>
          <p:cNvPr id="12" name="Straight Arrow Connector 11"/>
          <p:cNvCxnSpPr>
            <a:stCxn id="10" idx="3"/>
            <a:endCxn id="5" idx="1"/>
          </p:cNvCxnSpPr>
          <p:nvPr/>
        </p:nvCxnSpPr>
        <p:spPr>
          <a:xfrm flipV="1">
            <a:off x="3238500" y="3409950"/>
            <a:ext cx="1428750" cy="1171575"/>
          </a:xfrm>
          <a:prstGeom prst="straightConnector1">
            <a:avLst/>
          </a:prstGeom>
          <a:ln w="19050">
            <a:solidFill>
              <a:srgbClr val="008A88"/>
            </a:solidFill>
            <a:prstDash val="solid"/>
          </a:ln>
        </p:spPr>
      </p:cxnSp>
      <p:sp>
        <p:nvSpPr>
          <p:cNvPr id="13" name="Rectangle 12">
            <a:extLst>
              <a:ext uri="{FF2B5EF4-FFF2-40B4-BE49-F238E27FC236}">
                <a16:creationId xmlns:a16="http://schemas.microsoft.com/office/drawing/2014/main" id="{AABFD9CE-54FC-427E-ADBB-DC249324248C}"/>
              </a:ext>
            </a:extLst>
          </p:cNvPr>
          <p:cNvSpPr>
            <a:spLocks noGrp="1"/>
          </p:cNvSpPr>
          <p:nvPr/>
        </p:nvSpPr>
        <p:spPr>
          <a:xfrm>
            <a:off x="8953500" y="2190750"/>
            <a:ext cx="2381250" cy="685800"/>
          </a:xfrm>
          <a:prstGeom prst="rect">
            <a:avLst/>
          </a:prstGeom>
          <a:solidFill>
            <a:srgbClr val="FFFFFF"/>
          </a:solidFill>
          <a:ln w="19050">
            <a:solidFill>
              <a:srgbClr val="C9D5E3"/>
            </a:solidFill>
            <a:prstDash val="solid"/>
          </a:ln>
        </p:spPr>
      </p:sp>
      <p:sp>
        <p:nvSpPr>
          <p:cNvPr id="14" name="Rectangle 13">
            <a:extLst>
              <a:ext uri="{FF2B5EF4-FFF2-40B4-BE49-F238E27FC236}">
                <a16:creationId xmlns:a16="http://schemas.microsoft.com/office/drawing/2014/main" id="{150206E2-B95E-40B8-B836-328507E232E0}"/>
              </a:ext>
            </a:extLst>
          </p:cNvPr>
          <p:cNvSpPr>
            <a:spLocks noGrp="1"/>
          </p:cNvSpPr>
          <p:nvPr/>
        </p:nvSpPr>
        <p:spPr>
          <a:xfrm>
            <a:off x="9067800" y="2286000"/>
            <a:ext cx="2152650" cy="495300"/>
          </a:xfrm>
          <a:prstGeom prst="rect">
            <a:avLst/>
          </a:prstGeom>
          <a:noFill/>
          <a:ln w="0">
            <a:noFill/>
            <a:prstDash val="solid"/>
          </a:ln>
        </p:spPr>
        <p:txBody>
          <a:bodyPr wrap="square" lIns="0" tIns="0" rIns="0" bIns="0" anchor="ctr">
            <a:normAutofit fontScale="93752"/>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MFA para todos los</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accesos privilegiados</a:t>
            </a:r>
          </a:p>
        </p:txBody>
      </p:sp>
      <p:cxnSp>
        <p:nvCxnSpPr>
          <p:cNvPr id="15" name="Straight Arrow Connector 14"/>
          <p:cNvCxnSpPr>
            <a:stCxn id="13" idx="1"/>
            <a:endCxn id="5" idx="3"/>
          </p:cNvCxnSpPr>
          <p:nvPr/>
        </p:nvCxnSpPr>
        <p:spPr>
          <a:xfrm flipH="1">
            <a:off x="7524750" y="2533650"/>
            <a:ext cx="1428750" cy="876300"/>
          </a:xfrm>
          <a:prstGeom prst="straightConnector1">
            <a:avLst/>
          </a:prstGeom>
          <a:ln w="19050">
            <a:solidFill>
              <a:srgbClr val="008A88"/>
            </a:solidFill>
            <a:prstDash val="solid"/>
          </a:ln>
        </p:spPr>
      </p:cxnSp>
      <p:sp>
        <p:nvSpPr>
          <p:cNvPr id="16" name="Rectangle 15">
            <a:extLst>
              <a:ext uri="{FF2B5EF4-FFF2-40B4-BE49-F238E27FC236}">
                <a16:creationId xmlns:a16="http://schemas.microsoft.com/office/drawing/2014/main" id="{FCF873A0-635C-4142-A45B-EE2F3D87946C}"/>
              </a:ext>
            </a:extLst>
          </p:cNvPr>
          <p:cNvSpPr>
            <a:spLocks noGrp="1"/>
          </p:cNvSpPr>
          <p:nvPr/>
        </p:nvSpPr>
        <p:spPr>
          <a:xfrm>
            <a:off x="8953500" y="4238625"/>
            <a:ext cx="2381250" cy="685800"/>
          </a:xfrm>
          <a:prstGeom prst="rect">
            <a:avLst/>
          </a:prstGeom>
          <a:solidFill>
            <a:srgbClr val="FFFFFF"/>
          </a:solidFill>
          <a:ln w="19050">
            <a:solidFill>
              <a:srgbClr val="C9D5E3"/>
            </a:solidFill>
            <a:prstDash val="solid"/>
          </a:ln>
        </p:spPr>
      </p:sp>
      <p:sp>
        <p:nvSpPr>
          <p:cNvPr id="17" name="Rectangle 16">
            <a:extLst>
              <a:ext uri="{FF2B5EF4-FFF2-40B4-BE49-F238E27FC236}">
                <a16:creationId xmlns:a16="http://schemas.microsoft.com/office/drawing/2014/main" id="{F58C9C66-B5A5-46DA-A57C-B4BD4DF266FA}"/>
              </a:ext>
            </a:extLst>
          </p:cNvPr>
          <p:cNvSpPr>
            <a:spLocks noGrp="1"/>
          </p:cNvSpPr>
          <p:nvPr/>
        </p:nvSpPr>
        <p:spPr>
          <a:xfrm>
            <a:off x="9067800" y="4333875"/>
            <a:ext cx="2152650" cy="495300"/>
          </a:xfrm>
          <a:prstGeom prst="rect">
            <a:avLst/>
          </a:prstGeom>
          <a:noFill/>
          <a:ln w="0">
            <a:noFill/>
            <a:prstDash val="solid"/>
          </a:ln>
        </p:spPr>
        <p:txBody>
          <a:bodyPr wrap="square" lIns="0" tIns="0" rIns="0" bIns="0" anchor="ctr">
            <a:normAutofit fontScale="93517"/>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Windows LAPS +</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estaciones dedicadas</a:t>
            </a:r>
          </a:p>
        </p:txBody>
      </p:sp>
      <p:cxnSp>
        <p:nvCxnSpPr>
          <p:cNvPr id="18" name="Straight Arrow Connector 17"/>
          <p:cNvCxnSpPr>
            <a:stCxn id="16" idx="1"/>
            <a:endCxn id="5" idx="3"/>
          </p:cNvCxnSpPr>
          <p:nvPr/>
        </p:nvCxnSpPr>
        <p:spPr>
          <a:xfrm flipH="1" flipV="1">
            <a:off x="7524750" y="3409950"/>
            <a:ext cx="1428750" cy="1171575"/>
          </a:xfrm>
          <a:prstGeom prst="straightConnector1">
            <a:avLst/>
          </a:prstGeom>
          <a:ln w="19050">
            <a:solidFill>
              <a:srgbClr val="008A88"/>
            </a:solidFill>
            <a:prstDash val="solid"/>
          </a:ln>
        </p:spPr>
      </p:cxnSp>
      <p:sp>
        <p:nvSpPr>
          <p:cNvPr id="19" name="Rectangle 18">
            <a:extLst>
              <a:ext uri="{FF2B5EF4-FFF2-40B4-BE49-F238E27FC236}">
                <a16:creationId xmlns:a16="http://schemas.microsoft.com/office/drawing/2014/main" id="{30F1DF91-DB4B-4F67-B213-CF3F17D01342}"/>
              </a:ext>
            </a:extLst>
          </p:cNvPr>
          <p:cNvSpPr>
            <a:spLocks noGrp="1"/>
          </p:cNvSpPr>
          <p:nvPr/>
        </p:nvSpPr>
        <p:spPr>
          <a:xfrm>
            <a:off x="4524375" y="5143500"/>
            <a:ext cx="3143250" cy="666750"/>
          </a:xfrm>
          <a:prstGeom prst="rect">
            <a:avLst/>
          </a:prstGeom>
          <a:solidFill>
            <a:srgbClr val="FFFFFF"/>
          </a:solidFill>
          <a:ln w="19050">
            <a:solidFill>
              <a:srgbClr val="C9D5E3"/>
            </a:solidFill>
            <a:prstDash val="solid"/>
          </a:ln>
        </p:spPr>
      </p:sp>
      <p:sp>
        <p:nvSpPr>
          <p:cNvPr id="20" name="Rectangle 19">
            <a:extLst>
              <a:ext uri="{FF2B5EF4-FFF2-40B4-BE49-F238E27FC236}">
                <a16:creationId xmlns:a16="http://schemas.microsoft.com/office/drawing/2014/main" id="{2729B253-7484-4A8B-9062-0B774484FF08}"/>
              </a:ext>
            </a:extLst>
          </p:cNvPr>
          <p:cNvSpPr>
            <a:spLocks noGrp="1"/>
          </p:cNvSpPr>
          <p:nvPr/>
        </p:nvSpPr>
        <p:spPr>
          <a:xfrm>
            <a:off x="4638675" y="5238750"/>
            <a:ext cx="2914650" cy="476250"/>
          </a:xfrm>
          <a:prstGeom prst="rect">
            <a:avLst/>
          </a:prstGeom>
          <a:noFill/>
          <a:ln w="0">
            <a:noFill/>
            <a:prstDash val="solid"/>
          </a:ln>
        </p:spPr>
        <p:txBody>
          <a:bodyPr wrap="square" lIns="0" tIns="0" rIns="0" bIns="0" anchor="ctr">
            <a:normAutofit fontScale="84137"/>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Denegar NTLM · alertar cambios</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de confianza</a:t>
            </a:r>
          </a:p>
        </p:txBody>
      </p:sp>
      <p:cxnSp>
        <p:nvCxnSpPr>
          <p:cNvPr id="21" name="Straight Arrow Connector 20"/>
          <p:cNvCxnSpPr>
            <a:stCxn id="19" idx="0"/>
            <a:endCxn id="5" idx="2"/>
          </p:cNvCxnSpPr>
          <p:nvPr/>
        </p:nvCxnSpPr>
        <p:spPr>
          <a:xfrm flipV="1">
            <a:off x="6096000" y="3962400"/>
            <a:ext cx="0" cy="1181100"/>
          </a:xfrm>
          <a:prstGeom prst="straightConnector1">
            <a:avLst/>
          </a:prstGeom>
          <a:ln w="19050">
            <a:solidFill>
              <a:srgbClr val="008A88"/>
            </a:solidFill>
            <a:prstDash val="solid"/>
          </a:ln>
        </p:spPr>
      </p:cxnSp>
      <p:sp>
        <p:nvSpPr>
          <p:cNvPr id="22" name="Rectangle 21">
            <a:extLst>
              <a:ext uri="{FF2B5EF4-FFF2-40B4-BE49-F238E27FC236}">
                <a16:creationId xmlns:a16="http://schemas.microsoft.com/office/drawing/2014/main" id="{AB019067-99BF-41C0-A550-A71DB5F0CD60}"/>
              </a:ext>
            </a:extLst>
          </p:cNvPr>
          <p:cNvSpPr>
            <a:spLocks noGrp="1"/>
          </p:cNvSpPr>
          <p:nvPr/>
        </p:nvSpPr>
        <p:spPr>
          <a:xfrm>
            <a:off x="3429000" y="1952625"/>
            <a:ext cx="5334000" cy="361950"/>
          </a:xfrm>
          <a:prstGeom prst="rect">
            <a:avLst/>
          </a:prstGeom>
          <a:noFill/>
          <a:ln w="0">
            <a:noFill/>
            <a:prstDash val="solid"/>
          </a:ln>
        </p:spPr>
        <p:txBody>
          <a:bodyPr wrap="square" lIns="0" tIns="0" rIns="0" bIns="0" anchor="t">
            <a:normAutofit fontScale="72497"/>
          </a:bodyPr>
          <a:lstStyle/>
          <a:p>
            <a:pPr algn="ctr">
              <a:lnSpc>
                <a:spcPct val="104000"/>
              </a:lnSpc>
              <a:buNone/>
              <a:defRPr sz="1575" b="1">
                <a:solidFill>
                  <a:srgbClr val="C43A31"/>
                </a:solidFill>
                <a:latin typeface="Aptos"/>
                <a:ea typeface="Aptos"/>
                <a:cs typeface="Aptos"/>
              </a:defRPr>
            </a:pPr>
            <a:r>
              <a:rPr sz="1575" b="1">
                <a:solidFill>
                  <a:srgbClr val="C43A31"/>
                </a:solidFill>
                <a:latin typeface="Aptos"/>
                <a:ea typeface="Aptos"/>
                <a:cs typeface="Aptos"/>
              </a:rPr>
              <a:t>Deshabilitar Soft Matching si no se necesita y Hard Match Takeover.</a:t>
            </a:r>
          </a:p>
        </p:txBody>
      </p:sp>
      <p:sp>
        <p:nvSpPr>
          <p:cNvPr id="23" name="Rectangle 22">
            <a:extLst>
              <a:ext uri="{FF2B5EF4-FFF2-40B4-BE49-F238E27FC236}">
                <a16:creationId xmlns:a16="http://schemas.microsoft.com/office/drawing/2014/main" id="{3CFDB5AC-EBE0-4848-9C89-93C31F3B621E}"/>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08</a:t>
            </a:r>
          </a:p>
        </p:txBody>
      </p:sp>
    </p:spTree>
    <p:extLst>
      <p:ext uri="{BB962C8B-B14F-4D97-AF65-F5344CB8AC3E}">
        <p14:creationId xmlns:p14="http://schemas.microsoft.com/office/powerpoint/2010/main" val="1198218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FAC0DDB-B5DE-4BA1-9DC1-933D5A050225}"/>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747D37CA-71A3-48EE-AEE4-826CE7ABD234}"/>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CONECTIVIDAD</a:t>
            </a:r>
          </a:p>
        </p:txBody>
      </p:sp>
      <p:sp>
        <p:nvSpPr>
          <p:cNvPr id="3" name="Rectangle 2">
            <a:extLst>
              <a:ext uri="{FF2B5EF4-FFF2-40B4-BE49-F238E27FC236}">
                <a16:creationId xmlns:a16="http://schemas.microsoft.com/office/drawing/2014/main" id="{B9F48FB1-1081-4E6B-8E37-2792C8924422}"/>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83464"/>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DNS, puertos y TLS 1.2 sostienen la conectividad</a:t>
            </a:r>
          </a:p>
        </p:txBody>
      </p:sp>
      <p:sp>
        <p:nvSpPr>
          <p:cNvPr id="4" name="Straight Connector 3">
            <a:extLst>
              <a:ext uri="{FF2B5EF4-FFF2-40B4-BE49-F238E27FC236}">
                <a16:creationId xmlns:a16="http://schemas.microsoft.com/office/drawing/2014/main" id="{041D40C5-908D-4BA5-8F0B-3C8C26795951}"/>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EAE78E92-CEAD-425C-89C5-06267225B56F}"/>
              </a:ext>
            </a:extLst>
          </p:cNvPr>
          <p:cNvSpPr>
            <a:spLocks noGrp="1"/>
          </p:cNvSpPr>
          <p:nvPr/>
        </p:nvSpPr>
        <p:spPr>
          <a:xfrm>
            <a:off x="857250" y="2857500"/>
            <a:ext cx="2190750" cy="857250"/>
          </a:xfrm>
          <a:prstGeom prst="rect">
            <a:avLst/>
          </a:prstGeom>
          <a:solidFill>
            <a:srgbClr val="F3F6F9"/>
          </a:solidFill>
          <a:ln w="19050">
            <a:solidFill>
              <a:srgbClr val="0F6CBD"/>
            </a:solidFill>
            <a:prstDash val="solid"/>
          </a:ln>
        </p:spPr>
      </p:sp>
      <p:sp>
        <p:nvSpPr>
          <p:cNvPr id="6" name="Rectangle 5">
            <a:extLst>
              <a:ext uri="{FF2B5EF4-FFF2-40B4-BE49-F238E27FC236}">
                <a16:creationId xmlns:a16="http://schemas.microsoft.com/office/drawing/2014/main" id="{85810679-E0A7-404B-B341-FBAD4A515287}"/>
              </a:ext>
            </a:extLst>
          </p:cNvPr>
          <p:cNvSpPr>
            <a:spLocks noGrp="1"/>
          </p:cNvSpPr>
          <p:nvPr/>
        </p:nvSpPr>
        <p:spPr>
          <a:xfrm>
            <a:off x="971550" y="2952750"/>
            <a:ext cx="1962150" cy="6667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AD DS local</a:t>
            </a:r>
          </a:p>
        </p:txBody>
      </p:sp>
      <p:sp>
        <p:nvSpPr>
          <p:cNvPr id="7" name="Rectangle 6">
            <a:extLst>
              <a:ext uri="{FF2B5EF4-FFF2-40B4-BE49-F238E27FC236}">
                <a16:creationId xmlns:a16="http://schemas.microsoft.com/office/drawing/2014/main" id="{3E40FFA1-1DE7-47C0-BFC7-1628B794C80B}"/>
              </a:ext>
            </a:extLst>
          </p:cNvPr>
          <p:cNvSpPr>
            <a:spLocks noGrp="1"/>
          </p:cNvSpPr>
          <p:nvPr/>
        </p:nvSpPr>
        <p:spPr>
          <a:xfrm>
            <a:off x="4905375" y="2857500"/>
            <a:ext cx="2381250" cy="857250"/>
          </a:xfrm>
          <a:prstGeom prst="rect">
            <a:avLst/>
          </a:prstGeom>
          <a:solidFill>
            <a:srgbClr val="DFF3FF"/>
          </a:solidFill>
          <a:ln w="19050">
            <a:solidFill>
              <a:srgbClr val="008A88"/>
            </a:solidFill>
            <a:prstDash val="solid"/>
          </a:ln>
        </p:spPr>
      </p:sp>
      <p:sp>
        <p:nvSpPr>
          <p:cNvPr id="8" name="Rectangle 7">
            <a:extLst>
              <a:ext uri="{FF2B5EF4-FFF2-40B4-BE49-F238E27FC236}">
                <a16:creationId xmlns:a16="http://schemas.microsoft.com/office/drawing/2014/main" id="{0372FC49-99D1-4B0A-BA7F-C562571421F1}"/>
              </a:ext>
            </a:extLst>
          </p:cNvPr>
          <p:cNvSpPr>
            <a:spLocks noGrp="1"/>
          </p:cNvSpPr>
          <p:nvPr/>
        </p:nvSpPr>
        <p:spPr>
          <a:xfrm>
            <a:off x="5019675" y="2952750"/>
            <a:ext cx="2152650" cy="6667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Connect Sync</a:t>
            </a:r>
          </a:p>
        </p:txBody>
      </p:sp>
      <p:sp>
        <p:nvSpPr>
          <p:cNvPr id="9" name="Rectangle 8">
            <a:extLst>
              <a:ext uri="{FF2B5EF4-FFF2-40B4-BE49-F238E27FC236}">
                <a16:creationId xmlns:a16="http://schemas.microsoft.com/office/drawing/2014/main" id="{E3A5EE49-E310-4479-9B8F-9ECE508F6A5C}"/>
              </a:ext>
            </a:extLst>
          </p:cNvPr>
          <p:cNvSpPr>
            <a:spLocks noGrp="1"/>
          </p:cNvSpPr>
          <p:nvPr/>
        </p:nvSpPr>
        <p:spPr>
          <a:xfrm>
            <a:off x="9144000" y="2857500"/>
            <a:ext cx="2190750" cy="857250"/>
          </a:xfrm>
          <a:prstGeom prst="rect">
            <a:avLst/>
          </a:prstGeom>
          <a:solidFill>
            <a:srgbClr val="FFFFFF"/>
          </a:solidFill>
          <a:ln w="19050">
            <a:solidFill>
              <a:srgbClr val="0F6CBD"/>
            </a:solidFill>
            <a:prstDash val="solid"/>
          </a:ln>
        </p:spPr>
      </p:sp>
      <p:sp>
        <p:nvSpPr>
          <p:cNvPr id="10" name="Rectangle 9">
            <a:extLst>
              <a:ext uri="{FF2B5EF4-FFF2-40B4-BE49-F238E27FC236}">
                <a16:creationId xmlns:a16="http://schemas.microsoft.com/office/drawing/2014/main" id="{D8EE9B7D-569A-4794-BD46-099C9B351BF9}"/>
              </a:ext>
            </a:extLst>
          </p:cNvPr>
          <p:cNvSpPr>
            <a:spLocks noGrp="1"/>
          </p:cNvSpPr>
          <p:nvPr/>
        </p:nvSpPr>
        <p:spPr>
          <a:xfrm>
            <a:off x="9258300" y="2952750"/>
            <a:ext cx="1962150" cy="6667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Microsoft Entra ID</a:t>
            </a:r>
          </a:p>
        </p:txBody>
      </p:sp>
      <p:cxnSp>
        <p:nvCxnSpPr>
          <p:cNvPr id="11" name="Straight Arrow Connector 10"/>
          <p:cNvCxnSpPr>
            <a:stCxn id="5" idx="3"/>
            <a:endCxn id="7" idx="1"/>
          </p:cNvCxnSpPr>
          <p:nvPr/>
        </p:nvCxnSpPr>
        <p:spPr>
          <a:xfrm>
            <a:off x="3048000" y="3286125"/>
            <a:ext cx="1857375" cy="0"/>
          </a:xfrm>
          <a:prstGeom prst="straightConnector1">
            <a:avLst/>
          </a:prstGeom>
          <a:ln w="28575">
            <a:solidFill>
              <a:srgbClr val="0F6CBD"/>
            </a:solidFill>
            <a:prstDash val="solid"/>
            <a:tailEnd type="arrow" w="med" len="med"/>
          </a:ln>
        </p:spPr>
      </p:cxnSp>
      <p:cxnSp>
        <p:nvCxnSpPr>
          <p:cNvPr id="12" name="Straight Arrow Connector 11"/>
          <p:cNvCxnSpPr>
            <a:stCxn id="7" idx="3"/>
            <a:endCxn id="9" idx="1"/>
          </p:cNvCxnSpPr>
          <p:nvPr/>
        </p:nvCxnSpPr>
        <p:spPr>
          <a:xfrm>
            <a:off x="7286625" y="3286125"/>
            <a:ext cx="1857375" cy="0"/>
          </a:xfrm>
          <a:prstGeom prst="straightConnector1">
            <a:avLst/>
          </a:prstGeom>
          <a:ln w="28575">
            <a:solidFill>
              <a:srgbClr val="0F6CBD"/>
            </a:solidFill>
            <a:prstDash val="solid"/>
            <a:tailEnd type="arrow" w="med" len="med"/>
          </a:ln>
        </p:spPr>
      </p:cxnSp>
      <p:sp>
        <p:nvSpPr>
          <p:cNvPr id="13" name="Rectangle 12">
            <a:extLst>
              <a:ext uri="{FF2B5EF4-FFF2-40B4-BE49-F238E27FC236}">
                <a16:creationId xmlns:a16="http://schemas.microsoft.com/office/drawing/2014/main" id="{7BF0F043-978F-42F8-A9BA-A248AD01F5A5}"/>
              </a:ext>
            </a:extLst>
          </p:cNvPr>
          <p:cNvSpPr>
            <a:spLocks noGrp="1"/>
          </p:cNvSpPr>
          <p:nvPr/>
        </p:nvSpPr>
        <p:spPr>
          <a:xfrm>
            <a:off x="762000" y="4095750"/>
            <a:ext cx="4953000" cy="400050"/>
          </a:xfrm>
          <a:prstGeom prst="rect">
            <a:avLst/>
          </a:prstGeom>
          <a:noFill/>
          <a:ln w="0">
            <a:noFill/>
            <a:prstDash val="solid"/>
          </a:ln>
        </p:spPr>
        <p:txBody>
          <a:bodyPr wrap="square" lIns="0" tIns="0" rIns="0" bIns="0" anchor="t">
            <a:normAutofit fontScale="84135"/>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DNS interno · dominios y raíz de bosque · puertos a DC</a:t>
            </a:r>
          </a:p>
        </p:txBody>
      </p:sp>
      <p:sp>
        <p:nvSpPr>
          <p:cNvPr id="14" name="Rectangle 13">
            <a:extLst>
              <a:ext uri="{FF2B5EF4-FFF2-40B4-BE49-F238E27FC236}">
                <a16:creationId xmlns:a16="http://schemas.microsoft.com/office/drawing/2014/main" id="{CF46FFE5-1BD2-4927-9BD5-109631B698FC}"/>
              </a:ext>
            </a:extLst>
          </p:cNvPr>
          <p:cNvSpPr>
            <a:spLocks noGrp="1"/>
          </p:cNvSpPr>
          <p:nvPr/>
        </p:nvSpPr>
        <p:spPr>
          <a:xfrm>
            <a:off x="6477000" y="4095750"/>
            <a:ext cx="4953000" cy="400050"/>
          </a:xfrm>
          <a:prstGeom prst="rect">
            <a:avLst/>
          </a:prstGeom>
          <a:noFill/>
          <a:ln w="0">
            <a:noFill/>
            <a:prstDash val="solid"/>
          </a:ln>
        </p:spPr>
        <p:txBody>
          <a:bodyPr wrap="square" lIns="0" tIns="0" rIns="0" bIns="0" anchor="t">
            <a:normAutofit fontScale="97187"/>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DNS Internet · URLs permitidas · proxy saliente</a:t>
            </a:r>
          </a:p>
        </p:txBody>
      </p:sp>
      <p:sp>
        <p:nvSpPr>
          <p:cNvPr id="15" name="Rectangle 14">
            <a:extLst>
              <a:ext uri="{FF2B5EF4-FFF2-40B4-BE49-F238E27FC236}">
                <a16:creationId xmlns:a16="http://schemas.microsoft.com/office/drawing/2014/main" id="{D67C2C80-EEF4-4550-8F4E-C4A92E65733D}"/>
              </a:ext>
            </a:extLst>
          </p:cNvPr>
          <p:cNvSpPr>
            <a:spLocks noGrp="1"/>
          </p:cNvSpPr>
          <p:nvPr/>
        </p:nvSpPr>
        <p:spPr>
          <a:xfrm>
            <a:off x="2476500" y="5000625"/>
            <a:ext cx="7239000" cy="609600"/>
          </a:xfrm>
          <a:prstGeom prst="rect">
            <a:avLst/>
          </a:prstGeom>
          <a:solidFill>
            <a:srgbClr val="0F6CBD"/>
          </a:solidFill>
          <a:ln w="0">
            <a:noFill/>
            <a:prstDash val="solid"/>
          </a:ln>
        </p:spPr>
      </p:sp>
      <p:sp>
        <p:nvSpPr>
          <p:cNvPr id="16" name="Rectangle 15">
            <a:extLst>
              <a:ext uri="{FF2B5EF4-FFF2-40B4-BE49-F238E27FC236}">
                <a16:creationId xmlns:a16="http://schemas.microsoft.com/office/drawing/2014/main" id="{678A3EFA-FCCC-481E-AFF8-BED14B8A04EE}"/>
              </a:ext>
            </a:extLst>
          </p:cNvPr>
          <p:cNvSpPr>
            <a:spLocks noGrp="1"/>
          </p:cNvSpPr>
          <p:nvPr/>
        </p:nvSpPr>
        <p:spPr>
          <a:xfrm>
            <a:off x="2667000" y="5143500"/>
            <a:ext cx="6858000" cy="304800"/>
          </a:xfrm>
          <a:prstGeom prst="rect">
            <a:avLst/>
          </a:prstGeom>
          <a:noFill/>
          <a:ln w="0">
            <a:noFill/>
            <a:prstDash val="solid"/>
          </a:ln>
        </p:spPr>
        <p:txBody>
          <a:bodyPr wrap="square" lIns="0" tIns="0" rIns="0" bIns="0" anchor="t">
            <a:normAutofit/>
          </a:bodyPr>
          <a:lstStyle/>
          <a:p>
            <a:pPr algn="ctr">
              <a:lnSpc>
                <a:spcPct val="104000"/>
              </a:lnSpc>
              <a:buNone/>
              <a:defRPr sz="1725" b="1">
                <a:solidFill>
                  <a:srgbClr val="FFFFFF"/>
                </a:solidFill>
                <a:latin typeface="Aptos"/>
                <a:ea typeface="Aptos"/>
                <a:cs typeface="Aptos"/>
              </a:defRPr>
            </a:pPr>
            <a:r>
              <a:rPr sz="1725" b="1">
                <a:solidFill>
                  <a:srgbClr val="FFFFFF"/>
                </a:solidFill>
                <a:latin typeface="Aptos"/>
                <a:ea typeface="Aptos"/>
                <a:cs typeface="Aptos"/>
              </a:rPr>
              <a:t>TLS 1.2 obligatorio en Connect Sync 2.0+</a:t>
            </a:r>
          </a:p>
        </p:txBody>
      </p:sp>
      <p:sp>
        <p:nvSpPr>
          <p:cNvPr id="17" name="Rectangle 16">
            <a:extLst>
              <a:ext uri="{FF2B5EF4-FFF2-40B4-BE49-F238E27FC236}">
                <a16:creationId xmlns:a16="http://schemas.microsoft.com/office/drawing/2014/main" id="{E54EE898-D326-4875-9D60-8BE7B75E013E}"/>
              </a:ext>
            </a:extLst>
          </p:cNvPr>
          <p:cNvSpPr>
            <a:spLocks noGrp="1"/>
          </p:cNvSpPr>
          <p:nvPr/>
        </p:nvSpPr>
        <p:spPr>
          <a:xfrm>
            <a:off x="2952750" y="5810250"/>
            <a:ext cx="6286500" cy="247650"/>
          </a:xfrm>
          <a:prstGeom prst="rect">
            <a:avLst/>
          </a:prstGeom>
          <a:noFill/>
          <a:ln w="0">
            <a:noFill/>
            <a:prstDash val="solid"/>
          </a:ln>
        </p:spPr>
        <p:txBody>
          <a:bodyPr wrap="square" lIns="0" tIns="0" rIns="0" bIns="0" anchor="t">
            <a:normAutofit/>
          </a:bodyPr>
          <a:lstStyle/>
          <a:p>
            <a:pPr algn="ctr">
              <a:lnSpc>
                <a:spcPct val="104000"/>
              </a:lnSpc>
              <a:buNone/>
              <a:defRPr sz="1425" b="0">
                <a:solidFill>
                  <a:srgbClr val="C43A31"/>
                </a:solidFill>
                <a:latin typeface="Aptos"/>
                <a:ea typeface="Aptos"/>
                <a:cs typeface="Aptos"/>
              </a:defRPr>
            </a:pPr>
            <a:r>
              <a:rPr sz="1425" b="0">
                <a:solidFill>
                  <a:srgbClr val="C43A31"/>
                </a:solidFill>
                <a:latin typeface="Aptos"/>
                <a:ea typeface="Aptos"/>
                <a:cs typeface="Aptos"/>
              </a:rPr>
              <a:t>No interceptar ni analizar el tráfico hacia Microsoft Entra ID.</a:t>
            </a:r>
          </a:p>
        </p:txBody>
      </p:sp>
      <p:sp>
        <p:nvSpPr>
          <p:cNvPr id="18" name="Rectangle 17">
            <a:extLst>
              <a:ext uri="{FF2B5EF4-FFF2-40B4-BE49-F238E27FC236}">
                <a16:creationId xmlns:a16="http://schemas.microsoft.com/office/drawing/2014/main" id="{39CD5807-8556-4F52-B9CA-11456B5ADF17}"/>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09</a:t>
            </a:r>
          </a:p>
        </p:txBody>
      </p:sp>
    </p:spTree>
    <p:extLst>
      <p:ext uri="{BB962C8B-B14F-4D97-AF65-F5344CB8AC3E}">
        <p14:creationId xmlns:p14="http://schemas.microsoft.com/office/powerpoint/2010/main" val="70574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348233D-76DA-47E1-B1C7-FB5BB847243C}"/>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FF8ADFF9-DDEB-4764-9AA2-3B77335A50B5}"/>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BASE DE DATOS DE CONNECT SYNC</a:t>
            </a:r>
          </a:p>
        </p:txBody>
      </p:sp>
      <p:sp>
        <p:nvSpPr>
          <p:cNvPr id="3" name="Rectangle 2">
            <a:extLst>
              <a:ext uri="{FF2B5EF4-FFF2-40B4-BE49-F238E27FC236}">
                <a16:creationId xmlns:a16="http://schemas.microsoft.com/office/drawing/2014/main" id="{083532C9-01E9-4FD2-9AD6-06675559C4C3}"/>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SQL Express sirve hasta aproximadamente 100.000 objetos</a:t>
            </a:r>
          </a:p>
        </p:txBody>
      </p:sp>
      <p:sp>
        <p:nvSpPr>
          <p:cNvPr id="4" name="Straight Connector 3">
            <a:extLst>
              <a:ext uri="{FF2B5EF4-FFF2-40B4-BE49-F238E27FC236}">
                <a16:creationId xmlns:a16="http://schemas.microsoft.com/office/drawing/2014/main" id="{07FA7CAD-A46B-482E-B9AB-307484514D42}"/>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F49AC1DE-D7B1-4D0E-959B-8AE61175BE79}"/>
              </a:ext>
            </a:extLst>
          </p:cNvPr>
          <p:cNvSpPr>
            <a:spLocks noGrp="1"/>
          </p:cNvSpPr>
          <p:nvPr/>
        </p:nvSpPr>
        <p:spPr>
          <a:xfrm>
            <a:off x="1190625" y="2286000"/>
            <a:ext cx="2667000" cy="762000"/>
          </a:xfrm>
          <a:prstGeom prst="rect">
            <a:avLst/>
          </a:prstGeom>
          <a:noFill/>
          <a:ln w="0">
            <a:noFill/>
            <a:prstDash val="solid"/>
          </a:ln>
        </p:spPr>
        <p:txBody>
          <a:bodyPr wrap="square" lIns="0" tIns="0" rIns="0" bIns="0" anchor="t">
            <a:normAutofit/>
          </a:bodyPr>
          <a:lstStyle/>
          <a:p>
            <a:pPr algn="l">
              <a:lnSpc>
                <a:spcPct val="104000"/>
              </a:lnSpc>
              <a:buNone/>
              <a:defRPr sz="4800" b="1">
                <a:solidFill>
                  <a:srgbClr val="0F6CBD"/>
                </a:solidFill>
                <a:latin typeface="Aptos Display"/>
                <a:ea typeface="Aptos Display"/>
                <a:cs typeface="Aptos Display"/>
              </a:defRPr>
            </a:pPr>
            <a:r>
              <a:rPr sz="4800" b="1">
                <a:solidFill>
                  <a:srgbClr val="0F6CBD"/>
                </a:solidFill>
                <a:latin typeface="Aptos Display"/>
                <a:ea typeface="Aptos Display"/>
                <a:cs typeface="Aptos Display"/>
              </a:rPr>
              <a:t>10 GB</a:t>
            </a:r>
          </a:p>
        </p:txBody>
      </p:sp>
      <p:sp>
        <p:nvSpPr>
          <p:cNvPr id="6" name="Rectangle 5">
            <a:extLst>
              <a:ext uri="{FF2B5EF4-FFF2-40B4-BE49-F238E27FC236}">
                <a16:creationId xmlns:a16="http://schemas.microsoft.com/office/drawing/2014/main" id="{F72EF5B3-FC99-47BB-95DC-DE05E2428355}"/>
              </a:ext>
            </a:extLst>
          </p:cNvPr>
          <p:cNvSpPr>
            <a:spLocks noGrp="1"/>
          </p:cNvSpPr>
          <p:nvPr/>
        </p:nvSpPr>
        <p:spPr>
          <a:xfrm>
            <a:off x="1190625" y="3219450"/>
            <a:ext cx="3333750" cy="781050"/>
          </a:xfrm>
          <a:prstGeom prst="rect">
            <a:avLst/>
          </a:prstGeom>
          <a:noFill/>
          <a:ln w="0">
            <a:noFill/>
            <a:prstDash val="solid"/>
          </a:ln>
        </p:spPr>
        <p:txBody>
          <a:bodyPr wrap="square" lIns="0" tIns="0" rIns="0" bIns="0" anchor="t">
            <a:normAutofit fontScale="89402"/>
          </a:bodyPr>
          <a:lstStyle/>
          <a:p>
            <a:pPr algn="l">
              <a:lnSpc>
                <a:spcPct val="104000"/>
              </a:lnSpc>
              <a:buNone/>
              <a:defRPr sz="1725" b="0">
                <a:solidFill>
                  <a:srgbClr val="17233C"/>
                </a:solidFill>
                <a:latin typeface="Aptos"/>
                <a:ea typeface="Aptos"/>
                <a:cs typeface="Aptos"/>
              </a:defRPr>
            </a:pPr>
            <a:r>
              <a:rPr sz="1725" b="0">
                <a:solidFill>
                  <a:srgbClr val="17233C"/>
                </a:solidFill>
                <a:latin typeface="Aptos"/>
                <a:ea typeface="Aptos"/>
                <a:cs typeface="Aptos"/>
              </a:rPr>
              <a:t>SQL Server 2019 Express LocalDB</a:t>
            </a:r>
          </a:p>
          <a:p>
            <a:pPr algn="l">
              <a:lnSpc>
                <a:spcPct val="104000"/>
              </a:lnSpc>
              <a:buNone/>
              <a:defRPr sz="1725" b="0">
                <a:solidFill>
                  <a:srgbClr val="17233C"/>
                </a:solidFill>
                <a:latin typeface="Aptos"/>
                <a:ea typeface="Aptos"/>
                <a:cs typeface="Aptos"/>
              </a:defRPr>
            </a:pPr>
            <a:r>
              <a:rPr sz="1725" b="0">
                <a:solidFill>
                  <a:srgbClr val="17233C"/>
                </a:solidFill>
                <a:latin typeface="Aptos"/>
                <a:ea typeface="Aptos"/>
                <a:cs typeface="Aptos"/>
              </a:rPr>
              <a:t>instalado de forma predeterminada</a:t>
            </a:r>
          </a:p>
        </p:txBody>
      </p:sp>
      <p:sp>
        <p:nvSpPr>
          <p:cNvPr id="7" name="Straight Connector 6">
            <a:extLst>
              <a:ext uri="{FF2B5EF4-FFF2-40B4-BE49-F238E27FC236}">
                <a16:creationId xmlns:a16="http://schemas.microsoft.com/office/drawing/2014/main" id="{0E4550D8-D1FB-4205-842C-381540C92C91}"/>
              </a:ext>
            </a:extLst>
          </p:cNvPr>
          <p:cNvSpPr>
            <a:spLocks noGrp="1"/>
          </p:cNvSpPr>
          <p:nvPr/>
        </p:nvSpPr>
        <p:spPr>
          <a:xfrm>
            <a:off x="5238750" y="2095500"/>
            <a:ext cx="0" cy="3286125"/>
          </a:xfrm>
          <a:prstGeom prst="line">
            <a:avLst/>
          </a:prstGeom>
          <a:noFill/>
          <a:ln w="19050">
            <a:solidFill>
              <a:srgbClr val="C9D5E3"/>
            </a:solidFill>
            <a:prstDash val="solid"/>
          </a:ln>
        </p:spPr>
      </p:sp>
      <p:sp>
        <p:nvSpPr>
          <p:cNvPr id="8" name="Rectangle 7">
            <a:extLst>
              <a:ext uri="{FF2B5EF4-FFF2-40B4-BE49-F238E27FC236}">
                <a16:creationId xmlns:a16="http://schemas.microsoft.com/office/drawing/2014/main" id="{5A684441-DB54-47C4-BF1A-44E2A5084207}"/>
              </a:ext>
            </a:extLst>
          </p:cNvPr>
          <p:cNvSpPr>
            <a:spLocks noGrp="1"/>
          </p:cNvSpPr>
          <p:nvPr/>
        </p:nvSpPr>
        <p:spPr>
          <a:xfrm>
            <a:off x="5953125" y="2209800"/>
            <a:ext cx="4762500" cy="381000"/>
          </a:xfrm>
          <a:prstGeom prst="rect">
            <a:avLst/>
          </a:prstGeom>
          <a:noFill/>
          <a:ln w="0">
            <a:noFill/>
            <a:prstDash val="solid"/>
          </a:ln>
        </p:spPr>
        <p:txBody>
          <a:bodyPr wrap="square" lIns="0" tIns="0" rIns="0" bIns="0" anchor="t">
            <a:normAutofit fontScale="98855"/>
          </a:bodyPr>
          <a:lstStyle/>
          <a:p>
            <a:pPr algn="l">
              <a:lnSpc>
                <a:spcPct val="104000"/>
              </a:lnSpc>
              <a:buNone/>
              <a:defRPr sz="2250" b="1">
                <a:solidFill>
                  <a:srgbClr val="17233C"/>
                </a:solidFill>
                <a:latin typeface="Aptos"/>
                <a:ea typeface="Aptos"/>
                <a:cs typeface="Aptos"/>
              </a:defRPr>
            </a:pPr>
            <a:r>
              <a:rPr sz="2250" b="1">
                <a:solidFill>
                  <a:srgbClr val="17233C"/>
                </a:solidFill>
                <a:latin typeface="Aptos"/>
                <a:ea typeface="Aptos"/>
                <a:cs typeface="Aptos"/>
              </a:rPr>
              <a:t>¿Más volumen o rendimiento?</a:t>
            </a:r>
          </a:p>
        </p:txBody>
      </p:sp>
      <p:sp>
        <p:nvSpPr>
          <p:cNvPr id="9" name="Rectangle 8">
            <a:extLst>
              <a:ext uri="{FF2B5EF4-FFF2-40B4-BE49-F238E27FC236}">
                <a16:creationId xmlns:a16="http://schemas.microsoft.com/office/drawing/2014/main" id="{731A7666-E87C-4601-8359-E3EC2C49DDB1}"/>
              </a:ext>
            </a:extLst>
          </p:cNvPr>
          <p:cNvSpPr>
            <a:spLocks noGrp="1"/>
          </p:cNvSpPr>
          <p:nvPr/>
        </p:nvSpPr>
        <p:spPr>
          <a:xfrm>
            <a:off x="5953125" y="2857500"/>
            <a:ext cx="4953000" cy="2381250"/>
          </a:xfrm>
          <a:prstGeom prst="rect">
            <a:avLst/>
          </a:prstGeom>
          <a:noFill/>
          <a:ln w="0">
            <a:noFill/>
            <a:prstDash val="solid"/>
          </a:ln>
        </p:spPr>
        <p:txBody>
          <a:bodyPr wrap="square" lIns="0" tIns="0" rIns="0" bIns="0">
            <a:normAutofit/>
          </a:bodyPr>
          <a:lstStyle/>
          <a:p>
            <a:pPr marL="22" indent="-14">
              <a:lnSpc>
                <a:spcPct val="108000"/>
              </a:lnSpc>
              <a:spcAft>
                <a:spcPts val="13"/>
              </a:spcAft>
              <a:buNone/>
              <a:defRPr sz="1575">
                <a:solidFill>
                  <a:srgbClr val="17233C"/>
                </a:solidFill>
                <a:latin typeface="Aptos"/>
                <a:ea typeface="Aptos"/>
                <a:cs typeface="Aptos"/>
              </a:defRPr>
            </a:pPr>
            <a:r>
              <a:rPr sz="1575">
                <a:solidFill>
                  <a:srgbClr val="17233C"/>
                </a:solidFill>
                <a:latin typeface="Aptos"/>
                <a:ea typeface="Aptos"/>
                <a:cs typeface="Aptos"/>
              </a:rPr>
              <a:t>Use SQL Server externo compatible hasta SQL Server 2022 en Windows.</a:t>
            </a:r>
          </a:p>
          <a:p>
            <a:pPr marL="22" indent="-14">
              <a:lnSpc>
                <a:spcPct val="108000"/>
              </a:lnSpc>
              <a:spcAft>
                <a:spcPts val="13"/>
              </a:spcAft>
              <a:buNone/>
              <a:defRPr sz="1575">
                <a:solidFill>
                  <a:srgbClr val="17233C"/>
                </a:solidFill>
                <a:latin typeface="Aptos"/>
                <a:ea typeface="Aptos"/>
                <a:cs typeface="Aptos"/>
              </a:defRPr>
            </a:pPr>
            <a:r>
              <a:rPr sz="1575">
                <a:solidFill>
                  <a:srgbClr val="17233C"/>
                </a:solidFill>
                <a:latin typeface="Aptos"/>
                <a:ea typeface="Aptos"/>
                <a:cs typeface="Aptos"/>
              </a:rPr>
              <a:t>Intercalación case-insensitive (_CI_); no case-sensitive.</a:t>
            </a:r>
          </a:p>
          <a:p>
            <a:pPr marL="22" indent="-14">
              <a:lnSpc>
                <a:spcPct val="108000"/>
              </a:lnSpc>
              <a:spcAft>
                <a:spcPts val="13"/>
              </a:spcAft>
              <a:buNone/>
              <a:defRPr sz="1575">
                <a:solidFill>
                  <a:srgbClr val="17233C"/>
                </a:solidFill>
                <a:latin typeface="Aptos"/>
                <a:ea typeface="Aptos"/>
                <a:cs typeface="Aptos"/>
              </a:defRPr>
            </a:pPr>
            <a:r>
              <a:rPr sz="1575">
                <a:solidFill>
                  <a:srgbClr val="17233C"/>
                </a:solidFill>
                <a:latin typeface="Aptos"/>
                <a:ea typeface="Aptos"/>
                <a:cs typeface="Aptos"/>
              </a:rPr>
              <a:t>No Azure SQL Database ni Managed Instance.</a:t>
            </a:r>
          </a:p>
          <a:p>
            <a:pPr marL="22" indent="-14">
              <a:lnSpc>
                <a:spcPct val="108000"/>
              </a:lnSpc>
              <a:spcAft>
                <a:spcPts val="13"/>
              </a:spcAft>
              <a:buNone/>
              <a:defRPr sz="1575">
                <a:solidFill>
                  <a:srgbClr val="17233C"/>
                </a:solidFill>
                <a:latin typeface="Aptos"/>
                <a:ea typeface="Aptos"/>
                <a:cs typeface="Aptos"/>
              </a:defRPr>
            </a:pPr>
            <a:r>
              <a:rPr sz="1575">
                <a:solidFill>
                  <a:srgbClr val="17233C"/>
                </a:solidFill>
                <a:latin typeface="Aptos"/>
                <a:ea typeface="Aptos"/>
                <a:cs typeface="Aptos"/>
              </a:rPr>
              <a:t>Un motor de sincronización por instancia; no compartir con FIM/MIM o DirSync.</a:t>
            </a:r>
          </a:p>
        </p:txBody>
      </p:sp>
      <p:sp>
        <p:nvSpPr>
          <p:cNvPr id="10" name="Rectangle 9">
            <a:extLst>
              <a:ext uri="{FF2B5EF4-FFF2-40B4-BE49-F238E27FC236}">
                <a16:creationId xmlns:a16="http://schemas.microsoft.com/office/drawing/2014/main" id="{C16D96C2-6FC4-4591-B967-AD8628760777}"/>
              </a:ext>
            </a:extLst>
          </p:cNvPr>
          <p:cNvSpPr>
            <a:spLocks noGrp="1"/>
          </p:cNvSpPr>
          <p:nvPr/>
        </p:nvSpPr>
        <p:spPr>
          <a:xfrm>
            <a:off x="1047750" y="5095875"/>
            <a:ext cx="3524250" cy="533400"/>
          </a:xfrm>
          <a:prstGeom prst="rect">
            <a:avLst/>
          </a:prstGeom>
          <a:solidFill>
            <a:srgbClr val="F3F6F9"/>
          </a:solidFill>
          <a:ln w="0">
            <a:noFill/>
            <a:prstDash val="solid"/>
          </a:ln>
        </p:spPr>
      </p:sp>
      <p:sp>
        <p:nvSpPr>
          <p:cNvPr id="11" name="Rectangle 10">
            <a:extLst>
              <a:ext uri="{FF2B5EF4-FFF2-40B4-BE49-F238E27FC236}">
                <a16:creationId xmlns:a16="http://schemas.microsoft.com/office/drawing/2014/main" id="{A4BCD0D1-B270-4657-BD45-079A510526C0}"/>
              </a:ext>
            </a:extLst>
          </p:cNvPr>
          <p:cNvSpPr>
            <a:spLocks noGrp="1"/>
          </p:cNvSpPr>
          <p:nvPr/>
        </p:nvSpPr>
        <p:spPr>
          <a:xfrm>
            <a:off x="1238250" y="5238750"/>
            <a:ext cx="3143250" cy="266700"/>
          </a:xfrm>
          <a:prstGeom prst="rect">
            <a:avLst/>
          </a:prstGeom>
          <a:noFill/>
          <a:ln w="0">
            <a:noFill/>
            <a:prstDash val="solid"/>
          </a:ln>
        </p:spPr>
        <p:txBody>
          <a:bodyPr wrap="square" lIns="0" tIns="0" rIns="0" bIns="0" anchor="t">
            <a:normAutofit fontScale="78357"/>
          </a:bodyPr>
          <a:lstStyle/>
          <a:p>
            <a:pPr algn="ctr">
              <a:lnSpc>
                <a:spcPct val="104000"/>
              </a:lnSpc>
              <a:buNone/>
              <a:defRPr sz="1500" b="1">
                <a:solidFill>
                  <a:srgbClr val="C43A31"/>
                </a:solidFill>
                <a:latin typeface="Aptos"/>
                <a:ea typeface="Aptos"/>
                <a:cs typeface="Aptos"/>
              </a:defRPr>
            </a:pPr>
            <a:r>
              <a:rPr sz="1500" b="1">
                <a:solidFill>
                  <a:srgbClr val="C43A31"/>
                </a:solidFill>
                <a:latin typeface="Aptos"/>
                <a:ea typeface="Aptos"/>
                <a:cs typeface="Aptos"/>
              </a:rPr>
              <a:t>SQL Server 2012 ya no es compatible</a:t>
            </a:r>
          </a:p>
        </p:txBody>
      </p:sp>
      <p:sp>
        <p:nvSpPr>
          <p:cNvPr id="12" name="Rectangle 11">
            <a:extLst>
              <a:ext uri="{FF2B5EF4-FFF2-40B4-BE49-F238E27FC236}">
                <a16:creationId xmlns:a16="http://schemas.microsoft.com/office/drawing/2014/main" id="{847B7EA2-7FE4-48A2-B3DB-D039D92EE045}"/>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10</a:t>
            </a:r>
          </a:p>
        </p:txBody>
      </p:sp>
    </p:spTree>
    <p:extLst>
      <p:ext uri="{BB962C8B-B14F-4D97-AF65-F5344CB8AC3E}">
        <p14:creationId xmlns:p14="http://schemas.microsoft.com/office/powerpoint/2010/main" val="1116346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AB60D2E-EF84-4B98-A2D0-CE99150DCC1C}"/>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AC417078-92C0-4715-93EB-537D27E7AFDE}"/>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CUENTAS Y PERMISOS</a:t>
            </a:r>
          </a:p>
        </p:txBody>
      </p:sp>
      <p:sp>
        <p:nvSpPr>
          <p:cNvPr id="3" name="Rectangle 2">
            <a:extLst>
              <a:ext uri="{FF2B5EF4-FFF2-40B4-BE49-F238E27FC236}">
                <a16:creationId xmlns:a16="http://schemas.microsoft.com/office/drawing/2014/main" id="{6493AF75-C10C-4034-9056-C3C7677164AB}"/>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Las cuentas de instalación deben separar privilegios</a:t>
            </a:r>
          </a:p>
        </p:txBody>
      </p:sp>
      <p:sp>
        <p:nvSpPr>
          <p:cNvPr id="4" name="Straight Connector 3">
            <a:extLst>
              <a:ext uri="{FF2B5EF4-FFF2-40B4-BE49-F238E27FC236}">
                <a16:creationId xmlns:a16="http://schemas.microsoft.com/office/drawing/2014/main" id="{ED423239-B017-4BB6-9FE6-022BAA85B658}"/>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417C530C-12D5-4939-85F1-BB2A51F0AD22}"/>
              </a:ext>
            </a:extLst>
          </p:cNvPr>
          <p:cNvSpPr>
            <a:spLocks noGrp="1"/>
          </p:cNvSpPr>
          <p:nvPr/>
        </p:nvSpPr>
        <p:spPr>
          <a:xfrm>
            <a:off x="904875" y="2095500"/>
            <a:ext cx="190500" cy="781050"/>
          </a:xfrm>
          <a:prstGeom prst="rect">
            <a:avLst/>
          </a:prstGeom>
          <a:solidFill>
            <a:srgbClr val="0F6CBD"/>
          </a:solidFill>
          <a:ln w="0">
            <a:noFill/>
            <a:prstDash val="solid"/>
          </a:ln>
        </p:spPr>
      </p:sp>
      <p:sp>
        <p:nvSpPr>
          <p:cNvPr id="6" name="Rectangle 5">
            <a:extLst>
              <a:ext uri="{FF2B5EF4-FFF2-40B4-BE49-F238E27FC236}">
                <a16:creationId xmlns:a16="http://schemas.microsoft.com/office/drawing/2014/main" id="{65F4AE87-3E74-4ED8-B08A-FBEF90FD93E6}"/>
              </a:ext>
            </a:extLst>
          </p:cNvPr>
          <p:cNvSpPr>
            <a:spLocks noGrp="1"/>
          </p:cNvSpPr>
          <p:nvPr/>
        </p:nvSpPr>
        <p:spPr>
          <a:xfrm>
            <a:off x="1381125" y="2114550"/>
            <a:ext cx="3810000" cy="323850"/>
          </a:xfrm>
          <a:prstGeom prst="rect">
            <a:avLst/>
          </a:prstGeom>
          <a:noFill/>
          <a:ln w="0">
            <a:noFill/>
            <a:prstDash val="solid"/>
          </a:ln>
        </p:spPr>
        <p:txBody>
          <a:bodyPr wrap="square" lIns="0" tIns="0" rIns="0" bIns="0" anchor="t">
            <a:normAutofit/>
          </a:bodyPr>
          <a:lstStyle/>
          <a:p>
            <a:pPr algn="l">
              <a:lnSpc>
                <a:spcPct val="104000"/>
              </a:lnSpc>
              <a:buNone/>
              <a:defRPr sz="1650" b="1">
                <a:solidFill>
                  <a:srgbClr val="0F6CBD"/>
                </a:solidFill>
                <a:latin typeface="Aptos"/>
                <a:ea typeface="Aptos"/>
                <a:cs typeface="Aptos"/>
              </a:defRPr>
            </a:pPr>
            <a:r>
              <a:rPr sz="1650" b="1">
                <a:solidFill>
                  <a:srgbClr val="0F6CBD"/>
                </a:solidFill>
                <a:latin typeface="Aptos"/>
                <a:ea typeface="Aptos"/>
                <a:cs typeface="Aptos"/>
              </a:rPr>
              <a:t>Microsoft Entra ID</a:t>
            </a:r>
          </a:p>
        </p:txBody>
      </p:sp>
      <p:sp>
        <p:nvSpPr>
          <p:cNvPr id="7" name="Rectangle 6">
            <a:extLst>
              <a:ext uri="{FF2B5EF4-FFF2-40B4-BE49-F238E27FC236}">
                <a16:creationId xmlns:a16="http://schemas.microsoft.com/office/drawing/2014/main" id="{E410DEAD-8709-4DA9-ADEA-0405C3D4CABA}"/>
              </a:ext>
            </a:extLst>
          </p:cNvPr>
          <p:cNvSpPr>
            <a:spLocks noGrp="1"/>
          </p:cNvSpPr>
          <p:nvPr/>
        </p:nvSpPr>
        <p:spPr>
          <a:xfrm>
            <a:off x="1381125" y="2495550"/>
            <a:ext cx="8191500" cy="304800"/>
          </a:xfrm>
          <a:prstGeom prst="rect">
            <a:avLst/>
          </a:prstGeom>
          <a:noFill/>
          <a:ln w="0">
            <a:noFill/>
            <a:prstDash val="solid"/>
          </a:ln>
        </p:spPr>
        <p:txBody>
          <a:bodyPr wrap="square" lIns="0" tIns="0" rIns="0" bIns="0" anchor="t">
            <a:normAutofit/>
          </a:bodyPr>
          <a:lstStyle/>
          <a:p>
            <a:pPr algn="l">
              <a:lnSpc>
                <a:spcPct val="104000"/>
              </a:lnSpc>
              <a:buNone/>
              <a:defRPr sz="1875" b="1">
                <a:solidFill>
                  <a:srgbClr val="17233C"/>
                </a:solidFill>
                <a:latin typeface="Aptos"/>
                <a:ea typeface="Aptos"/>
                <a:cs typeface="Aptos"/>
              </a:defRPr>
            </a:pPr>
            <a:r>
              <a:rPr sz="1875" b="1">
                <a:solidFill>
                  <a:srgbClr val="17233C"/>
                </a:solidFill>
                <a:latin typeface="Aptos"/>
                <a:ea typeface="Aptos"/>
                <a:cs typeface="Aptos"/>
              </a:rPr>
              <a:t>Global Administrator o Hybrid Identity Administrator</a:t>
            </a:r>
          </a:p>
        </p:txBody>
      </p:sp>
      <p:sp>
        <p:nvSpPr>
          <p:cNvPr id="8" name="Rectangle 7">
            <a:extLst>
              <a:ext uri="{FF2B5EF4-FFF2-40B4-BE49-F238E27FC236}">
                <a16:creationId xmlns:a16="http://schemas.microsoft.com/office/drawing/2014/main" id="{B9B47FA9-D3EE-4618-8877-B692849FA8EB}"/>
              </a:ext>
            </a:extLst>
          </p:cNvPr>
          <p:cNvSpPr>
            <a:spLocks noGrp="1"/>
          </p:cNvSpPr>
          <p:nvPr/>
        </p:nvSpPr>
        <p:spPr>
          <a:xfrm>
            <a:off x="904875" y="3333750"/>
            <a:ext cx="190500" cy="781050"/>
          </a:xfrm>
          <a:prstGeom prst="rect">
            <a:avLst/>
          </a:prstGeom>
          <a:solidFill>
            <a:srgbClr val="008A88"/>
          </a:solidFill>
          <a:ln w="0">
            <a:noFill/>
            <a:prstDash val="solid"/>
          </a:ln>
        </p:spPr>
      </p:sp>
      <p:sp>
        <p:nvSpPr>
          <p:cNvPr id="9" name="Rectangle 8">
            <a:extLst>
              <a:ext uri="{FF2B5EF4-FFF2-40B4-BE49-F238E27FC236}">
                <a16:creationId xmlns:a16="http://schemas.microsoft.com/office/drawing/2014/main" id="{4C8DE574-EEA4-44F4-A66C-025460FD52EA}"/>
              </a:ext>
            </a:extLst>
          </p:cNvPr>
          <p:cNvSpPr>
            <a:spLocks noGrp="1"/>
          </p:cNvSpPr>
          <p:nvPr/>
        </p:nvSpPr>
        <p:spPr>
          <a:xfrm>
            <a:off x="1381125" y="3352800"/>
            <a:ext cx="3810000" cy="323850"/>
          </a:xfrm>
          <a:prstGeom prst="rect">
            <a:avLst/>
          </a:prstGeom>
          <a:noFill/>
          <a:ln w="0">
            <a:noFill/>
            <a:prstDash val="solid"/>
          </a:ln>
        </p:spPr>
        <p:txBody>
          <a:bodyPr wrap="square" lIns="0" tIns="0" rIns="0" bIns="0" anchor="t">
            <a:normAutofit fontScale="85370"/>
          </a:bodyPr>
          <a:lstStyle/>
          <a:p>
            <a:pPr algn="l">
              <a:lnSpc>
                <a:spcPct val="104000"/>
              </a:lnSpc>
              <a:buNone/>
              <a:defRPr sz="1650" b="1">
                <a:solidFill>
                  <a:srgbClr val="008A88"/>
                </a:solidFill>
                <a:latin typeface="Aptos"/>
                <a:ea typeface="Aptos"/>
                <a:cs typeface="Aptos"/>
              </a:defRPr>
            </a:pPr>
            <a:r>
              <a:rPr sz="1650" b="1">
                <a:solidFill>
                  <a:srgbClr val="008A88"/>
                </a:solidFill>
                <a:latin typeface="Aptos"/>
                <a:ea typeface="Aptos"/>
                <a:cs typeface="Aptos"/>
              </a:rPr>
              <a:t>Express / actualización desde DirSync</a:t>
            </a:r>
          </a:p>
        </p:txBody>
      </p:sp>
      <p:sp>
        <p:nvSpPr>
          <p:cNvPr id="10" name="Rectangle 9">
            <a:extLst>
              <a:ext uri="{FF2B5EF4-FFF2-40B4-BE49-F238E27FC236}">
                <a16:creationId xmlns:a16="http://schemas.microsoft.com/office/drawing/2014/main" id="{8BEFD278-F105-4EC3-9766-0B9ED03B0179}"/>
              </a:ext>
            </a:extLst>
          </p:cNvPr>
          <p:cNvSpPr>
            <a:spLocks noGrp="1"/>
          </p:cNvSpPr>
          <p:nvPr/>
        </p:nvSpPr>
        <p:spPr>
          <a:xfrm>
            <a:off x="1381125" y="3733800"/>
            <a:ext cx="8191500" cy="304800"/>
          </a:xfrm>
          <a:prstGeom prst="rect">
            <a:avLst/>
          </a:prstGeom>
          <a:noFill/>
          <a:ln w="0">
            <a:noFill/>
            <a:prstDash val="solid"/>
          </a:ln>
        </p:spPr>
        <p:txBody>
          <a:bodyPr wrap="square" lIns="0" tIns="0" rIns="0" bIns="0" anchor="t">
            <a:normAutofit/>
          </a:bodyPr>
          <a:lstStyle/>
          <a:p>
            <a:pPr algn="l">
              <a:lnSpc>
                <a:spcPct val="104000"/>
              </a:lnSpc>
              <a:buNone/>
              <a:defRPr sz="1875" b="1">
                <a:solidFill>
                  <a:srgbClr val="17233C"/>
                </a:solidFill>
                <a:latin typeface="Aptos"/>
                <a:ea typeface="Aptos"/>
                <a:cs typeface="Aptos"/>
              </a:defRPr>
            </a:pPr>
            <a:r>
              <a:rPr sz="1875" b="1">
                <a:solidFill>
                  <a:srgbClr val="17233C"/>
                </a:solidFill>
                <a:latin typeface="Aptos"/>
                <a:ea typeface="Aptos"/>
                <a:cs typeface="Aptos"/>
              </a:rPr>
              <a:t>Enterprise Administrator en AD DS local</a:t>
            </a:r>
          </a:p>
        </p:txBody>
      </p:sp>
      <p:sp>
        <p:nvSpPr>
          <p:cNvPr id="11" name="Rectangle 10">
            <a:extLst>
              <a:ext uri="{FF2B5EF4-FFF2-40B4-BE49-F238E27FC236}">
                <a16:creationId xmlns:a16="http://schemas.microsoft.com/office/drawing/2014/main" id="{01AD0510-F313-4BFF-8FB9-081BFC260111}"/>
              </a:ext>
            </a:extLst>
          </p:cNvPr>
          <p:cNvSpPr>
            <a:spLocks noGrp="1"/>
          </p:cNvSpPr>
          <p:nvPr/>
        </p:nvSpPr>
        <p:spPr>
          <a:xfrm>
            <a:off x="904875" y="4572000"/>
            <a:ext cx="190500" cy="781050"/>
          </a:xfrm>
          <a:prstGeom prst="rect">
            <a:avLst/>
          </a:prstGeom>
          <a:solidFill>
            <a:srgbClr val="F5A623"/>
          </a:solidFill>
          <a:ln w="0">
            <a:noFill/>
            <a:prstDash val="solid"/>
          </a:ln>
        </p:spPr>
      </p:sp>
      <p:sp>
        <p:nvSpPr>
          <p:cNvPr id="12" name="Rectangle 11">
            <a:extLst>
              <a:ext uri="{FF2B5EF4-FFF2-40B4-BE49-F238E27FC236}">
                <a16:creationId xmlns:a16="http://schemas.microsoft.com/office/drawing/2014/main" id="{7BBC61F0-7E52-47E6-8D9D-D7C9FD6ACBD9}"/>
              </a:ext>
            </a:extLst>
          </p:cNvPr>
          <p:cNvSpPr>
            <a:spLocks noGrp="1"/>
          </p:cNvSpPr>
          <p:nvPr/>
        </p:nvSpPr>
        <p:spPr>
          <a:xfrm>
            <a:off x="1381125" y="4591050"/>
            <a:ext cx="3810000" cy="323850"/>
          </a:xfrm>
          <a:prstGeom prst="rect">
            <a:avLst/>
          </a:prstGeom>
          <a:noFill/>
          <a:ln w="0">
            <a:noFill/>
            <a:prstDash val="solid"/>
          </a:ln>
        </p:spPr>
        <p:txBody>
          <a:bodyPr wrap="square" lIns="0" tIns="0" rIns="0" bIns="0" anchor="t">
            <a:normAutofit/>
          </a:bodyPr>
          <a:lstStyle/>
          <a:p>
            <a:pPr algn="l">
              <a:lnSpc>
                <a:spcPct val="104000"/>
              </a:lnSpc>
              <a:buNone/>
              <a:defRPr sz="1650" b="1">
                <a:solidFill>
                  <a:srgbClr val="F5A623"/>
                </a:solidFill>
                <a:latin typeface="Aptos"/>
                <a:ea typeface="Aptos"/>
                <a:cs typeface="Aptos"/>
              </a:defRPr>
            </a:pPr>
            <a:r>
              <a:rPr sz="1650" b="1">
                <a:solidFill>
                  <a:srgbClr val="F5A623"/>
                </a:solidFill>
                <a:latin typeface="Aptos"/>
                <a:ea typeface="Aptos"/>
                <a:cs typeface="Aptos"/>
              </a:rPr>
              <a:t>Custom Setup</a:t>
            </a:r>
          </a:p>
        </p:txBody>
      </p:sp>
      <p:sp>
        <p:nvSpPr>
          <p:cNvPr id="13" name="Rectangle 12">
            <a:extLst>
              <a:ext uri="{FF2B5EF4-FFF2-40B4-BE49-F238E27FC236}">
                <a16:creationId xmlns:a16="http://schemas.microsoft.com/office/drawing/2014/main" id="{04003367-49A1-4956-9D6C-835D129AF43B}"/>
              </a:ext>
            </a:extLst>
          </p:cNvPr>
          <p:cNvSpPr>
            <a:spLocks noGrp="1"/>
          </p:cNvSpPr>
          <p:nvPr/>
        </p:nvSpPr>
        <p:spPr>
          <a:xfrm>
            <a:off x="1381125" y="4972050"/>
            <a:ext cx="8191500" cy="304800"/>
          </a:xfrm>
          <a:prstGeom prst="rect">
            <a:avLst/>
          </a:prstGeom>
          <a:noFill/>
          <a:ln w="0">
            <a:noFill/>
            <a:prstDash val="solid"/>
          </a:ln>
        </p:spPr>
        <p:txBody>
          <a:bodyPr wrap="square" lIns="0" tIns="0" rIns="0" bIns="0" anchor="t">
            <a:normAutofit/>
          </a:bodyPr>
          <a:lstStyle/>
          <a:p>
            <a:pPr algn="l">
              <a:lnSpc>
                <a:spcPct val="104000"/>
              </a:lnSpc>
              <a:buNone/>
              <a:defRPr sz="1875" b="1">
                <a:solidFill>
                  <a:srgbClr val="17233C"/>
                </a:solidFill>
                <a:latin typeface="Aptos"/>
                <a:ea typeface="Aptos"/>
                <a:cs typeface="Aptos"/>
              </a:defRPr>
            </a:pPr>
            <a:r>
              <a:rPr sz="1875" b="1">
                <a:solidFill>
                  <a:srgbClr val="17233C"/>
                </a:solidFill>
                <a:latin typeface="Aptos"/>
                <a:ea typeface="Aptos"/>
                <a:cs typeface="Aptos"/>
              </a:rPr>
              <a:t>Cuentas y permisos granulares según el diseño</a:t>
            </a:r>
          </a:p>
        </p:txBody>
      </p:sp>
      <p:sp>
        <p:nvSpPr>
          <p:cNvPr id="14" name="Rectangle 13">
            <a:extLst>
              <a:ext uri="{FF2B5EF4-FFF2-40B4-BE49-F238E27FC236}">
                <a16:creationId xmlns:a16="http://schemas.microsoft.com/office/drawing/2014/main" id="{3BB54766-FCA0-4B73-835F-0B631CD1A199}"/>
              </a:ext>
            </a:extLst>
          </p:cNvPr>
          <p:cNvSpPr>
            <a:spLocks noGrp="1"/>
          </p:cNvSpPr>
          <p:nvPr/>
        </p:nvSpPr>
        <p:spPr>
          <a:xfrm>
            <a:off x="1381125" y="5810250"/>
            <a:ext cx="9334500" cy="3238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51627A"/>
                </a:solidFill>
                <a:latin typeface="Aptos"/>
                <a:ea typeface="Aptos"/>
                <a:cs typeface="Aptos"/>
              </a:defRPr>
            </a:pPr>
            <a:r>
              <a:rPr sz="1575" b="0">
                <a:solidFill>
                  <a:srgbClr val="51627A"/>
                </a:solidFill>
                <a:latin typeface="Aptos"/>
                <a:ea typeface="Aptos"/>
                <a:cs typeface="Aptos"/>
              </a:rPr>
              <a:t>La cuenta del tenant debe ser corporativa o educativa; no una Microsoft account.</a:t>
            </a:r>
          </a:p>
        </p:txBody>
      </p:sp>
      <p:sp>
        <p:nvSpPr>
          <p:cNvPr id="15" name="Rectangle 14">
            <a:extLst>
              <a:ext uri="{FF2B5EF4-FFF2-40B4-BE49-F238E27FC236}">
                <a16:creationId xmlns:a16="http://schemas.microsoft.com/office/drawing/2014/main" id="{D820DD29-1C63-4B1B-BFFC-8EBCCAD99DF5}"/>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11</a:t>
            </a:r>
          </a:p>
        </p:txBody>
      </p:sp>
    </p:spTree>
    <p:extLst>
      <p:ext uri="{BB962C8B-B14F-4D97-AF65-F5344CB8AC3E}">
        <p14:creationId xmlns:p14="http://schemas.microsoft.com/office/powerpoint/2010/main" val="521256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5D2C481D-12BF-4093-A086-54F0AE221818}"/>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AE26011C-B1EC-4516-88BF-394155165522}"/>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CONNECT SYNC · INSTALACIÓN</a:t>
            </a:r>
          </a:p>
        </p:txBody>
      </p:sp>
      <p:sp>
        <p:nvSpPr>
          <p:cNvPr id="3" name="Rectangle 2">
            <a:extLst>
              <a:ext uri="{FF2B5EF4-FFF2-40B4-BE49-F238E27FC236}">
                <a16:creationId xmlns:a16="http://schemas.microsoft.com/office/drawing/2014/main" id="{1DE4366F-34E0-4A0C-8174-CDB5D9AC223B}"/>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85057"/>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Express Setup optimiza el escenario más común</a:t>
            </a:r>
          </a:p>
        </p:txBody>
      </p:sp>
      <p:sp>
        <p:nvSpPr>
          <p:cNvPr id="4" name="Straight Connector 3">
            <a:extLst>
              <a:ext uri="{FF2B5EF4-FFF2-40B4-BE49-F238E27FC236}">
                <a16:creationId xmlns:a16="http://schemas.microsoft.com/office/drawing/2014/main" id="{F216C2C0-ECD6-432A-B2AF-F9E6670D3015}"/>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252F546A-B610-48A3-9528-D64F12E2D7CD}"/>
              </a:ext>
            </a:extLst>
          </p:cNvPr>
          <p:cNvSpPr>
            <a:spLocks noGrp="1"/>
          </p:cNvSpPr>
          <p:nvPr/>
        </p:nvSpPr>
        <p:spPr>
          <a:xfrm>
            <a:off x="552450" y="2762250"/>
            <a:ext cx="1581150" cy="895350"/>
          </a:xfrm>
          <a:prstGeom prst="rect">
            <a:avLst/>
          </a:prstGeom>
          <a:solidFill>
            <a:srgbClr val="FFFFFF"/>
          </a:solidFill>
          <a:ln w="19050">
            <a:solidFill>
              <a:srgbClr val="0F6CBD"/>
            </a:solidFill>
            <a:prstDash val="solid"/>
          </a:ln>
        </p:spPr>
      </p:sp>
      <p:sp>
        <p:nvSpPr>
          <p:cNvPr id="6" name="Rectangle 5">
            <a:extLst>
              <a:ext uri="{FF2B5EF4-FFF2-40B4-BE49-F238E27FC236}">
                <a16:creationId xmlns:a16="http://schemas.microsoft.com/office/drawing/2014/main" id="{DDC98150-F391-4BB8-8B2B-2276F1791F4B}"/>
              </a:ext>
            </a:extLst>
          </p:cNvPr>
          <p:cNvSpPr>
            <a:spLocks noGrp="1"/>
          </p:cNvSpPr>
          <p:nvPr/>
        </p:nvSpPr>
        <p:spPr>
          <a:xfrm>
            <a:off x="666750" y="2857500"/>
            <a:ext cx="1352550" cy="7048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Instalar motor</a:t>
            </a:r>
          </a:p>
        </p:txBody>
      </p:sp>
      <p:sp>
        <p:nvSpPr>
          <p:cNvPr id="7" name="Rectangle 6">
            <a:extLst>
              <a:ext uri="{FF2B5EF4-FFF2-40B4-BE49-F238E27FC236}">
                <a16:creationId xmlns:a16="http://schemas.microsoft.com/office/drawing/2014/main" id="{1D235552-951E-4EA0-BE20-4E639A32390C}"/>
              </a:ext>
            </a:extLst>
          </p:cNvPr>
          <p:cNvSpPr>
            <a:spLocks noGrp="1"/>
          </p:cNvSpPr>
          <p:nvPr/>
        </p:nvSpPr>
        <p:spPr>
          <a:xfrm>
            <a:off x="1152525" y="2238375"/>
            <a:ext cx="381000" cy="323850"/>
          </a:xfrm>
          <a:prstGeom prst="rect">
            <a:avLst/>
          </a:prstGeom>
          <a:noFill/>
          <a:ln w="0">
            <a:noFill/>
            <a:prstDash val="solid"/>
          </a:ln>
        </p:spPr>
        <p:txBody>
          <a:bodyPr wrap="square" lIns="0" tIns="0" rIns="0" bIns="0" anchor="t">
            <a:normAutofit/>
          </a:bodyPr>
          <a:lstStyle/>
          <a:p>
            <a:pPr algn="ctr">
              <a:lnSpc>
                <a:spcPct val="104000"/>
              </a:lnSpc>
              <a:buNone/>
              <a:defRPr sz="1800" b="1">
                <a:solidFill>
                  <a:srgbClr val="0F6CBD"/>
                </a:solidFill>
                <a:latin typeface="Aptos"/>
                <a:ea typeface="Aptos"/>
                <a:cs typeface="Aptos"/>
              </a:defRPr>
            </a:pPr>
            <a:r>
              <a:rPr sz="1800" b="1">
                <a:solidFill>
                  <a:srgbClr val="0F6CBD"/>
                </a:solidFill>
                <a:latin typeface="Aptos"/>
                <a:ea typeface="Aptos"/>
                <a:cs typeface="Aptos"/>
              </a:rPr>
              <a:t>1</a:t>
            </a:r>
          </a:p>
        </p:txBody>
      </p:sp>
      <p:sp>
        <p:nvSpPr>
          <p:cNvPr id="8" name="Rectangle 7">
            <a:extLst>
              <a:ext uri="{FF2B5EF4-FFF2-40B4-BE49-F238E27FC236}">
                <a16:creationId xmlns:a16="http://schemas.microsoft.com/office/drawing/2014/main" id="{29DEA3EA-8578-4323-BDCA-21675B0E6F21}"/>
              </a:ext>
            </a:extLst>
          </p:cNvPr>
          <p:cNvSpPr>
            <a:spLocks noGrp="1"/>
          </p:cNvSpPr>
          <p:nvPr/>
        </p:nvSpPr>
        <p:spPr>
          <a:xfrm>
            <a:off x="2476500" y="2762250"/>
            <a:ext cx="1581150" cy="895350"/>
          </a:xfrm>
          <a:prstGeom prst="rect">
            <a:avLst/>
          </a:prstGeom>
          <a:solidFill>
            <a:srgbClr val="FFFFFF"/>
          </a:solidFill>
          <a:ln w="19050">
            <a:solidFill>
              <a:srgbClr val="0F6CBD"/>
            </a:solidFill>
            <a:prstDash val="solid"/>
          </a:ln>
        </p:spPr>
      </p:sp>
      <p:sp>
        <p:nvSpPr>
          <p:cNvPr id="9" name="Rectangle 8">
            <a:extLst>
              <a:ext uri="{FF2B5EF4-FFF2-40B4-BE49-F238E27FC236}">
                <a16:creationId xmlns:a16="http://schemas.microsoft.com/office/drawing/2014/main" id="{553B0900-273E-4513-BC61-74CABBE867F5}"/>
              </a:ext>
            </a:extLst>
          </p:cNvPr>
          <p:cNvSpPr>
            <a:spLocks noGrp="1"/>
          </p:cNvSpPr>
          <p:nvPr/>
        </p:nvSpPr>
        <p:spPr>
          <a:xfrm>
            <a:off x="2590800" y="2857500"/>
            <a:ext cx="1352550" cy="7048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Conectar AD DS</a:t>
            </a:r>
          </a:p>
        </p:txBody>
      </p:sp>
      <p:sp>
        <p:nvSpPr>
          <p:cNvPr id="10" name="Rectangle 9">
            <a:extLst>
              <a:ext uri="{FF2B5EF4-FFF2-40B4-BE49-F238E27FC236}">
                <a16:creationId xmlns:a16="http://schemas.microsoft.com/office/drawing/2014/main" id="{14ED5174-BAEC-4F20-8D72-5635739C4170}"/>
              </a:ext>
            </a:extLst>
          </p:cNvPr>
          <p:cNvSpPr>
            <a:spLocks noGrp="1"/>
          </p:cNvSpPr>
          <p:nvPr/>
        </p:nvSpPr>
        <p:spPr>
          <a:xfrm>
            <a:off x="3076575" y="2238375"/>
            <a:ext cx="381000" cy="323850"/>
          </a:xfrm>
          <a:prstGeom prst="rect">
            <a:avLst/>
          </a:prstGeom>
          <a:noFill/>
          <a:ln w="0">
            <a:noFill/>
            <a:prstDash val="solid"/>
          </a:ln>
        </p:spPr>
        <p:txBody>
          <a:bodyPr wrap="square" lIns="0" tIns="0" rIns="0" bIns="0" anchor="t">
            <a:normAutofit/>
          </a:bodyPr>
          <a:lstStyle/>
          <a:p>
            <a:pPr algn="ctr">
              <a:lnSpc>
                <a:spcPct val="104000"/>
              </a:lnSpc>
              <a:buNone/>
              <a:defRPr sz="1800" b="1">
                <a:solidFill>
                  <a:srgbClr val="0F6CBD"/>
                </a:solidFill>
                <a:latin typeface="Aptos"/>
                <a:ea typeface="Aptos"/>
                <a:cs typeface="Aptos"/>
              </a:defRPr>
            </a:pPr>
            <a:r>
              <a:rPr sz="1800" b="1">
                <a:solidFill>
                  <a:srgbClr val="0F6CBD"/>
                </a:solidFill>
                <a:latin typeface="Aptos"/>
                <a:ea typeface="Aptos"/>
                <a:cs typeface="Aptos"/>
              </a:rPr>
              <a:t>2</a:t>
            </a:r>
          </a:p>
        </p:txBody>
      </p:sp>
      <p:cxnSp>
        <p:nvCxnSpPr>
          <p:cNvPr id="11" name="Straight Arrow Connector 10"/>
          <p:cNvCxnSpPr>
            <a:stCxn id="5" idx="3"/>
            <a:endCxn id="8" idx="1"/>
          </p:cNvCxnSpPr>
          <p:nvPr/>
        </p:nvCxnSpPr>
        <p:spPr>
          <a:xfrm>
            <a:off x="2133600" y="3209925"/>
            <a:ext cx="342900" cy="0"/>
          </a:xfrm>
          <a:prstGeom prst="straightConnector1">
            <a:avLst/>
          </a:prstGeom>
          <a:ln w="19050">
            <a:solidFill>
              <a:srgbClr val="0F6CBD"/>
            </a:solidFill>
            <a:prstDash val="solid"/>
            <a:tailEnd type="arrow" w="sm" len="sm"/>
          </a:ln>
        </p:spPr>
      </p:cxnSp>
      <p:sp>
        <p:nvSpPr>
          <p:cNvPr id="12" name="Rectangle 11">
            <a:extLst>
              <a:ext uri="{FF2B5EF4-FFF2-40B4-BE49-F238E27FC236}">
                <a16:creationId xmlns:a16="http://schemas.microsoft.com/office/drawing/2014/main" id="{2A223EE8-8B49-4BAE-A868-6AAD4427E554}"/>
              </a:ext>
            </a:extLst>
          </p:cNvPr>
          <p:cNvSpPr>
            <a:spLocks noGrp="1"/>
          </p:cNvSpPr>
          <p:nvPr/>
        </p:nvSpPr>
        <p:spPr>
          <a:xfrm>
            <a:off x="4400550" y="2762250"/>
            <a:ext cx="1581150" cy="895350"/>
          </a:xfrm>
          <a:prstGeom prst="rect">
            <a:avLst/>
          </a:prstGeom>
          <a:solidFill>
            <a:srgbClr val="FFFFFF"/>
          </a:solidFill>
          <a:ln w="19050">
            <a:solidFill>
              <a:srgbClr val="0F6CBD"/>
            </a:solidFill>
            <a:prstDash val="solid"/>
          </a:ln>
        </p:spPr>
      </p:sp>
      <p:sp>
        <p:nvSpPr>
          <p:cNvPr id="13" name="Rectangle 12">
            <a:extLst>
              <a:ext uri="{FF2B5EF4-FFF2-40B4-BE49-F238E27FC236}">
                <a16:creationId xmlns:a16="http://schemas.microsoft.com/office/drawing/2014/main" id="{86A9B743-E61F-4B3F-85C1-AA2C0E893E1E}"/>
              </a:ext>
            </a:extLst>
          </p:cNvPr>
          <p:cNvSpPr>
            <a:spLocks noGrp="1"/>
          </p:cNvSpPr>
          <p:nvPr/>
        </p:nvSpPr>
        <p:spPr>
          <a:xfrm>
            <a:off x="4514850" y="2857500"/>
            <a:ext cx="1352550" cy="7048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Conectar Entra ID</a:t>
            </a:r>
          </a:p>
        </p:txBody>
      </p:sp>
      <p:sp>
        <p:nvSpPr>
          <p:cNvPr id="14" name="Rectangle 13">
            <a:extLst>
              <a:ext uri="{FF2B5EF4-FFF2-40B4-BE49-F238E27FC236}">
                <a16:creationId xmlns:a16="http://schemas.microsoft.com/office/drawing/2014/main" id="{A9E3B871-DA25-4B91-BA24-0B7C11FF8128}"/>
              </a:ext>
            </a:extLst>
          </p:cNvPr>
          <p:cNvSpPr>
            <a:spLocks noGrp="1"/>
          </p:cNvSpPr>
          <p:nvPr/>
        </p:nvSpPr>
        <p:spPr>
          <a:xfrm>
            <a:off x="5000625" y="2238375"/>
            <a:ext cx="381000" cy="323850"/>
          </a:xfrm>
          <a:prstGeom prst="rect">
            <a:avLst/>
          </a:prstGeom>
          <a:noFill/>
          <a:ln w="0">
            <a:noFill/>
            <a:prstDash val="solid"/>
          </a:ln>
        </p:spPr>
        <p:txBody>
          <a:bodyPr wrap="square" lIns="0" tIns="0" rIns="0" bIns="0" anchor="t">
            <a:normAutofit/>
          </a:bodyPr>
          <a:lstStyle/>
          <a:p>
            <a:pPr algn="ctr">
              <a:lnSpc>
                <a:spcPct val="104000"/>
              </a:lnSpc>
              <a:buNone/>
              <a:defRPr sz="1800" b="1">
                <a:solidFill>
                  <a:srgbClr val="0F6CBD"/>
                </a:solidFill>
                <a:latin typeface="Aptos"/>
                <a:ea typeface="Aptos"/>
                <a:cs typeface="Aptos"/>
              </a:defRPr>
            </a:pPr>
            <a:r>
              <a:rPr sz="1800" b="1">
                <a:solidFill>
                  <a:srgbClr val="0F6CBD"/>
                </a:solidFill>
                <a:latin typeface="Aptos"/>
                <a:ea typeface="Aptos"/>
                <a:cs typeface="Aptos"/>
              </a:rPr>
              <a:t>3</a:t>
            </a:r>
          </a:p>
        </p:txBody>
      </p:sp>
      <p:cxnSp>
        <p:nvCxnSpPr>
          <p:cNvPr id="15" name="Straight Arrow Connector 14"/>
          <p:cNvCxnSpPr>
            <a:stCxn id="8" idx="3"/>
            <a:endCxn id="12" idx="1"/>
          </p:cNvCxnSpPr>
          <p:nvPr/>
        </p:nvCxnSpPr>
        <p:spPr>
          <a:xfrm>
            <a:off x="4057650" y="3209925"/>
            <a:ext cx="342900" cy="0"/>
          </a:xfrm>
          <a:prstGeom prst="straightConnector1">
            <a:avLst/>
          </a:prstGeom>
          <a:ln w="19050">
            <a:solidFill>
              <a:srgbClr val="0F6CBD"/>
            </a:solidFill>
            <a:prstDash val="solid"/>
            <a:tailEnd type="arrow" w="sm" len="sm"/>
          </a:ln>
        </p:spPr>
      </p:cxnSp>
      <p:sp>
        <p:nvSpPr>
          <p:cNvPr id="16" name="Rectangle 15">
            <a:extLst>
              <a:ext uri="{FF2B5EF4-FFF2-40B4-BE49-F238E27FC236}">
                <a16:creationId xmlns:a16="http://schemas.microsoft.com/office/drawing/2014/main" id="{C28D07BD-259B-42F4-953E-E4F4CFEDD542}"/>
              </a:ext>
            </a:extLst>
          </p:cNvPr>
          <p:cNvSpPr>
            <a:spLocks noGrp="1"/>
          </p:cNvSpPr>
          <p:nvPr/>
        </p:nvSpPr>
        <p:spPr>
          <a:xfrm>
            <a:off x="6324600" y="2762250"/>
            <a:ext cx="1581150" cy="895350"/>
          </a:xfrm>
          <a:prstGeom prst="rect">
            <a:avLst/>
          </a:prstGeom>
          <a:solidFill>
            <a:srgbClr val="DFF3FF"/>
          </a:solidFill>
          <a:ln w="19050">
            <a:solidFill>
              <a:srgbClr val="008A88"/>
            </a:solidFill>
            <a:prstDash val="solid"/>
          </a:ln>
        </p:spPr>
      </p:sp>
      <p:sp>
        <p:nvSpPr>
          <p:cNvPr id="17" name="Rectangle 16">
            <a:extLst>
              <a:ext uri="{FF2B5EF4-FFF2-40B4-BE49-F238E27FC236}">
                <a16:creationId xmlns:a16="http://schemas.microsoft.com/office/drawing/2014/main" id="{7D411CA4-D8B3-4B49-BB4A-938CAB18D33F}"/>
              </a:ext>
            </a:extLst>
          </p:cNvPr>
          <p:cNvSpPr>
            <a:spLocks noGrp="1"/>
          </p:cNvSpPr>
          <p:nvPr/>
        </p:nvSpPr>
        <p:spPr>
          <a:xfrm>
            <a:off x="6438900" y="2857500"/>
            <a:ext cx="1352550" cy="7048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Habilitar PHS</a:t>
            </a:r>
          </a:p>
        </p:txBody>
      </p:sp>
      <p:sp>
        <p:nvSpPr>
          <p:cNvPr id="18" name="Rectangle 17">
            <a:extLst>
              <a:ext uri="{FF2B5EF4-FFF2-40B4-BE49-F238E27FC236}">
                <a16:creationId xmlns:a16="http://schemas.microsoft.com/office/drawing/2014/main" id="{942AA1C7-8895-4735-83CA-68541E5431DA}"/>
              </a:ext>
            </a:extLst>
          </p:cNvPr>
          <p:cNvSpPr>
            <a:spLocks noGrp="1"/>
          </p:cNvSpPr>
          <p:nvPr/>
        </p:nvSpPr>
        <p:spPr>
          <a:xfrm>
            <a:off x="6924675" y="2238375"/>
            <a:ext cx="381000" cy="323850"/>
          </a:xfrm>
          <a:prstGeom prst="rect">
            <a:avLst/>
          </a:prstGeom>
          <a:noFill/>
          <a:ln w="0">
            <a:noFill/>
            <a:prstDash val="solid"/>
          </a:ln>
        </p:spPr>
        <p:txBody>
          <a:bodyPr wrap="square" lIns="0" tIns="0" rIns="0" bIns="0" anchor="t">
            <a:normAutofit/>
          </a:bodyPr>
          <a:lstStyle/>
          <a:p>
            <a:pPr algn="ctr">
              <a:lnSpc>
                <a:spcPct val="104000"/>
              </a:lnSpc>
              <a:buNone/>
              <a:defRPr sz="1800" b="1">
                <a:solidFill>
                  <a:srgbClr val="0F6CBD"/>
                </a:solidFill>
                <a:latin typeface="Aptos"/>
                <a:ea typeface="Aptos"/>
                <a:cs typeface="Aptos"/>
              </a:defRPr>
            </a:pPr>
            <a:r>
              <a:rPr sz="1800" b="1">
                <a:solidFill>
                  <a:srgbClr val="0F6CBD"/>
                </a:solidFill>
                <a:latin typeface="Aptos"/>
                <a:ea typeface="Aptos"/>
                <a:cs typeface="Aptos"/>
              </a:rPr>
              <a:t>4</a:t>
            </a:r>
          </a:p>
        </p:txBody>
      </p:sp>
      <p:cxnSp>
        <p:nvCxnSpPr>
          <p:cNvPr id="19" name="Straight Arrow Connector 18"/>
          <p:cNvCxnSpPr>
            <a:stCxn id="12" idx="3"/>
            <a:endCxn id="16" idx="1"/>
          </p:cNvCxnSpPr>
          <p:nvPr/>
        </p:nvCxnSpPr>
        <p:spPr>
          <a:xfrm>
            <a:off x="5981700" y="3209925"/>
            <a:ext cx="342900" cy="0"/>
          </a:xfrm>
          <a:prstGeom prst="straightConnector1">
            <a:avLst/>
          </a:prstGeom>
          <a:ln w="19050">
            <a:solidFill>
              <a:srgbClr val="0F6CBD"/>
            </a:solidFill>
            <a:prstDash val="solid"/>
            <a:tailEnd type="arrow" w="sm" len="sm"/>
          </a:ln>
        </p:spPr>
      </p:cxnSp>
      <p:sp>
        <p:nvSpPr>
          <p:cNvPr id="20" name="Rectangle 19">
            <a:extLst>
              <a:ext uri="{FF2B5EF4-FFF2-40B4-BE49-F238E27FC236}">
                <a16:creationId xmlns:a16="http://schemas.microsoft.com/office/drawing/2014/main" id="{7E7ED9C9-F9AB-4C3C-A933-899A04F98FF9}"/>
              </a:ext>
            </a:extLst>
          </p:cNvPr>
          <p:cNvSpPr>
            <a:spLocks noGrp="1"/>
          </p:cNvSpPr>
          <p:nvPr/>
        </p:nvSpPr>
        <p:spPr>
          <a:xfrm>
            <a:off x="8248650" y="2762250"/>
            <a:ext cx="1581150" cy="895350"/>
          </a:xfrm>
          <a:prstGeom prst="rect">
            <a:avLst/>
          </a:prstGeom>
          <a:solidFill>
            <a:srgbClr val="FFFFFF"/>
          </a:solidFill>
          <a:ln w="19050">
            <a:solidFill>
              <a:srgbClr val="0F6CBD"/>
            </a:solidFill>
            <a:prstDash val="solid"/>
          </a:ln>
        </p:spPr>
      </p:sp>
      <p:sp>
        <p:nvSpPr>
          <p:cNvPr id="21" name="Rectangle 20">
            <a:extLst>
              <a:ext uri="{FF2B5EF4-FFF2-40B4-BE49-F238E27FC236}">
                <a16:creationId xmlns:a16="http://schemas.microsoft.com/office/drawing/2014/main" id="{6997DA79-26F7-46A1-A5B6-AA986B722283}"/>
              </a:ext>
            </a:extLst>
          </p:cNvPr>
          <p:cNvSpPr>
            <a:spLocks noGrp="1"/>
          </p:cNvSpPr>
          <p:nvPr/>
        </p:nvSpPr>
        <p:spPr>
          <a:xfrm>
            <a:off x="8362950" y="2857500"/>
            <a:ext cx="1352550" cy="7048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Servicios + auto-update</a:t>
            </a:r>
          </a:p>
        </p:txBody>
      </p:sp>
      <p:sp>
        <p:nvSpPr>
          <p:cNvPr id="22" name="Rectangle 21">
            <a:extLst>
              <a:ext uri="{FF2B5EF4-FFF2-40B4-BE49-F238E27FC236}">
                <a16:creationId xmlns:a16="http://schemas.microsoft.com/office/drawing/2014/main" id="{0AD2B714-A162-4FDE-8A07-338D8A8C449F}"/>
              </a:ext>
            </a:extLst>
          </p:cNvPr>
          <p:cNvSpPr>
            <a:spLocks noGrp="1"/>
          </p:cNvSpPr>
          <p:nvPr/>
        </p:nvSpPr>
        <p:spPr>
          <a:xfrm>
            <a:off x="8848725" y="2238375"/>
            <a:ext cx="381000" cy="323850"/>
          </a:xfrm>
          <a:prstGeom prst="rect">
            <a:avLst/>
          </a:prstGeom>
          <a:noFill/>
          <a:ln w="0">
            <a:noFill/>
            <a:prstDash val="solid"/>
          </a:ln>
        </p:spPr>
        <p:txBody>
          <a:bodyPr wrap="square" lIns="0" tIns="0" rIns="0" bIns="0" anchor="t">
            <a:normAutofit/>
          </a:bodyPr>
          <a:lstStyle/>
          <a:p>
            <a:pPr algn="ctr">
              <a:lnSpc>
                <a:spcPct val="104000"/>
              </a:lnSpc>
              <a:buNone/>
              <a:defRPr sz="1800" b="1">
                <a:solidFill>
                  <a:srgbClr val="0F6CBD"/>
                </a:solidFill>
                <a:latin typeface="Aptos"/>
                <a:ea typeface="Aptos"/>
                <a:cs typeface="Aptos"/>
              </a:defRPr>
            </a:pPr>
            <a:r>
              <a:rPr sz="1800" b="1">
                <a:solidFill>
                  <a:srgbClr val="0F6CBD"/>
                </a:solidFill>
                <a:latin typeface="Aptos"/>
                <a:ea typeface="Aptos"/>
                <a:cs typeface="Aptos"/>
              </a:rPr>
              <a:t>5</a:t>
            </a:r>
          </a:p>
        </p:txBody>
      </p:sp>
      <p:cxnSp>
        <p:nvCxnSpPr>
          <p:cNvPr id="23" name="Straight Arrow Connector 22"/>
          <p:cNvCxnSpPr>
            <a:stCxn id="16" idx="3"/>
            <a:endCxn id="20" idx="1"/>
          </p:cNvCxnSpPr>
          <p:nvPr/>
        </p:nvCxnSpPr>
        <p:spPr>
          <a:xfrm>
            <a:off x="7905750" y="3209925"/>
            <a:ext cx="342900" cy="0"/>
          </a:xfrm>
          <a:prstGeom prst="straightConnector1">
            <a:avLst/>
          </a:prstGeom>
          <a:ln w="19050">
            <a:solidFill>
              <a:srgbClr val="0F6CBD"/>
            </a:solidFill>
            <a:prstDash val="solid"/>
            <a:tailEnd type="arrow" w="sm" len="sm"/>
          </a:ln>
        </p:spPr>
      </p:cxnSp>
      <p:sp>
        <p:nvSpPr>
          <p:cNvPr id="24" name="Rectangle 23">
            <a:extLst>
              <a:ext uri="{FF2B5EF4-FFF2-40B4-BE49-F238E27FC236}">
                <a16:creationId xmlns:a16="http://schemas.microsoft.com/office/drawing/2014/main" id="{3E04EFC6-A5EC-46C3-9DD9-C976BC361F48}"/>
              </a:ext>
            </a:extLst>
          </p:cNvPr>
          <p:cNvSpPr>
            <a:spLocks noGrp="1"/>
          </p:cNvSpPr>
          <p:nvPr/>
        </p:nvSpPr>
        <p:spPr>
          <a:xfrm>
            <a:off x="10172700" y="2762250"/>
            <a:ext cx="1581150" cy="895350"/>
          </a:xfrm>
          <a:prstGeom prst="rect">
            <a:avLst/>
          </a:prstGeom>
          <a:solidFill>
            <a:srgbClr val="FFFFFF"/>
          </a:solidFill>
          <a:ln w="19050">
            <a:solidFill>
              <a:srgbClr val="0F6CBD"/>
            </a:solidFill>
            <a:prstDash val="solid"/>
          </a:ln>
        </p:spPr>
      </p:sp>
      <p:sp>
        <p:nvSpPr>
          <p:cNvPr id="25" name="Rectangle 24">
            <a:extLst>
              <a:ext uri="{FF2B5EF4-FFF2-40B4-BE49-F238E27FC236}">
                <a16:creationId xmlns:a16="http://schemas.microsoft.com/office/drawing/2014/main" id="{85147E43-F525-4E3F-8A9E-E3E7A4292E0E}"/>
              </a:ext>
            </a:extLst>
          </p:cNvPr>
          <p:cNvSpPr>
            <a:spLocks noGrp="1"/>
          </p:cNvSpPr>
          <p:nvPr/>
        </p:nvSpPr>
        <p:spPr>
          <a:xfrm>
            <a:off x="10287000" y="2857500"/>
            <a:ext cx="1352550" cy="704850"/>
          </a:xfrm>
          <a:prstGeom prst="rect">
            <a:avLst/>
          </a:prstGeom>
          <a:noFill/>
          <a:ln w="0">
            <a:noFill/>
            <a:prstDash val="solid"/>
          </a:ln>
        </p:spPr>
        <p:txBody>
          <a:bodyPr wrap="square" lIns="0" tIns="0" rIns="0" bIns="0" anchor="ctr">
            <a:normAutofit fontScale="98825"/>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Iniciar sincronización</a:t>
            </a:r>
          </a:p>
        </p:txBody>
      </p:sp>
      <p:sp>
        <p:nvSpPr>
          <p:cNvPr id="26" name="Rectangle 25">
            <a:extLst>
              <a:ext uri="{FF2B5EF4-FFF2-40B4-BE49-F238E27FC236}">
                <a16:creationId xmlns:a16="http://schemas.microsoft.com/office/drawing/2014/main" id="{876622FB-1D3F-4DE9-ABEE-B722EA9A94E7}"/>
              </a:ext>
            </a:extLst>
          </p:cNvPr>
          <p:cNvSpPr>
            <a:spLocks noGrp="1"/>
          </p:cNvSpPr>
          <p:nvPr/>
        </p:nvSpPr>
        <p:spPr>
          <a:xfrm>
            <a:off x="10772775" y="2238375"/>
            <a:ext cx="381000" cy="323850"/>
          </a:xfrm>
          <a:prstGeom prst="rect">
            <a:avLst/>
          </a:prstGeom>
          <a:noFill/>
          <a:ln w="0">
            <a:noFill/>
            <a:prstDash val="solid"/>
          </a:ln>
        </p:spPr>
        <p:txBody>
          <a:bodyPr wrap="square" lIns="0" tIns="0" rIns="0" bIns="0" anchor="t">
            <a:normAutofit/>
          </a:bodyPr>
          <a:lstStyle/>
          <a:p>
            <a:pPr algn="ctr">
              <a:lnSpc>
                <a:spcPct val="104000"/>
              </a:lnSpc>
              <a:buNone/>
              <a:defRPr sz="1800" b="1">
                <a:solidFill>
                  <a:srgbClr val="0F6CBD"/>
                </a:solidFill>
                <a:latin typeface="Aptos"/>
                <a:ea typeface="Aptos"/>
                <a:cs typeface="Aptos"/>
              </a:defRPr>
            </a:pPr>
            <a:r>
              <a:rPr sz="1800" b="1">
                <a:solidFill>
                  <a:srgbClr val="0F6CBD"/>
                </a:solidFill>
                <a:latin typeface="Aptos"/>
                <a:ea typeface="Aptos"/>
                <a:cs typeface="Aptos"/>
              </a:rPr>
              <a:t>6</a:t>
            </a:r>
          </a:p>
        </p:txBody>
      </p:sp>
      <p:cxnSp>
        <p:nvCxnSpPr>
          <p:cNvPr id="27" name="Straight Arrow Connector 26"/>
          <p:cNvCxnSpPr>
            <a:stCxn id="20" idx="3"/>
            <a:endCxn id="24" idx="1"/>
          </p:cNvCxnSpPr>
          <p:nvPr/>
        </p:nvCxnSpPr>
        <p:spPr>
          <a:xfrm>
            <a:off x="9829800" y="3209925"/>
            <a:ext cx="342900" cy="0"/>
          </a:xfrm>
          <a:prstGeom prst="straightConnector1">
            <a:avLst/>
          </a:prstGeom>
          <a:ln w="19050">
            <a:solidFill>
              <a:srgbClr val="0F6CBD"/>
            </a:solidFill>
            <a:prstDash val="solid"/>
            <a:tailEnd type="arrow" w="sm" len="sm"/>
          </a:ln>
        </p:spPr>
      </p:cxnSp>
      <p:sp>
        <p:nvSpPr>
          <p:cNvPr id="28" name="Rectangle 27">
            <a:extLst>
              <a:ext uri="{FF2B5EF4-FFF2-40B4-BE49-F238E27FC236}">
                <a16:creationId xmlns:a16="http://schemas.microsoft.com/office/drawing/2014/main" id="{D0B025BE-8712-4199-A709-A93977825DA2}"/>
              </a:ext>
            </a:extLst>
          </p:cNvPr>
          <p:cNvSpPr>
            <a:spLocks noGrp="1"/>
          </p:cNvSpPr>
          <p:nvPr/>
        </p:nvSpPr>
        <p:spPr>
          <a:xfrm>
            <a:off x="1143000" y="4429125"/>
            <a:ext cx="9906000" cy="400050"/>
          </a:xfrm>
          <a:prstGeom prst="rect">
            <a:avLst/>
          </a:prstGeom>
          <a:noFill/>
          <a:ln w="0">
            <a:noFill/>
            <a:prstDash val="solid"/>
          </a:ln>
        </p:spPr>
        <p:txBody>
          <a:bodyPr wrap="square" lIns="0" tIns="0" rIns="0" bIns="0" anchor="t">
            <a:normAutofit fontScale="78310"/>
          </a:bodyPr>
          <a:lstStyle/>
          <a:p>
            <a:pPr algn="ctr">
              <a:lnSpc>
                <a:spcPct val="104000"/>
              </a:lnSpc>
              <a:buNone/>
              <a:defRPr sz="1875" b="1">
                <a:solidFill>
                  <a:srgbClr val="17233C"/>
                </a:solidFill>
                <a:latin typeface="Aptos"/>
                <a:ea typeface="Aptos"/>
                <a:cs typeface="Aptos"/>
              </a:defRPr>
            </a:pPr>
            <a:r>
              <a:rPr sz="1875" b="1">
                <a:solidFill>
                  <a:srgbClr val="17233C"/>
                </a:solidFill>
                <a:latin typeface="Aptos"/>
                <a:ea typeface="Aptos"/>
                <a:cs typeface="Aptos"/>
              </a:rPr>
              <a:t>Escenario objetivo: un bosque, configuración recomendada y Password Hash Synchronization.</a:t>
            </a:r>
          </a:p>
        </p:txBody>
      </p:sp>
      <p:sp>
        <p:nvSpPr>
          <p:cNvPr id="29" name="Rectangle 28">
            <a:extLst>
              <a:ext uri="{FF2B5EF4-FFF2-40B4-BE49-F238E27FC236}">
                <a16:creationId xmlns:a16="http://schemas.microsoft.com/office/drawing/2014/main" id="{B1A912AC-8584-424A-982A-AAAAEDA6D8AC}"/>
              </a:ext>
            </a:extLst>
          </p:cNvPr>
          <p:cNvSpPr>
            <a:spLocks noGrp="1"/>
          </p:cNvSpPr>
          <p:nvPr/>
        </p:nvSpPr>
        <p:spPr>
          <a:xfrm>
            <a:off x="2286000" y="5191125"/>
            <a:ext cx="7620000" cy="552450"/>
          </a:xfrm>
          <a:prstGeom prst="rect">
            <a:avLst/>
          </a:prstGeom>
          <a:solidFill>
            <a:srgbClr val="F3F6F9"/>
          </a:solidFill>
          <a:ln w="0">
            <a:noFill/>
            <a:prstDash val="solid"/>
          </a:ln>
        </p:spPr>
      </p:sp>
      <p:sp>
        <p:nvSpPr>
          <p:cNvPr id="30" name="Rectangle 29">
            <a:extLst>
              <a:ext uri="{FF2B5EF4-FFF2-40B4-BE49-F238E27FC236}">
                <a16:creationId xmlns:a16="http://schemas.microsoft.com/office/drawing/2014/main" id="{01076BCD-A881-4969-AE78-6CB23419565A}"/>
              </a:ext>
            </a:extLst>
          </p:cNvPr>
          <p:cNvSpPr>
            <a:spLocks noGrp="1"/>
          </p:cNvSpPr>
          <p:nvPr/>
        </p:nvSpPr>
        <p:spPr>
          <a:xfrm>
            <a:off x="2571750" y="5334000"/>
            <a:ext cx="7048500" cy="285750"/>
          </a:xfrm>
          <a:prstGeom prst="rect">
            <a:avLst/>
          </a:prstGeom>
          <a:noFill/>
          <a:ln w="0">
            <a:noFill/>
            <a:prstDash val="solid"/>
          </a:ln>
        </p:spPr>
        <p:txBody>
          <a:bodyPr wrap="square" lIns="0" tIns="0" rIns="0" bIns="0" anchor="t">
            <a:normAutofit/>
          </a:bodyPr>
          <a:lstStyle/>
          <a:p>
            <a:pPr algn="ctr">
              <a:lnSpc>
                <a:spcPct val="104000"/>
              </a:lnSpc>
              <a:buNone/>
              <a:defRPr sz="1650" b="1">
                <a:solidFill>
                  <a:srgbClr val="008A88"/>
                </a:solidFill>
                <a:latin typeface="Aptos"/>
                <a:ea typeface="Aptos"/>
                <a:cs typeface="Aptos"/>
              </a:defRPr>
            </a:pPr>
            <a:r>
              <a:rPr sz="1650" b="1">
                <a:solidFill>
                  <a:srgbClr val="008A88"/>
                </a:solidFill>
                <a:latin typeface="Aptos"/>
                <a:ea typeface="Aptos"/>
                <a:cs typeface="Aptos"/>
              </a:rPr>
              <a:t>Exchange híbrido puede configurarse opcionalmente.</a:t>
            </a:r>
          </a:p>
        </p:txBody>
      </p:sp>
      <p:sp>
        <p:nvSpPr>
          <p:cNvPr id="31" name="Rectangle 30">
            <a:extLst>
              <a:ext uri="{FF2B5EF4-FFF2-40B4-BE49-F238E27FC236}">
                <a16:creationId xmlns:a16="http://schemas.microsoft.com/office/drawing/2014/main" id="{33756BA5-F4B1-42A9-BD9F-929AC71D49CE}"/>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12</a:t>
            </a:r>
          </a:p>
        </p:txBody>
      </p:sp>
    </p:spTree>
    <p:extLst>
      <p:ext uri="{BB962C8B-B14F-4D97-AF65-F5344CB8AC3E}">
        <p14:creationId xmlns:p14="http://schemas.microsoft.com/office/powerpoint/2010/main" val="86557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AD55855-A418-48ED-9B47-30E0EE68B970}"/>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5DA531AD-3BCF-45E1-AB2D-6F2CE0CBB684}"/>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CONNECT SYNC · CONFIGURACIÓN PERSONALIZADA</a:t>
            </a:r>
          </a:p>
        </p:txBody>
      </p:sp>
      <p:sp>
        <p:nvSpPr>
          <p:cNvPr id="3" name="Rectangle 2">
            <a:extLst>
              <a:ext uri="{FF2B5EF4-FFF2-40B4-BE49-F238E27FC236}">
                <a16:creationId xmlns:a16="http://schemas.microsoft.com/office/drawing/2014/main" id="{25EB3271-C9B8-4AB6-AF29-DFDE7663FDEF}"/>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Custom Setup habilita topologías y funciones avanzadas</a:t>
            </a:r>
          </a:p>
        </p:txBody>
      </p:sp>
      <p:sp>
        <p:nvSpPr>
          <p:cNvPr id="4" name="Straight Connector 3">
            <a:extLst>
              <a:ext uri="{FF2B5EF4-FFF2-40B4-BE49-F238E27FC236}">
                <a16:creationId xmlns:a16="http://schemas.microsoft.com/office/drawing/2014/main" id="{8FD27B96-E7B3-4BD7-AA64-F72DF1DE1BF9}"/>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FA71CADE-A065-4CBC-862F-E9AD6C025F7F}"/>
              </a:ext>
            </a:extLst>
          </p:cNvPr>
          <p:cNvSpPr>
            <a:spLocks noGrp="1"/>
          </p:cNvSpPr>
          <p:nvPr/>
        </p:nvSpPr>
        <p:spPr>
          <a:xfrm>
            <a:off x="857250" y="2000250"/>
            <a:ext cx="3810000" cy="266700"/>
          </a:xfrm>
          <a:prstGeom prst="rect">
            <a:avLst/>
          </a:prstGeom>
          <a:noFill/>
          <a:ln w="0">
            <a:noFill/>
            <a:prstDash val="solid"/>
          </a:ln>
        </p:spPr>
        <p:txBody>
          <a:bodyPr wrap="square" lIns="0" tIns="0" rIns="0" bIns="0" anchor="t">
            <a:normAutofit/>
          </a:bodyPr>
          <a:lstStyle/>
          <a:p>
            <a:pPr algn="l">
              <a:lnSpc>
                <a:spcPct val="104000"/>
              </a:lnSpc>
              <a:buNone/>
              <a:defRPr sz="1350" b="1">
                <a:solidFill>
                  <a:srgbClr val="0F6CBD"/>
                </a:solidFill>
                <a:latin typeface="Aptos"/>
                <a:ea typeface="Aptos"/>
                <a:cs typeface="Aptos"/>
              </a:defRPr>
            </a:pPr>
            <a:r>
              <a:rPr sz="1350" b="1">
                <a:solidFill>
                  <a:srgbClr val="0F6CBD"/>
                </a:solidFill>
                <a:latin typeface="Aptos"/>
                <a:ea typeface="Aptos"/>
                <a:cs typeface="Aptos"/>
              </a:rPr>
              <a:t>USE CUSTOM CUANDO…</a:t>
            </a:r>
          </a:p>
        </p:txBody>
      </p:sp>
      <p:sp>
        <p:nvSpPr>
          <p:cNvPr id="6" name="Rectangle 5">
            <a:extLst>
              <a:ext uri="{FF2B5EF4-FFF2-40B4-BE49-F238E27FC236}">
                <a16:creationId xmlns:a16="http://schemas.microsoft.com/office/drawing/2014/main" id="{C379DDC3-754B-4FB0-8DFB-CA8C0435F867}"/>
              </a:ext>
            </a:extLst>
          </p:cNvPr>
          <p:cNvSpPr>
            <a:spLocks noGrp="1"/>
          </p:cNvSpPr>
          <p:nvPr/>
        </p:nvSpPr>
        <p:spPr>
          <a:xfrm>
            <a:off x="857250" y="2428875"/>
            <a:ext cx="4762500" cy="2476500"/>
          </a:xfrm>
          <a:prstGeom prst="rect">
            <a:avLst/>
          </a:prstGeom>
          <a:noFill/>
          <a:ln w="0">
            <a:noFill/>
            <a:prstDash val="solid"/>
          </a:ln>
        </p:spPr>
        <p:txBody>
          <a:bodyPr wrap="square" lIns="0" tIns="0" rIns="0" bIns="0">
            <a:normAutofit/>
          </a:bodyPr>
          <a:lstStyle/>
          <a:p>
            <a:pPr marL="22" indent="-14">
              <a:lnSpc>
                <a:spcPct val="108000"/>
              </a:lnSpc>
              <a:spcAft>
                <a:spcPts val="15"/>
              </a:spcAft>
              <a:buNone/>
              <a:defRPr sz="1650">
                <a:solidFill>
                  <a:srgbClr val="17233C"/>
                </a:solidFill>
                <a:latin typeface="Aptos"/>
                <a:ea typeface="Aptos"/>
                <a:cs typeface="Aptos"/>
              </a:defRPr>
            </a:pPr>
            <a:r>
              <a:rPr sz="1650">
                <a:solidFill>
                  <a:srgbClr val="17233C"/>
                </a:solidFill>
                <a:latin typeface="Aptos"/>
                <a:ea typeface="Aptos"/>
                <a:cs typeface="Aptos"/>
              </a:rPr>
              <a:t>Existen múltiples bosques o dominios.</a:t>
            </a:r>
          </a:p>
          <a:p>
            <a:pPr marL="22" indent="-14">
              <a:lnSpc>
                <a:spcPct val="108000"/>
              </a:lnSpc>
              <a:spcAft>
                <a:spcPts val="15"/>
              </a:spcAft>
              <a:buNone/>
              <a:defRPr sz="1650">
                <a:solidFill>
                  <a:srgbClr val="17233C"/>
                </a:solidFill>
                <a:latin typeface="Aptos"/>
                <a:ea typeface="Aptos"/>
                <a:cs typeface="Aptos"/>
              </a:defRPr>
            </a:pPr>
            <a:r>
              <a:rPr sz="1650">
                <a:solidFill>
                  <a:srgbClr val="17233C"/>
                </a:solidFill>
                <a:latin typeface="Aptos"/>
                <a:ea typeface="Aptos"/>
                <a:cs typeface="Aptos"/>
              </a:rPr>
              <a:t>Se requiere PTA, SSO, AD FS o un IdP no Microsoft.</a:t>
            </a:r>
          </a:p>
          <a:p>
            <a:pPr marL="22" indent="-14">
              <a:lnSpc>
                <a:spcPct val="108000"/>
              </a:lnSpc>
              <a:spcAft>
                <a:spcPts val="15"/>
              </a:spcAft>
              <a:buNone/>
              <a:defRPr sz="1650">
                <a:solidFill>
                  <a:srgbClr val="17233C"/>
                </a:solidFill>
                <a:latin typeface="Aptos"/>
                <a:ea typeface="Aptos"/>
                <a:cs typeface="Aptos"/>
              </a:defRPr>
            </a:pPr>
            <a:r>
              <a:rPr sz="1650">
                <a:solidFill>
                  <a:srgbClr val="17233C"/>
                </a:solidFill>
                <a:latin typeface="Aptos"/>
                <a:ea typeface="Aptos"/>
                <a:cs typeface="Aptos"/>
              </a:rPr>
              <a:t>Se necesita SQL Server o cuenta de servicio existente.</a:t>
            </a:r>
          </a:p>
          <a:p>
            <a:pPr marL="22" indent="-14">
              <a:lnSpc>
                <a:spcPct val="108000"/>
              </a:lnSpc>
              <a:spcAft>
                <a:spcPts val="15"/>
              </a:spcAft>
              <a:buNone/>
              <a:defRPr sz="1650">
                <a:solidFill>
                  <a:srgbClr val="17233C"/>
                </a:solidFill>
                <a:latin typeface="Aptos"/>
                <a:ea typeface="Aptos"/>
                <a:cs typeface="Aptos"/>
              </a:defRPr>
            </a:pPr>
            <a:r>
              <a:rPr sz="1650">
                <a:solidFill>
                  <a:srgbClr val="17233C"/>
                </a:solidFill>
                <a:latin typeface="Aptos"/>
                <a:ea typeface="Aptos"/>
                <a:cs typeface="Aptos"/>
              </a:rPr>
              <a:t>Se requiere filtrado, matching, writeback o atributos personalizados.</a:t>
            </a:r>
          </a:p>
        </p:txBody>
      </p:sp>
      <p:sp>
        <p:nvSpPr>
          <p:cNvPr id="7" name="Straight Connector 6">
            <a:extLst>
              <a:ext uri="{FF2B5EF4-FFF2-40B4-BE49-F238E27FC236}">
                <a16:creationId xmlns:a16="http://schemas.microsoft.com/office/drawing/2014/main" id="{74566B68-6970-47EF-B692-ECE0C34047F7}"/>
              </a:ext>
            </a:extLst>
          </p:cNvPr>
          <p:cNvSpPr>
            <a:spLocks noGrp="1"/>
          </p:cNvSpPr>
          <p:nvPr/>
        </p:nvSpPr>
        <p:spPr>
          <a:xfrm>
            <a:off x="6096000" y="2000250"/>
            <a:ext cx="0" cy="3429000"/>
          </a:xfrm>
          <a:prstGeom prst="line">
            <a:avLst/>
          </a:prstGeom>
          <a:noFill/>
          <a:ln w="19050">
            <a:solidFill>
              <a:srgbClr val="C9D5E3"/>
            </a:solidFill>
            <a:prstDash val="solid"/>
          </a:ln>
        </p:spPr>
      </p:sp>
      <p:sp>
        <p:nvSpPr>
          <p:cNvPr id="8" name="Rectangle 7">
            <a:extLst>
              <a:ext uri="{FF2B5EF4-FFF2-40B4-BE49-F238E27FC236}">
                <a16:creationId xmlns:a16="http://schemas.microsoft.com/office/drawing/2014/main" id="{97468773-87DD-4428-AA9B-2B9850C5BFD9}"/>
              </a:ext>
            </a:extLst>
          </p:cNvPr>
          <p:cNvSpPr>
            <a:spLocks noGrp="1"/>
          </p:cNvSpPr>
          <p:nvPr/>
        </p:nvSpPr>
        <p:spPr>
          <a:xfrm>
            <a:off x="6667500" y="2000250"/>
            <a:ext cx="4191000" cy="266700"/>
          </a:xfrm>
          <a:prstGeom prst="rect">
            <a:avLst/>
          </a:prstGeom>
          <a:noFill/>
          <a:ln w="0">
            <a:noFill/>
            <a:prstDash val="solid"/>
          </a:ln>
        </p:spPr>
        <p:txBody>
          <a:bodyPr wrap="square" lIns="0" tIns="0" rIns="0" bIns="0" anchor="t">
            <a:normAutofit/>
          </a:bodyPr>
          <a:lstStyle/>
          <a:p>
            <a:pPr algn="l">
              <a:lnSpc>
                <a:spcPct val="104000"/>
              </a:lnSpc>
              <a:buNone/>
              <a:defRPr sz="1350" b="1">
                <a:solidFill>
                  <a:srgbClr val="008A88"/>
                </a:solidFill>
                <a:latin typeface="Aptos"/>
                <a:ea typeface="Aptos"/>
                <a:cs typeface="Aptos"/>
              </a:defRPr>
            </a:pPr>
            <a:r>
              <a:rPr sz="1350" b="1">
                <a:solidFill>
                  <a:srgbClr val="008A88"/>
                </a:solidFill>
                <a:latin typeface="Aptos"/>
                <a:ea typeface="Aptos"/>
                <a:cs typeface="Aptos"/>
              </a:rPr>
              <a:t>CONTROLES QUE DESBLOQUEA</a:t>
            </a:r>
          </a:p>
        </p:txBody>
      </p:sp>
      <p:sp>
        <p:nvSpPr>
          <p:cNvPr id="9" name="Rectangle 8">
            <a:extLst>
              <a:ext uri="{FF2B5EF4-FFF2-40B4-BE49-F238E27FC236}">
                <a16:creationId xmlns:a16="http://schemas.microsoft.com/office/drawing/2014/main" id="{6D3E7B42-23A5-4EAB-81F2-CCEDF8668007}"/>
              </a:ext>
            </a:extLst>
          </p:cNvPr>
          <p:cNvSpPr>
            <a:spLocks noGrp="1"/>
          </p:cNvSpPr>
          <p:nvPr/>
        </p:nvSpPr>
        <p:spPr>
          <a:xfrm>
            <a:off x="6667500" y="2457450"/>
            <a:ext cx="323850" cy="228600"/>
          </a:xfrm>
          <a:prstGeom prst="rect">
            <a:avLst/>
          </a:prstGeom>
          <a:noFill/>
          <a:ln w="0">
            <a:noFill/>
            <a:prstDash val="solid"/>
          </a:ln>
        </p:spPr>
        <p:txBody>
          <a:bodyPr wrap="square" lIns="0" tIns="0" rIns="0" bIns="0" anchor="t">
            <a:normAutofit/>
          </a:bodyPr>
          <a:lstStyle/>
          <a:p>
            <a:pPr algn="l">
              <a:lnSpc>
                <a:spcPct val="104000"/>
              </a:lnSpc>
              <a:buNone/>
              <a:defRPr sz="1200" b="1">
                <a:solidFill>
                  <a:srgbClr val="008A88"/>
                </a:solidFill>
                <a:latin typeface="Aptos"/>
                <a:ea typeface="Aptos"/>
                <a:cs typeface="Aptos"/>
              </a:defRPr>
            </a:pPr>
            <a:r>
              <a:rPr sz="1200" b="1">
                <a:solidFill>
                  <a:srgbClr val="008A88"/>
                </a:solidFill>
                <a:latin typeface="Aptos"/>
                <a:ea typeface="Aptos"/>
                <a:cs typeface="Aptos"/>
              </a:rPr>
              <a:t>01</a:t>
            </a:r>
          </a:p>
        </p:txBody>
      </p:sp>
      <p:sp>
        <p:nvSpPr>
          <p:cNvPr id="10" name="Rectangle 9">
            <a:extLst>
              <a:ext uri="{FF2B5EF4-FFF2-40B4-BE49-F238E27FC236}">
                <a16:creationId xmlns:a16="http://schemas.microsoft.com/office/drawing/2014/main" id="{81C719BA-9B9C-45DB-A615-8319F0F60A50}"/>
              </a:ext>
            </a:extLst>
          </p:cNvPr>
          <p:cNvSpPr>
            <a:spLocks noGrp="1"/>
          </p:cNvSpPr>
          <p:nvPr/>
        </p:nvSpPr>
        <p:spPr>
          <a:xfrm>
            <a:off x="7143750" y="2419350"/>
            <a:ext cx="4000500" cy="2857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Método de inicio de sesión</a:t>
            </a:r>
          </a:p>
        </p:txBody>
      </p:sp>
      <p:sp>
        <p:nvSpPr>
          <p:cNvPr id="11" name="Rectangle 10">
            <a:extLst>
              <a:ext uri="{FF2B5EF4-FFF2-40B4-BE49-F238E27FC236}">
                <a16:creationId xmlns:a16="http://schemas.microsoft.com/office/drawing/2014/main" id="{2CE089CF-DCD8-4C58-8EF2-3BC4E2D8976A}"/>
              </a:ext>
            </a:extLst>
          </p:cNvPr>
          <p:cNvSpPr>
            <a:spLocks noGrp="1"/>
          </p:cNvSpPr>
          <p:nvPr/>
        </p:nvSpPr>
        <p:spPr>
          <a:xfrm>
            <a:off x="6667500" y="2867025"/>
            <a:ext cx="323850" cy="228600"/>
          </a:xfrm>
          <a:prstGeom prst="rect">
            <a:avLst/>
          </a:prstGeom>
          <a:noFill/>
          <a:ln w="0">
            <a:noFill/>
            <a:prstDash val="solid"/>
          </a:ln>
        </p:spPr>
        <p:txBody>
          <a:bodyPr wrap="square" lIns="0" tIns="0" rIns="0" bIns="0" anchor="t">
            <a:normAutofit/>
          </a:bodyPr>
          <a:lstStyle/>
          <a:p>
            <a:pPr algn="l">
              <a:lnSpc>
                <a:spcPct val="104000"/>
              </a:lnSpc>
              <a:buNone/>
              <a:defRPr sz="1200" b="1">
                <a:solidFill>
                  <a:srgbClr val="008A88"/>
                </a:solidFill>
                <a:latin typeface="Aptos"/>
                <a:ea typeface="Aptos"/>
                <a:cs typeface="Aptos"/>
              </a:defRPr>
            </a:pPr>
            <a:r>
              <a:rPr sz="1200" b="1">
                <a:solidFill>
                  <a:srgbClr val="008A88"/>
                </a:solidFill>
                <a:latin typeface="Aptos"/>
                <a:ea typeface="Aptos"/>
                <a:cs typeface="Aptos"/>
              </a:rPr>
              <a:t>02</a:t>
            </a:r>
          </a:p>
        </p:txBody>
      </p:sp>
      <p:sp>
        <p:nvSpPr>
          <p:cNvPr id="12" name="Rectangle 11">
            <a:extLst>
              <a:ext uri="{FF2B5EF4-FFF2-40B4-BE49-F238E27FC236}">
                <a16:creationId xmlns:a16="http://schemas.microsoft.com/office/drawing/2014/main" id="{2967E1EB-8B2D-467E-B9AC-ACC6C15EABCC}"/>
              </a:ext>
            </a:extLst>
          </p:cNvPr>
          <p:cNvSpPr>
            <a:spLocks noGrp="1"/>
          </p:cNvSpPr>
          <p:nvPr/>
        </p:nvSpPr>
        <p:spPr>
          <a:xfrm>
            <a:off x="7143750" y="2828925"/>
            <a:ext cx="4000500" cy="2857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Filtrado por OU</a:t>
            </a:r>
          </a:p>
        </p:txBody>
      </p:sp>
      <p:sp>
        <p:nvSpPr>
          <p:cNvPr id="13" name="Rectangle 12">
            <a:extLst>
              <a:ext uri="{FF2B5EF4-FFF2-40B4-BE49-F238E27FC236}">
                <a16:creationId xmlns:a16="http://schemas.microsoft.com/office/drawing/2014/main" id="{8A0483E7-3E71-4A4E-9633-E4328F8D3C64}"/>
              </a:ext>
            </a:extLst>
          </p:cNvPr>
          <p:cNvSpPr>
            <a:spLocks noGrp="1"/>
          </p:cNvSpPr>
          <p:nvPr/>
        </p:nvSpPr>
        <p:spPr>
          <a:xfrm>
            <a:off x="6667500" y="3276600"/>
            <a:ext cx="323850" cy="228600"/>
          </a:xfrm>
          <a:prstGeom prst="rect">
            <a:avLst/>
          </a:prstGeom>
          <a:noFill/>
          <a:ln w="0">
            <a:noFill/>
            <a:prstDash val="solid"/>
          </a:ln>
        </p:spPr>
        <p:txBody>
          <a:bodyPr wrap="square" lIns="0" tIns="0" rIns="0" bIns="0" anchor="t">
            <a:normAutofit/>
          </a:bodyPr>
          <a:lstStyle/>
          <a:p>
            <a:pPr algn="l">
              <a:lnSpc>
                <a:spcPct val="104000"/>
              </a:lnSpc>
              <a:buNone/>
              <a:defRPr sz="1200" b="1">
                <a:solidFill>
                  <a:srgbClr val="008A88"/>
                </a:solidFill>
                <a:latin typeface="Aptos"/>
                <a:ea typeface="Aptos"/>
                <a:cs typeface="Aptos"/>
              </a:defRPr>
            </a:pPr>
            <a:r>
              <a:rPr sz="1200" b="1">
                <a:solidFill>
                  <a:srgbClr val="008A88"/>
                </a:solidFill>
                <a:latin typeface="Aptos"/>
                <a:ea typeface="Aptos"/>
                <a:cs typeface="Aptos"/>
              </a:rPr>
              <a:t>03</a:t>
            </a:r>
          </a:p>
        </p:txBody>
      </p:sp>
      <p:sp>
        <p:nvSpPr>
          <p:cNvPr id="14" name="Rectangle 13">
            <a:extLst>
              <a:ext uri="{FF2B5EF4-FFF2-40B4-BE49-F238E27FC236}">
                <a16:creationId xmlns:a16="http://schemas.microsoft.com/office/drawing/2014/main" id="{73A3D9E3-651F-4FA7-8048-2B335090BB66}"/>
              </a:ext>
            </a:extLst>
          </p:cNvPr>
          <p:cNvSpPr>
            <a:spLocks noGrp="1"/>
          </p:cNvSpPr>
          <p:nvPr/>
        </p:nvSpPr>
        <p:spPr>
          <a:xfrm>
            <a:off x="7143750" y="3238500"/>
            <a:ext cx="4000500" cy="2857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Source anchor y sign-in attribute</a:t>
            </a:r>
          </a:p>
        </p:txBody>
      </p:sp>
      <p:sp>
        <p:nvSpPr>
          <p:cNvPr id="15" name="Rectangle 14">
            <a:extLst>
              <a:ext uri="{FF2B5EF4-FFF2-40B4-BE49-F238E27FC236}">
                <a16:creationId xmlns:a16="http://schemas.microsoft.com/office/drawing/2014/main" id="{BFA6B219-33FF-4B67-842A-FB01BF544FBC}"/>
              </a:ext>
            </a:extLst>
          </p:cNvPr>
          <p:cNvSpPr>
            <a:spLocks noGrp="1"/>
          </p:cNvSpPr>
          <p:nvPr/>
        </p:nvSpPr>
        <p:spPr>
          <a:xfrm>
            <a:off x="6667500" y="3686175"/>
            <a:ext cx="323850" cy="228600"/>
          </a:xfrm>
          <a:prstGeom prst="rect">
            <a:avLst/>
          </a:prstGeom>
          <a:noFill/>
          <a:ln w="0">
            <a:noFill/>
            <a:prstDash val="solid"/>
          </a:ln>
        </p:spPr>
        <p:txBody>
          <a:bodyPr wrap="square" lIns="0" tIns="0" rIns="0" bIns="0" anchor="t">
            <a:normAutofit/>
          </a:bodyPr>
          <a:lstStyle/>
          <a:p>
            <a:pPr algn="l">
              <a:lnSpc>
                <a:spcPct val="104000"/>
              </a:lnSpc>
              <a:buNone/>
              <a:defRPr sz="1200" b="1">
                <a:solidFill>
                  <a:srgbClr val="008A88"/>
                </a:solidFill>
                <a:latin typeface="Aptos"/>
                <a:ea typeface="Aptos"/>
                <a:cs typeface="Aptos"/>
              </a:defRPr>
            </a:pPr>
            <a:r>
              <a:rPr sz="1200" b="1">
                <a:solidFill>
                  <a:srgbClr val="008A88"/>
                </a:solidFill>
                <a:latin typeface="Aptos"/>
                <a:ea typeface="Aptos"/>
                <a:cs typeface="Aptos"/>
              </a:rPr>
              <a:t>04</a:t>
            </a:r>
          </a:p>
        </p:txBody>
      </p:sp>
      <p:sp>
        <p:nvSpPr>
          <p:cNvPr id="16" name="Rectangle 15">
            <a:extLst>
              <a:ext uri="{FF2B5EF4-FFF2-40B4-BE49-F238E27FC236}">
                <a16:creationId xmlns:a16="http://schemas.microsoft.com/office/drawing/2014/main" id="{A5C78A0F-C83D-46C1-92C6-2C66B455CC9E}"/>
              </a:ext>
            </a:extLst>
          </p:cNvPr>
          <p:cNvSpPr>
            <a:spLocks noGrp="1"/>
          </p:cNvSpPr>
          <p:nvPr/>
        </p:nvSpPr>
        <p:spPr>
          <a:xfrm>
            <a:off x="7143750" y="3648075"/>
            <a:ext cx="4000500" cy="2857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Exchange híbrido y public folders</a:t>
            </a:r>
          </a:p>
        </p:txBody>
      </p:sp>
      <p:sp>
        <p:nvSpPr>
          <p:cNvPr id="17" name="Rectangle 16">
            <a:extLst>
              <a:ext uri="{FF2B5EF4-FFF2-40B4-BE49-F238E27FC236}">
                <a16:creationId xmlns:a16="http://schemas.microsoft.com/office/drawing/2014/main" id="{DE1C8143-DABE-44CA-95B0-FB86B0B3528A}"/>
              </a:ext>
            </a:extLst>
          </p:cNvPr>
          <p:cNvSpPr>
            <a:spLocks noGrp="1"/>
          </p:cNvSpPr>
          <p:nvPr/>
        </p:nvSpPr>
        <p:spPr>
          <a:xfrm>
            <a:off x="6667500" y="4095750"/>
            <a:ext cx="323850" cy="228600"/>
          </a:xfrm>
          <a:prstGeom prst="rect">
            <a:avLst/>
          </a:prstGeom>
          <a:noFill/>
          <a:ln w="0">
            <a:noFill/>
            <a:prstDash val="solid"/>
          </a:ln>
        </p:spPr>
        <p:txBody>
          <a:bodyPr wrap="square" lIns="0" tIns="0" rIns="0" bIns="0" anchor="t">
            <a:normAutofit/>
          </a:bodyPr>
          <a:lstStyle/>
          <a:p>
            <a:pPr algn="l">
              <a:lnSpc>
                <a:spcPct val="104000"/>
              </a:lnSpc>
              <a:buNone/>
              <a:defRPr sz="1200" b="1">
                <a:solidFill>
                  <a:srgbClr val="008A88"/>
                </a:solidFill>
                <a:latin typeface="Aptos"/>
                <a:ea typeface="Aptos"/>
                <a:cs typeface="Aptos"/>
              </a:defRPr>
            </a:pPr>
            <a:r>
              <a:rPr sz="1200" b="1">
                <a:solidFill>
                  <a:srgbClr val="008A88"/>
                </a:solidFill>
                <a:latin typeface="Aptos"/>
                <a:ea typeface="Aptos"/>
                <a:cs typeface="Aptos"/>
              </a:rPr>
              <a:t>05</a:t>
            </a:r>
          </a:p>
        </p:txBody>
      </p:sp>
      <p:sp>
        <p:nvSpPr>
          <p:cNvPr id="18" name="Rectangle 17">
            <a:extLst>
              <a:ext uri="{FF2B5EF4-FFF2-40B4-BE49-F238E27FC236}">
                <a16:creationId xmlns:a16="http://schemas.microsoft.com/office/drawing/2014/main" id="{BA1BDA1B-6EA7-4810-96D0-F7590E673D35}"/>
              </a:ext>
            </a:extLst>
          </p:cNvPr>
          <p:cNvSpPr>
            <a:spLocks noGrp="1"/>
          </p:cNvSpPr>
          <p:nvPr/>
        </p:nvSpPr>
        <p:spPr>
          <a:xfrm>
            <a:off x="7143750" y="4057650"/>
            <a:ext cx="4000500" cy="2857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App/attribute filtering</a:t>
            </a:r>
          </a:p>
        </p:txBody>
      </p:sp>
      <p:sp>
        <p:nvSpPr>
          <p:cNvPr id="19" name="Rectangle 18">
            <a:extLst>
              <a:ext uri="{FF2B5EF4-FFF2-40B4-BE49-F238E27FC236}">
                <a16:creationId xmlns:a16="http://schemas.microsoft.com/office/drawing/2014/main" id="{6D02BDA5-FDFC-48A2-B29F-72DAC367F5B1}"/>
              </a:ext>
            </a:extLst>
          </p:cNvPr>
          <p:cNvSpPr>
            <a:spLocks noGrp="1"/>
          </p:cNvSpPr>
          <p:nvPr/>
        </p:nvSpPr>
        <p:spPr>
          <a:xfrm>
            <a:off x="6667500" y="4505325"/>
            <a:ext cx="323850" cy="228600"/>
          </a:xfrm>
          <a:prstGeom prst="rect">
            <a:avLst/>
          </a:prstGeom>
          <a:noFill/>
          <a:ln w="0">
            <a:noFill/>
            <a:prstDash val="solid"/>
          </a:ln>
        </p:spPr>
        <p:txBody>
          <a:bodyPr wrap="square" lIns="0" tIns="0" rIns="0" bIns="0" anchor="t">
            <a:normAutofit/>
          </a:bodyPr>
          <a:lstStyle/>
          <a:p>
            <a:pPr algn="l">
              <a:lnSpc>
                <a:spcPct val="104000"/>
              </a:lnSpc>
              <a:buNone/>
              <a:defRPr sz="1200" b="1">
                <a:solidFill>
                  <a:srgbClr val="008A88"/>
                </a:solidFill>
                <a:latin typeface="Aptos"/>
                <a:ea typeface="Aptos"/>
                <a:cs typeface="Aptos"/>
              </a:defRPr>
            </a:pPr>
            <a:r>
              <a:rPr sz="1200" b="1">
                <a:solidFill>
                  <a:srgbClr val="008A88"/>
                </a:solidFill>
                <a:latin typeface="Aptos"/>
                <a:ea typeface="Aptos"/>
                <a:cs typeface="Aptos"/>
              </a:rPr>
              <a:t>06</a:t>
            </a:r>
          </a:p>
        </p:txBody>
      </p:sp>
      <p:sp>
        <p:nvSpPr>
          <p:cNvPr id="20" name="Rectangle 19">
            <a:extLst>
              <a:ext uri="{FF2B5EF4-FFF2-40B4-BE49-F238E27FC236}">
                <a16:creationId xmlns:a16="http://schemas.microsoft.com/office/drawing/2014/main" id="{BDECA04D-4BBC-4C5F-B262-36DC5A25BF02}"/>
              </a:ext>
            </a:extLst>
          </p:cNvPr>
          <p:cNvSpPr>
            <a:spLocks noGrp="1"/>
          </p:cNvSpPr>
          <p:nvPr/>
        </p:nvSpPr>
        <p:spPr>
          <a:xfrm>
            <a:off x="7143750" y="4467225"/>
            <a:ext cx="4000500" cy="2857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Password, group y device writeback</a:t>
            </a:r>
          </a:p>
        </p:txBody>
      </p:sp>
      <p:sp>
        <p:nvSpPr>
          <p:cNvPr id="21" name="Rectangle 20">
            <a:extLst>
              <a:ext uri="{FF2B5EF4-FFF2-40B4-BE49-F238E27FC236}">
                <a16:creationId xmlns:a16="http://schemas.microsoft.com/office/drawing/2014/main" id="{535AB5B4-0F5B-46A9-A7F2-5BF7F418ACD6}"/>
              </a:ext>
            </a:extLst>
          </p:cNvPr>
          <p:cNvSpPr>
            <a:spLocks noGrp="1"/>
          </p:cNvSpPr>
          <p:nvPr/>
        </p:nvSpPr>
        <p:spPr>
          <a:xfrm>
            <a:off x="6667500" y="4914900"/>
            <a:ext cx="323850" cy="228600"/>
          </a:xfrm>
          <a:prstGeom prst="rect">
            <a:avLst/>
          </a:prstGeom>
          <a:noFill/>
          <a:ln w="0">
            <a:noFill/>
            <a:prstDash val="solid"/>
          </a:ln>
        </p:spPr>
        <p:txBody>
          <a:bodyPr wrap="square" lIns="0" tIns="0" rIns="0" bIns="0" anchor="t">
            <a:normAutofit/>
          </a:bodyPr>
          <a:lstStyle/>
          <a:p>
            <a:pPr algn="l">
              <a:lnSpc>
                <a:spcPct val="104000"/>
              </a:lnSpc>
              <a:buNone/>
              <a:defRPr sz="1200" b="1">
                <a:solidFill>
                  <a:srgbClr val="008A88"/>
                </a:solidFill>
                <a:latin typeface="Aptos"/>
                <a:ea typeface="Aptos"/>
                <a:cs typeface="Aptos"/>
              </a:defRPr>
            </a:pPr>
            <a:r>
              <a:rPr sz="1200" b="1">
                <a:solidFill>
                  <a:srgbClr val="008A88"/>
                </a:solidFill>
                <a:latin typeface="Aptos"/>
                <a:ea typeface="Aptos"/>
                <a:cs typeface="Aptos"/>
              </a:rPr>
              <a:t>07</a:t>
            </a:r>
          </a:p>
        </p:txBody>
      </p:sp>
      <p:sp>
        <p:nvSpPr>
          <p:cNvPr id="22" name="Rectangle 21">
            <a:extLst>
              <a:ext uri="{FF2B5EF4-FFF2-40B4-BE49-F238E27FC236}">
                <a16:creationId xmlns:a16="http://schemas.microsoft.com/office/drawing/2014/main" id="{42EBC96C-CB3B-42DD-AF4F-62AB8700FF79}"/>
              </a:ext>
            </a:extLst>
          </p:cNvPr>
          <p:cNvSpPr>
            <a:spLocks noGrp="1"/>
          </p:cNvSpPr>
          <p:nvPr/>
        </p:nvSpPr>
        <p:spPr>
          <a:xfrm>
            <a:off x="7143750" y="4876800"/>
            <a:ext cx="4000500" cy="2857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Directory extension attributes</a:t>
            </a:r>
          </a:p>
        </p:txBody>
      </p:sp>
      <p:sp>
        <p:nvSpPr>
          <p:cNvPr id="23" name="Rectangle 22">
            <a:extLst>
              <a:ext uri="{FF2B5EF4-FFF2-40B4-BE49-F238E27FC236}">
                <a16:creationId xmlns:a16="http://schemas.microsoft.com/office/drawing/2014/main" id="{99A1A729-7A7C-4114-AFBD-1E19C94C739E}"/>
              </a:ext>
            </a:extLst>
          </p:cNvPr>
          <p:cNvSpPr>
            <a:spLocks noGrp="1"/>
          </p:cNvSpPr>
          <p:nvPr/>
        </p:nvSpPr>
        <p:spPr>
          <a:xfrm>
            <a:off x="1428750" y="5848350"/>
            <a:ext cx="9334500" cy="323850"/>
          </a:xfrm>
          <a:prstGeom prst="rect">
            <a:avLst/>
          </a:prstGeom>
          <a:noFill/>
          <a:ln w="0">
            <a:noFill/>
            <a:prstDash val="solid"/>
          </a:ln>
        </p:spPr>
        <p:txBody>
          <a:bodyPr wrap="square" lIns="0" tIns="0" rIns="0" bIns="0" anchor="t">
            <a:normAutofit fontScale="94093"/>
          </a:bodyPr>
          <a:lstStyle/>
          <a:p>
            <a:pPr algn="ctr">
              <a:lnSpc>
                <a:spcPct val="104000"/>
              </a:lnSpc>
              <a:buNone/>
              <a:defRPr sz="1725" b="1">
                <a:solidFill>
                  <a:srgbClr val="0F6CBD"/>
                </a:solidFill>
                <a:latin typeface="Aptos"/>
                <a:ea typeface="Aptos"/>
                <a:cs typeface="Aptos"/>
              </a:defRPr>
            </a:pPr>
            <a:r>
              <a:rPr sz="1725" b="1">
                <a:solidFill>
                  <a:srgbClr val="0F6CBD"/>
                </a:solidFill>
                <a:latin typeface="Aptos"/>
                <a:ea typeface="Aptos"/>
                <a:cs typeface="Aptos"/>
              </a:rPr>
              <a:t>Custom no significa “mejor”: significa más decisiones que documentar y operar.</a:t>
            </a:r>
          </a:p>
        </p:txBody>
      </p:sp>
      <p:sp>
        <p:nvSpPr>
          <p:cNvPr id="24" name="Rectangle 23">
            <a:extLst>
              <a:ext uri="{FF2B5EF4-FFF2-40B4-BE49-F238E27FC236}">
                <a16:creationId xmlns:a16="http://schemas.microsoft.com/office/drawing/2014/main" id="{D81CA6BE-0330-4D1C-A740-E7C378517609}"/>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13</a:t>
            </a:r>
          </a:p>
        </p:txBody>
      </p:sp>
    </p:spTree>
    <p:extLst>
      <p:ext uri="{BB962C8B-B14F-4D97-AF65-F5344CB8AC3E}">
        <p14:creationId xmlns:p14="http://schemas.microsoft.com/office/powerpoint/2010/main" val="339755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9B926A2-22D6-463E-941D-84EA2C596D0F}"/>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64A5A3C1-D766-4C12-9BD5-AFDAD19076A5}"/>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AUTENTICACIÓN HÍBRIDA</a:t>
            </a:r>
          </a:p>
        </p:txBody>
      </p:sp>
      <p:sp>
        <p:nvSpPr>
          <p:cNvPr id="3" name="Rectangle 2">
            <a:extLst>
              <a:ext uri="{FF2B5EF4-FFF2-40B4-BE49-F238E27FC236}">
                <a16:creationId xmlns:a16="http://schemas.microsoft.com/office/drawing/2014/main" id="{85BAE4C5-6C15-459F-9BD0-63CFC826B965}"/>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81607"/>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PHS, PTA y SSO deben diseñarse para continuidad</a:t>
            </a:r>
          </a:p>
        </p:txBody>
      </p:sp>
      <p:sp>
        <p:nvSpPr>
          <p:cNvPr id="4" name="Straight Connector 3">
            <a:extLst>
              <a:ext uri="{FF2B5EF4-FFF2-40B4-BE49-F238E27FC236}">
                <a16:creationId xmlns:a16="http://schemas.microsoft.com/office/drawing/2014/main" id="{6520FB41-37E9-415D-8610-4C3EFB0320B2}"/>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814A06E4-9BEF-4312-B947-E3E32DBAB6F9}"/>
              </a:ext>
            </a:extLst>
          </p:cNvPr>
          <p:cNvSpPr>
            <a:spLocks noGrp="1"/>
          </p:cNvSpPr>
          <p:nvPr/>
        </p:nvSpPr>
        <p:spPr>
          <a:xfrm>
            <a:off x="1047750" y="2571750"/>
            <a:ext cx="2000250" cy="857250"/>
          </a:xfrm>
          <a:prstGeom prst="rect">
            <a:avLst/>
          </a:prstGeom>
          <a:solidFill>
            <a:srgbClr val="DFF3FF"/>
          </a:solidFill>
          <a:ln w="19050">
            <a:solidFill>
              <a:srgbClr val="0F6CBD"/>
            </a:solidFill>
            <a:prstDash val="solid"/>
          </a:ln>
        </p:spPr>
      </p:sp>
      <p:sp>
        <p:nvSpPr>
          <p:cNvPr id="6" name="Rectangle 5">
            <a:extLst>
              <a:ext uri="{FF2B5EF4-FFF2-40B4-BE49-F238E27FC236}">
                <a16:creationId xmlns:a16="http://schemas.microsoft.com/office/drawing/2014/main" id="{F9E9B227-D3AF-497A-B853-CB608B621459}"/>
              </a:ext>
            </a:extLst>
          </p:cNvPr>
          <p:cNvSpPr>
            <a:spLocks noGrp="1"/>
          </p:cNvSpPr>
          <p:nvPr/>
        </p:nvSpPr>
        <p:spPr>
          <a:xfrm>
            <a:off x="1162050" y="2667000"/>
            <a:ext cx="1771650" cy="6667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PHS</a:t>
            </a:r>
          </a:p>
        </p:txBody>
      </p:sp>
      <p:sp>
        <p:nvSpPr>
          <p:cNvPr id="7" name="Rectangle 6">
            <a:extLst>
              <a:ext uri="{FF2B5EF4-FFF2-40B4-BE49-F238E27FC236}">
                <a16:creationId xmlns:a16="http://schemas.microsoft.com/office/drawing/2014/main" id="{07A51CF0-F627-4F6A-85E9-DAFCA38F743C}"/>
              </a:ext>
            </a:extLst>
          </p:cNvPr>
          <p:cNvSpPr>
            <a:spLocks noGrp="1"/>
          </p:cNvSpPr>
          <p:nvPr/>
        </p:nvSpPr>
        <p:spPr>
          <a:xfrm>
            <a:off x="5095875" y="2571750"/>
            <a:ext cx="2000250" cy="857250"/>
          </a:xfrm>
          <a:prstGeom prst="rect">
            <a:avLst/>
          </a:prstGeom>
          <a:solidFill>
            <a:srgbClr val="FFFFFF"/>
          </a:solidFill>
          <a:ln w="19050">
            <a:solidFill>
              <a:srgbClr val="008A88"/>
            </a:solidFill>
            <a:prstDash val="solid"/>
          </a:ln>
        </p:spPr>
      </p:sp>
      <p:sp>
        <p:nvSpPr>
          <p:cNvPr id="8" name="Rectangle 7">
            <a:extLst>
              <a:ext uri="{FF2B5EF4-FFF2-40B4-BE49-F238E27FC236}">
                <a16:creationId xmlns:a16="http://schemas.microsoft.com/office/drawing/2014/main" id="{63CA6C95-55BB-40BC-BDEF-26B63465DD90}"/>
              </a:ext>
            </a:extLst>
          </p:cNvPr>
          <p:cNvSpPr>
            <a:spLocks noGrp="1"/>
          </p:cNvSpPr>
          <p:nvPr/>
        </p:nvSpPr>
        <p:spPr>
          <a:xfrm>
            <a:off x="5210175" y="2667000"/>
            <a:ext cx="1771650" cy="6667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PTA</a:t>
            </a:r>
          </a:p>
        </p:txBody>
      </p:sp>
      <p:sp>
        <p:nvSpPr>
          <p:cNvPr id="9" name="Rectangle 8">
            <a:extLst>
              <a:ext uri="{FF2B5EF4-FFF2-40B4-BE49-F238E27FC236}">
                <a16:creationId xmlns:a16="http://schemas.microsoft.com/office/drawing/2014/main" id="{F3080CB9-6ACC-4325-9A82-81298C9B9207}"/>
              </a:ext>
            </a:extLst>
          </p:cNvPr>
          <p:cNvSpPr>
            <a:spLocks noGrp="1"/>
          </p:cNvSpPr>
          <p:nvPr/>
        </p:nvSpPr>
        <p:spPr>
          <a:xfrm>
            <a:off x="9144000" y="2571750"/>
            <a:ext cx="2000250" cy="857250"/>
          </a:xfrm>
          <a:prstGeom prst="rect">
            <a:avLst/>
          </a:prstGeom>
          <a:solidFill>
            <a:srgbClr val="F3F6F9"/>
          </a:solidFill>
          <a:ln w="19050">
            <a:solidFill>
              <a:srgbClr val="0F6CBD"/>
            </a:solidFill>
            <a:prstDash val="solid"/>
          </a:ln>
        </p:spPr>
      </p:sp>
      <p:sp>
        <p:nvSpPr>
          <p:cNvPr id="10" name="Rectangle 9">
            <a:extLst>
              <a:ext uri="{FF2B5EF4-FFF2-40B4-BE49-F238E27FC236}">
                <a16:creationId xmlns:a16="http://schemas.microsoft.com/office/drawing/2014/main" id="{51A22616-B3A4-4835-BDE2-93621C0AEB1F}"/>
              </a:ext>
            </a:extLst>
          </p:cNvPr>
          <p:cNvSpPr>
            <a:spLocks noGrp="1"/>
          </p:cNvSpPr>
          <p:nvPr/>
        </p:nvSpPr>
        <p:spPr>
          <a:xfrm>
            <a:off x="9258300" y="2667000"/>
            <a:ext cx="1771650" cy="6667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SSO</a:t>
            </a:r>
          </a:p>
        </p:txBody>
      </p:sp>
      <p:sp>
        <p:nvSpPr>
          <p:cNvPr id="11" name="Rectangle 10">
            <a:extLst>
              <a:ext uri="{FF2B5EF4-FFF2-40B4-BE49-F238E27FC236}">
                <a16:creationId xmlns:a16="http://schemas.microsoft.com/office/drawing/2014/main" id="{FE5A0F80-E1F3-4D95-A8FA-EC13CC221749}"/>
              </a:ext>
            </a:extLst>
          </p:cNvPr>
          <p:cNvSpPr>
            <a:spLocks noGrp="1"/>
          </p:cNvSpPr>
          <p:nvPr/>
        </p:nvSpPr>
        <p:spPr>
          <a:xfrm>
            <a:off x="1047750" y="3714750"/>
            <a:ext cx="2000250" cy="666750"/>
          </a:xfrm>
          <a:prstGeom prst="rect">
            <a:avLst/>
          </a:prstGeom>
          <a:noFill/>
          <a:ln w="0">
            <a:noFill/>
            <a:prstDash val="solid"/>
          </a:ln>
        </p:spPr>
        <p:txBody>
          <a:bodyPr wrap="square" lIns="0" tIns="0" rIns="0" bIns="0" anchor="t">
            <a:normAutofit fontScale="96872"/>
          </a:bodyPr>
          <a:lstStyle/>
          <a:p>
            <a:pPr algn="ctr">
              <a:lnSpc>
                <a:spcPct val="104000"/>
              </a:lnSpc>
              <a:buNone/>
              <a:defRPr sz="1500" b="0">
                <a:solidFill>
                  <a:srgbClr val="51627A"/>
                </a:solidFill>
                <a:latin typeface="Aptos"/>
                <a:ea typeface="Aptos"/>
                <a:cs typeface="Aptos"/>
              </a:defRPr>
            </a:pPr>
            <a:r>
              <a:rPr sz="1500" b="0">
                <a:solidFill>
                  <a:srgbClr val="51627A"/>
                </a:solidFill>
                <a:latin typeface="Aptos"/>
                <a:ea typeface="Aptos"/>
                <a:cs typeface="Aptos"/>
              </a:rPr>
              <a:t>Hash de contraseña</a:t>
            </a:r>
          </a:p>
          <a:p>
            <a:pPr algn="ctr">
              <a:lnSpc>
                <a:spcPct val="104000"/>
              </a:lnSpc>
              <a:buNone/>
              <a:defRPr sz="1500" b="0">
                <a:solidFill>
                  <a:srgbClr val="51627A"/>
                </a:solidFill>
                <a:latin typeface="Aptos"/>
                <a:ea typeface="Aptos"/>
                <a:cs typeface="Aptos"/>
              </a:defRPr>
            </a:pPr>
            <a:r>
              <a:rPr sz="1500" b="0">
                <a:solidFill>
                  <a:srgbClr val="51627A"/>
                </a:solidFill>
                <a:latin typeface="Aptos"/>
                <a:ea typeface="Aptos"/>
                <a:cs typeface="Aptos"/>
              </a:rPr>
              <a:t>sincronizado en Entra</a:t>
            </a:r>
          </a:p>
        </p:txBody>
      </p:sp>
      <p:sp>
        <p:nvSpPr>
          <p:cNvPr id="12" name="Rectangle 11">
            <a:extLst>
              <a:ext uri="{FF2B5EF4-FFF2-40B4-BE49-F238E27FC236}">
                <a16:creationId xmlns:a16="http://schemas.microsoft.com/office/drawing/2014/main" id="{3B6BDEBE-1B4D-4FE3-BCF3-DA3BD3144148}"/>
              </a:ext>
            </a:extLst>
          </p:cNvPr>
          <p:cNvSpPr>
            <a:spLocks noGrp="1"/>
          </p:cNvSpPr>
          <p:nvPr/>
        </p:nvSpPr>
        <p:spPr>
          <a:xfrm>
            <a:off x="5095875" y="3714750"/>
            <a:ext cx="2000250" cy="666750"/>
          </a:xfrm>
          <a:prstGeom prst="rect">
            <a:avLst/>
          </a:prstGeom>
          <a:noFill/>
          <a:ln w="0">
            <a:noFill/>
            <a:prstDash val="solid"/>
          </a:ln>
        </p:spPr>
        <p:txBody>
          <a:bodyPr wrap="square" lIns="0" tIns="0" rIns="0" bIns="0" anchor="t">
            <a:normAutofit fontScale="93483"/>
          </a:bodyPr>
          <a:lstStyle/>
          <a:p>
            <a:pPr algn="ctr">
              <a:lnSpc>
                <a:spcPct val="104000"/>
              </a:lnSpc>
              <a:buNone/>
              <a:defRPr sz="1500" b="0">
                <a:solidFill>
                  <a:srgbClr val="51627A"/>
                </a:solidFill>
                <a:latin typeface="Aptos"/>
                <a:ea typeface="Aptos"/>
                <a:cs typeface="Aptos"/>
              </a:defRPr>
            </a:pPr>
            <a:r>
              <a:rPr sz="1500" b="0">
                <a:solidFill>
                  <a:srgbClr val="51627A"/>
                </a:solidFill>
                <a:latin typeface="Aptos"/>
                <a:ea typeface="Aptos"/>
                <a:cs typeface="Aptos"/>
              </a:rPr>
              <a:t>Validación en tiempo real</a:t>
            </a:r>
          </a:p>
          <a:p>
            <a:pPr algn="ctr">
              <a:lnSpc>
                <a:spcPct val="104000"/>
              </a:lnSpc>
              <a:buNone/>
              <a:defRPr sz="1500" b="0">
                <a:solidFill>
                  <a:srgbClr val="51627A"/>
                </a:solidFill>
                <a:latin typeface="Aptos"/>
                <a:ea typeface="Aptos"/>
                <a:cs typeface="Aptos"/>
              </a:defRPr>
            </a:pPr>
            <a:r>
              <a:rPr sz="1500" b="0">
                <a:solidFill>
                  <a:srgbClr val="51627A"/>
                </a:solidFill>
                <a:latin typeface="Aptos"/>
                <a:ea typeface="Aptos"/>
                <a:cs typeface="Aptos"/>
              </a:rPr>
              <a:t>contra AD DS local</a:t>
            </a:r>
          </a:p>
        </p:txBody>
      </p:sp>
      <p:sp>
        <p:nvSpPr>
          <p:cNvPr id="13" name="Rectangle 12">
            <a:extLst>
              <a:ext uri="{FF2B5EF4-FFF2-40B4-BE49-F238E27FC236}">
                <a16:creationId xmlns:a16="http://schemas.microsoft.com/office/drawing/2014/main" id="{82172F15-A0E9-44AE-8861-853124C814AA}"/>
              </a:ext>
            </a:extLst>
          </p:cNvPr>
          <p:cNvSpPr>
            <a:spLocks noGrp="1"/>
          </p:cNvSpPr>
          <p:nvPr/>
        </p:nvSpPr>
        <p:spPr>
          <a:xfrm>
            <a:off x="9144000" y="3714750"/>
            <a:ext cx="2000250" cy="666750"/>
          </a:xfrm>
          <a:prstGeom prst="rect">
            <a:avLst/>
          </a:prstGeom>
          <a:noFill/>
          <a:ln w="0">
            <a:noFill/>
            <a:prstDash val="solid"/>
          </a:ln>
        </p:spPr>
        <p:txBody>
          <a:bodyPr wrap="square" lIns="0" tIns="0" rIns="0" bIns="0" anchor="t">
            <a:normAutofit fontScale="93483"/>
          </a:bodyPr>
          <a:lstStyle/>
          <a:p>
            <a:pPr algn="ctr">
              <a:lnSpc>
                <a:spcPct val="104000"/>
              </a:lnSpc>
              <a:buNone/>
              <a:defRPr sz="1500" b="0">
                <a:solidFill>
                  <a:srgbClr val="51627A"/>
                </a:solidFill>
                <a:latin typeface="Aptos"/>
                <a:ea typeface="Aptos"/>
                <a:cs typeface="Aptos"/>
              </a:defRPr>
            </a:pPr>
            <a:r>
              <a:rPr sz="1500" b="0">
                <a:solidFill>
                  <a:srgbClr val="51627A"/>
                </a:solidFill>
                <a:latin typeface="Aptos"/>
                <a:ea typeface="Aptos"/>
                <a:cs typeface="Aptos"/>
              </a:rPr>
              <a:t>Reduce solicitudes</a:t>
            </a:r>
          </a:p>
          <a:p>
            <a:pPr algn="ctr">
              <a:lnSpc>
                <a:spcPct val="104000"/>
              </a:lnSpc>
              <a:buNone/>
              <a:defRPr sz="1500" b="0">
                <a:solidFill>
                  <a:srgbClr val="51627A"/>
                </a:solidFill>
                <a:latin typeface="Aptos"/>
                <a:ea typeface="Aptos"/>
                <a:cs typeface="Aptos"/>
              </a:defRPr>
            </a:pPr>
            <a:r>
              <a:rPr sz="1500" b="0">
                <a:solidFill>
                  <a:srgbClr val="51627A"/>
                </a:solidFill>
                <a:latin typeface="Aptos"/>
                <a:ea typeface="Aptos"/>
                <a:cs typeface="Aptos"/>
              </a:rPr>
              <a:t>repetidas de credenciales</a:t>
            </a:r>
          </a:p>
        </p:txBody>
      </p:sp>
      <p:sp>
        <p:nvSpPr>
          <p:cNvPr id="14" name="Straight Connector 13">
            <a:extLst>
              <a:ext uri="{FF2B5EF4-FFF2-40B4-BE49-F238E27FC236}">
                <a16:creationId xmlns:a16="http://schemas.microsoft.com/office/drawing/2014/main" id="{6A000D6F-14AB-4F5D-AC51-A83E95274799}"/>
              </a:ext>
            </a:extLst>
          </p:cNvPr>
          <p:cNvSpPr>
            <a:spLocks noGrp="1"/>
          </p:cNvSpPr>
          <p:nvPr/>
        </p:nvSpPr>
        <p:spPr>
          <a:xfrm>
            <a:off x="3048000" y="3000375"/>
            <a:ext cx="2047875" cy="0"/>
          </a:xfrm>
          <a:prstGeom prst="line">
            <a:avLst/>
          </a:prstGeom>
          <a:noFill/>
          <a:ln w="19050">
            <a:solidFill>
              <a:srgbClr val="C9D5E3"/>
            </a:solidFill>
            <a:prstDash val="dash"/>
          </a:ln>
        </p:spPr>
      </p:sp>
      <p:sp>
        <p:nvSpPr>
          <p:cNvPr id="15" name="Straight Connector 14">
            <a:extLst>
              <a:ext uri="{FF2B5EF4-FFF2-40B4-BE49-F238E27FC236}">
                <a16:creationId xmlns:a16="http://schemas.microsoft.com/office/drawing/2014/main" id="{C5E8A67A-A87A-40CD-A378-13A1C6C6ACF8}"/>
              </a:ext>
            </a:extLst>
          </p:cNvPr>
          <p:cNvSpPr>
            <a:spLocks noGrp="1"/>
          </p:cNvSpPr>
          <p:nvPr/>
        </p:nvSpPr>
        <p:spPr>
          <a:xfrm>
            <a:off x="7096125" y="3000375"/>
            <a:ext cx="2047875" cy="0"/>
          </a:xfrm>
          <a:prstGeom prst="line">
            <a:avLst/>
          </a:prstGeom>
          <a:noFill/>
          <a:ln w="19050">
            <a:solidFill>
              <a:srgbClr val="C9D5E3"/>
            </a:solidFill>
            <a:prstDash val="dash"/>
          </a:ln>
        </p:spPr>
      </p:sp>
      <p:sp>
        <p:nvSpPr>
          <p:cNvPr id="16" name="Rectangle 15">
            <a:extLst>
              <a:ext uri="{FF2B5EF4-FFF2-40B4-BE49-F238E27FC236}">
                <a16:creationId xmlns:a16="http://schemas.microsoft.com/office/drawing/2014/main" id="{E925FF67-367F-4CDF-B9BB-D53EC828A71D}"/>
              </a:ext>
            </a:extLst>
          </p:cNvPr>
          <p:cNvSpPr>
            <a:spLocks noGrp="1"/>
          </p:cNvSpPr>
          <p:nvPr/>
        </p:nvSpPr>
        <p:spPr>
          <a:xfrm>
            <a:off x="1619250" y="4953000"/>
            <a:ext cx="8953500" cy="609600"/>
          </a:xfrm>
          <a:prstGeom prst="rect">
            <a:avLst/>
          </a:prstGeom>
          <a:solidFill>
            <a:srgbClr val="0F6CBD"/>
          </a:solidFill>
          <a:ln w="0">
            <a:noFill/>
            <a:prstDash val="solid"/>
          </a:ln>
        </p:spPr>
      </p:sp>
      <p:sp>
        <p:nvSpPr>
          <p:cNvPr id="17" name="Rectangle 16">
            <a:extLst>
              <a:ext uri="{FF2B5EF4-FFF2-40B4-BE49-F238E27FC236}">
                <a16:creationId xmlns:a16="http://schemas.microsoft.com/office/drawing/2014/main" id="{FC7BA475-0D76-4400-B113-8E1AAB3DD153}"/>
              </a:ext>
            </a:extLst>
          </p:cNvPr>
          <p:cNvSpPr>
            <a:spLocks noGrp="1"/>
          </p:cNvSpPr>
          <p:nvPr/>
        </p:nvSpPr>
        <p:spPr>
          <a:xfrm>
            <a:off x="1952625" y="5095875"/>
            <a:ext cx="8286750" cy="323850"/>
          </a:xfrm>
          <a:prstGeom prst="rect">
            <a:avLst/>
          </a:prstGeom>
          <a:noFill/>
          <a:ln w="0">
            <a:noFill/>
            <a:prstDash val="solid"/>
          </a:ln>
        </p:spPr>
        <p:txBody>
          <a:bodyPr wrap="square" lIns="0" tIns="0" rIns="0" bIns="0" anchor="t">
            <a:normAutofit fontScale="76972"/>
          </a:bodyPr>
          <a:lstStyle/>
          <a:p>
            <a:pPr algn="ctr">
              <a:lnSpc>
                <a:spcPct val="104000"/>
              </a:lnSpc>
              <a:buNone/>
              <a:defRPr sz="1725" b="1">
                <a:solidFill>
                  <a:srgbClr val="FFFFFF"/>
                </a:solidFill>
                <a:latin typeface="Aptos"/>
                <a:ea typeface="Aptos"/>
                <a:cs typeface="Aptos"/>
              </a:defRPr>
            </a:pPr>
            <a:r>
              <a:rPr sz="1725" b="1">
                <a:solidFill>
                  <a:srgbClr val="FFFFFF"/>
                </a:solidFill>
                <a:latin typeface="Aptos"/>
                <a:ea typeface="Aptos"/>
                <a:cs typeface="Aptos"/>
              </a:rPr>
              <a:t>Mantener PHS puede aportar continuidad si la infraestructura local no está disponible.</a:t>
            </a:r>
          </a:p>
        </p:txBody>
      </p:sp>
      <p:sp>
        <p:nvSpPr>
          <p:cNvPr id="18" name="Rectangle 17">
            <a:extLst>
              <a:ext uri="{FF2B5EF4-FFF2-40B4-BE49-F238E27FC236}">
                <a16:creationId xmlns:a16="http://schemas.microsoft.com/office/drawing/2014/main" id="{7C9EBD45-B8E9-47CA-A468-F0AF6813A066}"/>
              </a:ext>
            </a:extLst>
          </p:cNvPr>
          <p:cNvSpPr>
            <a:spLocks noGrp="1"/>
          </p:cNvSpPr>
          <p:nvPr/>
        </p:nvSpPr>
        <p:spPr>
          <a:xfrm>
            <a:off x="1047750" y="5857875"/>
            <a:ext cx="10096500" cy="285750"/>
          </a:xfrm>
          <a:prstGeom prst="rect">
            <a:avLst/>
          </a:prstGeom>
          <a:noFill/>
          <a:ln w="0">
            <a:noFill/>
            <a:prstDash val="solid"/>
          </a:ln>
        </p:spPr>
        <p:txBody>
          <a:bodyPr wrap="square" lIns="0" tIns="0" rIns="0" bIns="0" anchor="t">
            <a:normAutofit/>
          </a:bodyPr>
          <a:lstStyle/>
          <a:p>
            <a:pPr algn="ctr">
              <a:lnSpc>
                <a:spcPct val="104000"/>
              </a:lnSpc>
              <a:buNone/>
              <a:defRPr sz="1350" b="0">
                <a:solidFill>
                  <a:srgbClr val="51627A"/>
                </a:solidFill>
                <a:latin typeface="Aptos"/>
                <a:ea typeface="Aptos"/>
                <a:cs typeface="Aptos"/>
              </a:defRPr>
            </a:pPr>
            <a:r>
              <a:rPr sz="1350" b="0">
                <a:solidFill>
                  <a:srgbClr val="51627A"/>
                </a:solidFill>
                <a:latin typeface="Aptos"/>
                <a:ea typeface="Aptos"/>
                <a:cs typeface="Aptos"/>
              </a:rPr>
              <a:t>Sin SSO: PHS únicamente · Con AD FS: identificar granja, cuenta de servicio y certificado TLS/SSL</a:t>
            </a:r>
          </a:p>
        </p:txBody>
      </p:sp>
      <p:sp>
        <p:nvSpPr>
          <p:cNvPr id="19" name="Rectangle 18">
            <a:extLst>
              <a:ext uri="{FF2B5EF4-FFF2-40B4-BE49-F238E27FC236}">
                <a16:creationId xmlns:a16="http://schemas.microsoft.com/office/drawing/2014/main" id="{DABE0B40-448C-40D2-A9EF-55C5AC4A7722}"/>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14</a:t>
            </a:r>
          </a:p>
        </p:txBody>
      </p:sp>
    </p:spTree>
    <p:extLst>
      <p:ext uri="{BB962C8B-B14F-4D97-AF65-F5344CB8AC3E}">
        <p14:creationId xmlns:p14="http://schemas.microsoft.com/office/powerpoint/2010/main" val="1924120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2470EDAE-A3D6-497C-9FBE-D815E6186B77}"/>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D92BE9BD-3F0E-43DE-9207-EA6516F5BFC9}"/>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ALTA DISPONIBILIDAD DE CONNECT SYNC</a:t>
            </a:r>
          </a:p>
        </p:txBody>
      </p:sp>
      <p:sp>
        <p:nvSpPr>
          <p:cNvPr id="3" name="Rectangle 2">
            <a:extLst>
              <a:ext uri="{FF2B5EF4-FFF2-40B4-BE49-F238E27FC236}">
                <a16:creationId xmlns:a16="http://schemas.microsoft.com/office/drawing/2014/main" id="{FC5D2586-F142-4B85-B8D3-C8D246DA98AA}"/>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Staging mode aporta recuperación sin exportar cambios</a:t>
            </a:r>
          </a:p>
        </p:txBody>
      </p:sp>
      <p:sp>
        <p:nvSpPr>
          <p:cNvPr id="4" name="Straight Connector 3">
            <a:extLst>
              <a:ext uri="{FF2B5EF4-FFF2-40B4-BE49-F238E27FC236}">
                <a16:creationId xmlns:a16="http://schemas.microsoft.com/office/drawing/2014/main" id="{80E230D3-548C-49B7-B0CC-A34DBE14566F}"/>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20209E87-FCC5-48AD-A08E-FF2B57EDB73A}"/>
              </a:ext>
            </a:extLst>
          </p:cNvPr>
          <p:cNvSpPr>
            <a:spLocks noGrp="1"/>
          </p:cNvSpPr>
          <p:nvPr/>
        </p:nvSpPr>
        <p:spPr>
          <a:xfrm>
            <a:off x="666750" y="3048000"/>
            <a:ext cx="1714500" cy="762000"/>
          </a:xfrm>
          <a:prstGeom prst="rect">
            <a:avLst/>
          </a:prstGeom>
          <a:solidFill>
            <a:srgbClr val="F3F6F9"/>
          </a:solidFill>
          <a:ln w="19050">
            <a:solidFill>
              <a:srgbClr val="0F6CBD"/>
            </a:solidFill>
            <a:prstDash val="solid"/>
          </a:ln>
        </p:spPr>
      </p:sp>
      <p:sp>
        <p:nvSpPr>
          <p:cNvPr id="6" name="Rectangle 5">
            <a:extLst>
              <a:ext uri="{FF2B5EF4-FFF2-40B4-BE49-F238E27FC236}">
                <a16:creationId xmlns:a16="http://schemas.microsoft.com/office/drawing/2014/main" id="{91B41615-570A-483A-8DC0-25526367C28A}"/>
              </a:ext>
            </a:extLst>
          </p:cNvPr>
          <p:cNvSpPr>
            <a:spLocks noGrp="1"/>
          </p:cNvSpPr>
          <p:nvPr/>
        </p:nvSpPr>
        <p:spPr>
          <a:xfrm>
            <a:off x="781050" y="3143250"/>
            <a:ext cx="1485900" cy="5715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AD DS</a:t>
            </a:r>
          </a:p>
        </p:txBody>
      </p:sp>
      <p:sp>
        <p:nvSpPr>
          <p:cNvPr id="7" name="Rectangle 6">
            <a:extLst>
              <a:ext uri="{FF2B5EF4-FFF2-40B4-BE49-F238E27FC236}">
                <a16:creationId xmlns:a16="http://schemas.microsoft.com/office/drawing/2014/main" id="{2032F122-3B9D-46B3-AF9D-29731B28C913}"/>
              </a:ext>
            </a:extLst>
          </p:cNvPr>
          <p:cNvSpPr>
            <a:spLocks noGrp="1"/>
          </p:cNvSpPr>
          <p:nvPr/>
        </p:nvSpPr>
        <p:spPr>
          <a:xfrm>
            <a:off x="4095750" y="2286000"/>
            <a:ext cx="2286000" cy="781050"/>
          </a:xfrm>
          <a:prstGeom prst="rect">
            <a:avLst/>
          </a:prstGeom>
          <a:solidFill>
            <a:srgbClr val="DFF3FF"/>
          </a:solidFill>
          <a:ln w="19050">
            <a:solidFill>
              <a:srgbClr val="0F6CBD"/>
            </a:solidFill>
            <a:prstDash val="solid"/>
          </a:ln>
        </p:spPr>
      </p:sp>
      <p:sp>
        <p:nvSpPr>
          <p:cNvPr id="8" name="Rectangle 7">
            <a:extLst>
              <a:ext uri="{FF2B5EF4-FFF2-40B4-BE49-F238E27FC236}">
                <a16:creationId xmlns:a16="http://schemas.microsoft.com/office/drawing/2014/main" id="{23D7E03C-CEE9-4CE5-A1E1-C9808CAE2C6D}"/>
              </a:ext>
            </a:extLst>
          </p:cNvPr>
          <p:cNvSpPr>
            <a:spLocks noGrp="1"/>
          </p:cNvSpPr>
          <p:nvPr/>
        </p:nvSpPr>
        <p:spPr>
          <a:xfrm>
            <a:off x="4210050" y="2381250"/>
            <a:ext cx="2057400" cy="5905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Servidor activo</a:t>
            </a:r>
          </a:p>
        </p:txBody>
      </p:sp>
      <p:sp>
        <p:nvSpPr>
          <p:cNvPr id="9" name="Rectangle 8">
            <a:extLst>
              <a:ext uri="{FF2B5EF4-FFF2-40B4-BE49-F238E27FC236}">
                <a16:creationId xmlns:a16="http://schemas.microsoft.com/office/drawing/2014/main" id="{9397FFD7-607E-4450-844B-85EF3DC7D0A5}"/>
              </a:ext>
            </a:extLst>
          </p:cNvPr>
          <p:cNvSpPr>
            <a:spLocks noGrp="1"/>
          </p:cNvSpPr>
          <p:nvPr/>
        </p:nvSpPr>
        <p:spPr>
          <a:xfrm>
            <a:off x="4095750" y="4191000"/>
            <a:ext cx="2286000" cy="781050"/>
          </a:xfrm>
          <a:prstGeom prst="rect">
            <a:avLst/>
          </a:prstGeom>
          <a:solidFill>
            <a:srgbClr val="FFFFFF"/>
          </a:solidFill>
          <a:ln w="19050">
            <a:solidFill>
              <a:srgbClr val="008A88"/>
            </a:solidFill>
            <a:prstDash val="solid"/>
          </a:ln>
        </p:spPr>
      </p:sp>
      <p:sp>
        <p:nvSpPr>
          <p:cNvPr id="10" name="Rectangle 9">
            <a:extLst>
              <a:ext uri="{FF2B5EF4-FFF2-40B4-BE49-F238E27FC236}">
                <a16:creationId xmlns:a16="http://schemas.microsoft.com/office/drawing/2014/main" id="{87B1BB9A-80D8-490A-A49C-58C7853DCDB2}"/>
              </a:ext>
            </a:extLst>
          </p:cNvPr>
          <p:cNvSpPr>
            <a:spLocks noGrp="1"/>
          </p:cNvSpPr>
          <p:nvPr/>
        </p:nvSpPr>
        <p:spPr>
          <a:xfrm>
            <a:off x="4210050" y="4286250"/>
            <a:ext cx="2057400" cy="5905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Servidor staging</a:t>
            </a:r>
          </a:p>
        </p:txBody>
      </p:sp>
      <p:sp>
        <p:nvSpPr>
          <p:cNvPr id="11" name="Rectangle 10">
            <a:extLst>
              <a:ext uri="{FF2B5EF4-FFF2-40B4-BE49-F238E27FC236}">
                <a16:creationId xmlns:a16="http://schemas.microsoft.com/office/drawing/2014/main" id="{EE9F787F-B123-4D39-B3A4-F03D1F96D5F4}"/>
              </a:ext>
            </a:extLst>
          </p:cNvPr>
          <p:cNvSpPr>
            <a:spLocks noGrp="1"/>
          </p:cNvSpPr>
          <p:nvPr/>
        </p:nvSpPr>
        <p:spPr>
          <a:xfrm>
            <a:off x="9239250" y="3048000"/>
            <a:ext cx="2190750" cy="762000"/>
          </a:xfrm>
          <a:prstGeom prst="rect">
            <a:avLst/>
          </a:prstGeom>
          <a:solidFill>
            <a:srgbClr val="FFFFFF"/>
          </a:solidFill>
          <a:ln w="19050">
            <a:solidFill>
              <a:srgbClr val="0F6CBD"/>
            </a:solidFill>
            <a:prstDash val="solid"/>
          </a:ln>
        </p:spPr>
      </p:sp>
      <p:sp>
        <p:nvSpPr>
          <p:cNvPr id="12" name="Rectangle 11">
            <a:extLst>
              <a:ext uri="{FF2B5EF4-FFF2-40B4-BE49-F238E27FC236}">
                <a16:creationId xmlns:a16="http://schemas.microsoft.com/office/drawing/2014/main" id="{37F5CFB2-6642-4B54-87CA-BD9C7DD93634}"/>
              </a:ext>
            </a:extLst>
          </p:cNvPr>
          <p:cNvSpPr>
            <a:spLocks noGrp="1"/>
          </p:cNvSpPr>
          <p:nvPr/>
        </p:nvSpPr>
        <p:spPr>
          <a:xfrm>
            <a:off x="9353550" y="3143250"/>
            <a:ext cx="1962150" cy="5715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Microsoft Entra ID</a:t>
            </a:r>
          </a:p>
        </p:txBody>
      </p:sp>
      <p:cxnSp>
        <p:nvCxnSpPr>
          <p:cNvPr id="13" name="Connector: Elbow 12"/>
          <p:cNvCxnSpPr>
            <a:stCxn id="5" idx="3"/>
            <a:endCxn id="7" idx="1"/>
          </p:cNvCxnSpPr>
          <p:nvPr/>
        </p:nvCxnSpPr>
        <p:spPr>
          <a:xfrm flipV="1">
            <a:off x="2381250" y="2676525"/>
            <a:ext cx="1714500" cy="752475"/>
          </a:xfrm>
          <a:prstGeom prst="bentConnector3">
            <a:avLst>
              <a:gd name="adj1" fmla="val 50000"/>
            </a:avLst>
          </a:prstGeom>
          <a:ln w="28575">
            <a:solidFill>
              <a:srgbClr val="0F6CBD"/>
            </a:solidFill>
            <a:prstDash val="solid"/>
            <a:tailEnd type="arrow" w="sm" len="sm"/>
          </a:ln>
        </p:spPr>
      </p:cxnSp>
      <p:cxnSp>
        <p:nvCxnSpPr>
          <p:cNvPr id="14" name="Connector: Elbow 13"/>
          <p:cNvCxnSpPr>
            <a:stCxn id="7" idx="3"/>
            <a:endCxn id="11" idx="1"/>
          </p:cNvCxnSpPr>
          <p:nvPr/>
        </p:nvCxnSpPr>
        <p:spPr>
          <a:xfrm>
            <a:off x="6381750" y="2676525"/>
            <a:ext cx="2857500" cy="752475"/>
          </a:xfrm>
          <a:prstGeom prst="bentConnector3">
            <a:avLst>
              <a:gd name="adj1" fmla="val 50000"/>
            </a:avLst>
          </a:prstGeom>
          <a:ln w="28575">
            <a:solidFill>
              <a:srgbClr val="0F6CBD"/>
            </a:solidFill>
            <a:prstDash val="solid"/>
            <a:tailEnd type="arrow" w="sm" len="sm"/>
          </a:ln>
        </p:spPr>
      </p:cxnSp>
      <p:cxnSp>
        <p:nvCxnSpPr>
          <p:cNvPr id="15" name="Connector: Elbow 14"/>
          <p:cNvCxnSpPr>
            <a:stCxn id="5" idx="3"/>
            <a:endCxn id="9" idx="1"/>
          </p:cNvCxnSpPr>
          <p:nvPr/>
        </p:nvCxnSpPr>
        <p:spPr>
          <a:xfrm>
            <a:off x="2381250" y="3429000"/>
            <a:ext cx="1714500" cy="1152525"/>
          </a:xfrm>
          <a:prstGeom prst="bentConnector3">
            <a:avLst>
              <a:gd name="adj1" fmla="val 50000"/>
            </a:avLst>
          </a:prstGeom>
          <a:ln w="19050">
            <a:solidFill>
              <a:srgbClr val="008A88"/>
            </a:solidFill>
            <a:prstDash val="dash"/>
            <a:tailEnd type="arrow" w="sm" len="sm"/>
          </a:ln>
        </p:spPr>
      </p:cxnSp>
      <p:cxnSp>
        <p:nvCxnSpPr>
          <p:cNvPr id="16" name="Connector: Elbow 15"/>
          <p:cNvCxnSpPr>
            <a:stCxn id="9" idx="3"/>
            <a:endCxn id="11" idx="1"/>
          </p:cNvCxnSpPr>
          <p:nvPr/>
        </p:nvCxnSpPr>
        <p:spPr>
          <a:xfrm flipV="1">
            <a:off x="6381750" y="3429000"/>
            <a:ext cx="2857500" cy="1152525"/>
          </a:xfrm>
          <a:prstGeom prst="bentConnector3">
            <a:avLst>
              <a:gd name="adj1" fmla="val 50000"/>
            </a:avLst>
          </a:prstGeom>
          <a:ln w="19050">
            <a:solidFill>
              <a:srgbClr val="008A88"/>
            </a:solidFill>
            <a:prstDash val="dash"/>
          </a:ln>
        </p:spPr>
      </p:cxnSp>
      <p:sp>
        <p:nvSpPr>
          <p:cNvPr id="17" name="Rectangle 16">
            <a:extLst>
              <a:ext uri="{FF2B5EF4-FFF2-40B4-BE49-F238E27FC236}">
                <a16:creationId xmlns:a16="http://schemas.microsoft.com/office/drawing/2014/main" id="{E885ABE1-2BC9-46BF-BD3D-4080755B7D12}"/>
              </a:ext>
            </a:extLst>
          </p:cNvPr>
          <p:cNvSpPr>
            <a:spLocks noGrp="1"/>
          </p:cNvSpPr>
          <p:nvPr/>
        </p:nvSpPr>
        <p:spPr>
          <a:xfrm>
            <a:off x="3810000" y="1952625"/>
            <a:ext cx="2857500" cy="228600"/>
          </a:xfrm>
          <a:prstGeom prst="rect">
            <a:avLst/>
          </a:prstGeom>
          <a:noFill/>
          <a:ln w="0">
            <a:noFill/>
            <a:prstDash val="solid"/>
          </a:ln>
        </p:spPr>
        <p:txBody>
          <a:bodyPr wrap="square" lIns="0" tIns="0" rIns="0" bIns="0" anchor="t">
            <a:normAutofit fontScale="98750"/>
          </a:bodyPr>
          <a:lstStyle/>
          <a:p>
            <a:pPr algn="ctr">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IMPORTA + SINCRONIZA + EXPORTA</a:t>
            </a:r>
          </a:p>
        </p:txBody>
      </p:sp>
      <p:sp>
        <p:nvSpPr>
          <p:cNvPr id="18" name="Rectangle 17">
            <a:extLst>
              <a:ext uri="{FF2B5EF4-FFF2-40B4-BE49-F238E27FC236}">
                <a16:creationId xmlns:a16="http://schemas.microsoft.com/office/drawing/2014/main" id="{5E7AD06E-5F12-489B-BC13-9E03A25778A9}"/>
              </a:ext>
            </a:extLst>
          </p:cNvPr>
          <p:cNvSpPr>
            <a:spLocks noGrp="1"/>
          </p:cNvSpPr>
          <p:nvPr/>
        </p:nvSpPr>
        <p:spPr>
          <a:xfrm>
            <a:off x="3714750" y="5143500"/>
            <a:ext cx="3048000" cy="228600"/>
          </a:xfrm>
          <a:prstGeom prst="rect">
            <a:avLst/>
          </a:prstGeom>
          <a:noFill/>
          <a:ln w="0">
            <a:noFill/>
            <a:prstDash val="solid"/>
          </a:ln>
        </p:spPr>
        <p:txBody>
          <a:bodyPr wrap="square" lIns="0" tIns="0" rIns="0" bIns="0" anchor="t">
            <a:normAutofit fontScale="97810"/>
          </a:bodyPr>
          <a:lstStyle/>
          <a:p>
            <a:pPr algn="ctr">
              <a:lnSpc>
                <a:spcPct val="104000"/>
              </a:lnSpc>
              <a:buNone/>
              <a:defRPr sz="1125" b="1">
                <a:solidFill>
                  <a:srgbClr val="008A88"/>
                </a:solidFill>
                <a:latin typeface="Aptos"/>
                <a:ea typeface="Aptos"/>
                <a:cs typeface="Aptos"/>
              </a:defRPr>
            </a:pPr>
            <a:r>
              <a:rPr sz="1125" b="1">
                <a:solidFill>
                  <a:srgbClr val="008A88"/>
                </a:solidFill>
                <a:latin typeface="Aptos"/>
                <a:ea typeface="Aptos"/>
                <a:cs typeface="Aptos"/>
              </a:rPr>
              <a:t>IMPORTA + SINCRONIZA · NO EXPORTA</a:t>
            </a:r>
          </a:p>
        </p:txBody>
      </p:sp>
      <p:sp>
        <p:nvSpPr>
          <p:cNvPr id="19" name="Rectangle 18">
            <a:extLst>
              <a:ext uri="{FF2B5EF4-FFF2-40B4-BE49-F238E27FC236}">
                <a16:creationId xmlns:a16="http://schemas.microsoft.com/office/drawing/2014/main" id="{429A47B5-ED67-4188-8272-109931260A76}"/>
              </a:ext>
            </a:extLst>
          </p:cNvPr>
          <p:cNvSpPr>
            <a:spLocks noGrp="1"/>
          </p:cNvSpPr>
          <p:nvPr/>
        </p:nvSpPr>
        <p:spPr>
          <a:xfrm>
            <a:off x="1714500" y="5857875"/>
            <a:ext cx="8763000" cy="304800"/>
          </a:xfrm>
          <a:prstGeom prst="rect">
            <a:avLst/>
          </a:prstGeom>
          <a:noFill/>
          <a:ln w="0">
            <a:noFill/>
            <a:prstDash val="solid"/>
          </a:ln>
        </p:spPr>
        <p:txBody>
          <a:bodyPr wrap="square" lIns="0" tIns="0" rIns="0" bIns="0" anchor="t">
            <a:normAutofit fontScale="92684"/>
          </a:bodyPr>
          <a:lstStyle/>
          <a:p>
            <a:pPr algn="ctr">
              <a:lnSpc>
                <a:spcPct val="104000"/>
              </a:lnSpc>
              <a:buNone/>
              <a:defRPr sz="1650" b="1">
                <a:solidFill>
                  <a:srgbClr val="17233C"/>
                </a:solidFill>
                <a:latin typeface="Aptos"/>
                <a:ea typeface="Aptos"/>
                <a:cs typeface="Aptos"/>
              </a:defRPr>
            </a:pPr>
            <a:r>
              <a:rPr sz="1650" b="1">
                <a:solidFill>
                  <a:srgbClr val="17233C"/>
                </a:solidFill>
                <a:latin typeface="Aptos"/>
                <a:ea typeface="Aptos"/>
                <a:cs typeface="Aptos"/>
              </a:rPr>
              <a:t>Uso: alta disponibilidad · pruebas · recuperación · migraciones · actualizaciones</a:t>
            </a:r>
          </a:p>
        </p:txBody>
      </p:sp>
      <p:sp>
        <p:nvSpPr>
          <p:cNvPr id="20" name="Rectangle 19">
            <a:extLst>
              <a:ext uri="{FF2B5EF4-FFF2-40B4-BE49-F238E27FC236}">
                <a16:creationId xmlns:a16="http://schemas.microsoft.com/office/drawing/2014/main" id="{36BAD031-13F8-4A31-8F1D-E0D36618463F}"/>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15</a:t>
            </a:r>
          </a:p>
        </p:txBody>
      </p:sp>
    </p:spTree>
    <p:extLst>
      <p:ext uri="{BB962C8B-B14F-4D97-AF65-F5344CB8AC3E}">
        <p14:creationId xmlns:p14="http://schemas.microsoft.com/office/powerpoint/2010/main" val="680768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CF81562-BB8D-4B64-8F85-F1F82FAFDDBC}"/>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C219E7F1-B4DF-4066-BE51-3C0BB5CE0B4E}"/>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SUPERVISIÓN</a:t>
            </a:r>
          </a:p>
        </p:txBody>
      </p:sp>
      <p:sp>
        <p:nvSpPr>
          <p:cNvPr id="3" name="Rectangle 2">
            <a:extLst>
              <a:ext uri="{FF2B5EF4-FFF2-40B4-BE49-F238E27FC236}">
                <a16:creationId xmlns:a16="http://schemas.microsoft.com/office/drawing/2014/main" id="{7912BDDF-AC2A-401A-A83F-6095C6C6B9B4}"/>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89257"/>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Connect Health convierte señales en acciones</a:t>
            </a:r>
          </a:p>
        </p:txBody>
      </p:sp>
      <p:sp>
        <p:nvSpPr>
          <p:cNvPr id="4" name="Straight Connector 3">
            <a:extLst>
              <a:ext uri="{FF2B5EF4-FFF2-40B4-BE49-F238E27FC236}">
                <a16:creationId xmlns:a16="http://schemas.microsoft.com/office/drawing/2014/main" id="{838FE66D-D89B-45A2-BFE1-05C15FD407D9}"/>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0D1617C9-900B-444B-888B-0F93C1655C42}"/>
              </a:ext>
            </a:extLst>
          </p:cNvPr>
          <p:cNvSpPr>
            <a:spLocks noGrp="1"/>
          </p:cNvSpPr>
          <p:nvPr/>
        </p:nvSpPr>
        <p:spPr>
          <a:xfrm>
            <a:off x="4762500" y="2857500"/>
            <a:ext cx="2667000" cy="1047750"/>
          </a:xfrm>
          <a:prstGeom prst="rect">
            <a:avLst/>
          </a:prstGeom>
          <a:solidFill>
            <a:srgbClr val="DFF3FF"/>
          </a:solidFill>
          <a:ln w="19050">
            <a:solidFill>
              <a:srgbClr val="0F6CBD"/>
            </a:solidFill>
            <a:prstDash val="solid"/>
          </a:ln>
        </p:spPr>
      </p:sp>
      <p:sp>
        <p:nvSpPr>
          <p:cNvPr id="6" name="Rectangle 5">
            <a:extLst>
              <a:ext uri="{FF2B5EF4-FFF2-40B4-BE49-F238E27FC236}">
                <a16:creationId xmlns:a16="http://schemas.microsoft.com/office/drawing/2014/main" id="{997B60DD-D651-4453-9AFB-F06FB9BB3397}"/>
              </a:ext>
            </a:extLst>
          </p:cNvPr>
          <p:cNvSpPr>
            <a:spLocks noGrp="1"/>
          </p:cNvSpPr>
          <p:nvPr/>
        </p:nvSpPr>
        <p:spPr>
          <a:xfrm>
            <a:off x="4876800" y="2952750"/>
            <a:ext cx="2438400" cy="8572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Microsoft Entra</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Connect Health</a:t>
            </a:r>
          </a:p>
        </p:txBody>
      </p:sp>
      <p:sp>
        <p:nvSpPr>
          <p:cNvPr id="7" name="Rectangle 6">
            <a:extLst>
              <a:ext uri="{FF2B5EF4-FFF2-40B4-BE49-F238E27FC236}">
                <a16:creationId xmlns:a16="http://schemas.microsoft.com/office/drawing/2014/main" id="{163EA9FD-44EF-4310-B383-B36ADE9B57CC}"/>
              </a:ext>
            </a:extLst>
          </p:cNvPr>
          <p:cNvSpPr>
            <a:spLocks noGrp="1"/>
          </p:cNvSpPr>
          <p:nvPr/>
        </p:nvSpPr>
        <p:spPr>
          <a:xfrm>
            <a:off x="857250" y="2095500"/>
            <a:ext cx="2095500" cy="685800"/>
          </a:xfrm>
          <a:prstGeom prst="rect">
            <a:avLst/>
          </a:prstGeom>
          <a:solidFill>
            <a:srgbClr val="FFFFFF"/>
          </a:solidFill>
          <a:ln w="19050">
            <a:solidFill>
              <a:srgbClr val="C9D5E3"/>
            </a:solidFill>
            <a:prstDash val="solid"/>
          </a:ln>
        </p:spPr>
      </p:sp>
      <p:sp>
        <p:nvSpPr>
          <p:cNvPr id="8" name="Rectangle 7">
            <a:extLst>
              <a:ext uri="{FF2B5EF4-FFF2-40B4-BE49-F238E27FC236}">
                <a16:creationId xmlns:a16="http://schemas.microsoft.com/office/drawing/2014/main" id="{4DC88E67-F5CA-4326-8E5A-0B242B831143}"/>
              </a:ext>
            </a:extLst>
          </p:cNvPr>
          <p:cNvSpPr>
            <a:spLocks noGrp="1"/>
          </p:cNvSpPr>
          <p:nvPr/>
        </p:nvSpPr>
        <p:spPr>
          <a:xfrm>
            <a:off x="971550" y="2190750"/>
            <a:ext cx="1866900" cy="4953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Alertas</a:t>
            </a:r>
          </a:p>
        </p:txBody>
      </p:sp>
      <p:cxnSp>
        <p:nvCxnSpPr>
          <p:cNvPr id="9" name="Straight Arrow Connector 8"/>
          <p:cNvCxnSpPr>
            <a:stCxn id="5" idx="1"/>
            <a:endCxn id="7" idx="3"/>
          </p:cNvCxnSpPr>
          <p:nvPr/>
        </p:nvCxnSpPr>
        <p:spPr>
          <a:xfrm flipH="1" flipV="1">
            <a:off x="2952750" y="2438400"/>
            <a:ext cx="1809750" cy="942975"/>
          </a:xfrm>
          <a:prstGeom prst="straightConnector1">
            <a:avLst/>
          </a:prstGeom>
          <a:ln w="19050">
            <a:solidFill>
              <a:srgbClr val="008A88"/>
            </a:solidFill>
            <a:prstDash val="solid"/>
          </a:ln>
        </p:spPr>
      </p:cxnSp>
      <p:sp>
        <p:nvSpPr>
          <p:cNvPr id="10" name="Rectangle 9">
            <a:extLst>
              <a:ext uri="{FF2B5EF4-FFF2-40B4-BE49-F238E27FC236}">
                <a16:creationId xmlns:a16="http://schemas.microsoft.com/office/drawing/2014/main" id="{F46CA4BF-84E2-42A9-A614-59D856037ABF}"/>
              </a:ext>
            </a:extLst>
          </p:cNvPr>
          <p:cNvSpPr>
            <a:spLocks noGrp="1"/>
          </p:cNvSpPr>
          <p:nvPr/>
        </p:nvSpPr>
        <p:spPr>
          <a:xfrm>
            <a:off x="857250" y="4286250"/>
            <a:ext cx="2095500" cy="685800"/>
          </a:xfrm>
          <a:prstGeom prst="rect">
            <a:avLst/>
          </a:prstGeom>
          <a:solidFill>
            <a:srgbClr val="FFFFFF"/>
          </a:solidFill>
          <a:ln w="19050">
            <a:solidFill>
              <a:srgbClr val="C9D5E3"/>
            </a:solidFill>
            <a:prstDash val="solid"/>
          </a:ln>
        </p:spPr>
      </p:sp>
      <p:sp>
        <p:nvSpPr>
          <p:cNvPr id="11" name="Rectangle 10">
            <a:extLst>
              <a:ext uri="{FF2B5EF4-FFF2-40B4-BE49-F238E27FC236}">
                <a16:creationId xmlns:a16="http://schemas.microsoft.com/office/drawing/2014/main" id="{C6BB7793-8564-4318-9454-489DC2E725E1}"/>
              </a:ext>
            </a:extLst>
          </p:cNvPr>
          <p:cNvSpPr>
            <a:spLocks noGrp="1"/>
          </p:cNvSpPr>
          <p:nvPr/>
        </p:nvSpPr>
        <p:spPr>
          <a:xfrm>
            <a:off x="971550" y="4381500"/>
            <a:ext cx="1866900" cy="4953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Rendimiento</a:t>
            </a:r>
          </a:p>
        </p:txBody>
      </p:sp>
      <p:cxnSp>
        <p:nvCxnSpPr>
          <p:cNvPr id="12" name="Straight Arrow Connector 11"/>
          <p:cNvCxnSpPr>
            <a:stCxn id="5" idx="1"/>
            <a:endCxn id="10" idx="3"/>
          </p:cNvCxnSpPr>
          <p:nvPr/>
        </p:nvCxnSpPr>
        <p:spPr>
          <a:xfrm flipH="1">
            <a:off x="2952750" y="3381375"/>
            <a:ext cx="1809750" cy="1247775"/>
          </a:xfrm>
          <a:prstGeom prst="straightConnector1">
            <a:avLst/>
          </a:prstGeom>
          <a:ln w="19050">
            <a:solidFill>
              <a:srgbClr val="008A88"/>
            </a:solidFill>
            <a:prstDash val="solid"/>
          </a:ln>
        </p:spPr>
      </p:cxnSp>
      <p:sp>
        <p:nvSpPr>
          <p:cNvPr id="13" name="Rectangle 12">
            <a:extLst>
              <a:ext uri="{FF2B5EF4-FFF2-40B4-BE49-F238E27FC236}">
                <a16:creationId xmlns:a16="http://schemas.microsoft.com/office/drawing/2014/main" id="{304B97CA-B5EB-4796-893C-7A4B21BB1A2E}"/>
              </a:ext>
            </a:extLst>
          </p:cNvPr>
          <p:cNvSpPr>
            <a:spLocks noGrp="1"/>
          </p:cNvSpPr>
          <p:nvPr/>
        </p:nvSpPr>
        <p:spPr>
          <a:xfrm>
            <a:off x="8858250" y="2095500"/>
            <a:ext cx="2095500" cy="685800"/>
          </a:xfrm>
          <a:prstGeom prst="rect">
            <a:avLst/>
          </a:prstGeom>
          <a:solidFill>
            <a:srgbClr val="FFFFFF"/>
          </a:solidFill>
          <a:ln w="19050">
            <a:solidFill>
              <a:srgbClr val="C9D5E3"/>
            </a:solidFill>
            <a:prstDash val="solid"/>
          </a:ln>
        </p:spPr>
      </p:sp>
      <p:sp>
        <p:nvSpPr>
          <p:cNvPr id="14" name="Rectangle 13">
            <a:extLst>
              <a:ext uri="{FF2B5EF4-FFF2-40B4-BE49-F238E27FC236}">
                <a16:creationId xmlns:a16="http://schemas.microsoft.com/office/drawing/2014/main" id="{9BCC0308-C142-4D43-BAA7-4B8D96173A20}"/>
              </a:ext>
            </a:extLst>
          </p:cNvPr>
          <p:cNvSpPr>
            <a:spLocks noGrp="1"/>
          </p:cNvSpPr>
          <p:nvPr/>
        </p:nvSpPr>
        <p:spPr>
          <a:xfrm>
            <a:off x="8972550" y="2190750"/>
            <a:ext cx="1866900" cy="4953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Patrones de uso</a:t>
            </a:r>
          </a:p>
        </p:txBody>
      </p:sp>
      <p:cxnSp>
        <p:nvCxnSpPr>
          <p:cNvPr id="15" name="Straight Arrow Connector 14"/>
          <p:cNvCxnSpPr>
            <a:stCxn id="5" idx="3"/>
            <a:endCxn id="13" idx="1"/>
          </p:cNvCxnSpPr>
          <p:nvPr/>
        </p:nvCxnSpPr>
        <p:spPr>
          <a:xfrm flipV="1">
            <a:off x="7429500" y="2438400"/>
            <a:ext cx="1428750" cy="942975"/>
          </a:xfrm>
          <a:prstGeom prst="straightConnector1">
            <a:avLst/>
          </a:prstGeom>
          <a:ln w="19050">
            <a:solidFill>
              <a:srgbClr val="008A88"/>
            </a:solidFill>
            <a:prstDash val="solid"/>
          </a:ln>
        </p:spPr>
      </p:cxnSp>
      <p:sp>
        <p:nvSpPr>
          <p:cNvPr id="16" name="Rectangle 15">
            <a:extLst>
              <a:ext uri="{FF2B5EF4-FFF2-40B4-BE49-F238E27FC236}">
                <a16:creationId xmlns:a16="http://schemas.microsoft.com/office/drawing/2014/main" id="{62C85CE6-4DC5-4CD6-BE87-83C536CE40A5}"/>
              </a:ext>
            </a:extLst>
          </p:cNvPr>
          <p:cNvSpPr>
            <a:spLocks noGrp="1"/>
          </p:cNvSpPr>
          <p:nvPr/>
        </p:nvSpPr>
        <p:spPr>
          <a:xfrm>
            <a:off x="8858250" y="4286250"/>
            <a:ext cx="2095500" cy="685800"/>
          </a:xfrm>
          <a:prstGeom prst="rect">
            <a:avLst/>
          </a:prstGeom>
          <a:solidFill>
            <a:srgbClr val="FFFFFF"/>
          </a:solidFill>
          <a:ln w="19050">
            <a:solidFill>
              <a:srgbClr val="C9D5E3"/>
            </a:solidFill>
            <a:prstDash val="solid"/>
          </a:ln>
        </p:spPr>
      </p:sp>
      <p:sp>
        <p:nvSpPr>
          <p:cNvPr id="17" name="Rectangle 16">
            <a:extLst>
              <a:ext uri="{FF2B5EF4-FFF2-40B4-BE49-F238E27FC236}">
                <a16:creationId xmlns:a16="http://schemas.microsoft.com/office/drawing/2014/main" id="{7A176D23-7479-4787-A2B3-7C959C35E6D5}"/>
              </a:ext>
            </a:extLst>
          </p:cNvPr>
          <p:cNvSpPr>
            <a:spLocks noGrp="1"/>
          </p:cNvSpPr>
          <p:nvPr/>
        </p:nvSpPr>
        <p:spPr>
          <a:xfrm>
            <a:off x="8972550" y="4381500"/>
            <a:ext cx="1866900" cy="4953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Configuración</a:t>
            </a:r>
          </a:p>
        </p:txBody>
      </p:sp>
      <p:cxnSp>
        <p:nvCxnSpPr>
          <p:cNvPr id="18" name="Straight Arrow Connector 17"/>
          <p:cNvCxnSpPr>
            <a:stCxn id="5" idx="3"/>
            <a:endCxn id="16" idx="1"/>
          </p:cNvCxnSpPr>
          <p:nvPr/>
        </p:nvCxnSpPr>
        <p:spPr>
          <a:xfrm>
            <a:off x="7429500" y="3381375"/>
            <a:ext cx="1428750" cy="1247775"/>
          </a:xfrm>
          <a:prstGeom prst="straightConnector1">
            <a:avLst/>
          </a:prstGeom>
          <a:ln w="19050">
            <a:solidFill>
              <a:srgbClr val="008A88"/>
            </a:solidFill>
            <a:prstDash val="solid"/>
          </a:ln>
        </p:spPr>
      </p:cxnSp>
      <p:sp>
        <p:nvSpPr>
          <p:cNvPr id="19" name="Rectangle 18">
            <a:extLst>
              <a:ext uri="{FF2B5EF4-FFF2-40B4-BE49-F238E27FC236}">
                <a16:creationId xmlns:a16="http://schemas.microsoft.com/office/drawing/2014/main" id="{8EE2001E-A7F3-4A66-814F-EB86E5DB98FE}"/>
              </a:ext>
            </a:extLst>
          </p:cNvPr>
          <p:cNvSpPr>
            <a:spLocks noGrp="1"/>
          </p:cNvSpPr>
          <p:nvPr/>
        </p:nvSpPr>
        <p:spPr>
          <a:xfrm>
            <a:off x="4000500" y="4524375"/>
            <a:ext cx="1905000" cy="266700"/>
          </a:xfrm>
          <a:prstGeom prst="rect">
            <a:avLst/>
          </a:prstGeom>
          <a:noFill/>
          <a:ln w="0">
            <a:noFill/>
            <a:prstDash val="solid"/>
          </a:ln>
        </p:spPr>
        <p:txBody>
          <a:bodyPr wrap="square" lIns="0" tIns="0" rIns="0" bIns="0" anchor="t">
            <a:normAutofit/>
          </a:bodyPr>
          <a:lstStyle/>
          <a:p>
            <a:pPr algn="ctr">
              <a:lnSpc>
                <a:spcPct val="104000"/>
              </a:lnSpc>
              <a:buNone/>
              <a:defRPr sz="1500" b="1">
                <a:solidFill>
                  <a:srgbClr val="0F6CBD"/>
                </a:solidFill>
                <a:latin typeface="Aptos"/>
                <a:ea typeface="Aptos"/>
                <a:cs typeface="Aptos"/>
              </a:defRPr>
            </a:pPr>
            <a:r>
              <a:rPr sz="1500" b="1">
                <a:solidFill>
                  <a:srgbClr val="0F6CBD"/>
                </a:solidFill>
                <a:latin typeface="Aptos"/>
                <a:ea typeface="Aptos"/>
                <a:cs typeface="Aptos"/>
              </a:rPr>
              <a:t>Health for Sync</a:t>
            </a:r>
          </a:p>
        </p:txBody>
      </p:sp>
      <p:sp>
        <p:nvSpPr>
          <p:cNvPr id="20" name="Rectangle 19">
            <a:extLst>
              <a:ext uri="{FF2B5EF4-FFF2-40B4-BE49-F238E27FC236}">
                <a16:creationId xmlns:a16="http://schemas.microsoft.com/office/drawing/2014/main" id="{A05D10ED-ED2C-4F7F-B36F-33721C39BE8A}"/>
              </a:ext>
            </a:extLst>
          </p:cNvPr>
          <p:cNvSpPr>
            <a:spLocks noGrp="1"/>
          </p:cNvSpPr>
          <p:nvPr/>
        </p:nvSpPr>
        <p:spPr>
          <a:xfrm>
            <a:off x="6286500" y="4524375"/>
            <a:ext cx="1905000" cy="266700"/>
          </a:xfrm>
          <a:prstGeom prst="rect">
            <a:avLst/>
          </a:prstGeom>
          <a:noFill/>
          <a:ln w="0">
            <a:noFill/>
            <a:prstDash val="solid"/>
          </a:ln>
        </p:spPr>
        <p:txBody>
          <a:bodyPr wrap="square" lIns="0" tIns="0" rIns="0" bIns="0" anchor="t">
            <a:normAutofit/>
          </a:bodyPr>
          <a:lstStyle/>
          <a:p>
            <a:pPr algn="ctr">
              <a:lnSpc>
                <a:spcPct val="104000"/>
              </a:lnSpc>
              <a:buNone/>
              <a:defRPr sz="1500" b="1">
                <a:solidFill>
                  <a:srgbClr val="0F6CBD"/>
                </a:solidFill>
                <a:latin typeface="Aptos"/>
                <a:ea typeface="Aptos"/>
                <a:cs typeface="Aptos"/>
              </a:defRPr>
            </a:pPr>
            <a:r>
              <a:rPr sz="1500" b="1">
                <a:solidFill>
                  <a:srgbClr val="0F6CBD"/>
                </a:solidFill>
                <a:latin typeface="Aptos"/>
                <a:ea typeface="Aptos"/>
                <a:cs typeface="Aptos"/>
              </a:rPr>
              <a:t>Health for AD FS</a:t>
            </a:r>
          </a:p>
        </p:txBody>
      </p:sp>
      <p:sp>
        <p:nvSpPr>
          <p:cNvPr id="21" name="Rectangle 20">
            <a:extLst>
              <a:ext uri="{FF2B5EF4-FFF2-40B4-BE49-F238E27FC236}">
                <a16:creationId xmlns:a16="http://schemas.microsoft.com/office/drawing/2014/main" id="{F8B231D8-278A-41F4-9B56-63D0943B687E}"/>
              </a:ext>
            </a:extLst>
          </p:cNvPr>
          <p:cNvSpPr>
            <a:spLocks noGrp="1"/>
          </p:cNvSpPr>
          <p:nvPr/>
        </p:nvSpPr>
        <p:spPr>
          <a:xfrm>
            <a:off x="2857500" y="5381625"/>
            <a:ext cx="6477000" cy="533400"/>
          </a:xfrm>
          <a:prstGeom prst="rect">
            <a:avLst/>
          </a:prstGeom>
          <a:solidFill>
            <a:srgbClr val="F3F6F9"/>
          </a:solidFill>
          <a:ln w="0">
            <a:noFill/>
            <a:prstDash val="solid"/>
          </a:ln>
        </p:spPr>
      </p:sp>
      <p:sp>
        <p:nvSpPr>
          <p:cNvPr id="22" name="Rectangle 21">
            <a:extLst>
              <a:ext uri="{FF2B5EF4-FFF2-40B4-BE49-F238E27FC236}">
                <a16:creationId xmlns:a16="http://schemas.microsoft.com/office/drawing/2014/main" id="{56EEEA43-BD85-43A9-9FB9-F70BD553AEEF}"/>
              </a:ext>
            </a:extLst>
          </p:cNvPr>
          <p:cNvSpPr>
            <a:spLocks noGrp="1"/>
          </p:cNvSpPr>
          <p:nvPr/>
        </p:nvSpPr>
        <p:spPr>
          <a:xfrm>
            <a:off x="3143250" y="5524500"/>
            <a:ext cx="5905500" cy="285750"/>
          </a:xfrm>
          <a:prstGeom prst="rect">
            <a:avLst/>
          </a:prstGeom>
          <a:noFill/>
          <a:ln w="0">
            <a:noFill/>
            <a:prstDash val="solid"/>
          </a:ln>
        </p:spPr>
        <p:txBody>
          <a:bodyPr wrap="square" lIns="0" tIns="0" rIns="0" bIns="0" anchor="t">
            <a:normAutofit/>
          </a:bodyPr>
          <a:lstStyle/>
          <a:p>
            <a:pPr algn="ctr">
              <a:lnSpc>
                <a:spcPct val="104000"/>
              </a:lnSpc>
              <a:buNone/>
              <a:defRPr sz="1650" b="1">
                <a:solidFill>
                  <a:srgbClr val="17233C"/>
                </a:solidFill>
                <a:latin typeface="Aptos"/>
                <a:ea typeface="Aptos"/>
                <a:cs typeface="Aptos"/>
              </a:defRPr>
            </a:pPr>
            <a:r>
              <a:rPr sz="1650" b="1">
                <a:solidFill>
                  <a:srgbClr val="17233C"/>
                </a:solidFill>
                <a:latin typeface="Aptos"/>
                <a:ea typeface="Aptos"/>
                <a:cs typeface="Aptos"/>
              </a:rPr>
              <a:t>Microsoft Entra Premium requerido</a:t>
            </a:r>
          </a:p>
        </p:txBody>
      </p:sp>
      <p:sp>
        <p:nvSpPr>
          <p:cNvPr id="23" name="Rectangle 22">
            <a:extLst>
              <a:ext uri="{FF2B5EF4-FFF2-40B4-BE49-F238E27FC236}">
                <a16:creationId xmlns:a16="http://schemas.microsoft.com/office/drawing/2014/main" id="{54855C41-90D2-41BA-91D2-87F6273BEA47}"/>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16</a:t>
            </a:r>
          </a:p>
        </p:txBody>
      </p:sp>
    </p:spTree>
    <p:extLst>
      <p:ext uri="{BB962C8B-B14F-4D97-AF65-F5344CB8AC3E}">
        <p14:creationId xmlns:p14="http://schemas.microsoft.com/office/powerpoint/2010/main" val="1533105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9C98E0D3-90E8-4BE3-8037-915F075D9699}"/>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F22CD4E2-4A24-484A-AFC8-F3F21B6960BD}"/>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ARQUITECTURA MULTIAGENTE</a:t>
            </a:r>
          </a:p>
        </p:txBody>
      </p:sp>
      <p:sp>
        <p:nvSpPr>
          <p:cNvPr id="3" name="Rectangle 2">
            <a:extLst>
              <a:ext uri="{FF2B5EF4-FFF2-40B4-BE49-F238E27FC236}">
                <a16:creationId xmlns:a16="http://schemas.microsoft.com/office/drawing/2014/main" id="{4B394B26-6BBB-400D-86BD-F9201C2D5F9F}"/>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Cloud Sync distribuye la disponibilidad entre agentes activos</a:t>
            </a:r>
          </a:p>
        </p:txBody>
      </p:sp>
      <p:sp>
        <p:nvSpPr>
          <p:cNvPr id="4" name="Straight Connector 3">
            <a:extLst>
              <a:ext uri="{FF2B5EF4-FFF2-40B4-BE49-F238E27FC236}">
                <a16:creationId xmlns:a16="http://schemas.microsoft.com/office/drawing/2014/main" id="{91818B44-ECC2-457B-9AB2-6932D9E7BF17}"/>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211AC16C-87BD-4223-9144-12B5316D0166}"/>
              </a:ext>
            </a:extLst>
          </p:cNvPr>
          <p:cNvSpPr>
            <a:spLocks noGrp="1"/>
          </p:cNvSpPr>
          <p:nvPr/>
        </p:nvSpPr>
        <p:spPr>
          <a:xfrm>
            <a:off x="762000" y="3048000"/>
            <a:ext cx="2190750" cy="876300"/>
          </a:xfrm>
          <a:prstGeom prst="rect">
            <a:avLst/>
          </a:prstGeom>
          <a:solidFill>
            <a:srgbClr val="F3F6F9"/>
          </a:solidFill>
          <a:ln w="19050">
            <a:solidFill>
              <a:srgbClr val="0F6CBD"/>
            </a:solidFill>
            <a:prstDash val="solid"/>
          </a:ln>
        </p:spPr>
      </p:sp>
      <p:sp>
        <p:nvSpPr>
          <p:cNvPr id="6" name="Rectangle 5">
            <a:extLst>
              <a:ext uri="{FF2B5EF4-FFF2-40B4-BE49-F238E27FC236}">
                <a16:creationId xmlns:a16="http://schemas.microsoft.com/office/drawing/2014/main" id="{EC141186-5413-4CB2-B0C0-83E7C18A3FE5}"/>
              </a:ext>
            </a:extLst>
          </p:cNvPr>
          <p:cNvSpPr>
            <a:spLocks noGrp="1"/>
          </p:cNvSpPr>
          <p:nvPr/>
        </p:nvSpPr>
        <p:spPr>
          <a:xfrm>
            <a:off x="876300" y="3143250"/>
            <a:ext cx="1962150" cy="6858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Active Directory local</a:t>
            </a:r>
          </a:p>
        </p:txBody>
      </p:sp>
      <p:sp>
        <p:nvSpPr>
          <p:cNvPr id="7" name="Rectangle 6">
            <a:extLst>
              <a:ext uri="{FF2B5EF4-FFF2-40B4-BE49-F238E27FC236}">
                <a16:creationId xmlns:a16="http://schemas.microsoft.com/office/drawing/2014/main" id="{0B6B6E2C-60E6-4173-A1AB-1145888EFB15}"/>
              </a:ext>
            </a:extLst>
          </p:cNvPr>
          <p:cNvSpPr>
            <a:spLocks noGrp="1"/>
          </p:cNvSpPr>
          <p:nvPr/>
        </p:nvSpPr>
        <p:spPr>
          <a:xfrm>
            <a:off x="9239250" y="3048000"/>
            <a:ext cx="2190750" cy="876300"/>
          </a:xfrm>
          <a:prstGeom prst="rect">
            <a:avLst/>
          </a:prstGeom>
          <a:solidFill>
            <a:srgbClr val="DFF3FF"/>
          </a:solidFill>
          <a:ln w="19050">
            <a:solidFill>
              <a:srgbClr val="0F6CBD"/>
            </a:solidFill>
            <a:prstDash val="solid"/>
          </a:ln>
        </p:spPr>
      </p:sp>
      <p:sp>
        <p:nvSpPr>
          <p:cNvPr id="8" name="Rectangle 7">
            <a:extLst>
              <a:ext uri="{FF2B5EF4-FFF2-40B4-BE49-F238E27FC236}">
                <a16:creationId xmlns:a16="http://schemas.microsoft.com/office/drawing/2014/main" id="{4807C59D-B9F2-4E9E-B586-5269D4D191CA}"/>
              </a:ext>
            </a:extLst>
          </p:cNvPr>
          <p:cNvSpPr>
            <a:spLocks noGrp="1"/>
          </p:cNvSpPr>
          <p:nvPr/>
        </p:nvSpPr>
        <p:spPr>
          <a:xfrm>
            <a:off x="9353550" y="3143250"/>
            <a:ext cx="1962150" cy="6858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Servicio Cloud Sync</a:t>
            </a:r>
          </a:p>
        </p:txBody>
      </p:sp>
      <p:sp>
        <p:nvSpPr>
          <p:cNvPr id="9" name="Rectangle 8">
            <a:extLst>
              <a:ext uri="{FF2B5EF4-FFF2-40B4-BE49-F238E27FC236}">
                <a16:creationId xmlns:a16="http://schemas.microsoft.com/office/drawing/2014/main" id="{B6AFE486-C944-4FFA-B719-898A14F272AB}"/>
              </a:ext>
            </a:extLst>
          </p:cNvPr>
          <p:cNvSpPr>
            <a:spLocks noGrp="1"/>
          </p:cNvSpPr>
          <p:nvPr/>
        </p:nvSpPr>
        <p:spPr>
          <a:xfrm>
            <a:off x="4619625" y="2000250"/>
            <a:ext cx="2476500" cy="723900"/>
          </a:xfrm>
          <a:prstGeom prst="rect">
            <a:avLst/>
          </a:prstGeom>
          <a:solidFill>
            <a:srgbClr val="FFFFFF"/>
          </a:solidFill>
          <a:ln w="19050">
            <a:solidFill>
              <a:srgbClr val="0F6CBD"/>
            </a:solidFill>
            <a:prstDash val="solid"/>
          </a:ln>
        </p:spPr>
      </p:sp>
      <p:sp>
        <p:nvSpPr>
          <p:cNvPr id="10" name="Rectangle 9">
            <a:extLst>
              <a:ext uri="{FF2B5EF4-FFF2-40B4-BE49-F238E27FC236}">
                <a16:creationId xmlns:a16="http://schemas.microsoft.com/office/drawing/2014/main" id="{11586C28-1BD6-41A4-A0FF-B991E0395843}"/>
              </a:ext>
            </a:extLst>
          </p:cNvPr>
          <p:cNvSpPr>
            <a:spLocks noGrp="1"/>
          </p:cNvSpPr>
          <p:nvPr/>
        </p:nvSpPr>
        <p:spPr>
          <a:xfrm>
            <a:off x="4733925" y="2095500"/>
            <a:ext cx="2247900" cy="5334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Agente 1</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ACTIVO</a:t>
            </a:r>
          </a:p>
        </p:txBody>
      </p:sp>
      <p:cxnSp>
        <p:nvCxnSpPr>
          <p:cNvPr id="11" name="Connector: Elbow 10"/>
          <p:cNvCxnSpPr>
            <a:stCxn id="5" idx="3"/>
            <a:endCxn id="9" idx="1"/>
          </p:cNvCxnSpPr>
          <p:nvPr/>
        </p:nvCxnSpPr>
        <p:spPr>
          <a:xfrm flipV="1">
            <a:off x="2952750" y="2362200"/>
            <a:ext cx="1666875" cy="1123950"/>
          </a:xfrm>
          <a:prstGeom prst="bentConnector3">
            <a:avLst>
              <a:gd name="adj1" fmla="val 50000"/>
            </a:avLst>
          </a:prstGeom>
          <a:ln w="19050">
            <a:solidFill>
              <a:srgbClr val="0F6CBD"/>
            </a:solidFill>
            <a:prstDash val="solid"/>
          </a:ln>
        </p:spPr>
      </p:cxnSp>
      <p:cxnSp>
        <p:nvCxnSpPr>
          <p:cNvPr id="12" name="Connector: Elbow 11"/>
          <p:cNvCxnSpPr>
            <a:stCxn id="9" idx="3"/>
            <a:endCxn id="7" idx="1"/>
          </p:cNvCxnSpPr>
          <p:nvPr/>
        </p:nvCxnSpPr>
        <p:spPr>
          <a:xfrm>
            <a:off x="7096125" y="2362200"/>
            <a:ext cx="2143125" cy="1123950"/>
          </a:xfrm>
          <a:prstGeom prst="bentConnector3">
            <a:avLst>
              <a:gd name="adj1" fmla="val 50000"/>
            </a:avLst>
          </a:prstGeom>
          <a:ln w="19050">
            <a:solidFill>
              <a:srgbClr val="0F6CBD"/>
            </a:solidFill>
            <a:prstDash val="solid"/>
            <a:tailEnd type="arrow" w="sm" len="sm"/>
          </a:ln>
        </p:spPr>
      </p:cxnSp>
      <p:sp>
        <p:nvSpPr>
          <p:cNvPr id="13" name="Rectangle 12">
            <a:extLst>
              <a:ext uri="{FF2B5EF4-FFF2-40B4-BE49-F238E27FC236}">
                <a16:creationId xmlns:a16="http://schemas.microsoft.com/office/drawing/2014/main" id="{45EE7450-5AD8-40BF-8617-04ED50C0BA52}"/>
              </a:ext>
            </a:extLst>
          </p:cNvPr>
          <p:cNvSpPr>
            <a:spLocks noGrp="1"/>
          </p:cNvSpPr>
          <p:nvPr/>
        </p:nvSpPr>
        <p:spPr>
          <a:xfrm>
            <a:off x="4619625" y="3190875"/>
            <a:ext cx="2476500" cy="723900"/>
          </a:xfrm>
          <a:prstGeom prst="rect">
            <a:avLst/>
          </a:prstGeom>
          <a:solidFill>
            <a:srgbClr val="FFFFFF"/>
          </a:solidFill>
          <a:ln w="19050">
            <a:solidFill>
              <a:srgbClr val="008A88"/>
            </a:solidFill>
            <a:prstDash val="solid"/>
          </a:ln>
        </p:spPr>
      </p:sp>
      <p:sp>
        <p:nvSpPr>
          <p:cNvPr id="14" name="Rectangle 13">
            <a:extLst>
              <a:ext uri="{FF2B5EF4-FFF2-40B4-BE49-F238E27FC236}">
                <a16:creationId xmlns:a16="http://schemas.microsoft.com/office/drawing/2014/main" id="{36A02D64-8C29-43F1-9868-AE685710438F}"/>
              </a:ext>
            </a:extLst>
          </p:cNvPr>
          <p:cNvSpPr>
            <a:spLocks noGrp="1"/>
          </p:cNvSpPr>
          <p:nvPr/>
        </p:nvSpPr>
        <p:spPr>
          <a:xfrm>
            <a:off x="4733925" y="3286125"/>
            <a:ext cx="2247900" cy="5334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Agente 2</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ACTIVO</a:t>
            </a:r>
          </a:p>
        </p:txBody>
      </p:sp>
      <p:cxnSp>
        <p:nvCxnSpPr>
          <p:cNvPr id="15" name="Connector: Elbow 14"/>
          <p:cNvCxnSpPr>
            <a:stCxn id="5" idx="3"/>
            <a:endCxn id="13" idx="1"/>
          </p:cNvCxnSpPr>
          <p:nvPr/>
        </p:nvCxnSpPr>
        <p:spPr>
          <a:xfrm>
            <a:off x="2952750" y="3486150"/>
            <a:ext cx="1666875" cy="66675"/>
          </a:xfrm>
          <a:prstGeom prst="bentConnector3">
            <a:avLst>
              <a:gd name="adj1" fmla="val 50000"/>
            </a:avLst>
          </a:prstGeom>
          <a:ln w="19050">
            <a:solidFill>
              <a:srgbClr val="0F6CBD"/>
            </a:solidFill>
            <a:prstDash val="solid"/>
          </a:ln>
        </p:spPr>
      </p:cxnSp>
      <p:cxnSp>
        <p:nvCxnSpPr>
          <p:cNvPr id="16" name="Connector: Elbow 15"/>
          <p:cNvCxnSpPr>
            <a:stCxn id="13" idx="3"/>
            <a:endCxn id="7" idx="1"/>
          </p:cNvCxnSpPr>
          <p:nvPr/>
        </p:nvCxnSpPr>
        <p:spPr>
          <a:xfrm flipV="1">
            <a:off x="7096125" y="3486150"/>
            <a:ext cx="2143125" cy="66675"/>
          </a:xfrm>
          <a:prstGeom prst="bentConnector3">
            <a:avLst>
              <a:gd name="adj1" fmla="val 50000"/>
            </a:avLst>
          </a:prstGeom>
          <a:ln w="19050">
            <a:solidFill>
              <a:srgbClr val="0F6CBD"/>
            </a:solidFill>
            <a:prstDash val="solid"/>
            <a:tailEnd type="arrow" w="sm" len="sm"/>
          </a:ln>
        </p:spPr>
      </p:cxnSp>
      <p:sp>
        <p:nvSpPr>
          <p:cNvPr id="17" name="Rectangle 16">
            <a:extLst>
              <a:ext uri="{FF2B5EF4-FFF2-40B4-BE49-F238E27FC236}">
                <a16:creationId xmlns:a16="http://schemas.microsoft.com/office/drawing/2014/main" id="{24A01D74-B46E-4766-A28C-2BB82A6544B3}"/>
              </a:ext>
            </a:extLst>
          </p:cNvPr>
          <p:cNvSpPr>
            <a:spLocks noGrp="1"/>
          </p:cNvSpPr>
          <p:nvPr/>
        </p:nvSpPr>
        <p:spPr>
          <a:xfrm>
            <a:off x="4619625" y="4381500"/>
            <a:ext cx="2476500" cy="723900"/>
          </a:xfrm>
          <a:prstGeom prst="rect">
            <a:avLst/>
          </a:prstGeom>
          <a:solidFill>
            <a:srgbClr val="FFFFFF"/>
          </a:solidFill>
          <a:ln w="19050">
            <a:solidFill>
              <a:srgbClr val="0F6CBD"/>
            </a:solidFill>
            <a:prstDash val="solid"/>
          </a:ln>
        </p:spPr>
      </p:sp>
      <p:sp>
        <p:nvSpPr>
          <p:cNvPr id="18" name="Rectangle 17">
            <a:extLst>
              <a:ext uri="{FF2B5EF4-FFF2-40B4-BE49-F238E27FC236}">
                <a16:creationId xmlns:a16="http://schemas.microsoft.com/office/drawing/2014/main" id="{13ED924F-3985-4E6F-AAB8-45203B075583}"/>
              </a:ext>
            </a:extLst>
          </p:cNvPr>
          <p:cNvSpPr>
            <a:spLocks noGrp="1"/>
          </p:cNvSpPr>
          <p:nvPr/>
        </p:nvSpPr>
        <p:spPr>
          <a:xfrm>
            <a:off x="4733925" y="4476750"/>
            <a:ext cx="2247900" cy="5334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Agente 3</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ACTIVO</a:t>
            </a:r>
          </a:p>
        </p:txBody>
      </p:sp>
      <p:cxnSp>
        <p:nvCxnSpPr>
          <p:cNvPr id="19" name="Connector: Elbow 18"/>
          <p:cNvCxnSpPr>
            <a:stCxn id="5" idx="3"/>
            <a:endCxn id="17" idx="1"/>
          </p:cNvCxnSpPr>
          <p:nvPr/>
        </p:nvCxnSpPr>
        <p:spPr>
          <a:xfrm>
            <a:off x="2952750" y="3486150"/>
            <a:ext cx="1666875" cy="1257300"/>
          </a:xfrm>
          <a:prstGeom prst="bentConnector3">
            <a:avLst>
              <a:gd name="adj1" fmla="val 50000"/>
            </a:avLst>
          </a:prstGeom>
          <a:ln w="19050">
            <a:solidFill>
              <a:srgbClr val="0F6CBD"/>
            </a:solidFill>
            <a:prstDash val="solid"/>
          </a:ln>
        </p:spPr>
      </p:cxnSp>
      <p:cxnSp>
        <p:nvCxnSpPr>
          <p:cNvPr id="20" name="Connector: Elbow 19"/>
          <p:cNvCxnSpPr>
            <a:stCxn id="17" idx="3"/>
            <a:endCxn id="7" idx="1"/>
          </p:cNvCxnSpPr>
          <p:nvPr/>
        </p:nvCxnSpPr>
        <p:spPr>
          <a:xfrm flipV="1">
            <a:off x="7096125" y="3486150"/>
            <a:ext cx="2143125" cy="1257300"/>
          </a:xfrm>
          <a:prstGeom prst="bentConnector3">
            <a:avLst>
              <a:gd name="adj1" fmla="val 50000"/>
            </a:avLst>
          </a:prstGeom>
          <a:ln w="19050">
            <a:solidFill>
              <a:srgbClr val="0F6CBD"/>
            </a:solidFill>
            <a:prstDash val="solid"/>
            <a:tailEnd type="arrow" w="sm" len="sm"/>
          </a:ln>
        </p:spPr>
      </p:cxnSp>
      <p:sp>
        <p:nvSpPr>
          <p:cNvPr id="21" name="Rectangle 20">
            <a:extLst>
              <a:ext uri="{FF2B5EF4-FFF2-40B4-BE49-F238E27FC236}">
                <a16:creationId xmlns:a16="http://schemas.microsoft.com/office/drawing/2014/main" id="{C3B8D0C3-175D-4C7C-BE5B-7F38CF66E192}"/>
              </a:ext>
            </a:extLst>
          </p:cNvPr>
          <p:cNvSpPr>
            <a:spLocks noGrp="1"/>
          </p:cNvSpPr>
          <p:nvPr/>
        </p:nvSpPr>
        <p:spPr>
          <a:xfrm>
            <a:off x="2476500" y="5619750"/>
            <a:ext cx="7239000" cy="342900"/>
          </a:xfrm>
          <a:prstGeom prst="rect">
            <a:avLst/>
          </a:prstGeom>
          <a:noFill/>
          <a:ln w="0">
            <a:noFill/>
            <a:prstDash val="solid"/>
          </a:ln>
        </p:spPr>
        <p:txBody>
          <a:bodyPr wrap="square" lIns="0" tIns="0" rIns="0" bIns="0" anchor="t">
            <a:normAutofit fontScale="76502"/>
          </a:bodyPr>
          <a:lstStyle/>
          <a:p>
            <a:pPr algn="ctr">
              <a:lnSpc>
                <a:spcPct val="104000"/>
              </a:lnSpc>
              <a:buNone/>
              <a:defRPr sz="1950" b="1">
                <a:solidFill>
                  <a:srgbClr val="0F6CBD"/>
                </a:solidFill>
                <a:latin typeface="Aptos"/>
                <a:ea typeface="Aptos"/>
                <a:cs typeface="Aptos"/>
              </a:defRPr>
            </a:pPr>
            <a:r>
              <a:rPr sz="1950" b="1">
                <a:solidFill>
                  <a:srgbClr val="0F6CBD"/>
                </a:solidFill>
                <a:latin typeface="Aptos"/>
                <a:ea typeface="Aptos"/>
                <a:cs typeface="Aptos"/>
              </a:rPr>
              <a:t>Microsoft recomienda tres agentes activos para alta disponibilidad.</a:t>
            </a:r>
          </a:p>
        </p:txBody>
      </p:sp>
      <p:sp>
        <p:nvSpPr>
          <p:cNvPr id="22" name="Rectangle 21">
            <a:extLst>
              <a:ext uri="{FF2B5EF4-FFF2-40B4-BE49-F238E27FC236}">
                <a16:creationId xmlns:a16="http://schemas.microsoft.com/office/drawing/2014/main" id="{A26D4DEF-49A1-4F5C-8B71-A9BF188D9437}"/>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17</a:t>
            </a:r>
          </a:p>
        </p:txBody>
      </p:sp>
    </p:spTree>
    <p:extLst>
      <p:ext uri="{BB962C8B-B14F-4D97-AF65-F5344CB8AC3E}">
        <p14:creationId xmlns:p14="http://schemas.microsoft.com/office/powerpoint/2010/main" val="1483558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8577495-CD36-4DA7-AD48-B0624BF9473D}"/>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5DE6D2F5-7FAF-44F4-9BB8-76F6BEFEBC3F}"/>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CLOUD SYNC · CUENTA DE SERVICIO</a:t>
            </a:r>
          </a:p>
        </p:txBody>
      </p:sp>
      <p:sp>
        <p:nvSpPr>
          <p:cNvPr id="3" name="Rectangle 2">
            <a:extLst>
              <a:ext uri="{FF2B5EF4-FFF2-40B4-BE49-F238E27FC236}">
                <a16:creationId xmlns:a16="http://schemas.microsoft.com/office/drawing/2014/main" id="{BC553BED-7679-480D-8482-395B36CE7F76}"/>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9557"/>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gMSA simplifica la identidad del provisioning agent</a:t>
            </a:r>
          </a:p>
        </p:txBody>
      </p:sp>
      <p:sp>
        <p:nvSpPr>
          <p:cNvPr id="4" name="Straight Connector 3">
            <a:extLst>
              <a:ext uri="{FF2B5EF4-FFF2-40B4-BE49-F238E27FC236}">
                <a16:creationId xmlns:a16="http://schemas.microsoft.com/office/drawing/2014/main" id="{AE554FFA-428F-4F88-A3EB-89BD4560E040}"/>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E9BCEC33-CEC6-449F-8021-F2C3DF13A788}"/>
              </a:ext>
            </a:extLst>
          </p:cNvPr>
          <p:cNvSpPr>
            <a:spLocks noGrp="1"/>
          </p:cNvSpPr>
          <p:nvPr/>
        </p:nvSpPr>
        <p:spPr>
          <a:xfrm>
            <a:off x="4000500" y="2857500"/>
            <a:ext cx="4191000" cy="857250"/>
          </a:xfrm>
          <a:prstGeom prst="rect">
            <a:avLst/>
          </a:prstGeom>
          <a:solidFill>
            <a:srgbClr val="DFF3FF"/>
          </a:solidFill>
          <a:ln w="19050">
            <a:solidFill>
              <a:srgbClr val="008A88"/>
            </a:solidFill>
            <a:prstDash val="solid"/>
          </a:ln>
        </p:spPr>
      </p:sp>
      <p:sp>
        <p:nvSpPr>
          <p:cNvPr id="6" name="Rectangle 5">
            <a:extLst>
              <a:ext uri="{FF2B5EF4-FFF2-40B4-BE49-F238E27FC236}">
                <a16:creationId xmlns:a16="http://schemas.microsoft.com/office/drawing/2014/main" id="{C376D64C-27C7-482F-922A-38ACC65E3D51}"/>
              </a:ext>
            </a:extLst>
          </p:cNvPr>
          <p:cNvSpPr>
            <a:spLocks noGrp="1"/>
          </p:cNvSpPr>
          <p:nvPr/>
        </p:nvSpPr>
        <p:spPr>
          <a:xfrm>
            <a:off x="4114800" y="2952750"/>
            <a:ext cx="3962400" cy="66675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domain\provAgentgMSA$</a:t>
            </a:r>
          </a:p>
        </p:txBody>
      </p:sp>
      <p:sp>
        <p:nvSpPr>
          <p:cNvPr id="7" name="Rectangle 6">
            <a:extLst>
              <a:ext uri="{FF2B5EF4-FFF2-40B4-BE49-F238E27FC236}">
                <a16:creationId xmlns:a16="http://schemas.microsoft.com/office/drawing/2014/main" id="{031B3AA2-DEED-461E-A4DE-CF35B9AC2983}"/>
              </a:ext>
            </a:extLst>
          </p:cNvPr>
          <p:cNvSpPr>
            <a:spLocks noGrp="1"/>
          </p:cNvSpPr>
          <p:nvPr/>
        </p:nvSpPr>
        <p:spPr>
          <a:xfrm>
            <a:off x="809625" y="2190750"/>
            <a:ext cx="2095500" cy="723900"/>
          </a:xfrm>
          <a:prstGeom prst="rect">
            <a:avLst/>
          </a:prstGeom>
          <a:solidFill>
            <a:srgbClr val="FFFFFF"/>
          </a:solidFill>
          <a:ln w="19050">
            <a:solidFill>
              <a:srgbClr val="C9D5E3"/>
            </a:solidFill>
            <a:prstDash val="solid"/>
          </a:ln>
        </p:spPr>
      </p:sp>
      <p:sp>
        <p:nvSpPr>
          <p:cNvPr id="8" name="Rectangle 7">
            <a:extLst>
              <a:ext uri="{FF2B5EF4-FFF2-40B4-BE49-F238E27FC236}">
                <a16:creationId xmlns:a16="http://schemas.microsoft.com/office/drawing/2014/main" id="{B4FB413A-2EB4-45BD-9DB7-070DD5423E62}"/>
              </a:ext>
            </a:extLst>
          </p:cNvPr>
          <p:cNvSpPr>
            <a:spLocks noGrp="1"/>
          </p:cNvSpPr>
          <p:nvPr/>
        </p:nvSpPr>
        <p:spPr>
          <a:xfrm>
            <a:off x="923925" y="2286000"/>
            <a:ext cx="1866900" cy="5334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Contraseña</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administrada</a:t>
            </a:r>
          </a:p>
        </p:txBody>
      </p:sp>
      <p:cxnSp>
        <p:nvCxnSpPr>
          <p:cNvPr id="9" name="Straight Arrow Connector 8"/>
          <p:cNvCxnSpPr>
            <a:stCxn id="7" idx="3"/>
            <a:endCxn id="5" idx="1"/>
          </p:cNvCxnSpPr>
          <p:nvPr/>
        </p:nvCxnSpPr>
        <p:spPr>
          <a:xfrm>
            <a:off x="2905125" y="2552700"/>
            <a:ext cx="1095375" cy="733425"/>
          </a:xfrm>
          <a:prstGeom prst="straightConnector1">
            <a:avLst/>
          </a:prstGeom>
          <a:ln w="19050">
            <a:solidFill>
              <a:srgbClr val="0F6CBD"/>
            </a:solidFill>
            <a:prstDash val="solid"/>
          </a:ln>
        </p:spPr>
      </p:cxnSp>
      <p:sp>
        <p:nvSpPr>
          <p:cNvPr id="10" name="Rectangle 9">
            <a:extLst>
              <a:ext uri="{FF2B5EF4-FFF2-40B4-BE49-F238E27FC236}">
                <a16:creationId xmlns:a16="http://schemas.microsoft.com/office/drawing/2014/main" id="{46F7BFCC-06E1-4D7F-A917-F13E0858927A}"/>
              </a:ext>
            </a:extLst>
          </p:cNvPr>
          <p:cNvSpPr>
            <a:spLocks noGrp="1"/>
          </p:cNvSpPr>
          <p:nvPr/>
        </p:nvSpPr>
        <p:spPr>
          <a:xfrm>
            <a:off x="809625" y="4191000"/>
            <a:ext cx="2095500" cy="723900"/>
          </a:xfrm>
          <a:prstGeom prst="rect">
            <a:avLst/>
          </a:prstGeom>
          <a:solidFill>
            <a:srgbClr val="FFFFFF"/>
          </a:solidFill>
          <a:ln w="19050">
            <a:solidFill>
              <a:srgbClr val="C9D5E3"/>
            </a:solidFill>
            <a:prstDash val="solid"/>
          </a:ln>
        </p:spPr>
      </p:sp>
      <p:sp>
        <p:nvSpPr>
          <p:cNvPr id="11" name="Rectangle 10">
            <a:extLst>
              <a:ext uri="{FF2B5EF4-FFF2-40B4-BE49-F238E27FC236}">
                <a16:creationId xmlns:a16="http://schemas.microsoft.com/office/drawing/2014/main" id="{28F470BA-4CA0-44F8-9548-0A81EFAF9FB8}"/>
              </a:ext>
            </a:extLst>
          </p:cNvPr>
          <p:cNvSpPr>
            <a:spLocks noGrp="1"/>
          </p:cNvSpPr>
          <p:nvPr/>
        </p:nvSpPr>
        <p:spPr>
          <a:xfrm>
            <a:off x="923925" y="4286250"/>
            <a:ext cx="1866900" cy="5334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SPN</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simplificados</a:t>
            </a:r>
          </a:p>
        </p:txBody>
      </p:sp>
      <p:cxnSp>
        <p:nvCxnSpPr>
          <p:cNvPr id="12" name="Straight Arrow Connector 11"/>
          <p:cNvCxnSpPr>
            <a:stCxn id="10" idx="3"/>
            <a:endCxn id="5" idx="1"/>
          </p:cNvCxnSpPr>
          <p:nvPr/>
        </p:nvCxnSpPr>
        <p:spPr>
          <a:xfrm flipV="1">
            <a:off x="2905125" y="3286125"/>
            <a:ext cx="1095375" cy="1266825"/>
          </a:xfrm>
          <a:prstGeom prst="straightConnector1">
            <a:avLst/>
          </a:prstGeom>
          <a:ln w="19050">
            <a:solidFill>
              <a:srgbClr val="0F6CBD"/>
            </a:solidFill>
            <a:prstDash val="solid"/>
          </a:ln>
        </p:spPr>
      </p:cxnSp>
      <p:sp>
        <p:nvSpPr>
          <p:cNvPr id="13" name="Rectangle 12">
            <a:extLst>
              <a:ext uri="{FF2B5EF4-FFF2-40B4-BE49-F238E27FC236}">
                <a16:creationId xmlns:a16="http://schemas.microsoft.com/office/drawing/2014/main" id="{10101B92-3D60-43CE-B979-4258D0C53569}"/>
              </a:ext>
            </a:extLst>
          </p:cNvPr>
          <p:cNvSpPr>
            <a:spLocks noGrp="1"/>
          </p:cNvSpPr>
          <p:nvPr/>
        </p:nvSpPr>
        <p:spPr>
          <a:xfrm>
            <a:off x="9191625" y="2190750"/>
            <a:ext cx="2095500" cy="723900"/>
          </a:xfrm>
          <a:prstGeom prst="rect">
            <a:avLst/>
          </a:prstGeom>
          <a:solidFill>
            <a:srgbClr val="FFFFFF"/>
          </a:solidFill>
          <a:ln w="19050">
            <a:solidFill>
              <a:srgbClr val="C9D5E3"/>
            </a:solidFill>
            <a:prstDash val="solid"/>
          </a:ln>
        </p:spPr>
      </p:sp>
      <p:sp>
        <p:nvSpPr>
          <p:cNvPr id="14" name="Rectangle 13">
            <a:extLst>
              <a:ext uri="{FF2B5EF4-FFF2-40B4-BE49-F238E27FC236}">
                <a16:creationId xmlns:a16="http://schemas.microsoft.com/office/drawing/2014/main" id="{5A1B0731-616E-4066-84E3-087918086E3A}"/>
              </a:ext>
            </a:extLst>
          </p:cNvPr>
          <p:cNvSpPr>
            <a:spLocks noGrp="1"/>
          </p:cNvSpPr>
          <p:nvPr/>
        </p:nvSpPr>
        <p:spPr>
          <a:xfrm>
            <a:off x="9305925" y="2286000"/>
            <a:ext cx="1866900" cy="5334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Delegación</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administrativa</a:t>
            </a:r>
          </a:p>
        </p:txBody>
      </p:sp>
      <p:cxnSp>
        <p:nvCxnSpPr>
          <p:cNvPr id="15" name="Straight Arrow Connector 14"/>
          <p:cNvCxnSpPr>
            <a:stCxn id="13" idx="1"/>
            <a:endCxn id="5" idx="3"/>
          </p:cNvCxnSpPr>
          <p:nvPr/>
        </p:nvCxnSpPr>
        <p:spPr>
          <a:xfrm flipH="1">
            <a:off x="8191500" y="2552700"/>
            <a:ext cx="1000125" cy="733425"/>
          </a:xfrm>
          <a:prstGeom prst="straightConnector1">
            <a:avLst/>
          </a:prstGeom>
          <a:ln w="19050">
            <a:solidFill>
              <a:srgbClr val="0F6CBD"/>
            </a:solidFill>
            <a:prstDash val="solid"/>
          </a:ln>
        </p:spPr>
      </p:cxnSp>
      <p:sp>
        <p:nvSpPr>
          <p:cNvPr id="16" name="Rectangle 15">
            <a:extLst>
              <a:ext uri="{FF2B5EF4-FFF2-40B4-BE49-F238E27FC236}">
                <a16:creationId xmlns:a16="http://schemas.microsoft.com/office/drawing/2014/main" id="{83F68855-FA03-4618-9E46-976D1310DE2A}"/>
              </a:ext>
            </a:extLst>
          </p:cNvPr>
          <p:cNvSpPr>
            <a:spLocks noGrp="1"/>
          </p:cNvSpPr>
          <p:nvPr/>
        </p:nvSpPr>
        <p:spPr>
          <a:xfrm>
            <a:off x="9191625" y="4191000"/>
            <a:ext cx="2095500" cy="723900"/>
          </a:xfrm>
          <a:prstGeom prst="rect">
            <a:avLst/>
          </a:prstGeom>
          <a:solidFill>
            <a:srgbClr val="FFFFFF"/>
          </a:solidFill>
          <a:ln w="19050">
            <a:solidFill>
              <a:srgbClr val="C9D5E3"/>
            </a:solidFill>
            <a:prstDash val="solid"/>
          </a:ln>
        </p:spPr>
      </p:sp>
      <p:sp>
        <p:nvSpPr>
          <p:cNvPr id="17" name="Rectangle 16">
            <a:extLst>
              <a:ext uri="{FF2B5EF4-FFF2-40B4-BE49-F238E27FC236}">
                <a16:creationId xmlns:a16="http://schemas.microsoft.com/office/drawing/2014/main" id="{4C0CD41F-9742-4AED-819E-8A5212532DC3}"/>
              </a:ext>
            </a:extLst>
          </p:cNvPr>
          <p:cNvSpPr>
            <a:spLocks noGrp="1"/>
          </p:cNvSpPr>
          <p:nvPr/>
        </p:nvSpPr>
        <p:spPr>
          <a:xfrm>
            <a:off x="9305925" y="4286250"/>
            <a:ext cx="1866900" cy="533400"/>
          </a:xfrm>
          <a:prstGeom prst="rect">
            <a:avLst/>
          </a:prstGeom>
          <a:noFill/>
          <a:ln w="0">
            <a:noFill/>
            <a:prstDash val="solid"/>
          </a:ln>
        </p:spPr>
        <p:txBody>
          <a:bodyPr wrap="square" lIns="0" tIns="0" rIns="0" bIns="0" anchor="ctr">
            <a:normAutofit/>
          </a:bodyPr>
          <a:lstStyle/>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Uso en varios</a:t>
            </a:r>
          </a:p>
          <a:p>
            <a:pPr algn="ctr">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servidores</a:t>
            </a:r>
          </a:p>
        </p:txBody>
      </p:sp>
      <p:cxnSp>
        <p:nvCxnSpPr>
          <p:cNvPr id="18" name="Straight Arrow Connector 17"/>
          <p:cNvCxnSpPr>
            <a:stCxn id="16" idx="1"/>
            <a:endCxn id="5" idx="3"/>
          </p:cNvCxnSpPr>
          <p:nvPr/>
        </p:nvCxnSpPr>
        <p:spPr>
          <a:xfrm flipH="1" flipV="1">
            <a:off x="8191500" y="3286125"/>
            <a:ext cx="1000125" cy="1266825"/>
          </a:xfrm>
          <a:prstGeom prst="straightConnector1">
            <a:avLst/>
          </a:prstGeom>
          <a:ln w="19050">
            <a:solidFill>
              <a:srgbClr val="0F6CBD"/>
            </a:solidFill>
            <a:prstDash val="solid"/>
          </a:ln>
        </p:spPr>
      </p:cxnSp>
      <p:sp>
        <p:nvSpPr>
          <p:cNvPr id="19" name="Rectangle 18">
            <a:extLst>
              <a:ext uri="{FF2B5EF4-FFF2-40B4-BE49-F238E27FC236}">
                <a16:creationId xmlns:a16="http://schemas.microsoft.com/office/drawing/2014/main" id="{FCDE5E1F-5705-4178-A7E0-96675DA0C7CE}"/>
              </a:ext>
            </a:extLst>
          </p:cNvPr>
          <p:cNvSpPr>
            <a:spLocks noGrp="1"/>
          </p:cNvSpPr>
          <p:nvPr/>
        </p:nvSpPr>
        <p:spPr>
          <a:xfrm>
            <a:off x="1143000" y="5476875"/>
            <a:ext cx="1143000" cy="228600"/>
          </a:xfrm>
          <a:prstGeom prst="rect">
            <a:avLst/>
          </a:prstGeom>
          <a:noFill/>
          <a:ln w="0">
            <a:noFill/>
            <a:prstDash val="solid"/>
          </a:ln>
        </p:spPr>
        <p:txBody>
          <a:bodyPr wrap="square" lIns="0" tIns="0" rIns="0" bIns="0" anchor="t">
            <a:normAutofit/>
          </a:bodyPr>
          <a:lstStyle/>
          <a:p>
            <a:pPr algn="l">
              <a:lnSpc>
                <a:spcPct val="104000"/>
              </a:lnSpc>
              <a:buNone/>
              <a:defRPr sz="1275" b="1">
                <a:solidFill>
                  <a:srgbClr val="0F6CBD"/>
                </a:solidFill>
                <a:latin typeface="Aptos"/>
                <a:ea typeface="Aptos"/>
                <a:cs typeface="Aptos"/>
              </a:defRPr>
            </a:pPr>
            <a:r>
              <a:rPr sz="1275" b="1">
                <a:solidFill>
                  <a:srgbClr val="0F6CBD"/>
                </a:solidFill>
                <a:latin typeface="Aptos"/>
                <a:ea typeface="Aptos"/>
                <a:cs typeface="Aptos"/>
              </a:rPr>
              <a:t>Requisitos</a:t>
            </a:r>
          </a:p>
        </p:txBody>
      </p:sp>
      <p:sp>
        <p:nvSpPr>
          <p:cNvPr id="20" name="Rectangle 19">
            <a:extLst>
              <a:ext uri="{FF2B5EF4-FFF2-40B4-BE49-F238E27FC236}">
                <a16:creationId xmlns:a16="http://schemas.microsoft.com/office/drawing/2014/main" id="{3A820086-27FB-4797-810D-04EFAE186E25}"/>
              </a:ext>
            </a:extLst>
          </p:cNvPr>
          <p:cNvSpPr>
            <a:spLocks noGrp="1"/>
          </p:cNvSpPr>
          <p:nvPr/>
        </p:nvSpPr>
        <p:spPr>
          <a:xfrm>
            <a:off x="2476500" y="5429250"/>
            <a:ext cx="8572500" cy="400050"/>
          </a:xfrm>
          <a:prstGeom prst="rect">
            <a:avLst/>
          </a:prstGeom>
          <a:noFill/>
          <a:ln w="0">
            <a:noFill/>
            <a:prstDash val="solid"/>
          </a:ln>
        </p:spPr>
        <p:txBody>
          <a:bodyPr wrap="square" lIns="0" tIns="0" rIns="0" bIns="0" anchor="t">
            <a:normAutofit fontScale="84135"/>
          </a:bodyPr>
          <a:lstStyle/>
          <a:p>
            <a:pPr algn="l">
              <a:lnSpc>
                <a:spcPct val="104000"/>
              </a:lnSpc>
              <a:buNone/>
              <a:defRPr sz="1500" b="1">
                <a:solidFill>
                  <a:srgbClr val="17233C"/>
                </a:solidFill>
                <a:latin typeface="Aptos"/>
                <a:ea typeface="Aptos"/>
                <a:cs typeface="Aptos"/>
              </a:defRPr>
            </a:pPr>
            <a:r>
              <a:rPr sz="1500" b="1">
                <a:solidFill>
                  <a:srgbClr val="17233C"/>
                </a:solidFill>
                <a:latin typeface="Aptos"/>
                <a:ea typeface="Aptos"/>
                <a:cs typeface="Aptos"/>
              </a:rPr>
              <a:t>Esquema 2012+ · módulos PowerShell RSAT · al menos un DC 2012+ · host unido al dominio con Server 2016+</a:t>
            </a:r>
          </a:p>
        </p:txBody>
      </p:sp>
      <p:sp>
        <p:nvSpPr>
          <p:cNvPr id="21" name="Rectangle 20">
            <a:extLst>
              <a:ext uri="{FF2B5EF4-FFF2-40B4-BE49-F238E27FC236}">
                <a16:creationId xmlns:a16="http://schemas.microsoft.com/office/drawing/2014/main" id="{0FA3CFB3-9C72-4C22-BDA2-0B1D0CBD33B8}"/>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18</a:t>
            </a:r>
          </a:p>
        </p:txBody>
      </p:sp>
    </p:spTree>
    <p:extLst>
      <p:ext uri="{BB962C8B-B14F-4D97-AF65-F5344CB8AC3E}">
        <p14:creationId xmlns:p14="http://schemas.microsoft.com/office/powerpoint/2010/main" val="162250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63EDA26D-B1E7-471B-9774-2ACF16BB78C7}"/>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CD9DB9AE-8039-465F-8FCE-186CCEFC0691}"/>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DESPLIEGUE DEL PROVISIONING AGENT</a:t>
            </a:r>
          </a:p>
        </p:txBody>
      </p:sp>
      <p:sp>
        <p:nvSpPr>
          <p:cNvPr id="3" name="Rectangle 2">
            <a:extLst>
              <a:ext uri="{FF2B5EF4-FFF2-40B4-BE49-F238E27FC236}">
                <a16:creationId xmlns:a16="http://schemas.microsoft.com/office/drawing/2014/main" id="{A9B18633-05C8-49F5-A49C-F537AF1D107F}"/>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Cloud Sync se implementa en cuatro pasos verificables</a:t>
            </a:r>
          </a:p>
        </p:txBody>
      </p:sp>
      <p:sp>
        <p:nvSpPr>
          <p:cNvPr id="4" name="Straight Connector 3">
            <a:extLst>
              <a:ext uri="{FF2B5EF4-FFF2-40B4-BE49-F238E27FC236}">
                <a16:creationId xmlns:a16="http://schemas.microsoft.com/office/drawing/2014/main" id="{8CE43145-7FAB-41B9-85EE-0C1F526CCF77}"/>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Rectangle 4">
            <a:extLst>
              <a:ext uri="{FF2B5EF4-FFF2-40B4-BE49-F238E27FC236}">
                <a16:creationId xmlns:a16="http://schemas.microsoft.com/office/drawing/2014/main" id="{8737560C-0EA0-463D-8D15-91D34A734B3D}"/>
              </a:ext>
            </a:extLst>
          </p:cNvPr>
          <p:cNvSpPr>
            <a:spLocks noGrp="1"/>
          </p:cNvSpPr>
          <p:nvPr/>
        </p:nvSpPr>
        <p:spPr>
          <a:xfrm>
            <a:off x="714375" y="2076450"/>
            <a:ext cx="476250" cy="590550"/>
          </a:xfrm>
          <a:prstGeom prst="rect">
            <a:avLst/>
          </a:prstGeom>
          <a:noFill/>
          <a:ln w="0">
            <a:noFill/>
            <a:prstDash val="solid"/>
          </a:ln>
        </p:spPr>
        <p:txBody>
          <a:bodyPr wrap="square" lIns="0" tIns="0" rIns="0" bIns="0" anchor="t">
            <a:normAutofit/>
          </a:bodyPr>
          <a:lstStyle/>
          <a:p>
            <a:pPr algn="l">
              <a:lnSpc>
                <a:spcPct val="104000"/>
              </a:lnSpc>
              <a:buNone/>
              <a:defRPr sz="3600" b="1">
                <a:solidFill>
                  <a:srgbClr val="0F6CBD"/>
                </a:solidFill>
                <a:latin typeface="Aptos Display"/>
                <a:ea typeface="Aptos Display"/>
                <a:cs typeface="Aptos Display"/>
              </a:defRPr>
            </a:pPr>
            <a:r>
              <a:rPr sz="3600" b="1">
                <a:solidFill>
                  <a:srgbClr val="0F6CBD"/>
                </a:solidFill>
                <a:latin typeface="Aptos Display"/>
                <a:ea typeface="Aptos Display"/>
                <a:cs typeface="Aptos Display"/>
              </a:rPr>
              <a:t>1</a:t>
            </a:r>
          </a:p>
        </p:txBody>
      </p:sp>
      <p:sp>
        <p:nvSpPr>
          <p:cNvPr id="6" name="Straight Connector 5">
            <a:extLst>
              <a:ext uri="{FF2B5EF4-FFF2-40B4-BE49-F238E27FC236}">
                <a16:creationId xmlns:a16="http://schemas.microsoft.com/office/drawing/2014/main" id="{6FC40301-B773-47E7-AA1E-2E827C2F7313}"/>
              </a:ext>
            </a:extLst>
          </p:cNvPr>
          <p:cNvSpPr>
            <a:spLocks noGrp="1"/>
          </p:cNvSpPr>
          <p:nvPr/>
        </p:nvSpPr>
        <p:spPr>
          <a:xfrm>
            <a:off x="714375" y="2809875"/>
            <a:ext cx="2333625" cy="0"/>
          </a:xfrm>
          <a:prstGeom prst="line">
            <a:avLst/>
          </a:prstGeom>
          <a:noFill/>
          <a:ln w="38100">
            <a:solidFill>
              <a:srgbClr val="0F6CBD"/>
            </a:solidFill>
            <a:prstDash val="solid"/>
          </a:ln>
        </p:spPr>
      </p:sp>
      <p:sp>
        <p:nvSpPr>
          <p:cNvPr id="7" name="Rectangle 6">
            <a:extLst>
              <a:ext uri="{FF2B5EF4-FFF2-40B4-BE49-F238E27FC236}">
                <a16:creationId xmlns:a16="http://schemas.microsoft.com/office/drawing/2014/main" id="{3D130E4B-F9AD-4251-8242-D74BFB3204D7}"/>
              </a:ext>
            </a:extLst>
          </p:cNvPr>
          <p:cNvSpPr>
            <a:spLocks noGrp="1"/>
          </p:cNvSpPr>
          <p:nvPr/>
        </p:nvSpPr>
        <p:spPr>
          <a:xfrm>
            <a:off x="714375" y="3067050"/>
            <a:ext cx="2333625" cy="323850"/>
          </a:xfrm>
          <a:prstGeom prst="rect">
            <a:avLst/>
          </a:prstGeom>
          <a:noFill/>
          <a:ln w="0">
            <a:noFill/>
            <a:prstDash val="solid"/>
          </a:ln>
        </p:spPr>
        <p:txBody>
          <a:bodyPr wrap="square" lIns="0" tIns="0" rIns="0" bIns="0" anchor="t">
            <a:normAutofit fontScale="97298"/>
          </a:bodyPr>
          <a:lstStyle/>
          <a:p>
            <a:pPr algn="l">
              <a:lnSpc>
                <a:spcPct val="104000"/>
              </a:lnSpc>
              <a:buNone/>
              <a:defRPr sz="2100" b="1">
                <a:solidFill>
                  <a:srgbClr val="17233C"/>
                </a:solidFill>
                <a:latin typeface="Aptos"/>
                <a:ea typeface="Aptos"/>
                <a:cs typeface="Aptos"/>
              </a:defRPr>
            </a:pPr>
            <a:r>
              <a:rPr sz="2100" b="1">
                <a:solidFill>
                  <a:srgbClr val="17233C"/>
                </a:solidFill>
                <a:latin typeface="Aptos"/>
                <a:ea typeface="Aptos"/>
                <a:cs typeface="Aptos"/>
              </a:rPr>
              <a:t>Instalar</a:t>
            </a:r>
          </a:p>
        </p:txBody>
      </p:sp>
      <p:sp>
        <p:nvSpPr>
          <p:cNvPr id="8" name="Rectangle 7">
            <a:extLst>
              <a:ext uri="{FF2B5EF4-FFF2-40B4-BE49-F238E27FC236}">
                <a16:creationId xmlns:a16="http://schemas.microsoft.com/office/drawing/2014/main" id="{57E4F6EB-713F-40AB-ADD5-A83CE868796E}"/>
              </a:ext>
            </a:extLst>
          </p:cNvPr>
          <p:cNvSpPr>
            <a:spLocks noGrp="1"/>
          </p:cNvSpPr>
          <p:nvPr/>
        </p:nvSpPr>
        <p:spPr>
          <a:xfrm>
            <a:off x="714375" y="3571875"/>
            <a:ext cx="2333625" cy="1238250"/>
          </a:xfrm>
          <a:prstGeom prst="rect">
            <a:avLst/>
          </a:prstGeom>
          <a:noFill/>
          <a:ln w="0">
            <a:noFill/>
            <a:prstDash val="solid"/>
          </a:ln>
        </p:spPr>
        <p:txBody>
          <a:bodyPr wrap="square" lIns="0" tIns="0" rIns="0" bIns="0" anchor="t">
            <a:normAutofit/>
          </a:bodyPr>
          <a:lstStyle/>
          <a:p>
            <a:pPr algn="l">
              <a:lnSpc>
                <a:spcPct val="112000"/>
              </a:lnSpc>
              <a:buNone/>
              <a:defRPr sz="1500" b="0">
                <a:solidFill>
                  <a:srgbClr val="51627A"/>
                </a:solidFill>
                <a:latin typeface="Aptos"/>
                <a:ea typeface="Aptos"/>
                <a:cs typeface="Aptos"/>
              </a:defRPr>
            </a:pPr>
            <a:r>
              <a:rPr sz="1500" b="0">
                <a:solidFill>
                  <a:srgbClr val="51627A"/>
                </a:solidFill>
                <a:latin typeface="Aptos"/>
                <a:ea typeface="Aptos"/>
                <a:cs typeface="Aptos"/>
              </a:rPr>
              <a:t>Descargar el agente, aceptar términos, instalar e iniciar sesión.</a:t>
            </a:r>
          </a:p>
        </p:txBody>
      </p:sp>
      <p:sp>
        <p:nvSpPr>
          <p:cNvPr id="9" name="Rectangle 8">
            <a:extLst>
              <a:ext uri="{FF2B5EF4-FFF2-40B4-BE49-F238E27FC236}">
                <a16:creationId xmlns:a16="http://schemas.microsoft.com/office/drawing/2014/main" id="{4F8774C7-F9E4-4721-9A0F-BD54E35042EB}"/>
              </a:ext>
            </a:extLst>
          </p:cNvPr>
          <p:cNvSpPr>
            <a:spLocks noGrp="1"/>
          </p:cNvSpPr>
          <p:nvPr/>
        </p:nvSpPr>
        <p:spPr>
          <a:xfrm>
            <a:off x="3590925" y="2076450"/>
            <a:ext cx="476250" cy="590550"/>
          </a:xfrm>
          <a:prstGeom prst="rect">
            <a:avLst/>
          </a:prstGeom>
          <a:noFill/>
          <a:ln w="0">
            <a:noFill/>
            <a:prstDash val="solid"/>
          </a:ln>
        </p:spPr>
        <p:txBody>
          <a:bodyPr wrap="square" lIns="0" tIns="0" rIns="0" bIns="0" anchor="t">
            <a:normAutofit/>
          </a:bodyPr>
          <a:lstStyle/>
          <a:p>
            <a:pPr algn="l">
              <a:lnSpc>
                <a:spcPct val="104000"/>
              </a:lnSpc>
              <a:buNone/>
              <a:defRPr sz="3600" b="1">
                <a:solidFill>
                  <a:srgbClr val="0F6CBD"/>
                </a:solidFill>
                <a:latin typeface="Aptos Display"/>
                <a:ea typeface="Aptos Display"/>
                <a:cs typeface="Aptos Display"/>
              </a:defRPr>
            </a:pPr>
            <a:r>
              <a:rPr sz="3600" b="1">
                <a:solidFill>
                  <a:srgbClr val="0F6CBD"/>
                </a:solidFill>
                <a:latin typeface="Aptos Display"/>
                <a:ea typeface="Aptos Display"/>
                <a:cs typeface="Aptos Display"/>
              </a:rPr>
              <a:t>2</a:t>
            </a:r>
          </a:p>
        </p:txBody>
      </p:sp>
      <p:sp>
        <p:nvSpPr>
          <p:cNvPr id="10" name="Straight Connector 9">
            <a:extLst>
              <a:ext uri="{FF2B5EF4-FFF2-40B4-BE49-F238E27FC236}">
                <a16:creationId xmlns:a16="http://schemas.microsoft.com/office/drawing/2014/main" id="{11851358-8BDD-4564-BD2F-503CF1FD3450}"/>
              </a:ext>
            </a:extLst>
          </p:cNvPr>
          <p:cNvSpPr>
            <a:spLocks noGrp="1"/>
          </p:cNvSpPr>
          <p:nvPr/>
        </p:nvSpPr>
        <p:spPr>
          <a:xfrm>
            <a:off x="3590925" y="2809875"/>
            <a:ext cx="2333625" cy="0"/>
          </a:xfrm>
          <a:prstGeom prst="line">
            <a:avLst/>
          </a:prstGeom>
          <a:noFill/>
          <a:ln w="38100">
            <a:solidFill>
              <a:srgbClr val="0F6CBD"/>
            </a:solidFill>
            <a:prstDash val="solid"/>
          </a:ln>
        </p:spPr>
      </p:sp>
      <p:sp>
        <p:nvSpPr>
          <p:cNvPr id="11" name="Rectangle 10">
            <a:extLst>
              <a:ext uri="{FF2B5EF4-FFF2-40B4-BE49-F238E27FC236}">
                <a16:creationId xmlns:a16="http://schemas.microsoft.com/office/drawing/2014/main" id="{A405A187-D7EA-4FE4-8931-FC13EEBD8447}"/>
              </a:ext>
            </a:extLst>
          </p:cNvPr>
          <p:cNvSpPr>
            <a:spLocks noGrp="1"/>
          </p:cNvSpPr>
          <p:nvPr/>
        </p:nvSpPr>
        <p:spPr>
          <a:xfrm>
            <a:off x="3590925" y="3067050"/>
            <a:ext cx="2333625" cy="323850"/>
          </a:xfrm>
          <a:prstGeom prst="rect">
            <a:avLst/>
          </a:prstGeom>
          <a:noFill/>
          <a:ln w="0">
            <a:noFill/>
            <a:prstDash val="solid"/>
          </a:ln>
        </p:spPr>
        <p:txBody>
          <a:bodyPr wrap="square" lIns="0" tIns="0" rIns="0" bIns="0" anchor="t">
            <a:normAutofit fontScale="97298"/>
          </a:bodyPr>
          <a:lstStyle/>
          <a:p>
            <a:pPr algn="l">
              <a:lnSpc>
                <a:spcPct val="104000"/>
              </a:lnSpc>
              <a:buNone/>
              <a:defRPr sz="2100" b="1">
                <a:solidFill>
                  <a:srgbClr val="17233C"/>
                </a:solidFill>
                <a:latin typeface="Aptos"/>
                <a:ea typeface="Aptos"/>
                <a:cs typeface="Aptos"/>
              </a:defRPr>
            </a:pPr>
            <a:r>
              <a:rPr sz="2100" b="1">
                <a:solidFill>
                  <a:srgbClr val="17233C"/>
                </a:solidFill>
                <a:latin typeface="Aptos"/>
                <a:ea typeface="Aptos"/>
                <a:cs typeface="Aptos"/>
              </a:rPr>
              <a:t>Verificar</a:t>
            </a:r>
          </a:p>
        </p:txBody>
      </p:sp>
      <p:sp>
        <p:nvSpPr>
          <p:cNvPr id="12" name="Rectangle 11">
            <a:extLst>
              <a:ext uri="{FF2B5EF4-FFF2-40B4-BE49-F238E27FC236}">
                <a16:creationId xmlns:a16="http://schemas.microsoft.com/office/drawing/2014/main" id="{E5EF18AB-F530-40FF-9B84-D7A08DAE15C4}"/>
              </a:ext>
            </a:extLst>
          </p:cNvPr>
          <p:cNvSpPr>
            <a:spLocks noGrp="1"/>
          </p:cNvSpPr>
          <p:nvPr/>
        </p:nvSpPr>
        <p:spPr>
          <a:xfrm>
            <a:off x="3590925" y="3571875"/>
            <a:ext cx="2333625" cy="1238250"/>
          </a:xfrm>
          <a:prstGeom prst="rect">
            <a:avLst/>
          </a:prstGeom>
          <a:noFill/>
          <a:ln w="0">
            <a:noFill/>
            <a:prstDash val="solid"/>
          </a:ln>
        </p:spPr>
        <p:txBody>
          <a:bodyPr wrap="square" lIns="0" tIns="0" rIns="0" bIns="0" anchor="t">
            <a:normAutofit/>
          </a:bodyPr>
          <a:lstStyle/>
          <a:p>
            <a:pPr algn="l">
              <a:lnSpc>
                <a:spcPct val="112000"/>
              </a:lnSpc>
              <a:buNone/>
              <a:defRPr sz="1500" b="0">
                <a:solidFill>
                  <a:srgbClr val="51627A"/>
                </a:solidFill>
                <a:latin typeface="Aptos"/>
                <a:ea typeface="Aptos"/>
                <a:cs typeface="Aptos"/>
              </a:defRPr>
            </a:pPr>
            <a:r>
              <a:rPr sz="1500" b="0">
                <a:solidFill>
                  <a:srgbClr val="51627A"/>
                </a:solidFill>
                <a:latin typeface="Aptos"/>
                <a:ea typeface="Aptos"/>
                <a:cs typeface="Aptos"/>
              </a:rPr>
              <a:t>Confirmar el agente en Entra admin center con estado Active.</a:t>
            </a:r>
          </a:p>
        </p:txBody>
      </p:sp>
      <p:sp>
        <p:nvSpPr>
          <p:cNvPr id="13" name="Rectangle 12">
            <a:extLst>
              <a:ext uri="{FF2B5EF4-FFF2-40B4-BE49-F238E27FC236}">
                <a16:creationId xmlns:a16="http://schemas.microsoft.com/office/drawing/2014/main" id="{C11C6978-124A-48C8-B274-F08FCE054542}"/>
              </a:ext>
            </a:extLst>
          </p:cNvPr>
          <p:cNvSpPr>
            <a:spLocks noGrp="1"/>
          </p:cNvSpPr>
          <p:nvPr/>
        </p:nvSpPr>
        <p:spPr>
          <a:xfrm>
            <a:off x="6467475" y="2076450"/>
            <a:ext cx="476250" cy="590550"/>
          </a:xfrm>
          <a:prstGeom prst="rect">
            <a:avLst/>
          </a:prstGeom>
          <a:noFill/>
          <a:ln w="0">
            <a:noFill/>
            <a:prstDash val="solid"/>
          </a:ln>
        </p:spPr>
        <p:txBody>
          <a:bodyPr wrap="square" lIns="0" tIns="0" rIns="0" bIns="0" anchor="t">
            <a:normAutofit/>
          </a:bodyPr>
          <a:lstStyle/>
          <a:p>
            <a:pPr algn="l">
              <a:lnSpc>
                <a:spcPct val="104000"/>
              </a:lnSpc>
              <a:buNone/>
              <a:defRPr sz="3600" b="1">
                <a:solidFill>
                  <a:srgbClr val="0F6CBD"/>
                </a:solidFill>
                <a:latin typeface="Aptos Display"/>
                <a:ea typeface="Aptos Display"/>
                <a:cs typeface="Aptos Display"/>
              </a:defRPr>
            </a:pPr>
            <a:r>
              <a:rPr sz="3600" b="1">
                <a:solidFill>
                  <a:srgbClr val="0F6CBD"/>
                </a:solidFill>
                <a:latin typeface="Aptos Display"/>
                <a:ea typeface="Aptos Display"/>
                <a:cs typeface="Aptos Display"/>
              </a:rPr>
              <a:t>3</a:t>
            </a:r>
          </a:p>
        </p:txBody>
      </p:sp>
      <p:sp>
        <p:nvSpPr>
          <p:cNvPr id="14" name="Straight Connector 13">
            <a:extLst>
              <a:ext uri="{FF2B5EF4-FFF2-40B4-BE49-F238E27FC236}">
                <a16:creationId xmlns:a16="http://schemas.microsoft.com/office/drawing/2014/main" id="{D7D39B85-8957-47B6-880B-C0939AEF7F17}"/>
              </a:ext>
            </a:extLst>
          </p:cNvPr>
          <p:cNvSpPr>
            <a:spLocks noGrp="1"/>
          </p:cNvSpPr>
          <p:nvPr/>
        </p:nvSpPr>
        <p:spPr>
          <a:xfrm>
            <a:off x="6467475" y="2809875"/>
            <a:ext cx="2333625" cy="0"/>
          </a:xfrm>
          <a:prstGeom prst="line">
            <a:avLst/>
          </a:prstGeom>
          <a:noFill/>
          <a:ln w="38100">
            <a:solidFill>
              <a:srgbClr val="0F6CBD"/>
            </a:solidFill>
            <a:prstDash val="solid"/>
          </a:ln>
        </p:spPr>
      </p:sp>
      <p:sp>
        <p:nvSpPr>
          <p:cNvPr id="15" name="Rectangle 14">
            <a:extLst>
              <a:ext uri="{FF2B5EF4-FFF2-40B4-BE49-F238E27FC236}">
                <a16:creationId xmlns:a16="http://schemas.microsoft.com/office/drawing/2014/main" id="{C3827193-081C-4872-81C8-B7DA3440B98B}"/>
              </a:ext>
            </a:extLst>
          </p:cNvPr>
          <p:cNvSpPr>
            <a:spLocks noGrp="1"/>
          </p:cNvSpPr>
          <p:nvPr/>
        </p:nvSpPr>
        <p:spPr>
          <a:xfrm>
            <a:off x="6467475" y="3067050"/>
            <a:ext cx="2333625" cy="323850"/>
          </a:xfrm>
          <a:prstGeom prst="rect">
            <a:avLst/>
          </a:prstGeom>
          <a:noFill/>
          <a:ln w="0">
            <a:noFill/>
            <a:prstDash val="solid"/>
          </a:ln>
        </p:spPr>
        <p:txBody>
          <a:bodyPr wrap="square" lIns="0" tIns="0" rIns="0" bIns="0" anchor="t">
            <a:normAutofit fontScale="97298"/>
          </a:bodyPr>
          <a:lstStyle/>
          <a:p>
            <a:pPr algn="l">
              <a:lnSpc>
                <a:spcPct val="104000"/>
              </a:lnSpc>
              <a:buNone/>
              <a:defRPr sz="2100" b="1">
                <a:solidFill>
                  <a:srgbClr val="17233C"/>
                </a:solidFill>
                <a:latin typeface="Aptos"/>
                <a:ea typeface="Aptos"/>
                <a:cs typeface="Aptos"/>
              </a:defRPr>
            </a:pPr>
            <a:r>
              <a:rPr sz="2100" b="1">
                <a:solidFill>
                  <a:srgbClr val="17233C"/>
                </a:solidFill>
                <a:latin typeface="Aptos"/>
                <a:ea typeface="Aptos"/>
                <a:cs typeface="Aptos"/>
              </a:rPr>
              <a:t>Ejecutar</a:t>
            </a:r>
          </a:p>
        </p:txBody>
      </p:sp>
      <p:sp>
        <p:nvSpPr>
          <p:cNvPr id="16" name="Rectangle 15">
            <a:extLst>
              <a:ext uri="{FF2B5EF4-FFF2-40B4-BE49-F238E27FC236}">
                <a16:creationId xmlns:a16="http://schemas.microsoft.com/office/drawing/2014/main" id="{95C57774-598F-4A52-9B1D-C0C5CB153EBF}"/>
              </a:ext>
            </a:extLst>
          </p:cNvPr>
          <p:cNvSpPr>
            <a:spLocks noGrp="1"/>
          </p:cNvSpPr>
          <p:nvPr/>
        </p:nvSpPr>
        <p:spPr>
          <a:xfrm>
            <a:off x="6467475" y="3571875"/>
            <a:ext cx="2333625" cy="1238250"/>
          </a:xfrm>
          <a:prstGeom prst="rect">
            <a:avLst/>
          </a:prstGeom>
          <a:noFill/>
          <a:ln w="0">
            <a:noFill/>
            <a:prstDash val="solid"/>
          </a:ln>
        </p:spPr>
        <p:txBody>
          <a:bodyPr wrap="square" lIns="0" tIns="0" rIns="0" bIns="0" anchor="t">
            <a:normAutofit/>
          </a:bodyPr>
          <a:lstStyle/>
          <a:p>
            <a:pPr algn="l">
              <a:lnSpc>
                <a:spcPct val="112000"/>
              </a:lnSpc>
              <a:buNone/>
              <a:defRPr sz="1500" b="0">
                <a:solidFill>
                  <a:srgbClr val="51627A"/>
                </a:solidFill>
                <a:latin typeface="Aptos"/>
                <a:ea typeface="Aptos"/>
                <a:cs typeface="Aptos"/>
              </a:defRPr>
            </a:pPr>
            <a:r>
              <a:rPr sz="1500" b="0">
                <a:solidFill>
                  <a:srgbClr val="51627A"/>
                </a:solidFill>
                <a:latin typeface="Aptos"/>
                <a:ea typeface="Aptos"/>
                <a:cs typeface="Aptos"/>
              </a:rPr>
              <a:t>Validar que Updater y Provisioning Agent estén Running.</a:t>
            </a:r>
          </a:p>
        </p:txBody>
      </p:sp>
      <p:sp>
        <p:nvSpPr>
          <p:cNvPr id="17" name="Rectangle 16">
            <a:extLst>
              <a:ext uri="{FF2B5EF4-FFF2-40B4-BE49-F238E27FC236}">
                <a16:creationId xmlns:a16="http://schemas.microsoft.com/office/drawing/2014/main" id="{A5D364BB-D5CF-4979-9770-8F3627AD818A}"/>
              </a:ext>
            </a:extLst>
          </p:cNvPr>
          <p:cNvSpPr>
            <a:spLocks noGrp="1"/>
          </p:cNvSpPr>
          <p:nvPr/>
        </p:nvSpPr>
        <p:spPr>
          <a:xfrm>
            <a:off x="9344025" y="2076450"/>
            <a:ext cx="476250" cy="590550"/>
          </a:xfrm>
          <a:prstGeom prst="rect">
            <a:avLst/>
          </a:prstGeom>
          <a:noFill/>
          <a:ln w="0">
            <a:noFill/>
            <a:prstDash val="solid"/>
          </a:ln>
        </p:spPr>
        <p:txBody>
          <a:bodyPr wrap="square" lIns="0" tIns="0" rIns="0" bIns="0" anchor="t">
            <a:normAutofit/>
          </a:bodyPr>
          <a:lstStyle/>
          <a:p>
            <a:pPr algn="l">
              <a:lnSpc>
                <a:spcPct val="104000"/>
              </a:lnSpc>
              <a:buNone/>
              <a:defRPr sz="3600" b="1">
                <a:solidFill>
                  <a:srgbClr val="008A88"/>
                </a:solidFill>
                <a:latin typeface="Aptos Display"/>
                <a:ea typeface="Aptos Display"/>
                <a:cs typeface="Aptos Display"/>
              </a:defRPr>
            </a:pPr>
            <a:r>
              <a:rPr sz="3600" b="1">
                <a:solidFill>
                  <a:srgbClr val="008A88"/>
                </a:solidFill>
                <a:latin typeface="Aptos Display"/>
                <a:ea typeface="Aptos Display"/>
                <a:cs typeface="Aptos Display"/>
              </a:rPr>
              <a:t>4</a:t>
            </a:r>
          </a:p>
        </p:txBody>
      </p:sp>
      <p:sp>
        <p:nvSpPr>
          <p:cNvPr id="18" name="Straight Connector 17">
            <a:extLst>
              <a:ext uri="{FF2B5EF4-FFF2-40B4-BE49-F238E27FC236}">
                <a16:creationId xmlns:a16="http://schemas.microsoft.com/office/drawing/2014/main" id="{8D50E19F-BD65-4CBA-95CF-A77A46302213}"/>
              </a:ext>
            </a:extLst>
          </p:cNvPr>
          <p:cNvSpPr>
            <a:spLocks noGrp="1"/>
          </p:cNvSpPr>
          <p:nvPr/>
        </p:nvSpPr>
        <p:spPr>
          <a:xfrm>
            <a:off x="9344025" y="2809875"/>
            <a:ext cx="2333625" cy="0"/>
          </a:xfrm>
          <a:prstGeom prst="line">
            <a:avLst/>
          </a:prstGeom>
          <a:noFill/>
          <a:ln w="38100">
            <a:solidFill>
              <a:srgbClr val="008A88"/>
            </a:solidFill>
            <a:prstDash val="solid"/>
          </a:ln>
        </p:spPr>
      </p:sp>
      <p:sp>
        <p:nvSpPr>
          <p:cNvPr id="19" name="Rectangle 18">
            <a:extLst>
              <a:ext uri="{FF2B5EF4-FFF2-40B4-BE49-F238E27FC236}">
                <a16:creationId xmlns:a16="http://schemas.microsoft.com/office/drawing/2014/main" id="{C8551609-B4EE-496E-88C9-2A01B54848B7}"/>
              </a:ext>
            </a:extLst>
          </p:cNvPr>
          <p:cNvSpPr>
            <a:spLocks noGrp="1"/>
          </p:cNvSpPr>
          <p:nvPr/>
        </p:nvSpPr>
        <p:spPr>
          <a:xfrm>
            <a:off x="9344025" y="3067050"/>
            <a:ext cx="2333625" cy="323850"/>
          </a:xfrm>
          <a:prstGeom prst="rect">
            <a:avLst/>
          </a:prstGeom>
          <a:noFill/>
          <a:ln w="0">
            <a:noFill/>
            <a:prstDash val="solid"/>
          </a:ln>
        </p:spPr>
        <p:txBody>
          <a:bodyPr wrap="square" lIns="0" tIns="0" rIns="0" bIns="0" anchor="t">
            <a:normAutofit fontScale="97298"/>
          </a:bodyPr>
          <a:lstStyle/>
          <a:p>
            <a:pPr algn="l">
              <a:lnSpc>
                <a:spcPct val="104000"/>
              </a:lnSpc>
              <a:buNone/>
              <a:defRPr sz="2100" b="1">
                <a:solidFill>
                  <a:srgbClr val="17233C"/>
                </a:solidFill>
                <a:latin typeface="Aptos"/>
                <a:ea typeface="Aptos"/>
                <a:cs typeface="Aptos"/>
              </a:defRPr>
            </a:pPr>
            <a:r>
              <a:rPr sz="2100" b="1">
                <a:solidFill>
                  <a:srgbClr val="17233C"/>
                </a:solidFill>
                <a:latin typeface="Aptos"/>
                <a:ea typeface="Aptos"/>
                <a:cs typeface="Aptos"/>
              </a:rPr>
              <a:t>Configurar</a:t>
            </a:r>
          </a:p>
        </p:txBody>
      </p:sp>
      <p:sp>
        <p:nvSpPr>
          <p:cNvPr id="20" name="Rectangle 19">
            <a:extLst>
              <a:ext uri="{FF2B5EF4-FFF2-40B4-BE49-F238E27FC236}">
                <a16:creationId xmlns:a16="http://schemas.microsoft.com/office/drawing/2014/main" id="{E1C9F78F-884E-4F35-BC9E-23A85BF09DA0}"/>
              </a:ext>
            </a:extLst>
          </p:cNvPr>
          <p:cNvSpPr>
            <a:spLocks noGrp="1"/>
          </p:cNvSpPr>
          <p:nvPr/>
        </p:nvSpPr>
        <p:spPr>
          <a:xfrm>
            <a:off x="9344025" y="3571875"/>
            <a:ext cx="2333625" cy="1238250"/>
          </a:xfrm>
          <a:prstGeom prst="rect">
            <a:avLst/>
          </a:prstGeom>
          <a:noFill/>
          <a:ln w="0">
            <a:noFill/>
            <a:prstDash val="solid"/>
          </a:ln>
        </p:spPr>
        <p:txBody>
          <a:bodyPr wrap="square" lIns="0" tIns="0" rIns="0" bIns="0" anchor="t">
            <a:normAutofit/>
          </a:bodyPr>
          <a:lstStyle/>
          <a:p>
            <a:pPr algn="l">
              <a:lnSpc>
                <a:spcPct val="112000"/>
              </a:lnSpc>
              <a:buNone/>
              <a:defRPr sz="1500" b="0">
                <a:solidFill>
                  <a:srgbClr val="51627A"/>
                </a:solidFill>
                <a:latin typeface="Aptos"/>
                <a:ea typeface="Aptos"/>
                <a:cs typeface="Aptos"/>
              </a:defRPr>
            </a:pPr>
            <a:r>
              <a:rPr sz="1500" b="0">
                <a:solidFill>
                  <a:srgbClr val="51627A"/>
                </a:solidFill>
                <a:latin typeface="Aptos"/>
                <a:ea typeface="Aptos"/>
                <a:cs typeface="Aptos"/>
              </a:rPr>
              <a:t>Scope, atributos, Validate, Settings y Deploy → Enable.</a:t>
            </a:r>
          </a:p>
        </p:txBody>
      </p:sp>
      <p:sp>
        <p:nvSpPr>
          <p:cNvPr id="21" name="Rectangle 20">
            <a:extLst>
              <a:ext uri="{FF2B5EF4-FFF2-40B4-BE49-F238E27FC236}">
                <a16:creationId xmlns:a16="http://schemas.microsoft.com/office/drawing/2014/main" id="{2B844E62-D54A-4AFD-ABD1-F94B66182F06}"/>
              </a:ext>
            </a:extLst>
          </p:cNvPr>
          <p:cNvSpPr>
            <a:spLocks noGrp="1"/>
          </p:cNvSpPr>
          <p:nvPr/>
        </p:nvSpPr>
        <p:spPr>
          <a:xfrm>
            <a:off x="1571625" y="5381625"/>
            <a:ext cx="9048750" cy="571500"/>
          </a:xfrm>
          <a:prstGeom prst="rect">
            <a:avLst/>
          </a:prstGeom>
          <a:solidFill>
            <a:srgbClr val="F3F6F9"/>
          </a:solidFill>
          <a:ln w="0">
            <a:noFill/>
            <a:prstDash val="solid"/>
          </a:ln>
        </p:spPr>
      </p:sp>
      <p:sp>
        <p:nvSpPr>
          <p:cNvPr id="22" name="Rectangle 21">
            <a:extLst>
              <a:ext uri="{FF2B5EF4-FFF2-40B4-BE49-F238E27FC236}">
                <a16:creationId xmlns:a16="http://schemas.microsoft.com/office/drawing/2014/main" id="{3E08AA46-552C-42CF-BC7A-BAC01F17AB81}"/>
              </a:ext>
            </a:extLst>
          </p:cNvPr>
          <p:cNvSpPr>
            <a:spLocks noGrp="1"/>
          </p:cNvSpPr>
          <p:nvPr/>
        </p:nvSpPr>
        <p:spPr>
          <a:xfrm>
            <a:off x="1809750" y="5524500"/>
            <a:ext cx="8572500" cy="285750"/>
          </a:xfrm>
          <a:prstGeom prst="rect">
            <a:avLst/>
          </a:prstGeom>
          <a:noFill/>
          <a:ln w="0">
            <a:noFill/>
            <a:prstDash val="solid"/>
          </a:ln>
        </p:spPr>
        <p:txBody>
          <a:bodyPr wrap="square" lIns="0" tIns="0" rIns="0" bIns="0" anchor="t">
            <a:normAutofit fontScale="89955"/>
          </a:bodyPr>
          <a:lstStyle/>
          <a:p>
            <a:pPr algn="ctr">
              <a:lnSpc>
                <a:spcPct val="104000"/>
              </a:lnSpc>
              <a:buNone/>
              <a:defRPr sz="1575" b="1">
                <a:solidFill>
                  <a:srgbClr val="0F6CBD"/>
                </a:solidFill>
                <a:latin typeface="Aptos"/>
                <a:ea typeface="Aptos"/>
                <a:cs typeface="Aptos"/>
              </a:defRPr>
            </a:pPr>
            <a:r>
              <a:rPr sz="1575" b="1">
                <a:solidFill>
                  <a:srgbClr val="0F6CBD"/>
                </a:solidFill>
                <a:latin typeface="Aptos"/>
                <a:ea typeface="Aptos"/>
                <a:cs typeface="Aptos"/>
              </a:rPr>
              <a:t>Antes de habilitar: Provision a user · Notification email · Prevent accidental deletion</a:t>
            </a:r>
          </a:p>
        </p:txBody>
      </p:sp>
      <p:sp>
        <p:nvSpPr>
          <p:cNvPr id="23" name="Rectangle 22">
            <a:extLst>
              <a:ext uri="{FF2B5EF4-FFF2-40B4-BE49-F238E27FC236}">
                <a16:creationId xmlns:a16="http://schemas.microsoft.com/office/drawing/2014/main" id="{784CBEBE-3BC2-4D5E-A66C-B9ACF005ED18}"/>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19</a:t>
            </a:r>
          </a:p>
        </p:txBody>
      </p:sp>
    </p:spTree>
    <p:extLst>
      <p:ext uri="{BB962C8B-B14F-4D97-AF65-F5344CB8AC3E}">
        <p14:creationId xmlns:p14="http://schemas.microsoft.com/office/powerpoint/2010/main" val="166337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7470CA1-68EF-4724-95B2-E77B8E27AF98}"/>
              </a:ext>
            </a:extLst>
          </p:cNvPr>
          <p:cNvSpPr>
            <a:spLocks noGrp="1"/>
          </p:cNvSpPr>
          <p:nvPr/>
        </p:nvSpPr>
        <p:spPr>
          <a:xfrm>
            <a:off x="495300" y="552450"/>
            <a:ext cx="76200" cy="533400"/>
          </a:xfrm>
          <a:prstGeom prst="rect">
            <a:avLst/>
          </a:prstGeom>
          <a:solidFill>
            <a:srgbClr val="0F6CBD"/>
          </a:solidFill>
          <a:ln w="0">
            <a:noFill/>
            <a:prstDash val="solid"/>
          </a:ln>
        </p:spPr>
      </p:sp>
      <p:sp>
        <p:nvSpPr>
          <p:cNvPr id="2" name="Rectangle 1">
            <a:extLst>
              <a:ext uri="{FF2B5EF4-FFF2-40B4-BE49-F238E27FC236}">
                <a16:creationId xmlns:a16="http://schemas.microsoft.com/office/drawing/2014/main" id="{9098D194-9D36-4B98-82D1-3C72BC04D019}"/>
              </a:ext>
            </a:extLst>
          </p:cNvPr>
          <p:cNvSpPr>
            <a:spLocks noGrp="1"/>
          </p:cNvSpPr>
          <p:nvPr/>
        </p:nvSpPr>
        <p:spPr>
          <a:xfrm>
            <a:off x="762000" y="571500"/>
            <a:ext cx="5143500" cy="209550"/>
          </a:xfrm>
          <a:prstGeom prst="rect">
            <a:avLst/>
          </a:prstGeom>
          <a:noFill/>
          <a:ln w="0">
            <a:noFill/>
            <a:prstDash val="solid"/>
          </a:ln>
        </p:spPr>
        <p:txBody>
          <a:bodyPr wrap="square" lIns="0" tIns="0" rIns="0" bIns="0" anchor="t">
            <a:normAutofit/>
          </a:bodyPr>
          <a:lstStyle/>
          <a:p>
            <a:pPr algn="l">
              <a:lnSpc>
                <a:spcPct val="104000"/>
              </a:lnSpc>
              <a:buNone/>
              <a:defRPr sz="1125" b="1">
                <a:solidFill>
                  <a:srgbClr val="0F6CBD"/>
                </a:solidFill>
                <a:latin typeface="Aptos"/>
                <a:ea typeface="Aptos"/>
                <a:cs typeface="Aptos"/>
              </a:defRPr>
            </a:pPr>
            <a:r>
              <a:rPr sz="1125" b="1">
                <a:solidFill>
                  <a:srgbClr val="0F6CBD"/>
                </a:solidFill>
                <a:latin typeface="Aptos"/>
                <a:ea typeface="Aptos"/>
                <a:cs typeface="Aptos"/>
              </a:rPr>
              <a:t>CHECKLIST OPERATIVO</a:t>
            </a:r>
          </a:p>
        </p:txBody>
      </p:sp>
      <p:sp>
        <p:nvSpPr>
          <p:cNvPr id="3" name="Rectangle 2">
            <a:extLst>
              <a:ext uri="{FF2B5EF4-FFF2-40B4-BE49-F238E27FC236}">
                <a16:creationId xmlns:a16="http://schemas.microsoft.com/office/drawing/2014/main" id="{E288D017-F344-4D9F-B27A-71098DFEA9B6}"/>
              </a:ext>
            </a:extLst>
          </p:cNvPr>
          <p:cNvSpPr>
            <a:spLocks noGrp="1"/>
          </p:cNvSpPr>
          <p:nvPr/>
        </p:nvSpPr>
        <p:spPr>
          <a:xfrm>
            <a:off x="762000" y="819150"/>
            <a:ext cx="10572750" cy="895350"/>
          </a:xfrm>
          <a:prstGeom prst="rect">
            <a:avLst/>
          </a:prstGeom>
          <a:noFill/>
          <a:ln w="0">
            <a:noFill/>
            <a:prstDash val="solid"/>
          </a:ln>
        </p:spPr>
        <p:txBody>
          <a:bodyPr wrap="square" lIns="0" tIns="0" rIns="0" bIns="0" anchor="t">
            <a:normAutofit fontScale="78459"/>
          </a:bodyPr>
          <a:lstStyle/>
          <a:p>
            <a:pPr algn="l">
              <a:lnSpc>
                <a:spcPct val="104000"/>
              </a:lnSpc>
              <a:buNone/>
              <a:defRPr sz="3600" b="1">
                <a:solidFill>
                  <a:srgbClr val="17233C"/>
                </a:solidFill>
                <a:latin typeface="Aptos Display"/>
                <a:ea typeface="Aptos Display"/>
                <a:cs typeface="Aptos Display"/>
              </a:defRPr>
            </a:pPr>
            <a:r>
              <a:rPr sz="3600" b="1">
                <a:solidFill>
                  <a:srgbClr val="17233C"/>
                </a:solidFill>
                <a:latin typeface="Aptos Display"/>
                <a:ea typeface="Aptos Display"/>
                <a:cs typeface="Aptos Display"/>
              </a:rPr>
              <a:t>Un despliegue seguro termina con validación y guardrails</a:t>
            </a:r>
          </a:p>
        </p:txBody>
      </p:sp>
      <p:sp>
        <p:nvSpPr>
          <p:cNvPr id="4" name="Straight Connector 3">
            <a:extLst>
              <a:ext uri="{FF2B5EF4-FFF2-40B4-BE49-F238E27FC236}">
                <a16:creationId xmlns:a16="http://schemas.microsoft.com/office/drawing/2014/main" id="{4E695625-3E1A-4FB7-A425-99735734DE7F}"/>
              </a:ext>
            </a:extLst>
          </p:cNvPr>
          <p:cNvSpPr>
            <a:spLocks noGrp="1"/>
          </p:cNvSpPr>
          <p:nvPr/>
        </p:nvSpPr>
        <p:spPr>
          <a:xfrm>
            <a:off x="762000" y="1809750"/>
            <a:ext cx="10668000" cy="0"/>
          </a:xfrm>
          <a:prstGeom prst="line">
            <a:avLst/>
          </a:prstGeom>
          <a:noFill/>
          <a:ln w="9525">
            <a:solidFill>
              <a:srgbClr val="C9D5E3"/>
            </a:solidFill>
            <a:prstDash val="solid"/>
          </a:ln>
        </p:spPr>
      </p:sp>
      <p:sp>
        <p:nvSpPr>
          <p:cNvPr id="5" name="Oval 4">
            <a:extLst>
              <a:ext uri="{FF2B5EF4-FFF2-40B4-BE49-F238E27FC236}">
                <a16:creationId xmlns:a16="http://schemas.microsoft.com/office/drawing/2014/main" id="{E1D677AC-377C-4A2F-A324-70851F00510E}"/>
              </a:ext>
            </a:extLst>
          </p:cNvPr>
          <p:cNvSpPr>
            <a:spLocks noGrp="1"/>
          </p:cNvSpPr>
          <p:nvPr/>
        </p:nvSpPr>
        <p:spPr>
          <a:xfrm>
            <a:off x="904875" y="2047875"/>
            <a:ext cx="285750" cy="285750"/>
          </a:xfrm>
          <a:prstGeom prst="ellipse">
            <a:avLst/>
          </a:prstGeom>
          <a:solidFill>
            <a:srgbClr val="0F6CBD"/>
          </a:solidFill>
          <a:ln w="0">
            <a:noFill/>
            <a:prstDash val="solid"/>
          </a:ln>
        </p:spPr>
      </p:sp>
      <p:sp>
        <p:nvSpPr>
          <p:cNvPr id="6" name="Rectangle 5">
            <a:extLst>
              <a:ext uri="{FF2B5EF4-FFF2-40B4-BE49-F238E27FC236}">
                <a16:creationId xmlns:a16="http://schemas.microsoft.com/office/drawing/2014/main" id="{5624199A-DFC9-46EC-A0BF-4CEFD0A6A497}"/>
              </a:ext>
            </a:extLst>
          </p:cNvPr>
          <p:cNvSpPr>
            <a:spLocks noGrp="1"/>
          </p:cNvSpPr>
          <p:nvPr/>
        </p:nvSpPr>
        <p:spPr>
          <a:xfrm>
            <a:off x="933450" y="2038350"/>
            <a:ext cx="228600" cy="285750"/>
          </a:xfrm>
          <a:prstGeom prst="rect">
            <a:avLst/>
          </a:prstGeom>
          <a:noFill/>
          <a:ln w="0">
            <a:noFill/>
            <a:prstDash val="solid"/>
          </a:ln>
        </p:spPr>
        <p:txBody>
          <a:bodyPr wrap="square" lIns="0" tIns="0" rIns="0" bIns="0" anchor="ctr">
            <a:normAutofit/>
          </a:bodyPr>
          <a:lstStyle/>
          <a:p>
            <a:pPr algn="ctr">
              <a:lnSpc>
                <a:spcPct val="104000"/>
              </a:lnSpc>
              <a:buNone/>
              <a:defRPr sz="1575" b="1">
                <a:solidFill>
                  <a:srgbClr val="FFFFFF"/>
                </a:solidFill>
                <a:latin typeface="Aptos"/>
                <a:ea typeface="Aptos"/>
                <a:cs typeface="Aptos"/>
              </a:defRPr>
            </a:pPr>
            <a:r>
              <a:rPr sz="1575" b="1">
                <a:solidFill>
                  <a:srgbClr val="FFFFFF"/>
                </a:solidFill>
                <a:latin typeface="Aptos"/>
                <a:ea typeface="Aptos"/>
                <a:cs typeface="Aptos"/>
              </a:rPr>
              <a:t>✓</a:t>
            </a:r>
          </a:p>
        </p:txBody>
      </p:sp>
      <p:sp>
        <p:nvSpPr>
          <p:cNvPr id="7" name="Rectangle 6">
            <a:extLst>
              <a:ext uri="{FF2B5EF4-FFF2-40B4-BE49-F238E27FC236}">
                <a16:creationId xmlns:a16="http://schemas.microsoft.com/office/drawing/2014/main" id="{B10084FD-2FE4-46CF-97B4-A731C39031C8}"/>
              </a:ext>
            </a:extLst>
          </p:cNvPr>
          <p:cNvSpPr>
            <a:spLocks noGrp="1"/>
          </p:cNvSpPr>
          <p:nvPr/>
        </p:nvSpPr>
        <p:spPr>
          <a:xfrm>
            <a:off x="1381125" y="2028825"/>
            <a:ext cx="4667250" cy="5905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Dominio verificado, límites y licencias confirmados</a:t>
            </a:r>
          </a:p>
        </p:txBody>
      </p:sp>
      <p:sp>
        <p:nvSpPr>
          <p:cNvPr id="8" name="Oval 7">
            <a:extLst>
              <a:ext uri="{FF2B5EF4-FFF2-40B4-BE49-F238E27FC236}">
                <a16:creationId xmlns:a16="http://schemas.microsoft.com/office/drawing/2014/main" id="{59609C52-20D7-43BB-98FA-795488EEAD67}"/>
              </a:ext>
            </a:extLst>
          </p:cNvPr>
          <p:cNvSpPr>
            <a:spLocks noGrp="1"/>
          </p:cNvSpPr>
          <p:nvPr/>
        </p:nvSpPr>
        <p:spPr>
          <a:xfrm>
            <a:off x="904875" y="2886075"/>
            <a:ext cx="285750" cy="285750"/>
          </a:xfrm>
          <a:prstGeom prst="ellipse">
            <a:avLst/>
          </a:prstGeom>
          <a:solidFill>
            <a:srgbClr val="0F6CBD"/>
          </a:solidFill>
          <a:ln w="0">
            <a:noFill/>
            <a:prstDash val="solid"/>
          </a:ln>
        </p:spPr>
      </p:sp>
      <p:sp>
        <p:nvSpPr>
          <p:cNvPr id="9" name="Rectangle 8">
            <a:extLst>
              <a:ext uri="{FF2B5EF4-FFF2-40B4-BE49-F238E27FC236}">
                <a16:creationId xmlns:a16="http://schemas.microsoft.com/office/drawing/2014/main" id="{C5EE445D-2ADF-4F99-B1FE-D2C1AD226B24}"/>
              </a:ext>
            </a:extLst>
          </p:cNvPr>
          <p:cNvSpPr>
            <a:spLocks noGrp="1"/>
          </p:cNvSpPr>
          <p:nvPr/>
        </p:nvSpPr>
        <p:spPr>
          <a:xfrm>
            <a:off x="933450" y="2876550"/>
            <a:ext cx="228600" cy="285750"/>
          </a:xfrm>
          <a:prstGeom prst="rect">
            <a:avLst/>
          </a:prstGeom>
          <a:noFill/>
          <a:ln w="0">
            <a:noFill/>
            <a:prstDash val="solid"/>
          </a:ln>
        </p:spPr>
        <p:txBody>
          <a:bodyPr wrap="square" lIns="0" tIns="0" rIns="0" bIns="0" anchor="ctr">
            <a:normAutofit/>
          </a:bodyPr>
          <a:lstStyle/>
          <a:p>
            <a:pPr algn="ctr">
              <a:lnSpc>
                <a:spcPct val="104000"/>
              </a:lnSpc>
              <a:buNone/>
              <a:defRPr sz="1575" b="1">
                <a:solidFill>
                  <a:srgbClr val="FFFFFF"/>
                </a:solidFill>
                <a:latin typeface="Aptos"/>
                <a:ea typeface="Aptos"/>
                <a:cs typeface="Aptos"/>
              </a:defRPr>
            </a:pPr>
            <a:r>
              <a:rPr sz="1575" b="1">
                <a:solidFill>
                  <a:srgbClr val="FFFFFF"/>
                </a:solidFill>
                <a:latin typeface="Aptos"/>
                <a:ea typeface="Aptos"/>
                <a:cs typeface="Aptos"/>
              </a:rPr>
              <a:t>✓</a:t>
            </a:r>
          </a:p>
        </p:txBody>
      </p:sp>
      <p:sp>
        <p:nvSpPr>
          <p:cNvPr id="10" name="Rectangle 9">
            <a:extLst>
              <a:ext uri="{FF2B5EF4-FFF2-40B4-BE49-F238E27FC236}">
                <a16:creationId xmlns:a16="http://schemas.microsoft.com/office/drawing/2014/main" id="{756C40C5-88F3-461D-A67C-2ECBF7C6B6A3}"/>
              </a:ext>
            </a:extLst>
          </p:cNvPr>
          <p:cNvSpPr>
            <a:spLocks noGrp="1"/>
          </p:cNvSpPr>
          <p:nvPr/>
        </p:nvSpPr>
        <p:spPr>
          <a:xfrm>
            <a:off x="1381125" y="2867025"/>
            <a:ext cx="4667250" cy="5905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IdFix ejecutado y datos corregidos</a:t>
            </a:r>
          </a:p>
        </p:txBody>
      </p:sp>
      <p:sp>
        <p:nvSpPr>
          <p:cNvPr id="11" name="Oval 10">
            <a:extLst>
              <a:ext uri="{FF2B5EF4-FFF2-40B4-BE49-F238E27FC236}">
                <a16:creationId xmlns:a16="http://schemas.microsoft.com/office/drawing/2014/main" id="{73F8C5EC-3063-4E7D-98FF-6FCB4F44515E}"/>
              </a:ext>
            </a:extLst>
          </p:cNvPr>
          <p:cNvSpPr>
            <a:spLocks noGrp="1"/>
          </p:cNvSpPr>
          <p:nvPr/>
        </p:nvSpPr>
        <p:spPr>
          <a:xfrm>
            <a:off x="904875" y="3724275"/>
            <a:ext cx="285750" cy="285750"/>
          </a:xfrm>
          <a:prstGeom prst="ellipse">
            <a:avLst/>
          </a:prstGeom>
          <a:solidFill>
            <a:srgbClr val="0F6CBD"/>
          </a:solidFill>
          <a:ln w="0">
            <a:noFill/>
            <a:prstDash val="solid"/>
          </a:ln>
        </p:spPr>
      </p:sp>
      <p:sp>
        <p:nvSpPr>
          <p:cNvPr id="12" name="Rectangle 11">
            <a:extLst>
              <a:ext uri="{FF2B5EF4-FFF2-40B4-BE49-F238E27FC236}">
                <a16:creationId xmlns:a16="http://schemas.microsoft.com/office/drawing/2014/main" id="{7D7F02DF-53BD-4BF6-ADD0-E2772974A406}"/>
              </a:ext>
            </a:extLst>
          </p:cNvPr>
          <p:cNvSpPr>
            <a:spLocks noGrp="1"/>
          </p:cNvSpPr>
          <p:nvPr/>
        </p:nvSpPr>
        <p:spPr>
          <a:xfrm>
            <a:off x="933450" y="3714750"/>
            <a:ext cx="228600" cy="285750"/>
          </a:xfrm>
          <a:prstGeom prst="rect">
            <a:avLst/>
          </a:prstGeom>
          <a:noFill/>
          <a:ln w="0">
            <a:noFill/>
            <a:prstDash val="solid"/>
          </a:ln>
        </p:spPr>
        <p:txBody>
          <a:bodyPr wrap="square" lIns="0" tIns="0" rIns="0" bIns="0" anchor="ctr">
            <a:normAutofit/>
          </a:bodyPr>
          <a:lstStyle/>
          <a:p>
            <a:pPr algn="ctr">
              <a:lnSpc>
                <a:spcPct val="104000"/>
              </a:lnSpc>
              <a:buNone/>
              <a:defRPr sz="1575" b="1">
                <a:solidFill>
                  <a:srgbClr val="FFFFFF"/>
                </a:solidFill>
                <a:latin typeface="Aptos"/>
                <a:ea typeface="Aptos"/>
                <a:cs typeface="Aptos"/>
              </a:defRPr>
            </a:pPr>
            <a:r>
              <a:rPr sz="1575" b="1">
                <a:solidFill>
                  <a:srgbClr val="FFFFFF"/>
                </a:solidFill>
                <a:latin typeface="Aptos"/>
                <a:ea typeface="Aptos"/>
                <a:cs typeface="Aptos"/>
              </a:rPr>
              <a:t>✓</a:t>
            </a:r>
          </a:p>
        </p:txBody>
      </p:sp>
      <p:sp>
        <p:nvSpPr>
          <p:cNvPr id="13" name="Rectangle 12">
            <a:extLst>
              <a:ext uri="{FF2B5EF4-FFF2-40B4-BE49-F238E27FC236}">
                <a16:creationId xmlns:a16="http://schemas.microsoft.com/office/drawing/2014/main" id="{D6ED9F7E-586E-4DDE-A339-2F8310F9A74A}"/>
              </a:ext>
            </a:extLst>
          </p:cNvPr>
          <p:cNvSpPr>
            <a:spLocks noGrp="1"/>
          </p:cNvSpPr>
          <p:nvPr/>
        </p:nvSpPr>
        <p:spPr>
          <a:xfrm>
            <a:off x="1381125" y="3705225"/>
            <a:ext cx="4667250" cy="5905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Host Tier 0 endurecido; MFA, LAPS y NTLM revisados</a:t>
            </a:r>
          </a:p>
        </p:txBody>
      </p:sp>
      <p:sp>
        <p:nvSpPr>
          <p:cNvPr id="14" name="Oval 13">
            <a:extLst>
              <a:ext uri="{FF2B5EF4-FFF2-40B4-BE49-F238E27FC236}">
                <a16:creationId xmlns:a16="http://schemas.microsoft.com/office/drawing/2014/main" id="{99FEE310-3AB6-4C7E-BF95-72364D81F38F}"/>
              </a:ext>
            </a:extLst>
          </p:cNvPr>
          <p:cNvSpPr>
            <a:spLocks noGrp="1"/>
          </p:cNvSpPr>
          <p:nvPr/>
        </p:nvSpPr>
        <p:spPr>
          <a:xfrm>
            <a:off x="904875" y="4562475"/>
            <a:ext cx="285750" cy="285750"/>
          </a:xfrm>
          <a:prstGeom prst="ellipse">
            <a:avLst/>
          </a:prstGeom>
          <a:solidFill>
            <a:srgbClr val="0F6CBD"/>
          </a:solidFill>
          <a:ln w="0">
            <a:noFill/>
            <a:prstDash val="solid"/>
          </a:ln>
        </p:spPr>
      </p:sp>
      <p:sp>
        <p:nvSpPr>
          <p:cNvPr id="15" name="Rectangle 14">
            <a:extLst>
              <a:ext uri="{FF2B5EF4-FFF2-40B4-BE49-F238E27FC236}">
                <a16:creationId xmlns:a16="http://schemas.microsoft.com/office/drawing/2014/main" id="{9C7E5FE9-D927-4F31-BF5D-F2B1844AB997}"/>
              </a:ext>
            </a:extLst>
          </p:cNvPr>
          <p:cNvSpPr>
            <a:spLocks noGrp="1"/>
          </p:cNvSpPr>
          <p:nvPr/>
        </p:nvSpPr>
        <p:spPr>
          <a:xfrm>
            <a:off x="933450" y="4552950"/>
            <a:ext cx="228600" cy="285750"/>
          </a:xfrm>
          <a:prstGeom prst="rect">
            <a:avLst/>
          </a:prstGeom>
          <a:noFill/>
          <a:ln w="0">
            <a:noFill/>
            <a:prstDash val="solid"/>
          </a:ln>
        </p:spPr>
        <p:txBody>
          <a:bodyPr wrap="square" lIns="0" tIns="0" rIns="0" bIns="0" anchor="ctr">
            <a:normAutofit/>
          </a:bodyPr>
          <a:lstStyle/>
          <a:p>
            <a:pPr algn="ctr">
              <a:lnSpc>
                <a:spcPct val="104000"/>
              </a:lnSpc>
              <a:buNone/>
              <a:defRPr sz="1575" b="1">
                <a:solidFill>
                  <a:srgbClr val="FFFFFF"/>
                </a:solidFill>
                <a:latin typeface="Aptos"/>
                <a:ea typeface="Aptos"/>
                <a:cs typeface="Aptos"/>
              </a:defRPr>
            </a:pPr>
            <a:r>
              <a:rPr sz="1575" b="1">
                <a:solidFill>
                  <a:srgbClr val="FFFFFF"/>
                </a:solidFill>
                <a:latin typeface="Aptos"/>
                <a:ea typeface="Aptos"/>
                <a:cs typeface="Aptos"/>
              </a:rPr>
              <a:t>✓</a:t>
            </a:r>
          </a:p>
        </p:txBody>
      </p:sp>
      <p:sp>
        <p:nvSpPr>
          <p:cNvPr id="16" name="Rectangle 15">
            <a:extLst>
              <a:ext uri="{FF2B5EF4-FFF2-40B4-BE49-F238E27FC236}">
                <a16:creationId xmlns:a16="http://schemas.microsoft.com/office/drawing/2014/main" id="{3E4E7ABF-7FC4-4393-8616-C77D3FC30B64}"/>
              </a:ext>
            </a:extLst>
          </p:cNvPr>
          <p:cNvSpPr>
            <a:spLocks noGrp="1"/>
          </p:cNvSpPr>
          <p:nvPr/>
        </p:nvSpPr>
        <p:spPr>
          <a:xfrm>
            <a:off x="1381125" y="4543425"/>
            <a:ext cx="4667250" cy="5905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DNS, firewall, proxy y TLS 1.2 validados</a:t>
            </a:r>
          </a:p>
        </p:txBody>
      </p:sp>
      <p:sp>
        <p:nvSpPr>
          <p:cNvPr id="17" name="Oval 16">
            <a:extLst>
              <a:ext uri="{FF2B5EF4-FFF2-40B4-BE49-F238E27FC236}">
                <a16:creationId xmlns:a16="http://schemas.microsoft.com/office/drawing/2014/main" id="{7F9739EA-B413-414E-9164-A64911568D97}"/>
              </a:ext>
            </a:extLst>
          </p:cNvPr>
          <p:cNvSpPr>
            <a:spLocks noGrp="1"/>
          </p:cNvSpPr>
          <p:nvPr/>
        </p:nvSpPr>
        <p:spPr>
          <a:xfrm>
            <a:off x="6429375" y="2047875"/>
            <a:ext cx="285750" cy="285750"/>
          </a:xfrm>
          <a:prstGeom prst="ellipse">
            <a:avLst/>
          </a:prstGeom>
          <a:solidFill>
            <a:srgbClr val="0F6CBD"/>
          </a:solidFill>
          <a:ln w="0">
            <a:noFill/>
            <a:prstDash val="solid"/>
          </a:ln>
        </p:spPr>
      </p:sp>
      <p:sp>
        <p:nvSpPr>
          <p:cNvPr id="18" name="Rectangle 17">
            <a:extLst>
              <a:ext uri="{FF2B5EF4-FFF2-40B4-BE49-F238E27FC236}">
                <a16:creationId xmlns:a16="http://schemas.microsoft.com/office/drawing/2014/main" id="{A00EF277-967A-4BAD-9EBB-CE6460A29815}"/>
              </a:ext>
            </a:extLst>
          </p:cNvPr>
          <p:cNvSpPr>
            <a:spLocks noGrp="1"/>
          </p:cNvSpPr>
          <p:nvPr/>
        </p:nvSpPr>
        <p:spPr>
          <a:xfrm>
            <a:off x="6457950" y="2038350"/>
            <a:ext cx="228600" cy="285750"/>
          </a:xfrm>
          <a:prstGeom prst="rect">
            <a:avLst/>
          </a:prstGeom>
          <a:noFill/>
          <a:ln w="0">
            <a:noFill/>
            <a:prstDash val="solid"/>
          </a:ln>
        </p:spPr>
        <p:txBody>
          <a:bodyPr wrap="square" lIns="0" tIns="0" rIns="0" bIns="0" anchor="ctr">
            <a:normAutofit/>
          </a:bodyPr>
          <a:lstStyle/>
          <a:p>
            <a:pPr algn="ctr">
              <a:lnSpc>
                <a:spcPct val="104000"/>
              </a:lnSpc>
              <a:buNone/>
              <a:defRPr sz="1575" b="1">
                <a:solidFill>
                  <a:srgbClr val="FFFFFF"/>
                </a:solidFill>
                <a:latin typeface="Aptos"/>
                <a:ea typeface="Aptos"/>
                <a:cs typeface="Aptos"/>
              </a:defRPr>
            </a:pPr>
            <a:r>
              <a:rPr sz="1575" b="1">
                <a:solidFill>
                  <a:srgbClr val="FFFFFF"/>
                </a:solidFill>
                <a:latin typeface="Aptos"/>
                <a:ea typeface="Aptos"/>
                <a:cs typeface="Aptos"/>
              </a:rPr>
              <a:t>✓</a:t>
            </a:r>
          </a:p>
        </p:txBody>
      </p:sp>
      <p:sp>
        <p:nvSpPr>
          <p:cNvPr id="19" name="Rectangle 18">
            <a:extLst>
              <a:ext uri="{FF2B5EF4-FFF2-40B4-BE49-F238E27FC236}">
                <a16:creationId xmlns:a16="http://schemas.microsoft.com/office/drawing/2014/main" id="{3413365B-0982-43A6-B56E-478D54EADCD2}"/>
              </a:ext>
            </a:extLst>
          </p:cNvPr>
          <p:cNvSpPr>
            <a:spLocks noGrp="1"/>
          </p:cNvSpPr>
          <p:nvPr/>
        </p:nvSpPr>
        <p:spPr>
          <a:xfrm>
            <a:off x="6905625" y="2028825"/>
            <a:ext cx="4667250" cy="5905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Topología, método de sign-in y writeback documentados</a:t>
            </a:r>
          </a:p>
        </p:txBody>
      </p:sp>
      <p:sp>
        <p:nvSpPr>
          <p:cNvPr id="20" name="Oval 19">
            <a:extLst>
              <a:ext uri="{FF2B5EF4-FFF2-40B4-BE49-F238E27FC236}">
                <a16:creationId xmlns:a16="http://schemas.microsoft.com/office/drawing/2014/main" id="{5186CE32-B763-4E76-A545-9A4BD3006A34}"/>
              </a:ext>
            </a:extLst>
          </p:cNvPr>
          <p:cNvSpPr>
            <a:spLocks noGrp="1"/>
          </p:cNvSpPr>
          <p:nvPr/>
        </p:nvSpPr>
        <p:spPr>
          <a:xfrm>
            <a:off x="6429375" y="2886075"/>
            <a:ext cx="285750" cy="285750"/>
          </a:xfrm>
          <a:prstGeom prst="ellipse">
            <a:avLst/>
          </a:prstGeom>
          <a:solidFill>
            <a:srgbClr val="0F6CBD"/>
          </a:solidFill>
          <a:ln w="0">
            <a:noFill/>
            <a:prstDash val="solid"/>
          </a:ln>
        </p:spPr>
      </p:sp>
      <p:sp>
        <p:nvSpPr>
          <p:cNvPr id="21" name="Rectangle 20">
            <a:extLst>
              <a:ext uri="{FF2B5EF4-FFF2-40B4-BE49-F238E27FC236}">
                <a16:creationId xmlns:a16="http://schemas.microsoft.com/office/drawing/2014/main" id="{7844F497-B48B-4C91-95C6-ADB6B7481DDB}"/>
              </a:ext>
            </a:extLst>
          </p:cNvPr>
          <p:cNvSpPr>
            <a:spLocks noGrp="1"/>
          </p:cNvSpPr>
          <p:nvPr/>
        </p:nvSpPr>
        <p:spPr>
          <a:xfrm>
            <a:off x="6457950" y="2876550"/>
            <a:ext cx="228600" cy="285750"/>
          </a:xfrm>
          <a:prstGeom prst="rect">
            <a:avLst/>
          </a:prstGeom>
          <a:noFill/>
          <a:ln w="0">
            <a:noFill/>
            <a:prstDash val="solid"/>
          </a:ln>
        </p:spPr>
        <p:txBody>
          <a:bodyPr wrap="square" lIns="0" tIns="0" rIns="0" bIns="0" anchor="ctr">
            <a:normAutofit/>
          </a:bodyPr>
          <a:lstStyle/>
          <a:p>
            <a:pPr algn="ctr">
              <a:lnSpc>
                <a:spcPct val="104000"/>
              </a:lnSpc>
              <a:buNone/>
              <a:defRPr sz="1575" b="1">
                <a:solidFill>
                  <a:srgbClr val="FFFFFF"/>
                </a:solidFill>
                <a:latin typeface="Aptos"/>
                <a:ea typeface="Aptos"/>
                <a:cs typeface="Aptos"/>
              </a:defRPr>
            </a:pPr>
            <a:r>
              <a:rPr sz="1575" b="1">
                <a:solidFill>
                  <a:srgbClr val="FFFFFF"/>
                </a:solidFill>
                <a:latin typeface="Aptos"/>
                <a:ea typeface="Aptos"/>
                <a:cs typeface="Aptos"/>
              </a:rPr>
              <a:t>✓</a:t>
            </a:r>
          </a:p>
        </p:txBody>
      </p:sp>
      <p:sp>
        <p:nvSpPr>
          <p:cNvPr id="22" name="Rectangle 21">
            <a:extLst>
              <a:ext uri="{FF2B5EF4-FFF2-40B4-BE49-F238E27FC236}">
                <a16:creationId xmlns:a16="http://schemas.microsoft.com/office/drawing/2014/main" id="{1CA138C2-5C35-4436-BA8C-BD072DDE5087}"/>
              </a:ext>
            </a:extLst>
          </p:cNvPr>
          <p:cNvSpPr>
            <a:spLocks noGrp="1"/>
          </p:cNvSpPr>
          <p:nvPr/>
        </p:nvSpPr>
        <p:spPr>
          <a:xfrm>
            <a:off x="6905625" y="2867025"/>
            <a:ext cx="4667250" cy="5905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Staging o multiagente preparado para continuidad</a:t>
            </a:r>
          </a:p>
        </p:txBody>
      </p:sp>
      <p:sp>
        <p:nvSpPr>
          <p:cNvPr id="23" name="Oval 22">
            <a:extLst>
              <a:ext uri="{FF2B5EF4-FFF2-40B4-BE49-F238E27FC236}">
                <a16:creationId xmlns:a16="http://schemas.microsoft.com/office/drawing/2014/main" id="{6BE81201-D143-439D-8AE0-19FFE54A2915}"/>
              </a:ext>
            </a:extLst>
          </p:cNvPr>
          <p:cNvSpPr>
            <a:spLocks noGrp="1"/>
          </p:cNvSpPr>
          <p:nvPr/>
        </p:nvSpPr>
        <p:spPr>
          <a:xfrm>
            <a:off x="6429375" y="3724275"/>
            <a:ext cx="285750" cy="285750"/>
          </a:xfrm>
          <a:prstGeom prst="ellipse">
            <a:avLst/>
          </a:prstGeom>
          <a:solidFill>
            <a:srgbClr val="008A88"/>
          </a:solidFill>
          <a:ln w="0">
            <a:noFill/>
            <a:prstDash val="solid"/>
          </a:ln>
        </p:spPr>
      </p:sp>
      <p:sp>
        <p:nvSpPr>
          <p:cNvPr id="24" name="Rectangle 23">
            <a:extLst>
              <a:ext uri="{FF2B5EF4-FFF2-40B4-BE49-F238E27FC236}">
                <a16:creationId xmlns:a16="http://schemas.microsoft.com/office/drawing/2014/main" id="{DD9DC89E-7E06-4848-A7AC-A0D22CD8064F}"/>
              </a:ext>
            </a:extLst>
          </p:cNvPr>
          <p:cNvSpPr>
            <a:spLocks noGrp="1"/>
          </p:cNvSpPr>
          <p:nvPr/>
        </p:nvSpPr>
        <p:spPr>
          <a:xfrm>
            <a:off x="6457950" y="3714750"/>
            <a:ext cx="228600" cy="285750"/>
          </a:xfrm>
          <a:prstGeom prst="rect">
            <a:avLst/>
          </a:prstGeom>
          <a:noFill/>
          <a:ln w="0">
            <a:noFill/>
            <a:prstDash val="solid"/>
          </a:ln>
        </p:spPr>
        <p:txBody>
          <a:bodyPr wrap="square" lIns="0" tIns="0" rIns="0" bIns="0" anchor="ctr">
            <a:normAutofit/>
          </a:bodyPr>
          <a:lstStyle/>
          <a:p>
            <a:pPr algn="ctr">
              <a:lnSpc>
                <a:spcPct val="104000"/>
              </a:lnSpc>
              <a:buNone/>
              <a:defRPr sz="1575" b="1">
                <a:solidFill>
                  <a:srgbClr val="FFFFFF"/>
                </a:solidFill>
                <a:latin typeface="Aptos"/>
                <a:ea typeface="Aptos"/>
                <a:cs typeface="Aptos"/>
              </a:defRPr>
            </a:pPr>
            <a:r>
              <a:rPr sz="1575" b="1">
                <a:solidFill>
                  <a:srgbClr val="FFFFFF"/>
                </a:solidFill>
                <a:latin typeface="Aptos"/>
                <a:ea typeface="Aptos"/>
                <a:cs typeface="Aptos"/>
              </a:rPr>
              <a:t>✓</a:t>
            </a:r>
          </a:p>
        </p:txBody>
      </p:sp>
      <p:sp>
        <p:nvSpPr>
          <p:cNvPr id="25" name="Rectangle 24">
            <a:extLst>
              <a:ext uri="{FF2B5EF4-FFF2-40B4-BE49-F238E27FC236}">
                <a16:creationId xmlns:a16="http://schemas.microsoft.com/office/drawing/2014/main" id="{4438A508-B915-4215-90C4-4B9F22B317B4}"/>
              </a:ext>
            </a:extLst>
          </p:cNvPr>
          <p:cNvSpPr>
            <a:spLocks noGrp="1"/>
          </p:cNvSpPr>
          <p:nvPr/>
        </p:nvSpPr>
        <p:spPr>
          <a:xfrm>
            <a:off x="6905625" y="3705225"/>
            <a:ext cx="4667250" cy="590550"/>
          </a:xfrm>
          <a:prstGeom prst="rect">
            <a:avLst/>
          </a:prstGeom>
          <a:noFill/>
          <a:ln w="0">
            <a:noFill/>
            <a:prstDash val="solid"/>
          </a:ln>
        </p:spPr>
        <p:txBody>
          <a:bodyPr wrap="square" lIns="0" tIns="0" rIns="0" bIns="0" anchor="t">
            <a:normAutofit/>
          </a:bodyPr>
          <a:lstStyle/>
          <a:p>
            <a:pPr algn="l">
              <a:lnSpc>
                <a:spcPct val="104000"/>
              </a:lnSpc>
              <a:buNone/>
              <a:defRPr sz="1575" b="0">
                <a:solidFill>
                  <a:srgbClr val="17233C"/>
                </a:solidFill>
                <a:latin typeface="Aptos"/>
                <a:ea typeface="Aptos"/>
                <a:cs typeface="Aptos"/>
              </a:defRPr>
            </a:pPr>
            <a:r>
              <a:rPr sz="1575" b="0">
                <a:solidFill>
                  <a:srgbClr val="17233C"/>
                </a:solidFill>
                <a:latin typeface="Aptos"/>
                <a:ea typeface="Aptos"/>
                <a:cs typeface="Aptos"/>
              </a:rPr>
              <a:t>Alertas, Health/logs y notificaciones configurados</a:t>
            </a:r>
          </a:p>
        </p:txBody>
      </p:sp>
      <p:sp>
        <p:nvSpPr>
          <p:cNvPr id="26" name="Oval 25">
            <a:extLst>
              <a:ext uri="{FF2B5EF4-FFF2-40B4-BE49-F238E27FC236}">
                <a16:creationId xmlns:a16="http://schemas.microsoft.com/office/drawing/2014/main" id="{A6B6EB94-810D-4128-B685-FEF60DFF893A}"/>
              </a:ext>
            </a:extLst>
          </p:cNvPr>
          <p:cNvSpPr>
            <a:spLocks noGrp="1"/>
          </p:cNvSpPr>
          <p:nvPr/>
        </p:nvSpPr>
        <p:spPr>
          <a:xfrm>
            <a:off x="6429375" y="4562475"/>
            <a:ext cx="285750" cy="285750"/>
          </a:xfrm>
          <a:prstGeom prst="ellipse">
            <a:avLst/>
          </a:prstGeom>
          <a:solidFill>
            <a:srgbClr val="008A88"/>
          </a:solidFill>
          <a:ln w="0">
            <a:noFill/>
            <a:prstDash val="solid"/>
          </a:ln>
        </p:spPr>
      </p:sp>
      <p:sp>
        <p:nvSpPr>
          <p:cNvPr id="27" name="Rectangle 26">
            <a:extLst>
              <a:ext uri="{FF2B5EF4-FFF2-40B4-BE49-F238E27FC236}">
                <a16:creationId xmlns:a16="http://schemas.microsoft.com/office/drawing/2014/main" id="{D75B95F9-9E44-405F-85FC-55B5D138A3E6}"/>
              </a:ext>
            </a:extLst>
          </p:cNvPr>
          <p:cNvSpPr>
            <a:spLocks noGrp="1"/>
          </p:cNvSpPr>
          <p:nvPr/>
        </p:nvSpPr>
        <p:spPr>
          <a:xfrm>
            <a:off x="6457950" y="4552950"/>
            <a:ext cx="228600" cy="285750"/>
          </a:xfrm>
          <a:prstGeom prst="rect">
            <a:avLst/>
          </a:prstGeom>
          <a:noFill/>
          <a:ln w="0">
            <a:noFill/>
            <a:prstDash val="solid"/>
          </a:ln>
        </p:spPr>
        <p:txBody>
          <a:bodyPr wrap="square" lIns="0" tIns="0" rIns="0" bIns="0" anchor="ctr">
            <a:normAutofit/>
          </a:bodyPr>
          <a:lstStyle/>
          <a:p>
            <a:pPr algn="ctr">
              <a:lnSpc>
                <a:spcPct val="104000"/>
              </a:lnSpc>
              <a:buNone/>
              <a:defRPr sz="1575" b="1">
                <a:solidFill>
                  <a:srgbClr val="FFFFFF"/>
                </a:solidFill>
                <a:latin typeface="Aptos"/>
                <a:ea typeface="Aptos"/>
                <a:cs typeface="Aptos"/>
              </a:defRPr>
            </a:pPr>
            <a:r>
              <a:rPr sz="1575" b="1">
                <a:solidFill>
                  <a:srgbClr val="FFFFFF"/>
                </a:solidFill>
                <a:latin typeface="Aptos"/>
                <a:ea typeface="Aptos"/>
                <a:cs typeface="Aptos"/>
              </a:rPr>
              <a:t>✓</a:t>
            </a:r>
          </a:p>
        </p:txBody>
      </p:sp>
      <p:sp>
        <p:nvSpPr>
          <p:cNvPr id="28" name="Rectangle 27">
            <a:extLst>
              <a:ext uri="{FF2B5EF4-FFF2-40B4-BE49-F238E27FC236}">
                <a16:creationId xmlns:a16="http://schemas.microsoft.com/office/drawing/2014/main" id="{95590641-7EE3-403B-AE4A-AC7408E914AA}"/>
              </a:ext>
            </a:extLst>
          </p:cNvPr>
          <p:cNvSpPr>
            <a:spLocks noGrp="1"/>
          </p:cNvSpPr>
          <p:nvPr/>
        </p:nvSpPr>
        <p:spPr>
          <a:xfrm>
            <a:off x="6905625" y="4543425"/>
            <a:ext cx="4667250" cy="590550"/>
          </a:xfrm>
          <a:prstGeom prst="rect">
            <a:avLst/>
          </a:prstGeom>
          <a:noFill/>
          <a:ln w="0">
            <a:noFill/>
            <a:prstDash val="solid"/>
          </a:ln>
        </p:spPr>
        <p:txBody>
          <a:bodyPr wrap="square" lIns="0" tIns="0" rIns="0" bIns="0" anchor="t">
            <a:normAutofit/>
          </a:bodyPr>
          <a:lstStyle/>
          <a:p>
            <a:pPr algn="l">
              <a:lnSpc>
                <a:spcPct val="104000"/>
              </a:lnSpc>
              <a:buNone/>
              <a:defRPr sz="1575" b="1">
                <a:solidFill>
                  <a:srgbClr val="17233C"/>
                </a:solidFill>
                <a:latin typeface="Aptos"/>
                <a:ea typeface="Aptos"/>
                <a:cs typeface="Aptos"/>
              </a:defRPr>
            </a:pPr>
            <a:r>
              <a:rPr sz="1575" b="1">
                <a:solidFill>
                  <a:srgbClr val="17233C"/>
                </a:solidFill>
                <a:latin typeface="Aptos"/>
                <a:ea typeface="Aptos"/>
                <a:cs typeface="Aptos"/>
              </a:rPr>
              <a:t>Prueba individual completada antes de Enable</a:t>
            </a:r>
          </a:p>
        </p:txBody>
      </p:sp>
      <p:sp>
        <p:nvSpPr>
          <p:cNvPr id="29" name="Straight Connector 28">
            <a:extLst>
              <a:ext uri="{FF2B5EF4-FFF2-40B4-BE49-F238E27FC236}">
                <a16:creationId xmlns:a16="http://schemas.microsoft.com/office/drawing/2014/main" id="{115586D1-223A-4142-BFEB-BBE5A3D59A0A}"/>
              </a:ext>
            </a:extLst>
          </p:cNvPr>
          <p:cNvSpPr>
            <a:spLocks noGrp="1"/>
          </p:cNvSpPr>
          <p:nvPr/>
        </p:nvSpPr>
        <p:spPr>
          <a:xfrm>
            <a:off x="6048375" y="1952625"/>
            <a:ext cx="0" cy="3333750"/>
          </a:xfrm>
          <a:prstGeom prst="line">
            <a:avLst/>
          </a:prstGeom>
          <a:noFill/>
          <a:ln w="19050">
            <a:solidFill>
              <a:srgbClr val="C9D5E3"/>
            </a:solidFill>
            <a:prstDash val="solid"/>
          </a:ln>
        </p:spPr>
      </p:sp>
      <p:sp>
        <p:nvSpPr>
          <p:cNvPr id="30" name="Rectangle 29">
            <a:extLst>
              <a:ext uri="{FF2B5EF4-FFF2-40B4-BE49-F238E27FC236}">
                <a16:creationId xmlns:a16="http://schemas.microsoft.com/office/drawing/2014/main" id="{4CA9437D-8F35-4B33-8954-9F93C8803F71}"/>
              </a:ext>
            </a:extLst>
          </p:cNvPr>
          <p:cNvSpPr>
            <a:spLocks noGrp="1"/>
          </p:cNvSpPr>
          <p:nvPr/>
        </p:nvSpPr>
        <p:spPr>
          <a:xfrm>
            <a:off x="1714500" y="5667375"/>
            <a:ext cx="8763000" cy="552450"/>
          </a:xfrm>
          <a:prstGeom prst="rect">
            <a:avLst/>
          </a:prstGeom>
          <a:solidFill>
            <a:srgbClr val="0F6CBD"/>
          </a:solidFill>
          <a:ln w="0">
            <a:noFill/>
            <a:prstDash val="solid"/>
          </a:ln>
        </p:spPr>
      </p:sp>
      <p:sp>
        <p:nvSpPr>
          <p:cNvPr id="31" name="Rectangle 30">
            <a:extLst>
              <a:ext uri="{FF2B5EF4-FFF2-40B4-BE49-F238E27FC236}">
                <a16:creationId xmlns:a16="http://schemas.microsoft.com/office/drawing/2014/main" id="{FF21F3D2-0CF7-428F-9E03-D8CC3E6A4058}"/>
              </a:ext>
            </a:extLst>
          </p:cNvPr>
          <p:cNvSpPr>
            <a:spLocks noGrp="1"/>
          </p:cNvSpPr>
          <p:nvPr/>
        </p:nvSpPr>
        <p:spPr>
          <a:xfrm>
            <a:off x="1952625" y="5810250"/>
            <a:ext cx="8286750" cy="285750"/>
          </a:xfrm>
          <a:prstGeom prst="rect">
            <a:avLst/>
          </a:prstGeom>
          <a:noFill/>
          <a:ln w="0">
            <a:noFill/>
            <a:prstDash val="solid"/>
          </a:ln>
        </p:spPr>
        <p:txBody>
          <a:bodyPr wrap="square" lIns="0" tIns="0" rIns="0" bIns="0" anchor="t">
            <a:normAutofit fontScale="96154"/>
          </a:bodyPr>
          <a:lstStyle/>
          <a:p>
            <a:pPr algn="ctr">
              <a:lnSpc>
                <a:spcPct val="104000"/>
              </a:lnSpc>
              <a:buNone/>
              <a:defRPr sz="1875" b="1">
                <a:solidFill>
                  <a:srgbClr val="FFFFFF"/>
                </a:solidFill>
                <a:latin typeface="Aptos"/>
                <a:ea typeface="Aptos"/>
                <a:cs typeface="Aptos"/>
              </a:defRPr>
            </a:pPr>
            <a:r>
              <a:rPr sz="1875" b="1">
                <a:solidFill>
                  <a:srgbClr val="FFFFFF"/>
                </a:solidFill>
                <a:latin typeface="Aptos"/>
                <a:ea typeface="Aptos"/>
                <a:cs typeface="Aptos"/>
              </a:rPr>
              <a:t>Preparar → proteger → desplegar → validar → supervisar</a:t>
            </a:r>
          </a:p>
        </p:txBody>
      </p:sp>
      <p:sp>
        <p:nvSpPr>
          <p:cNvPr id="32" name="Rectangle 31">
            <a:extLst>
              <a:ext uri="{FF2B5EF4-FFF2-40B4-BE49-F238E27FC236}">
                <a16:creationId xmlns:a16="http://schemas.microsoft.com/office/drawing/2014/main" id="{C7B20A6F-CA5E-4B17-ADDE-60FB1BDC70BD}"/>
              </a:ext>
            </a:extLst>
          </p:cNvPr>
          <p:cNvSpPr>
            <a:spLocks noGrp="1"/>
          </p:cNvSpPr>
          <p:nvPr/>
        </p:nvSpPr>
        <p:spPr>
          <a:xfrm>
            <a:off x="11049000" y="6477000"/>
            <a:ext cx="400050" cy="152400"/>
          </a:xfrm>
          <a:prstGeom prst="rect">
            <a:avLst/>
          </a:prstGeom>
          <a:noFill/>
          <a:ln w="0">
            <a:noFill/>
            <a:prstDash val="solid"/>
          </a:ln>
        </p:spPr>
        <p:txBody>
          <a:bodyPr wrap="square" lIns="0" tIns="0" rIns="0" bIns="0" anchor="t">
            <a:normAutofit/>
          </a:bodyPr>
          <a:lstStyle/>
          <a:p>
            <a:pPr algn="r">
              <a:lnSpc>
                <a:spcPct val="104000"/>
              </a:lnSpc>
              <a:buNone/>
              <a:defRPr sz="900" b="1">
                <a:solidFill>
                  <a:srgbClr val="51627A"/>
                </a:solidFill>
                <a:latin typeface="Aptos"/>
                <a:ea typeface="Aptos"/>
                <a:cs typeface="Aptos"/>
              </a:defRPr>
            </a:pPr>
            <a:r>
              <a:rPr sz="900" b="1">
                <a:solidFill>
                  <a:srgbClr val="51627A"/>
                </a:solidFill>
                <a:latin typeface="Aptos"/>
                <a:ea typeface="Aptos"/>
                <a:cs typeface="Aptos"/>
              </a:rPr>
              <a:t>20</a:t>
            </a:r>
          </a:p>
        </p:txBody>
      </p:sp>
    </p:spTree>
    <p:extLst>
      <p:ext uri="{BB962C8B-B14F-4D97-AF65-F5344CB8AC3E}">
        <p14:creationId xmlns:p14="http://schemas.microsoft.com/office/powerpoint/2010/main" val="42295557"/>
      </p:ext>
    </p:extLst>
  </p:cSld>
  <p:clrMapOvr>
    <a:masterClrMapping/>
  </p:clrMapOvr>
</p:sld>
</file>

<file path=ppt/theme/theme1.xml><?xml version="1.0" encoding="utf-8"?>
<a:theme xmlns:a="http://schemas.openxmlformats.org/drawingml/2006/main" name="Entra Technical">
  <a:themeElements>
    <a:clrScheme name="Entra Technical">
      <a:dk1>
        <a:srgbClr val="000000"/>
      </a:dk1>
      <a:lt1>
        <a:srgbClr val="FFFFFF"/>
      </a:lt1>
      <a:dk2>
        <a:srgbClr val="17233C"/>
      </a:dk2>
      <a:lt2>
        <a:srgbClr val="C9D5E3"/>
      </a:lt2>
      <a:accent1>
        <a:srgbClr val="0F6CBD"/>
      </a:accent1>
      <a:accent2>
        <a:srgbClr val="008A88"/>
      </a:accent2>
      <a:accent3>
        <a:srgbClr val="F5A623"/>
      </a:accent3>
      <a:accent4>
        <a:srgbClr val="C43A31"/>
      </a:accent4>
      <a:accent5>
        <a:srgbClr val="6B5BD2"/>
      </a:accent5>
      <a:accent6>
        <a:srgbClr val="2D8C68"/>
      </a:accent6>
      <a:hlink>
        <a:srgbClr val="0F6CBD"/>
      </a:hlink>
      <a:folHlink>
        <a:srgbClr val="6B5BD2"/>
      </a:folHlink>
    </a:clrScheme>
    <a:fontScheme name="Office">
      <a:majorFont>
        <a:latin typeface="Calibri Light"/>
        <a:ea typeface="Calibri Light"/>
        <a:cs typeface="Calibri Light"/>
      </a:majorFont>
      <a:minorFont>
        <a:latin typeface="Calibri"/>
        <a:ea typeface="Calibri"/>
        <a:cs typeface="Calibri"/>
      </a:minorFont>
    </a:fontScheme>
    <a:fmtScheme name="Entra Technical">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Entra Technical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2012-07-30T22:48:03Z</dcterms:created>
  <dcterms:modified xsi:type="dcterms:W3CDTF">2026-08-26T21:18:29Z</dcterms:modified>
</cp:coreProperties>
</file>
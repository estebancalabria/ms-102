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858059-583F-0503-E775-F2096F6F54C0}" v="3" dt="2026-08-25T19:59:52.2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AF605-4551-4C50-A2A2-BDFD3211A66F}" type="datetimeFigureOut"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C2DA17-D6A0-4970-862C-434D189C5B8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6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BFF88F9-A633-491D-A576-4978E5DD34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A5F95E-8DA3-42C5-BAB8-7131E0FF613A}"/>
              </a:ext>
            </a:extLst>
          </p:cNvPr>
          <p:cNvSpPr>
            <a:spLocks noGrp="1"/>
          </p:cNvSpPr>
          <p:nvPr/>
        </p:nvSpPr>
        <p:spPr>
          <a:xfrm>
            <a:off x="190500" y="0"/>
            <a:ext cx="66675" cy="6858000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33C622-66BC-43D4-99A9-C7FDE0BED8F8}"/>
              </a:ext>
            </a:extLst>
          </p:cNvPr>
          <p:cNvSpPr>
            <a:spLocks noGrp="1"/>
          </p:cNvSpPr>
          <p:nvPr/>
        </p:nvSpPr>
        <p:spPr>
          <a:xfrm>
            <a:off x="723900" y="5715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FORMACIÓN TÉCNICA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D9E8A1-E819-49A5-8A0A-E981F75D5136}"/>
              </a:ext>
            </a:extLst>
          </p:cNvPr>
          <p:cNvSpPr>
            <a:spLocks noGrp="1"/>
          </p:cNvSpPr>
          <p:nvPr/>
        </p:nvSpPr>
        <p:spPr>
          <a:xfrm>
            <a:off x="723900" y="1447800"/>
            <a:ext cx="6572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Microsoft</a:t>
            </a:r>
          </a:p>
          <a:p>
            <a:pPr algn="l">
              <a:defRPr sz="48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Viva Insights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6E8832-C68E-43F6-B46D-CC12543F385D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85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De los metadatos de colaboración a decisiones responsables sobre productividad, bienestar y cultura.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F6DD36-524F-4689-A035-00E21E39F217}"/>
              </a:ext>
            </a:extLst>
          </p:cNvPr>
          <p:cNvSpPr>
            <a:spLocks noGrp="1"/>
          </p:cNvSpPr>
          <p:nvPr/>
        </p:nvSpPr>
        <p:spPr>
          <a:xfrm>
            <a:off x="742950" y="4524375"/>
            <a:ext cx="9715500" cy="19050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FAA89D-CB76-4BD6-861D-97B4FC65C97C}"/>
              </a:ext>
            </a:extLst>
          </p:cNvPr>
          <p:cNvSpPr>
            <a:spLocks noGrp="1"/>
          </p:cNvSpPr>
          <p:nvPr/>
        </p:nvSpPr>
        <p:spPr>
          <a:xfrm>
            <a:off x="742950" y="4810125"/>
            <a:ext cx="752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Personal  ·  Team  ·  Organization  ·  Advanced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97B65E-A8F6-49D8-B2BD-0DB8E3069638}"/>
              </a:ext>
            </a:extLst>
          </p:cNvPr>
          <p:cNvSpPr>
            <a:spLocks noGrp="1"/>
          </p:cNvSpPr>
          <p:nvPr/>
        </p:nvSpPr>
        <p:spPr>
          <a:xfrm>
            <a:off x="742950" y="5381625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Guía integral para administradores, analistas y managers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820ABC8-0C03-4FE3-83BA-AD3E9FE19D65}"/>
              </a:ext>
            </a:extLst>
          </p:cNvPr>
          <p:cNvSpPr>
            <a:spLocks noGrp="1"/>
          </p:cNvSpPr>
          <p:nvPr/>
        </p:nvSpPr>
        <p:spPr>
          <a:xfrm>
            <a:off x="9525000" y="1428750"/>
            <a:ext cx="1428750" cy="1428750"/>
          </a:xfrm>
          <a:prstGeom prst="ellipse">
            <a:avLst/>
          </a:prstGeom>
          <a:solidFill>
            <a:srgbClr val="EEEAFE"/>
          </a:solidFill>
          <a:ln w="0">
            <a:noFill/>
            <a:prstDash val="solid"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00A87DB-6C6E-4A0A-A9AD-075E66BF64C2}"/>
              </a:ext>
            </a:extLst>
          </p:cNvPr>
          <p:cNvSpPr>
            <a:spLocks noGrp="1"/>
          </p:cNvSpPr>
          <p:nvPr/>
        </p:nvSpPr>
        <p:spPr>
          <a:xfrm>
            <a:off x="10191750" y="2476500"/>
            <a:ext cx="933450" cy="933450"/>
          </a:xfrm>
          <a:prstGeom prst="ellipse">
            <a:avLst/>
          </a:prstGeom>
          <a:solidFill>
            <a:srgbClr val="E9F7F8"/>
          </a:solidFill>
          <a:ln w="0">
            <a:noFill/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91660E9-8CF5-461E-91B0-759A04D81B8F}"/>
              </a:ext>
            </a:extLst>
          </p:cNvPr>
          <p:cNvSpPr>
            <a:spLocks noGrp="1"/>
          </p:cNvSpPr>
          <p:nvPr/>
        </p:nvSpPr>
        <p:spPr>
          <a:xfrm>
            <a:off x="9029700" y="3048000"/>
            <a:ext cx="533400" cy="533400"/>
          </a:xfrm>
          <a:prstGeom prst="ellipse">
            <a:avLst/>
          </a:prstGeom>
          <a:solidFill>
            <a:srgbClr val="5B2EFF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7607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779027C-59CE-4D72-9EA0-43415DAD847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FUNDAMENTOS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3EF3FD-938E-45A0-B5A2-09C35E82C6D4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57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De señales cotidianas a decisiones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0ED95E-8132-4841-AE94-6E0275582768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085EF51A-C81A-40A8-80BC-606F438F5D0A}"/>
              </a:ext>
            </a:extLst>
          </p:cNvPr>
          <p:cNvSpPr>
            <a:spLocks noGrp="1"/>
          </p:cNvSpPr>
          <p:nvPr/>
        </p:nvSpPr>
        <p:spPr>
          <a:xfrm>
            <a:off x="2819400" y="2552700"/>
            <a:ext cx="552450" cy="914400"/>
          </a:xfrm>
          <a:prstGeom prst="chevron">
            <a:avLst/>
          </a:prstGeom>
          <a:solidFill>
            <a:srgbClr val="EEEAFE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083BCD-4AE4-4D08-87F8-67699542E498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270263-535C-4DD4-B0D4-BA3EBB779110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ACTIVIDAD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148825-8D56-41AD-90FD-C5DB172AD096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20478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Reuniones · correo</a:t>
            </a:r>
          </a:p>
          <a:p>
            <a:pPr algn="l">
              <a:def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llamadas · chats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C7D613-7858-4C0F-B100-1D137AAB215E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2000250" cy="28575"/>
          </a:xfrm>
          <a:prstGeom prst="rect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55113124-9AE0-431A-9066-BE4456EF7CDF}"/>
              </a:ext>
            </a:extLst>
          </p:cNvPr>
          <p:cNvSpPr>
            <a:spLocks noGrp="1"/>
          </p:cNvSpPr>
          <p:nvPr/>
        </p:nvSpPr>
        <p:spPr>
          <a:xfrm>
            <a:off x="5581650" y="2552700"/>
            <a:ext cx="552450" cy="914400"/>
          </a:xfrm>
          <a:prstGeom prst="chevron">
            <a:avLst/>
          </a:prstGeom>
          <a:solidFill>
            <a:srgbClr val="E9F7F8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243C7B-2185-4DD1-81C1-542E78D25824}"/>
              </a:ext>
            </a:extLst>
          </p:cNvPr>
          <p:cNvSpPr>
            <a:spLocks noGrp="1"/>
          </p:cNvSpPr>
          <p:nvPr/>
        </p:nvSpPr>
        <p:spPr>
          <a:xfrm>
            <a:off x="3371850" y="1790700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94B790-9F4E-4A4D-98B5-95D4BCB61D8B}"/>
              </a:ext>
            </a:extLst>
          </p:cNvPr>
          <p:cNvSpPr>
            <a:spLocks noGrp="1"/>
          </p:cNvSpPr>
          <p:nvPr/>
        </p:nvSpPr>
        <p:spPr>
          <a:xfrm>
            <a:off x="3371850" y="24574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METADATOS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DD0101-7C31-40C5-9549-960BA5CEB674}"/>
              </a:ext>
            </a:extLst>
          </p:cNvPr>
          <p:cNvSpPr>
            <a:spLocks noGrp="1"/>
          </p:cNvSpPr>
          <p:nvPr/>
        </p:nvSpPr>
        <p:spPr>
          <a:xfrm>
            <a:off x="3371850" y="2781300"/>
            <a:ext cx="20478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Quién · cuándo</a:t>
            </a:r>
          </a:p>
          <a:p>
            <a:pPr algn="l">
              <a:def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con quién · duración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EDC5EC-E1F7-47B0-A51A-70FD1DC53D98}"/>
              </a:ext>
            </a:extLst>
          </p:cNvPr>
          <p:cNvSpPr>
            <a:spLocks noGrp="1"/>
          </p:cNvSpPr>
          <p:nvPr/>
        </p:nvSpPr>
        <p:spPr>
          <a:xfrm>
            <a:off x="3371850" y="3857625"/>
            <a:ext cx="2000250" cy="28575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FF5D2106-2062-4C79-8C16-58783544F553}"/>
              </a:ext>
            </a:extLst>
          </p:cNvPr>
          <p:cNvSpPr>
            <a:spLocks noGrp="1"/>
          </p:cNvSpPr>
          <p:nvPr/>
        </p:nvSpPr>
        <p:spPr>
          <a:xfrm>
            <a:off x="8343900" y="2552700"/>
            <a:ext cx="552450" cy="914400"/>
          </a:xfrm>
          <a:prstGeom prst="chevron">
            <a:avLst/>
          </a:prstGeom>
          <a:solidFill>
            <a:srgbClr val="EEEAFE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0A451B-1D5E-4A63-8B3D-41B0EFA00B1E}"/>
              </a:ext>
            </a:extLst>
          </p:cNvPr>
          <p:cNvSpPr>
            <a:spLocks noGrp="1"/>
          </p:cNvSpPr>
          <p:nvPr/>
        </p:nvSpPr>
        <p:spPr>
          <a:xfrm>
            <a:off x="6134100" y="1790700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8DB0F7-EF6F-40E6-8C95-E789B32BCDF0}"/>
              </a:ext>
            </a:extLst>
          </p:cNvPr>
          <p:cNvSpPr>
            <a:spLocks noGrp="1"/>
          </p:cNvSpPr>
          <p:nvPr/>
        </p:nvSpPr>
        <p:spPr>
          <a:xfrm>
            <a:off x="6134100" y="24574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MODELO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317DE2-05E0-42E0-ACC2-BE1200AAEEDD}"/>
              </a:ext>
            </a:extLst>
          </p:cNvPr>
          <p:cNvSpPr>
            <a:spLocks noGrp="1"/>
          </p:cNvSpPr>
          <p:nvPr/>
        </p:nvSpPr>
        <p:spPr>
          <a:xfrm>
            <a:off x="6134100" y="2781300"/>
            <a:ext cx="20478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Contexto organizacional</a:t>
            </a:r>
          </a:p>
          <a:p>
            <a:pPr algn="l">
              <a:def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+ reglas de privacidad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5582B8-DCF3-4742-A9BE-0DDF509DC705}"/>
              </a:ext>
            </a:extLst>
          </p:cNvPr>
          <p:cNvSpPr>
            <a:spLocks noGrp="1"/>
          </p:cNvSpPr>
          <p:nvPr/>
        </p:nvSpPr>
        <p:spPr>
          <a:xfrm>
            <a:off x="6134100" y="3857625"/>
            <a:ext cx="2000250" cy="28575"/>
          </a:xfrm>
          <a:prstGeom prst="rect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DB5962-8E8C-4D18-A71B-E4A0F3E64A42}"/>
              </a:ext>
            </a:extLst>
          </p:cNvPr>
          <p:cNvSpPr>
            <a:spLocks noGrp="1"/>
          </p:cNvSpPr>
          <p:nvPr/>
        </p:nvSpPr>
        <p:spPr>
          <a:xfrm>
            <a:off x="8896350" y="1790700"/>
            <a:ext cx="781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1B16B0-85B1-4341-B9E6-2631EA54D654}"/>
              </a:ext>
            </a:extLst>
          </p:cNvPr>
          <p:cNvSpPr>
            <a:spLocks noGrp="1"/>
          </p:cNvSpPr>
          <p:nvPr/>
        </p:nvSpPr>
        <p:spPr>
          <a:xfrm>
            <a:off x="8896350" y="24574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INSIGHTS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786550-3ACD-4AA7-8AB1-6C75B7939B8B}"/>
              </a:ext>
            </a:extLst>
          </p:cNvPr>
          <p:cNvSpPr>
            <a:spLocks noGrp="1"/>
          </p:cNvSpPr>
          <p:nvPr/>
        </p:nvSpPr>
        <p:spPr>
          <a:xfrm>
            <a:off x="8896350" y="2781300"/>
            <a:ext cx="20478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Tiempo · hábitos</a:t>
            </a:r>
          </a:p>
          <a:p>
            <a:pPr algn="l">
              <a:def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redes · acciones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9B3601-0AF8-4BCE-9CD7-37F685176C55}"/>
              </a:ext>
            </a:extLst>
          </p:cNvPr>
          <p:cNvSpPr>
            <a:spLocks noGrp="1"/>
          </p:cNvSpPr>
          <p:nvPr/>
        </p:nvSpPr>
        <p:spPr>
          <a:xfrm>
            <a:off x="8896350" y="3857625"/>
            <a:ext cx="2000250" cy="28575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7CA9D5-6E9F-4321-8421-5C758672E81A}"/>
              </a:ext>
            </a:extLst>
          </p:cNvPr>
          <p:cNvSpPr>
            <a:spLocks noGrp="1"/>
          </p:cNvSpPr>
          <p:nvPr/>
        </p:nvSpPr>
        <p:spPr>
          <a:xfrm>
            <a:off x="609600" y="4819650"/>
            <a:ext cx="10096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El valor no está en leer el contenido: está en convertir patrones de colaboración en métricas de comportamiento.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459C0C-2542-4546-B8E8-6932A7E1B4BA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Viva Insights procesa metadatos de Microsoft 365 y, cuando corresponde, datos organizacionales.</a:t>
            </a:r>
          </a:p>
        </p:txBody>
      </p:sp>
    </p:spTree>
    <p:extLst>
      <p:ext uri="{BB962C8B-B14F-4D97-AF65-F5344CB8AC3E}">
        <p14:creationId xmlns:p14="http://schemas.microsoft.com/office/powerpoint/2010/main" val="718595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2EA40C3-927D-4218-8768-5F9C143D3ED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FUNDAMENTOS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C102C7-FCF5-4E4E-AE21-70DCE423735A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57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Cuatro niveles, cuatro audiencias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67FFD3-86AC-4610-A80F-06BD7EFDD7E5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A721BD-1EDD-4C3D-A8EB-D754B6331AC4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857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C364A7-3F0E-4F8C-A452-07DA7194BB08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PERSONAL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DDDD01-6D4A-463A-93DE-F809AD52BD3B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2238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Solo el usuario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F75BF4-D136-40E2-B74D-B5FBC1003CBC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22383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Hábitos propios y recomendaciones para foco, relaciones y equilibrio.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FD4060-306F-4CF9-BFB7-C023256EC890}"/>
              </a:ext>
            </a:extLst>
          </p:cNvPr>
          <p:cNvSpPr>
            <a:spLocks noGrp="1"/>
          </p:cNvSpPr>
          <p:nvPr/>
        </p:nvSpPr>
        <p:spPr>
          <a:xfrm>
            <a:off x="3124200" y="1733550"/>
            <a:ext cx="19050" cy="3886200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357F47-8889-46F6-B470-2E7C42448F66}"/>
              </a:ext>
            </a:extLst>
          </p:cNvPr>
          <p:cNvSpPr>
            <a:spLocks noGrp="1"/>
          </p:cNvSpPr>
          <p:nvPr/>
        </p:nvSpPr>
        <p:spPr>
          <a:xfrm>
            <a:off x="3371850" y="1571625"/>
            <a:ext cx="857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BEF264-6DB6-4A0F-B7EC-D960C71B4B39}"/>
              </a:ext>
            </a:extLst>
          </p:cNvPr>
          <p:cNvSpPr>
            <a:spLocks noGrp="1"/>
          </p:cNvSpPr>
          <p:nvPr/>
        </p:nvSpPr>
        <p:spPr>
          <a:xfrm>
            <a:off x="3371850" y="2266950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TEAM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556E0A-997B-4951-90AF-2807D30ABF41}"/>
              </a:ext>
            </a:extLst>
          </p:cNvPr>
          <p:cNvSpPr>
            <a:spLocks noGrp="1"/>
          </p:cNvSpPr>
          <p:nvPr/>
        </p:nvSpPr>
        <p:spPr>
          <a:xfrm>
            <a:off x="3371850" y="2705100"/>
            <a:ext cx="2238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People Manager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3742DB-2613-4864-8347-570DD9D97E43}"/>
              </a:ext>
            </a:extLst>
          </p:cNvPr>
          <p:cNvSpPr>
            <a:spLocks noGrp="1"/>
          </p:cNvSpPr>
          <p:nvPr/>
        </p:nvSpPr>
        <p:spPr>
          <a:xfrm>
            <a:off x="3371850" y="3390900"/>
            <a:ext cx="22383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Patrones del equipo sin exponer comportamientos individuales.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518425-B3AE-4507-A481-FF53CB735CD6}"/>
              </a:ext>
            </a:extLst>
          </p:cNvPr>
          <p:cNvSpPr>
            <a:spLocks noGrp="1"/>
          </p:cNvSpPr>
          <p:nvPr/>
        </p:nvSpPr>
        <p:spPr>
          <a:xfrm>
            <a:off x="5886450" y="1733550"/>
            <a:ext cx="19050" cy="3886200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FBAABB-8145-4596-94D1-82F1C4BEF199}"/>
              </a:ext>
            </a:extLst>
          </p:cNvPr>
          <p:cNvSpPr>
            <a:spLocks noGrp="1"/>
          </p:cNvSpPr>
          <p:nvPr/>
        </p:nvSpPr>
        <p:spPr>
          <a:xfrm>
            <a:off x="6134100" y="1571625"/>
            <a:ext cx="857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F74947-771F-40F6-BA3F-8DC272BCA572}"/>
              </a:ext>
            </a:extLst>
          </p:cNvPr>
          <p:cNvSpPr>
            <a:spLocks noGrp="1"/>
          </p:cNvSpPr>
          <p:nvPr/>
        </p:nvSpPr>
        <p:spPr>
          <a:xfrm>
            <a:off x="6134100" y="2266950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ORGANIZATION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501B00-FA26-4E37-A846-DB97F5FA0737}"/>
              </a:ext>
            </a:extLst>
          </p:cNvPr>
          <p:cNvSpPr>
            <a:spLocks noGrp="1"/>
          </p:cNvSpPr>
          <p:nvPr/>
        </p:nvSpPr>
        <p:spPr>
          <a:xfrm>
            <a:off x="6134100" y="2705100"/>
            <a:ext cx="2238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Líderes habilitados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55D541-039C-46CF-88C4-9E11A1B47218}"/>
              </a:ext>
            </a:extLst>
          </p:cNvPr>
          <p:cNvSpPr>
            <a:spLocks noGrp="1"/>
          </p:cNvSpPr>
          <p:nvPr/>
        </p:nvSpPr>
        <p:spPr>
          <a:xfrm>
            <a:off x="6134100" y="3390900"/>
            <a:ext cx="22383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Bienestar, productividad y cultura en grupos con tamaño suficiente.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5DA6C3-E826-48E0-9529-2CE7F5345A6E}"/>
              </a:ext>
            </a:extLst>
          </p:cNvPr>
          <p:cNvSpPr>
            <a:spLocks noGrp="1"/>
          </p:cNvSpPr>
          <p:nvPr/>
        </p:nvSpPr>
        <p:spPr>
          <a:xfrm>
            <a:off x="8648700" y="1733550"/>
            <a:ext cx="19050" cy="3886200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C83CCB-B8DE-4B32-B8AE-5B16E607806F}"/>
              </a:ext>
            </a:extLst>
          </p:cNvPr>
          <p:cNvSpPr>
            <a:spLocks noGrp="1"/>
          </p:cNvSpPr>
          <p:nvPr/>
        </p:nvSpPr>
        <p:spPr>
          <a:xfrm>
            <a:off x="8896350" y="1571625"/>
            <a:ext cx="857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5BEF5E-A5CA-4979-BB74-A0A9D1521307}"/>
              </a:ext>
            </a:extLst>
          </p:cNvPr>
          <p:cNvSpPr>
            <a:spLocks noGrp="1"/>
          </p:cNvSpPr>
          <p:nvPr/>
        </p:nvSpPr>
        <p:spPr>
          <a:xfrm>
            <a:off x="8896350" y="2266950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ADVANCED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13C826-00EE-44F0-BC49-46BFD5F9BAF4}"/>
              </a:ext>
            </a:extLst>
          </p:cNvPr>
          <p:cNvSpPr>
            <a:spLocks noGrp="1"/>
          </p:cNvSpPr>
          <p:nvPr/>
        </p:nvSpPr>
        <p:spPr>
          <a:xfrm>
            <a:off x="8896350" y="2705100"/>
            <a:ext cx="2238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Analistas y programas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B13448-C05A-4BBD-BB52-32EC888FA172}"/>
              </a:ext>
            </a:extLst>
          </p:cNvPr>
          <p:cNvSpPr>
            <a:spLocks noGrp="1"/>
          </p:cNvSpPr>
          <p:nvPr/>
        </p:nvSpPr>
        <p:spPr>
          <a:xfrm>
            <a:off x="8896350" y="3390900"/>
            <a:ext cx="22383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Consultas personalizadas, planes y análisis con contexto organizacional.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D68A9F-97F5-496E-BD84-E37A954D745E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00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La profundidad aumenta; también lo hacen los requisitos de rol, licencia, agregación y gobierno.</a:t>
            </a:r>
          </a:p>
        </p:txBody>
      </p:sp>
    </p:spTree>
    <p:extLst>
      <p:ext uri="{BB962C8B-B14F-4D97-AF65-F5344CB8AC3E}">
        <p14:creationId xmlns:p14="http://schemas.microsoft.com/office/powerpoint/2010/main" val="1434182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2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49E902D-C54D-4394-9D40-175812CBD45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rPr>
              <a:t>DATOS Y PRIVACIDAD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8EF9E2-0DD1-4B6B-86D9-467D143B8A16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57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privacidad se diseña en el flujo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B8B3C2-0029-42FA-8421-19C6EC531D3E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99B6A63-42EE-4DBB-9C70-B065D1882923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590550" cy="5905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247CF5-FBE7-48A6-B34F-941D2C8AF02F}"/>
              </a:ext>
            </a:extLst>
          </p:cNvPr>
          <p:cNvSpPr>
            <a:spLocks noGrp="1"/>
          </p:cNvSpPr>
          <p:nvPr/>
        </p:nvSpPr>
        <p:spPr>
          <a:xfrm>
            <a:off x="666750" y="1866900"/>
            <a:ext cx="590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35AE44-B853-4AD4-8EF5-311DF0378C64}"/>
              </a:ext>
            </a:extLst>
          </p:cNvPr>
          <p:cNvSpPr>
            <a:spLocks noGrp="1"/>
          </p:cNvSpPr>
          <p:nvPr/>
        </p:nvSpPr>
        <p:spPr>
          <a:xfrm>
            <a:off x="1562100" y="17716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rPr>
              <a:t>ENTRADAS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E2C0BA-42D6-44A0-A7AE-E9F3861D0C97}"/>
              </a:ext>
            </a:extLst>
          </p:cNvPr>
          <p:cNvSpPr>
            <a:spLocks noGrp="1"/>
          </p:cNvSpPr>
          <p:nvPr/>
        </p:nvSpPr>
        <p:spPr>
          <a:xfrm>
            <a:off x="1562100" y="2133600"/>
            <a:ext cx="885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Metadatos de Microsoft 365 + atributos organizacionales de HR o Entra ID.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FCD291-6406-4465-AB32-05464F210080}"/>
              </a:ext>
            </a:extLst>
          </p:cNvPr>
          <p:cNvSpPr>
            <a:spLocks noGrp="1"/>
          </p:cNvSpPr>
          <p:nvPr/>
        </p:nvSpPr>
        <p:spPr>
          <a:xfrm>
            <a:off x="942975" y="2400300"/>
            <a:ext cx="38100" cy="685800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70AB28A-209A-4D95-B8D3-CE952B0F5EB1}"/>
              </a:ext>
            </a:extLst>
          </p:cNvPr>
          <p:cNvSpPr>
            <a:spLocks noGrp="1"/>
          </p:cNvSpPr>
          <p:nvPr/>
        </p:nvSpPr>
        <p:spPr>
          <a:xfrm>
            <a:off x="666750" y="3019425"/>
            <a:ext cx="590550" cy="59055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8CA730-8A5B-404D-9097-60694ADB5706}"/>
              </a:ext>
            </a:extLst>
          </p:cNvPr>
          <p:cNvSpPr>
            <a:spLocks noGrp="1"/>
          </p:cNvSpPr>
          <p:nvPr/>
        </p:nvSpPr>
        <p:spPr>
          <a:xfrm>
            <a:off x="666750" y="3152775"/>
            <a:ext cx="590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DD2ADD-05D8-487F-B941-320B0B900B78}"/>
              </a:ext>
            </a:extLst>
          </p:cNvPr>
          <p:cNvSpPr>
            <a:spLocks noGrp="1"/>
          </p:cNvSpPr>
          <p:nvPr/>
        </p:nvSpPr>
        <p:spPr>
          <a:xfrm>
            <a:off x="1562100" y="3057525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rPr>
              <a:t>PROCESAMIENTO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1D42BC-F02F-4472-8C9F-99C96392DA23}"/>
              </a:ext>
            </a:extLst>
          </p:cNvPr>
          <p:cNvSpPr>
            <a:spLocks noGrp="1"/>
          </p:cNvSpPr>
          <p:nvPr/>
        </p:nvSpPr>
        <p:spPr>
          <a:xfrm>
            <a:off x="1562100" y="3419475"/>
            <a:ext cx="885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Combinación, reglas, filtros, umbrales y modelo de datos de comportamiento.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4AC1F7-F97A-495B-B793-74F083AB2097}"/>
              </a:ext>
            </a:extLst>
          </p:cNvPr>
          <p:cNvSpPr>
            <a:spLocks noGrp="1"/>
          </p:cNvSpPr>
          <p:nvPr/>
        </p:nvSpPr>
        <p:spPr>
          <a:xfrm>
            <a:off x="942975" y="3686175"/>
            <a:ext cx="38100" cy="685800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28D2EAC-A1A6-4F6B-805B-1800EB77AFA0}"/>
              </a:ext>
            </a:extLst>
          </p:cNvPr>
          <p:cNvSpPr>
            <a:spLocks noGrp="1"/>
          </p:cNvSpPr>
          <p:nvPr/>
        </p:nvSpPr>
        <p:spPr>
          <a:xfrm>
            <a:off x="666750" y="4305300"/>
            <a:ext cx="590550" cy="5905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D60C12-4293-4B6E-B2F9-0C0928912683}"/>
              </a:ext>
            </a:extLst>
          </p:cNvPr>
          <p:cNvSpPr>
            <a:spLocks noGrp="1"/>
          </p:cNvSpPr>
          <p:nvPr/>
        </p:nvSpPr>
        <p:spPr>
          <a:xfrm>
            <a:off x="666750" y="4438650"/>
            <a:ext cx="590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297FBA-AE26-4A8C-9B86-0C7D8BDCCF25}"/>
              </a:ext>
            </a:extLst>
          </p:cNvPr>
          <p:cNvSpPr>
            <a:spLocks noGrp="1"/>
          </p:cNvSpPr>
          <p:nvPr/>
        </p:nvSpPr>
        <p:spPr>
          <a:xfrm>
            <a:off x="1562100" y="43434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rPr>
              <a:t>SALIDAS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6F67A0-668B-4915-B79D-2D1AF18B520E}"/>
              </a:ext>
            </a:extLst>
          </p:cNvPr>
          <p:cNvSpPr>
            <a:spLocks noGrp="1"/>
          </p:cNvSpPr>
          <p:nvPr/>
        </p:nvSpPr>
        <p:spPr>
          <a:xfrm>
            <a:off x="1562100" y="4705350"/>
            <a:ext cx="885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Métricas desidentificadas sobre trabajo, uso del tiempo y redes de colaboración.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8E67DD-4A22-49AA-9B7E-CE45391C689C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1009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rPr>
              <a:t>Actualización típica: colaboración semanal · datos organizacionales mensual o trimestral</a:t>
            </a:r>
          </a:p>
        </p:txBody>
      </p:sp>
    </p:spTree>
    <p:extLst>
      <p:ext uri="{BB962C8B-B14F-4D97-AF65-F5344CB8AC3E}">
        <p14:creationId xmlns:p14="http://schemas.microsoft.com/office/powerpoint/2010/main" val="1446862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BD66893B-F154-4E7C-A948-645D9E3EC7A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GOBIERNO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F47A1-93D4-429F-AEE4-751ABB52CCCC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57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Los roles limitan la superficie de acceso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645126-A497-4D01-9D0E-0287EDCDA1B0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064D4E-DB6D-499F-864F-C5155DD3A336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76200" cy="504825"/>
          </a:xfrm>
          <a:prstGeom prst="rect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275735-577B-4D29-A0E3-088C004D7827}"/>
              </a:ext>
            </a:extLst>
          </p:cNvPr>
          <p:cNvSpPr>
            <a:spLocks noGrp="1"/>
          </p:cNvSpPr>
          <p:nvPr/>
        </p:nvSpPr>
        <p:spPr>
          <a:xfrm>
            <a:off x="857250" y="1581150"/>
            <a:ext cx="3190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INSIGHTS ADMINISTRATOR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6CF557-2F4E-4209-B615-E6DEFD0C2DA6}"/>
              </a:ext>
            </a:extLst>
          </p:cNvPr>
          <p:cNvSpPr>
            <a:spLocks noGrp="1"/>
          </p:cNvSpPr>
          <p:nvPr/>
        </p:nvSpPr>
        <p:spPr>
          <a:xfrm>
            <a:off x="4095750" y="1581150"/>
            <a:ext cx="5905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Configura privacidad, valores predeterminados y cargas de datos.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492906-D01C-42F3-B5E8-7CFB0C8C0B68}"/>
              </a:ext>
            </a:extLst>
          </p:cNvPr>
          <p:cNvSpPr>
            <a:spLocks noGrp="1"/>
          </p:cNvSpPr>
          <p:nvPr/>
        </p:nvSpPr>
        <p:spPr>
          <a:xfrm>
            <a:off x="10287000" y="15811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Gobierna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20381D-1920-40D2-B423-5EEF9BCD890E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10572750" cy="9525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B5967F-51B5-4815-B2AB-3C44FD9F3432}"/>
              </a:ext>
            </a:extLst>
          </p:cNvPr>
          <p:cNvSpPr>
            <a:spLocks noGrp="1"/>
          </p:cNvSpPr>
          <p:nvPr/>
        </p:nvSpPr>
        <p:spPr>
          <a:xfrm>
            <a:off x="609600" y="2276475"/>
            <a:ext cx="76200" cy="504825"/>
          </a:xfrm>
          <a:prstGeom prst="rect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01147B-8A6C-473C-8A8C-F4CAE01E7ABD}"/>
              </a:ext>
            </a:extLst>
          </p:cNvPr>
          <p:cNvSpPr>
            <a:spLocks noGrp="1"/>
          </p:cNvSpPr>
          <p:nvPr/>
        </p:nvSpPr>
        <p:spPr>
          <a:xfrm>
            <a:off x="857250" y="2276475"/>
            <a:ext cx="3190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INSIGHTS BUSINESS LEADER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E6FD8D-BBE1-4EB9-84D8-0E7B18211619}"/>
              </a:ext>
            </a:extLst>
          </p:cNvPr>
          <p:cNvSpPr>
            <a:spLocks noGrp="1"/>
          </p:cNvSpPr>
          <p:nvPr/>
        </p:nvSpPr>
        <p:spPr>
          <a:xfrm>
            <a:off x="4095750" y="2276475"/>
            <a:ext cx="5905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Explora Organization insights para la población habilitada.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1FC626-E26D-4C90-B5CA-C464B84BE5FB}"/>
              </a:ext>
            </a:extLst>
          </p:cNvPr>
          <p:cNvSpPr>
            <a:spLocks noGrp="1"/>
          </p:cNvSpPr>
          <p:nvPr/>
        </p:nvSpPr>
        <p:spPr>
          <a:xfrm>
            <a:off x="10287000" y="22764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Decide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C15592-C98F-443F-81B9-6AA08CDA9CBE}"/>
              </a:ext>
            </a:extLst>
          </p:cNvPr>
          <p:cNvSpPr>
            <a:spLocks noGrp="1"/>
          </p:cNvSpPr>
          <p:nvPr/>
        </p:nvSpPr>
        <p:spPr>
          <a:xfrm>
            <a:off x="857250" y="2828925"/>
            <a:ext cx="10572750" cy="9525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B0EBBD-D94F-4603-8B57-01F5357807E1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76200" cy="504825"/>
          </a:xfrm>
          <a:prstGeom prst="rect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50B618-0E0F-43C8-B825-5BCC512818D9}"/>
              </a:ext>
            </a:extLst>
          </p:cNvPr>
          <p:cNvSpPr>
            <a:spLocks noGrp="1"/>
          </p:cNvSpPr>
          <p:nvPr/>
        </p:nvSpPr>
        <p:spPr>
          <a:xfrm>
            <a:off x="857250" y="2971800"/>
            <a:ext cx="3190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PEOPLE MANAGER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0F942D-2BC8-4CC4-919C-03ED84E26DAF}"/>
              </a:ext>
            </a:extLst>
          </p:cNvPr>
          <p:cNvSpPr>
            <a:spLocks noGrp="1"/>
          </p:cNvSpPr>
          <p:nvPr/>
        </p:nvSpPr>
        <p:spPr>
          <a:xfrm>
            <a:off x="4095750" y="2971800"/>
            <a:ext cx="5905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Consulta Team insights y Group insights sobre su equipo.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31D90A-B0A4-479D-AB91-8CD96B4FA734}"/>
              </a:ext>
            </a:extLst>
          </p:cNvPr>
          <p:cNvSpPr>
            <a:spLocks noGrp="1"/>
          </p:cNvSpPr>
          <p:nvPr/>
        </p:nvSpPr>
        <p:spPr>
          <a:xfrm>
            <a:off x="10287000" y="29718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Gestiona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990423-9549-4762-86FE-65B44828BA6E}"/>
              </a:ext>
            </a:extLst>
          </p:cNvPr>
          <p:cNvSpPr>
            <a:spLocks noGrp="1"/>
          </p:cNvSpPr>
          <p:nvPr/>
        </p:nvSpPr>
        <p:spPr>
          <a:xfrm>
            <a:off x="857250" y="3524250"/>
            <a:ext cx="10572750" cy="9525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FAF38C-8D78-46C3-A5D3-80D2C2519533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76200" cy="504825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71D8AC-6B98-4459-9596-F8BCC64F25B6}"/>
              </a:ext>
            </a:extLst>
          </p:cNvPr>
          <p:cNvSpPr>
            <a:spLocks noGrp="1"/>
          </p:cNvSpPr>
          <p:nvPr/>
        </p:nvSpPr>
        <p:spPr>
          <a:xfrm>
            <a:off x="857250" y="3667125"/>
            <a:ext cx="3190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ANALYST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B20EB1-A732-42B8-B856-3C1CCAF7B4DA}"/>
              </a:ext>
            </a:extLst>
          </p:cNvPr>
          <p:cNvSpPr>
            <a:spLocks noGrp="1"/>
          </p:cNvSpPr>
          <p:nvPr/>
        </p:nvSpPr>
        <p:spPr>
          <a:xfrm>
            <a:off x="4095750" y="3667125"/>
            <a:ext cx="5905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Consulta, diseña queries y administra Plans.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A3E220-1F5D-4293-B455-94FA10E77B10}"/>
              </a:ext>
            </a:extLst>
          </p:cNvPr>
          <p:cNvSpPr>
            <a:spLocks noGrp="1"/>
          </p:cNvSpPr>
          <p:nvPr/>
        </p:nvSpPr>
        <p:spPr>
          <a:xfrm>
            <a:off x="10287000" y="366712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Analiza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C25E64-3C8D-4BF8-B070-7639010AC7D7}"/>
              </a:ext>
            </a:extLst>
          </p:cNvPr>
          <p:cNvSpPr>
            <a:spLocks noGrp="1"/>
          </p:cNvSpPr>
          <p:nvPr/>
        </p:nvSpPr>
        <p:spPr>
          <a:xfrm>
            <a:off x="857250" y="4219575"/>
            <a:ext cx="10572750" cy="9525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8FC3EB-19A4-4ED4-A5BC-C00497D2743C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76200" cy="504825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1586DB-69F8-494B-86DA-D83F3FADE050}"/>
              </a:ext>
            </a:extLst>
          </p:cNvPr>
          <p:cNvSpPr>
            <a:spLocks noGrp="1"/>
          </p:cNvSpPr>
          <p:nvPr/>
        </p:nvSpPr>
        <p:spPr>
          <a:xfrm>
            <a:off x="857250" y="4362450"/>
            <a:ext cx="3190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ANALYST — LIMITED ACCESS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F9FCBB-D231-4DA6-9F45-38D62D50941D}"/>
              </a:ext>
            </a:extLst>
          </p:cNvPr>
          <p:cNvSpPr>
            <a:spLocks noGrp="1"/>
          </p:cNvSpPr>
          <p:nvPr/>
        </p:nvSpPr>
        <p:spPr>
          <a:xfrm>
            <a:off x="4095750" y="4362450"/>
            <a:ext cx="5905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Sin Query designer; configuración de exclusiones en solo lectura.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823F01-9416-4624-B922-855321D603AB}"/>
              </a:ext>
            </a:extLst>
          </p:cNvPr>
          <p:cNvSpPr>
            <a:spLocks noGrp="1"/>
          </p:cNvSpPr>
          <p:nvPr/>
        </p:nvSpPr>
        <p:spPr>
          <a:xfrm>
            <a:off x="10287000" y="43624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Explora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6B924F-8FED-4891-8B73-CA4A8C2CA9B7}"/>
              </a:ext>
            </a:extLst>
          </p:cNvPr>
          <p:cNvSpPr>
            <a:spLocks noGrp="1"/>
          </p:cNvSpPr>
          <p:nvPr/>
        </p:nvSpPr>
        <p:spPr>
          <a:xfrm>
            <a:off x="857250" y="4914900"/>
            <a:ext cx="10572750" cy="9525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A12A616-86FA-4050-A122-A5133E00A624}"/>
              </a:ext>
            </a:extLst>
          </p:cNvPr>
          <p:cNvSpPr>
            <a:spLocks noGrp="1"/>
          </p:cNvSpPr>
          <p:nvPr/>
        </p:nvSpPr>
        <p:spPr>
          <a:xfrm>
            <a:off x="609600" y="5057775"/>
            <a:ext cx="76200" cy="504825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B2E34A-CE90-4E4D-AFA7-46F31D7789DC}"/>
              </a:ext>
            </a:extLst>
          </p:cNvPr>
          <p:cNvSpPr>
            <a:spLocks noGrp="1"/>
          </p:cNvSpPr>
          <p:nvPr/>
        </p:nvSpPr>
        <p:spPr>
          <a:xfrm>
            <a:off x="857250" y="5057775"/>
            <a:ext cx="3190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PROGRAM MANAGER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92AAD6-C65E-4A12-AAA2-D620783EFD17}"/>
              </a:ext>
            </a:extLst>
          </p:cNvPr>
          <p:cNvSpPr>
            <a:spLocks noGrp="1"/>
          </p:cNvSpPr>
          <p:nvPr/>
        </p:nvSpPr>
        <p:spPr>
          <a:xfrm>
            <a:off x="4095750" y="5057775"/>
            <a:ext cx="5905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Coordina, administra y sigue Plans con datos organizacionales.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CCB1E03-6ECF-476B-BE9A-EFA692E6E9FC}"/>
              </a:ext>
            </a:extLst>
          </p:cNvPr>
          <p:cNvSpPr>
            <a:spLocks noGrp="1"/>
          </p:cNvSpPr>
          <p:nvPr/>
        </p:nvSpPr>
        <p:spPr>
          <a:xfrm>
            <a:off x="10287000" y="50577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Opera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E7E95E-D278-41F2-A6C8-9D700CF5C571}"/>
              </a:ext>
            </a:extLst>
          </p:cNvPr>
          <p:cNvSpPr>
            <a:spLocks noGrp="1"/>
          </p:cNvSpPr>
          <p:nvPr/>
        </p:nvSpPr>
        <p:spPr>
          <a:xfrm>
            <a:off x="857250" y="5610225"/>
            <a:ext cx="10572750" cy="9525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9741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626590A-3106-41F8-AD9A-917113768B3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GOBIERNO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8B73D6-4F7D-4747-80BD-81E6D5466F32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57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El acceso depende de la función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B473A6-1D61-4856-A291-DF372BCC10F5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6D457F-459C-4F82-BB25-A17B0C6FFE36}"/>
              </a:ext>
            </a:extLst>
          </p:cNvPr>
          <p:cNvSpPr>
            <a:spLocks noGrp="1"/>
          </p:cNvSpPr>
          <p:nvPr/>
        </p:nvSpPr>
        <p:spPr>
          <a:xfrm>
            <a:off x="3000375" y="1276350"/>
            <a:ext cx="1276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My team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866165-E25C-4F53-958B-3CCF5A229734}"/>
              </a:ext>
            </a:extLst>
          </p:cNvPr>
          <p:cNvSpPr>
            <a:spLocks noGrp="1"/>
          </p:cNvSpPr>
          <p:nvPr/>
        </p:nvSpPr>
        <p:spPr>
          <a:xfrm>
            <a:off x="4352925" y="1276350"/>
            <a:ext cx="1276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My organization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E868C3-B670-4E1C-A729-1B4314F08B13}"/>
              </a:ext>
            </a:extLst>
          </p:cNvPr>
          <p:cNvSpPr>
            <a:spLocks noGrp="1"/>
          </p:cNvSpPr>
          <p:nvPr/>
        </p:nvSpPr>
        <p:spPr>
          <a:xfrm>
            <a:off x="5705475" y="1276350"/>
            <a:ext cx="1276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Query designer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E203F1-02B5-48D1-9F1C-1B5C48A56F61}"/>
              </a:ext>
            </a:extLst>
          </p:cNvPr>
          <p:cNvSpPr>
            <a:spLocks noGrp="1"/>
          </p:cNvSpPr>
          <p:nvPr/>
        </p:nvSpPr>
        <p:spPr>
          <a:xfrm>
            <a:off x="7058025" y="1276350"/>
            <a:ext cx="1276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Explore stats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309150-AD91-486F-A871-AD7B80188696}"/>
              </a:ext>
            </a:extLst>
          </p:cNvPr>
          <p:cNvSpPr>
            <a:spLocks noGrp="1"/>
          </p:cNvSpPr>
          <p:nvPr/>
        </p:nvSpPr>
        <p:spPr>
          <a:xfrm>
            <a:off x="8410575" y="1276350"/>
            <a:ext cx="1276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Plans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8A5C6E-D021-490A-8B0D-4CB777E66751}"/>
              </a:ext>
            </a:extLst>
          </p:cNvPr>
          <p:cNvSpPr>
            <a:spLocks noGrp="1"/>
          </p:cNvSpPr>
          <p:nvPr/>
        </p:nvSpPr>
        <p:spPr>
          <a:xfrm>
            <a:off x="9763125" y="1276350"/>
            <a:ext cx="1276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Upload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9BF1A1-8CF5-4331-A6B5-FCBF176702EF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10839450" cy="590550"/>
          </a:xfrm>
          <a:prstGeom prst="rect">
            <a:avLst/>
          </a:prstGeom>
          <a:solidFill>
            <a:srgbClr val="F4F5F9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862991-C1DB-4FF4-8A1A-3E68D69EDE6A}"/>
              </a:ext>
            </a:extLst>
          </p:cNvPr>
          <p:cNvSpPr>
            <a:spLocks noGrp="1"/>
          </p:cNvSpPr>
          <p:nvPr/>
        </p:nvSpPr>
        <p:spPr>
          <a:xfrm>
            <a:off x="723900" y="191452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13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33A"/>
                </a:solidFill>
                <a:latin typeface="Aptos"/>
                <a:ea typeface="Aptos"/>
                <a:cs typeface="Aptos"/>
              </a:rPr>
              <a:t>People Manager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E791463-9F6C-4623-B353-737AAFA0B36F}"/>
              </a:ext>
            </a:extLst>
          </p:cNvPr>
          <p:cNvSpPr>
            <a:spLocks noGrp="1"/>
          </p:cNvSpPr>
          <p:nvPr/>
        </p:nvSpPr>
        <p:spPr>
          <a:xfrm>
            <a:off x="3543300" y="1924050"/>
            <a:ext cx="190500" cy="190500"/>
          </a:xfrm>
          <a:prstGeom prst="ellipse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F8E8A2-2A6C-4E2E-B197-B20098B4E3FE}"/>
              </a:ext>
            </a:extLst>
          </p:cNvPr>
          <p:cNvSpPr>
            <a:spLocks noGrp="1"/>
          </p:cNvSpPr>
          <p:nvPr/>
        </p:nvSpPr>
        <p:spPr>
          <a:xfrm>
            <a:off x="723900" y="250507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13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33A"/>
                </a:solidFill>
                <a:latin typeface="Aptos"/>
                <a:ea typeface="Aptos"/>
                <a:cs typeface="Aptos"/>
              </a:rPr>
              <a:t>Business Leader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95A4D03-F5FF-4ADE-82EC-BCC98F650F18}"/>
              </a:ext>
            </a:extLst>
          </p:cNvPr>
          <p:cNvSpPr>
            <a:spLocks noGrp="1"/>
          </p:cNvSpPr>
          <p:nvPr/>
        </p:nvSpPr>
        <p:spPr>
          <a:xfrm>
            <a:off x="4895850" y="2514600"/>
            <a:ext cx="190500" cy="1905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28FF3C9-BA8F-466C-A3F7-E44F93433AE6}"/>
              </a:ext>
            </a:extLst>
          </p:cNvPr>
          <p:cNvSpPr>
            <a:spLocks noGrp="1"/>
          </p:cNvSpPr>
          <p:nvPr/>
        </p:nvSpPr>
        <p:spPr>
          <a:xfrm>
            <a:off x="8953500" y="2514600"/>
            <a:ext cx="190500" cy="190500"/>
          </a:xfrm>
          <a:prstGeom prst="ellipse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C8D182-B25D-4A1F-B4ED-F7DCD9A92A66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10839450" cy="590550"/>
          </a:xfrm>
          <a:prstGeom prst="rect">
            <a:avLst/>
          </a:prstGeom>
          <a:solidFill>
            <a:srgbClr val="F4F5F9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3E3BD4-E174-4BBC-BF42-1FA23133246F}"/>
              </a:ext>
            </a:extLst>
          </p:cNvPr>
          <p:cNvSpPr>
            <a:spLocks noGrp="1"/>
          </p:cNvSpPr>
          <p:nvPr/>
        </p:nvSpPr>
        <p:spPr>
          <a:xfrm>
            <a:off x="723900" y="309562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13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33A"/>
                </a:solidFill>
                <a:latin typeface="Aptos"/>
                <a:ea typeface="Aptos"/>
                <a:cs typeface="Aptos"/>
              </a:rPr>
              <a:t>Analyst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FA63BAB-C182-484E-BE4A-109C83A79608}"/>
              </a:ext>
            </a:extLst>
          </p:cNvPr>
          <p:cNvSpPr>
            <a:spLocks noGrp="1"/>
          </p:cNvSpPr>
          <p:nvPr/>
        </p:nvSpPr>
        <p:spPr>
          <a:xfrm>
            <a:off x="6248400" y="3105150"/>
            <a:ext cx="190500" cy="190500"/>
          </a:xfrm>
          <a:prstGeom prst="ellipse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E40831B-C377-4590-92B9-79481996B4DA}"/>
              </a:ext>
            </a:extLst>
          </p:cNvPr>
          <p:cNvSpPr>
            <a:spLocks noGrp="1"/>
          </p:cNvSpPr>
          <p:nvPr/>
        </p:nvSpPr>
        <p:spPr>
          <a:xfrm>
            <a:off x="7600950" y="3105150"/>
            <a:ext cx="190500" cy="1905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E6C7738-71A0-4B3E-B7F2-6F1B01EAAEFC}"/>
              </a:ext>
            </a:extLst>
          </p:cNvPr>
          <p:cNvSpPr>
            <a:spLocks noGrp="1"/>
          </p:cNvSpPr>
          <p:nvPr/>
        </p:nvSpPr>
        <p:spPr>
          <a:xfrm>
            <a:off x="8953500" y="3105150"/>
            <a:ext cx="190500" cy="190500"/>
          </a:xfrm>
          <a:prstGeom prst="ellipse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4DC99D-FC16-4842-8C73-B94328A1435E}"/>
              </a:ext>
            </a:extLst>
          </p:cNvPr>
          <p:cNvSpPr>
            <a:spLocks noGrp="1"/>
          </p:cNvSpPr>
          <p:nvPr/>
        </p:nvSpPr>
        <p:spPr>
          <a:xfrm>
            <a:off x="723900" y="368617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13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33A"/>
                </a:solidFill>
                <a:latin typeface="Aptos"/>
                <a:ea typeface="Aptos"/>
                <a:cs typeface="Aptos"/>
              </a:rPr>
              <a:t>Analyst Limited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909D46-8893-4A78-BB28-AFEEEB0063E8}"/>
              </a:ext>
            </a:extLst>
          </p:cNvPr>
          <p:cNvSpPr>
            <a:spLocks noGrp="1"/>
          </p:cNvSpPr>
          <p:nvPr/>
        </p:nvSpPr>
        <p:spPr>
          <a:xfrm>
            <a:off x="7600950" y="3695700"/>
            <a:ext cx="190500" cy="1905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A7501B6-18AC-494B-ADD8-7E05D750ACAD}"/>
              </a:ext>
            </a:extLst>
          </p:cNvPr>
          <p:cNvSpPr>
            <a:spLocks noGrp="1"/>
          </p:cNvSpPr>
          <p:nvPr/>
        </p:nvSpPr>
        <p:spPr>
          <a:xfrm>
            <a:off x="8953500" y="3695700"/>
            <a:ext cx="190500" cy="190500"/>
          </a:xfrm>
          <a:prstGeom prst="ellipse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9004CD-5D29-47DD-AAB5-274146AC5006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0839450" cy="590550"/>
          </a:xfrm>
          <a:prstGeom prst="rect">
            <a:avLst/>
          </a:prstGeom>
          <a:solidFill>
            <a:srgbClr val="F4F5F9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662835-54BA-4E9A-A451-EA5CE6BB7F1D}"/>
              </a:ext>
            </a:extLst>
          </p:cNvPr>
          <p:cNvSpPr>
            <a:spLocks noGrp="1"/>
          </p:cNvSpPr>
          <p:nvPr/>
        </p:nvSpPr>
        <p:spPr>
          <a:xfrm>
            <a:off x="723900" y="427672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13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133A"/>
                </a:solidFill>
                <a:latin typeface="Aptos"/>
                <a:ea typeface="Aptos"/>
                <a:cs typeface="Aptos"/>
              </a:rPr>
              <a:t>Program Manager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DEECF1-99D3-40B4-BDF9-A8A79309B1DB}"/>
              </a:ext>
            </a:extLst>
          </p:cNvPr>
          <p:cNvSpPr>
            <a:spLocks noGrp="1"/>
          </p:cNvSpPr>
          <p:nvPr/>
        </p:nvSpPr>
        <p:spPr>
          <a:xfrm>
            <a:off x="7600950" y="4286250"/>
            <a:ext cx="190500" cy="1905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AF09B7F-83B8-44F9-A6DC-31CB6641E2FA}"/>
              </a:ext>
            </a:extLst>
          </p:cNvPr>
          <p:cNvSpPr>
            <a:spLocks noGrp="1"/>
          </p:cNvSpPr>
          <p:nvPr/>
        </p:nvSpPr>
        <p:spPr>
          <a:xfrm>
            <a:off x="8953500" y="4286250"/>
            <a:ext cx="190500" cy="190500"/>
          </a:xfrm>
          <a:prstGeom prst="ellipse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31D95E-BE2C-4548-BF72-FCB18C02D2A5}"/>
              </a:ext>
            </a:extLst>
          </p:cNvPr>
          <p:cNvSpPr>
            <a:spLocks noGrp="1"/>
          </p:cNvSpPr>
          <p:nvPr/>
        </p:nvSpPr>
        <p:spPr>
          <a:xfrm>
            <a:off x="723900" y="4867275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Insights Admin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0476CDE-1774-4E3D-A185-3F328CEBAF5E}"/>
              </a:ext>
            </a:extLst>
          </p:cNvPr>
          <p:cNvSpPr>
            <a:spLocks noGrp="1"/>
          </p:cNvSpPr>
          <p:nvPr/>
        </p:nvSpPr>
        <p:spPr>
          <a:xfrm>
            <a:off x="10306050" y="4876800"/>
            <a:ext cx="190500" cy="1905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F4D7A9F-8D94-4F16-B4F8-688B35DB9D0A}"/>
              </a:ext>
            </a:extLst>
          </p:cNvPr>
          <p:cNvSpPr>
            <a:spLocks noGrp="1"/>
          </p:cNvSpPr>
          <p:nvPr/>
        </p:nvSpPr>
        <p:spPr>
          <a:xfrm>
            <a:off x="2847975" y="1543050"/>
            <a:ext cx="19050" cy="3771900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79CE08-CD9D-4408-99E1-77AF0703D8BE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57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Punto crítico: ser administrador de Viva Insights no convierte automáticamente al usuario en administrador de Microsoft 365.</a:t>
            </a:r>
          </a:p>
        </p:txBody>
      </p:sp>
    </p:spTree>
    <p:extLst>
      <p:ext uri="{BB962C8B-B14F-4D97-AF65-F5344CB8AC3E}">
        <p14:creationId xmlns:p14="http://schemas.microsoft.com/office/powerpoint/2010/main" val="1161442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4ABFB39-8B87-4521-BCCB-691659CB2D6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PERSONAL INSIGHTS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6A4654-A0B1-491D-991D-863DA3CBD369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57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Personal insights convierte el buzón en hábitos accionables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FCA70B-D6C8-45C4-8AA1-6D040B087B79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33A2DF-11AD-453F-859C-06A4599179CA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3524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40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SOLO</a:t>
            </a:r>
          </a:p>
          <a:p>
            <a:pPr algn="l">
              <a:defRPr sz="540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TÚ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A58572-B8E9-442F-B04A-1D5E8C9D6784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Los cálculos se basan en información ya disponible para el usuario en Exchange Online.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0A477E-1D3C-4DDF-926C-CE7CEECCEDB9}"/>
              </a:ext>
            </a:extLst>
          </p:cNvPr>
          <p:cNvSpPr>
            <a:spLocks noGrp="1"/>
          </p:cNvSpPr>
          <p:nvPr/>
        </p:nvSpPr>
        <p:spPr>
          <a:xfrm>
            <a:off x="4876800" y="1619250"/>
            <a:ext cx="19050" cy="3905250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8A9123-6C27-41A3-85FF-DDDB421D3D6F}"/>
              </a:ext>
            </a:extLst>
          </p:cNvPr>
          <p:cNvSpPr>
            <a:spLocks noGrp="1"/>
          </p:cNvSpPr>
          <p:nvPr/>
        </p:nvSpPr>
        <p:spPr>
          <a:xfrm>
            <a:off x="5334000" y="1676400"/>
            <a:ext cx="74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BE95D3-CE55-460D-A841-0CA1E34280A6}"/>
              </a:ext>
            </a:extLst>
          </p:cNvPr>
          <p:cNvSpPr>
            <a:spLocks noGrp="1"/>
          </p:cNvSpPr>
          <p:nvPr/>
        </p:nvSpPr>
        <p:spPr>
          <a:xfrm>
            <a:off x="6191250" y="167640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FORTALECER RELACIONES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C75FF9-32DE-4E99-9834-46E0B6F11D5E}"/>
              </a:ext>
            </a:extLst>
          </p:cNvPr>
          <p:cNvSpPr>
            <a:spLocks noGrp="1"/>
          </p:cNvSpPr>
          <p:nvPr/>
        </p:nvSpPr>
        <p:spPr>
          <a:xfrm>
            <a:off x="6191250" y="2038350"/>
            <a:ext cx="457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Reconocer conexiones frecuentes, compromisos y contactos perdidos.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DE6AEB-0E43-4301-BEC8-09284A90DD30}"/>
              </a:ext>
            </a:extLst>
          </p:cNvPr>
          <p:cNvSpPr>
            <a:spLocks noGrp="1"/>
          </p:cNvSpPr>
          <p:nvPr/>
        </p:nvSpPr>
        <p:spPr>
          <a:xfrm>
            <a:off x="5334000" y="2933700"/>
            <a:ext cx="74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0C5D53-E403-4FE7-A215-A53E96866E9F}"/>
              </a:ext>
            </a:extLst>
          </p:cNvPr>
          <p:cNvSpPr>
            <a:spLocks noGrp="1"/>
          </p:cNvSpPr>
          <p:nvPr/>
        </p:nvSpPr>
        <p:spPr>
          <a:xfrm>
            <a:off x="6191250" y="293370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PROTEGER LO IMPORTANTE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92FBF2-54AC-49B6-AE70-C6D14CA86025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457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Reservar foco, preparación y aprendizaje.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25EC19-DC08-4626-9C38-D705584F9888}"/>
              </a:ext>
            </a:extLst>
          </p:cNvPr>
          <p:cNvSpPr>
            <a:spLocks noGrp="1"/>
          </p:cNvSpPr>
          <p:nvPr/>
        </p:nvSpPr>
        <p:spPr>
          <a:xfrm>
            <a:off x="5334000" y="4191000"/>
            <a:ext cx="742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9544CB-EECB-4069-AD97-015AEBB9A890}"/>
              </a:ext>
            </a:extLst>
          </p:cNvPr>
          <p:cNvSpPr>
            <a:spLocks noGrp="1"/>
          </p:cNvSpPr>
          <p:nvPr/>
        </p:nvSpPr>
        <p:spPr>
          <a:xfrm>
            <a:off x="6191250" y="419100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CUIDAR EL EQUILIBRIO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362EA5-C84C-4F7B-BB12-A9D752BB42DA}"/>
              </a:ext>
            </a:extLst>
          </p:cNvPr>
          <p:cNvSpPr>
            <a:spLocks noGrp="1"/>
          </p:cNvSpPr>
          <p:nvPr/>
        </p:nvSpPr>
        <p:spPr>
          <a:xfrm>
            <a:off x="6191250" y="4552950"/>
            <a:ext cx="457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Incorporar descansos, mindfulness y cierre de jornada.</a:t>
            </a:r>
          </a:p>
        </p:txBody>
      </p:sp>
    </p:spTree>
    <p:extLst>
      <p:ext uri="{BB962C8B-B14F-4D97-AF65-F5344CB8AC3E}">
        <p14:creationId xmlns:p14="http://schemas.microsoft.com/office/powerpoint/2010/main" val="1444424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DC37FBC-AB4C-4244-99E7-FD0BC4FF2B3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PERSONAL INSIGHTS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FDA727-C93A-4E0E-B757-4562FA0E9AAA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57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Una experiencia, varias superficies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F8A85B-3C36-4C04-9518-DB7A6632020F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054B46-6F39-416D-AB92-5B9B8D49FF12}"/>
              </a:ext>
            </a:extLst>
          </p:cNvPr>
          <p:cNvSpPr>
            <a:spLocks noGrp="1"/>
          </p:cNvSpPr>
          <p:nvPr/>
        </p:nvSpPr>
        <p:spPr>
          <a:xfrm>
            <a:off x="876300" y="3381375"/>
            <a:ext cx="10001250" cy="38100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C5B802B-1E72-4239-9861-4712845C3CDC}"/>
              </a:ext>
            </a:extLst>
          </p:cNvPr>
          <p:cNvSpPr>
            <a:spLocks noGrp="1"/>
          </p:cNvSpPr>
          <p:nvPr/>
        </p:nvSpPr>
        <p:spPr>
          <a:xfrm>
            <a:off x="1000125" y="3257550"/>
            <a:ext cx="285750" cy="285750"/>
          </a:xfrm>
          <a:prstGeom prst="ellipse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0942F2-8FF7-4FE0-9AAC-EC8221B0A86B}"/>
              </a:ext>
            </a:extLst>
          </p:cNvPr>
          <p:cNvSpPr>
            <a:spLocks noGrp="1"/>
          </p:cNvSpPr>
          <p:nvPr/>
        </p:nvSpPr>
        <p:spPr>
          <a:xfrm>
            <a:off x="266700" y="1885950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INICIO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972F85-A11E-4719-9AAC-A610B0016819}"/>
              </a:ext>
            </a:extLst>
          </p:cNvPr>
          <p:cNvSpPr>
            <a:spLocks noGrp="1"/>
          </p:cNvSpPr>
          <p:nvPr/>
        </p:nvSpPr>
        <p:spPr>
          <a:xfrm>
            <a:off x="209550" y="2247900"/>
            <a:ext cx="186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Briefing email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40C828-CD77-40C2-B12C-2C598CEA92DD}"/>
              </a:ext>
            </a:extLst>
          </p:cNvPr>
          <p:cNvSpPr>
            <a:spLocks noGrp="1"/>
          </p:cNvSpPr>
          <p:nvPr/>
        </p:nvSpPr>
        <p:spPr>
          <a:xfrm>
            <a:off x="190500" y="3733800"/>
            <a:ext cx="190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Pendientes, reuniones y bloques sugeridos.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F213A34-6CFF-4A82-9016-D9FCB8CEA4CE}"/>
              </a:ext>
            </a:extLst>
          </p:cNvPr>
          <p:cNvSpPr>
            <a:spLocks noGrp="1"/>
          </p:cNvSpPr>
          <p:nvPr/>
        </p:nvSpPr>
        <p:spPr>
          <a:xfrm>
            <a:off x="3333750" y="3257550"/>
            <a:ext cx="285750" cy="28575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6B3C41-F9E2-4425-8E03-CC0DD2EDA5CB}"/>
              </a:ext>
            </a:extLst>
          </p:cNvPr>
          <p:cNvSpPr>
            <a:spLocks noGrp="1"/>
          </p:cNvSpPr>
          <p:nvPr/>
        </p:nvSpPr>
        <p:spPr>
          <a:xfrm>
            <a:off x="2600325" y="1885950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DURANTE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F8701B-61D2-4EB8-8A9D-08D5FE658184}"/>
              </a:ext>
            </a:extLst>
          </p:cNvPr>
          <p:cNvSpPr>
            <a:spLocks noGrp="1"/>
          </p:cNvSpPr>
          <p:nvPr/>
        </p:nvSpPr>
        <p:spPr>
          <a:xfrm>
            <a:off x="2543175" y="2247900"/>
            <a:ext cx="186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Teams / web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C055BC-A49F-4A26-A5A3-7B2D7AC58005}"/>
              </a:ext>
            </a:extLst>
          </p:cNvPr>
          <p:cNvSpPr>
            <a:spLocks noGrp="1"/>
          </p:cNvSpPr>
          <p:nvPr/>
        </p:nvSpPr>
        <p:spPr>
          <a:xfrm>
            <a:off x="2524125" y="3733800"/>
            <a:ext cx="190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Conexiones, foco, Headspace y commute.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1C80452-95F6-47AF-87C3-4AE44A6B9012}"/>
              </a:ext>
            </a:extLst>
          </p:cNvPr>
          <p:cNvSpPr>
            <a:spLocks noGrp="1"/>
          </p:cNvSpPr>
          <p:nvPr/>
        </p:nvSpPr>
        <p:spPr>
          <a:xfrm>
            <a:off x="5762625" y="3257550"/>
            <a:ext cx="285750" cy="285750"/>
          </a:xfrm>
          <a:prstGeom prst="ellipse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A292FA-4BBC-46F0-A91A-47D2423F2B18}"/>
              </a:ext>
            </a:extLst>
          </p:cNvPr>
          <p:cNvSpPr>
            <a:spLocks noGrp="1"/>
          </p:cNvSpPr>
          <p:nvPr/>
        </p:nvSpPr>
        <p:spPr>
          <a:xfrm>
            <a:off x="5029200" y="1885950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EN CONTEXTO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B9ACBE-765F-432E-B0EE-6EFE2F8B57F9}"/>
              </a:ext>
            </a:extLst>
          </p:cNvPr>
          <p:cNvSpPr>
            <a:spLocks noGrp="1"/>
          </p:cNvSpPr>
          <p:nvPr/>
        </p:nvSpPr>
        <p:spPr>
          <a:xfrm>
            <a:off x="4972050" y="2247900"/>
            <a:ext cx="186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Outlook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F3AF10-0965-4A43-8FE9-38239F70EB83}"/>
              </a:ext>
            </a:extLst>
          </p:cNvPr>
          <p:cNvSpPr>
            <a:spLocks noGrp="1"/>
          </p:cNvSpPr>
          <p:nvPr/>
        </p:nvSpPr>
        <p:spPr>
          <a:xfrm>
            <a:off x="4953000" y="3733800"/>
            <a:ext cx="190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Preparación, concentración y tiempo fuera.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5C62734-87D4-4F7E-A703-5B6035AEAE3A}"/>
              </a:ext>
            </a:extLst>
          </p:cNvPr>
          <p:cNvSpPr>
            <a:spLocks noGrp="1"/>
          </p:cNvSpPr>
          <p:nvPr/>
        </p:nvSpPr>
        <p:spPr>
          <a:xfrm>
            <a:off x="8286750" y="3257550"/>
            <a:ext cx="285750" cy="28575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E499F3-AFC1-47B4-ACC6-6EA9E61D3374}"/>
              </a:ext>
            </a:extLst>
          </p:cNvPr>
          <p:cNvSpPr>
            <a:spLocks noGrp="1"/>
          </p:cNvSpPr>
          <p:nvPr/>
        </p:nvSpPr>
        <p:spPr>
          <a:xfrm>
            <a:off x="7553325" y="1885950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EN EL MOMENTO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315D35-7ECB-4DD8-8A3E-9B65AB0D60F8}"/>
              </a:ext>
            </a:extLst>
          </p:cNvPr>
          <p:cNvSpPr>
            <a:spLocks noGrp="1"/>
          </p:cNvSpPr>
          <p:nvPr/>
        </p:nvSpPr>
        <p:spPr>
          <a:xfrm>
            <a:off x="7496175" y="2247900"/>
            <a:ext cx="186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Inline suggestions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FD42DF-FD50-4ABE-BAD0-6503C8F49FF7}"/>
              </a:ext>
            </a:extLst>
          </p:cNvPr>
          <p:cNvSpPr>
            <a:spLocks noGrp="1"/>
          </p:cNvSpPr>
          <p:nvPr/>
        </p:nvSpPr>
        <p:spPr>
          <a:xfrm>
            <a:off x="7477125" y="3733800"/>
            <a:ext cx="190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Recomendaciones al leer o redactar.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3BEDA03-8AAB-42BC-815C-05C796356E94}"/>
              </a:ext>
            </a:extLst>
          </p:cNvPr>
          <p:cNvSpPr>
            <a:spLocks noGrp="1"/>
          </p:cNvSpPr>
          <p:nvPr/>
        </p:nvSpPr>
        <p:spPr>
          <a:xfrm>
            <a:off x="10477500" y="3257550"/>
            <a:ext cx="285750" cy="285750"/>
          </a:xfrm>
          <a:prstGeom prst="ellipse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1BFFDE-5031-4C82-A593-E1BF6CC77E49}"/>
              </a:ext>
            </a:extLst>
          </p:cNvPr>
          <p:cNvSpPr>
            <a:spLocks noGrp="1"/>
          </p:cNvSpPr>
          <p:nvPr/>
        </p:nvSpPr>
        <p:spPr>
          <a:xfrm>
            <a:off x="9744075" y="1885950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PERIÓDICO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899C6D-16C3-444F-BDB2-AE2E445F993B}"/>
              </a:ext>
            </a:extLst>
          </p:cNvPr>
          <p:cNvSpPr>
            <a:spLocks noGrp="1"/>
          </p:cNvSpPr>
          <p:nvPr/>
        </p:nvSpPr>
        <p:spPr>
          <a:xfrm>
            <a:off x="9686925" y="2247900"/>
            <a:ext cx="186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Digests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4894E6-5807-493D-9AD7-1AE340F2C6E5}"/>
              </a:ext>
            </a:extLst>
          </p:cNvPr>
          <p:cNvSpPr>
            <a:spLocks noGrp="1"/>
          </p:cNvSpPr>
          <p:nvPr/>
        </p:nvSpPr>
        <p:spPr>
          <a:xfrm>
            <a:off x="9667875" y="3733800"/>
            <a:ext cx="190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Patrones de trabajo y mejoras sugeridas.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4C9AE0-6CE9-4FCC-B110-7C5165F5683B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876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El briefing llega dentro de las dos horas del inicio de la jornada configurada.</a:t>
            </a:r>
          </a:p>
        </p:txBody>
      </p:sp>
    </p:spTree>
    <p:extLst>
      <p:ext uri="{BB962C8B-B14F-4D97-AF65-F5344CB8AC3E}">
        <p14:creationId xmlns:p14="http://schemas.microsoft.com/office/powerpoint/2010/main" val="6319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6825700-CBB7-47BC-AB70-92A79C485CD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PERSONAL INSIGHTS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E61211-C15B-4050-AD89-8EE7AFE70DC3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57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Personal insights usa datos que el usuario ya posee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60B91F-2EEF-4BA9-B59F-FB66FFD46942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70C36B-4ABB-4F15-8E44-E4DD37CBB532}"/>
              </a:ext>
            </a:extLst>
          </p:cNvPr>
          <p:cNvSpPr>
            <a:spLocks noGrp="1"/>
          </p:cNvSpPr>
          <p:nvPr/>
        </p:nvSpPr>
        <p:spPr>
          <a:xfrm>
            <a:off x="647700" y="1619250"/>
            <a:ext cx="68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FA638-94CE-4865-B403-E2501DAF1E08}"/>
              </a:ext>
            </a:extLst>
          </p:cNvPr>
          <p:cNvSpPr>
            <a:spLocks noGrp="1"/>
          </p:cNvSpPr>
          <p:nvPr/>
        </p:nvSpPr>
        <p:spPr>
          <a:xfrm>
            <a:off x="1381125" y="16383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CORREO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8F75B-226F-4497-A742-23E3BAF74433}"/>
              </a:ext>
            </a:extLst>
          </p:cNvPr>
          <p:cNvSpPr>
            <a:spLocks noGrp="1"/>
          </p:cNvSpPr>
          <p:nvPr/>
        </p:nvSpPr>
        <p:spPr>
          <a:xfrm>
            <a:off x="3952875" y="1619250"/>
            <a:ext cx="6858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Marcas de tiempo, remitentes, destinatarios, lectura y tareas detectadas.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F55ADC-6037-4590-BB13-E9D9473238B8}"/>
              </a:ext>
            </a:extLst>
          </p:cNvPr>
          <p:cNvSpPr>
            <a:spLocks noGrp="1"/>
          </p:cNvSpPr>
          <p:nvPr/>
        </p:nvSpPr>
        <p:spPr>
          <a:xfrm>
            <a:off x="1381125" y="2171700"/>
            <a:ext cx="9429750" cy="9525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800810-C03F-4844-9E54-FF21F1E64B9D}"/>
              </a:ext>
            </a:extLst>
          </p:cNvPr>
          <p:cNvSpPr>
            <a:spLocks noGrp="1"/>
          </p:cNvSpPr>
          <p:nvPr/>
        </p:nvSpPr>
        <p:spPr>
          <a:xfrm>
            <a:off x="647700" y="2505075"/>
            <a:ext cx="68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BCDE1E-9DF7-4354-9C8C-394A21709205}"/>
              </a:ext>
            </a:extLst>
          </p:cNvPr>
          <p:cNvSpPr>
            <a:spLocks noGrp="1"/>
          </p:cNvSpPr>
          <p:nvPr/>
        </p:nvSpPr>
        <p:spPr>
          <a:xfrm>
            <a:off x="1381125" y="252412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CALENDARIO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92CA3D-26BD-4852-81A7-CC0B7121AA6D}"/>
              </a:ext>
            </a:extLst>
          </p:cNvPr>
          <p:cNvSpPr>
            <a:spLocks noGrp="1"/>
          </p:cNvSpPr>
          <p:nvPr/>
        </p:nvSpPr>
        <p:spPr>
          <a:xfrm>
            <a:off x="3952875" y="2505075"/>
            <a:ext cx="6858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Tipo, estado, categoría, asunto, duración y asistentes.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6972E3-2296-4955-9A94-538976D757BE}"/>
              </a:ext>
            </a:extLst>
          </p:cNvPr>
          <p:cNvSpPr>
            <a:spLocks noGrp="1"/>
          </p:cNvSpPr>
          <p:nvPr/>
        </p:nvSpPr>
        <p:spPr>
          <a:xfrm>
            <a:off x="1381125" y="3057525"/>
            <a:ext cx="9429750" cy="9525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9E7E5E-9F49-46D4-974D-9410373735D5}"/>
              </a:ext>
            </a:extLst>
          </p:cNvPr>
          <p:cNvSpPr>
            <a:spLocks noGrp="1"/>
          </p:cNvSpPr>
          <p:nvPr/>
        </p:nvSpPr>
        <p:spPr>
          <a:xfrm>
            <a:off x="647700" y="3390900"/>
            <a:ext cx="68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21F9EA-341C-4A2C-815C-3910B15E2A02}"/>
              </a:ext>
            </a:extLst>
          </p:cNvPr>
          <p:cNvSpPr>
            <a:spLocks noGrp="1"/>
          </p:cNvSpPr>
          <p:nvPr/>
        </p:nvSpPr>
        <p:spPr>
          <a:xfrm>
            <a:off x="1381125" y="34099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TEAMS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5E5446-636E-4123-9BB4-3123AB8E68FD}"/>
              </a:ext>
            </a:extLst>
          </p:cNvPr>
          <p:cNvSpPr>
            <a:spLocks noGrp="1"/>
          </p:cNvSpPr>
          <p:nvPr/>
        </p:nvSpPr>
        <p:spPr>
          <a:xfrm>
            <a:off x="3952875" y="3390900"/>
            <a:ext cx="6858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Llamadas de audio, video y chats como actividad de colaboración.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4FD3EE-FDE4-4450-83A8-4882AE0C9E8E}"/>
              </a:ext>
            </a:extLst>
          </p:cNvPr>
          <p:cNvSpPr>
            <a:spLocks noGrp="1"/>
          </p:cNvSpPr>
          <p:nvPr/>
        </p:nvSpPr>
        <p:spPr>
          <a:xfrm>
            <a:off x="1381125" y="3943350"/>
            <a:ext cx="9429750" cy="9525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FEAE61-F022-47B9-8202-1A50746D41FF}"/>
              </a:ext>
            </a:extLst>
          </p:cNvPr>
          <p:cNvSpPr>
            <a:spLocks noGrp="1"/>
          </p:cNvSpPr>
          <p:nvPr/>
        </p:nvSpPr>
        <p:spPr>
          <a:xfrm>
            <a:off x="647700" y="4276725"/>
            <a:ext cx="68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487D04-7D0F-4AFF-94B1-997356792CAC}"/>
              </a:ext>
            </a:extLst>
          </p:cNvPr>
          <p:cNvSpPr>
            <a:spLocks noGrp="1"/>
          </p:cNvSpPr>
          <p:nvPr/>
        </p:nvSpPr>
        <p:spPr>
          <a:xfrm>
            <a:off x="1381125" y="429577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ONEDRIVE + SHAREPOINT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08479B-1DC2-4783-A611-E77E12204857}"/>
              </a:ext>
            </a:extLst>
          </p:cNvPr>
          <p:cNvSpPr>
            <a:spLocks noGrp="1"/>
          </p:cNvSpPr>
          <p:nvPr/>
        </p:nvSpPr>
        <p:spPr>
          <a:xfrm>
            <a:off x="3952875" y="4276725"/>
            <a:ext cx="6858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Cantidad de documentos en los que se trabajó.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859009-FA47-404B-BA1C-B0B6C71C1273}"/>
              </a:ext>
            </a:extLst>
          </p:cNvPr>
          <p:cNvSpPr>
            <a:spLocks noGrp="1"/>
          </p:cNvSpPr>
          <p:nvPr/>
        </p:nvSpPr>
        <p:spPr>
          <a:xfrm>
            <a:off x="1381125" y="4829175"/>
            <a:ext cx="9429750" cy="9525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5FEAFF-804D-43A9-9EAD-2D7677C3B5B1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0839450" cy="762000"/>
          </a:xfrm>
          <a:prstGeom prst="rect">
            <a:avLst/>
          </a:prstGeom>
          <a:solidFill>
            <a:srgbClr val="EEEAFE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9C55DB-7826-4055-92F7-72FC577D3CF7}"/>
              </a:ext>
            </a:extLst>
          </p:cNvPr>
          <p:cNvSpPr>
            <a:spLocks noGrp="1"/>
          </p:cNvSpPr>
          <p:nvPr/>
        </p:nvSpPr>
        <p:spPr>
          <a:xfrm>
            <a:off x="800100" y="55435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PRIVACIDAD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0798BD-98EA-476E-8B86-8AC80F931AB3}"/>
              </a:ext>
            </a:extLst>
          </p:cNvPr>
          <p:cNvSpPr>
            <a:spLocks noGrp="1"/>
          </p:cNvSpPr>
          <p:nvPr/>
        </p:nvSpPr>
        <p:spPr>
          <a:xfrm>
            <a:off x="2324100" y="5457825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El manager y el administrador no ven los datos personales · no hay software de seguimiento en el equipo · los datos permanecen protegidos como correo y calendario.</a:t>
            </a:r>
          </a:p>
        </p:txBody>
      </p:sp>
    </p:spTree>
    <p:extLst>
      <p:ext uri="{BB962C8B-B14F-4D97-AF65-F5344CB8AC3E}">
        <p14:creationId xmlns:p14="http://schemas.microsoft.com/office/powerpoint/2010/main" val="332763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6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B99063B-9697-4063-ADFF-309CB7CF32C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rPr>
              <a:t>TEAM INSIGHTS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5CC9AE-A36B-4616-86FB-D135B5456280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57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Team insights mejora normas sin exponer individuos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174250-732E-4C71-A5AD-7091F8FC7AE4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F0DBB7-4DE9-47F7-A03E-3EED5DB46AC4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 que sí hace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94293D6-47C4-476D-AD01-0C7B3D5DCFB2}"/>
              </a:ext>
            </a:extLst>
          </p:cNvPr>
          <p:cNvSpPr>
            <a:spLocks noGrp="1"/>
          </p:cNvSpPr>
          <p:nvPr/>
        </p:nvSpPr>
        <p:spPr>
          <a:xfrm>
            <a:off x="723900" y="2352675"/>
            <a:ext cx="76200" cy="762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1DF9A7-7C95-4525-8787-6E143F2685A5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4333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Usa la actividad de la cuenta del manager.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C1372B-403F-4FDA-AC42-F2D9D4AE6181}"/>
              </a:ext>
            </a:extLst>
          </p:cNvPr>
          <p:cNvSpPr>
            <a:spLocks noGrp="1"/>
          </p:cNvSpPr>
          <p:nvPr/>
        </p:nvSpPr>
        <p:spPr>
          <a:xfrm>
            <a:off x="723900" y="2943225"/>
            <a:ext cx="76200" cy="762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36112-E486-428A-9275-4DAD4BDFEE91}"/>
              </a:ext>
            </a:extLst>
          </p:cNvPr>
          <p:cNvSpPr>
            <a:spLocks noGrp="1"/>
          </p:cNvSpPr>
          <p:nvPr/>
        </p:nvSpPr>
        <p:spPr>
          <a:xfrm>
            <a:off x="914400" y="2876550"/>
            <a:ext cx="4333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Observa hábitos de reuniones del equipo.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CD45FFD-6326-4E2A-ADBD-AA507889D9C3}"/>
              </a:ext>
            </a:extLst>
          </p:cNvPr>
          <p:cNvSpPr>
            <a:spLocks noGrp="1"/>
          </p:cNvSpPr>
          <p:nvPr/>
        </p:nvSpPr>
        <p:spPr>
          <a:xfrm>
            <a:off x="723900" y="3533775"/>
            <a:ext cx="76200" cy="762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69B851-7248-4B3E-9D45-CFED0F44C0D8}"/>
              </a:ext>
            </a:extLst>
          </p:cNvPr>
          <p:cNvSpPr>
            <a:spLocks noGrp="1"/>
          </p:cNvSpPr>
          <p:nvPr/>
        </p:nvSpPr>
        <p:spPr>
          <a:xfrm>
            <a:off x="914400" y="3467100"/>
            <a:ext cx="4333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Sugiere acciones y planes compartidos.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00A59E-26FD-4920-B00B-93E41918795E}"/>
              </a:ext>
            </a:extLst>
          </p:cNvPr>
          <p:cNvSpPr>
            <a:spLocks noGrp="1"/>
          </p:cNvSpPr>
          <p:nvPr/>
        </p:nvSpPr>
        <p:spPr>
          <a:xfrm>
            <a:off x="5905500" y="1638300"/>
            <a:ext cx="19050" cy="3429000"/>
          </a:xfrm>
          <a:prstGeom prst="rect">
            <a:avLst/>
          </a:prstGeom>
          <a:solidFill>
            <a:srgbClr val="E9F7F8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C67CF3-15A8-4232-B4CF-D18EB207E581}"/>
              </a:ext>
            </a:extLst>
          </p:cNvPr>
          <p:cNvSpPr>
            <a:spLocks noGrp="1"/>
          </p:cNvSpPr>
          <p:nvPr/>
        </p:nvSpPr>
        <p:spPr>
          <a:xfrm>
            <a:off x="6477000" y="163830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 que no hace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F8BC92-3FD1-4B80-82C0-02D07EA39EAF}"/>
              </a:ext>
            </a:extLst>
          </p:cNvPr>
          <p:cNvSpPr>
            <a:spLocks noGrp="1"/>
          </p:cNvSpPr>
          <p:nvPr/>
        </p:nvSpPr>
        <p:spPr>
          <a:xfrm>
            <a:off x="6534150" y="2352675"/>
            <a:ext cx="76200" cy="762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BC680A-AA03-4792-9BA7-4FB2BC417ADB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 muestra hábitos individuales de colaboración.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C3B6E1F-8D99-4E2E-B7E3-A1386CE6F39E}"/>
              </a:ext>
            </a:extLst>
          </p:cNvPr>
          <p:cNvSpPr>
            <a:spLocks noGrp="1"/>
          </p:cNvSpPr>
          <p:nvPr/>
        </p:nvSpPr>
        <p:spPr>
          <a:xfrm>
            <a:off x="6534150" y="2943225"/>
            <a:ext cx="76200" cy="762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CF3E80-CDF6-465A-A71A-6DE258310D6D}"/>
              </a:ext>
            </a:extLst>
          </p:cNvPr>
          <p:cNvSpPr>
            <a:spLocks noGrp="1"/>
          </p:cNvSpPr>
          <p:nvPr/>
        </p:nvSpPr>
        <p:spPr>
          <a:xfrm>
            <a:off x="6724650" y="287655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 permite editar manualmente los miembros.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356EE1C-8F00-4D04-BF99-B30AA0DF4281}"/>
              </a:ext>
            </a:extLst>
          </p:cNvPr>
          <p:cNvSpPr>
            <a:spLocks noGrp="1"/>
          </p:cNvSpPr>
          <p:nvPr/>
        </p:nvSpPr>
        <p:spPr>
          <a:xfrm>
            <a:off x="6534150" y="3533775"/>
            <a:ext cx="76200" cy="762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9F1976-8971-4FC7-B310-94AB18491202}"/>
              </a:ext>
            </a:extLst>
          </p:cNvPr>
          <p:cNvSpPr>
            <a:spLocks noGrp="1"/>
          </p:cNvSpPr>
          <p:nvPr/>
        </p:nvSpPr>
        <p:spPr>
          <a:xfrm>
            <a:off x="6724650" y="346710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 reemplaza la gestión responsable del equipo.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EF5B22-8BF2-44F3-BC9C-EDECECA3E272}"/>
              </a:ext>
            </a:extLst>
          </p:cNvPr>
          <p:cNvSpPr>
            <a:spLocks noGrp="1"/>
          </p:cNvSpPr>
          <p:nvPr/>
        </p:nvSpPr>
        <p:spPr>
          <a:xfrm>
            <a:off x="666750" y="5676900"/>
            <a:ext cx="1038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Funciones: Praise · Protect time · Reflect · Stay connected · Virtual commute</a:t>
            </a:r>
          </a:p>
        </p:txBody>
      </p:sp>
    </p:spTree>
    <p:extLst>
      <p:ext uri="{BB962C8B-B14F-4D97-AF65-F5344CB8AC3E}">
        <p14:creationId xmlns:p14="http://schemas.microsoft.com/office/powerpoint/2010/main" val="998629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B588F9F-5336-4B82-8288-1E19E071DD9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TEAM INSIGHTS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A282F9-5F5C-4DB4-9F26-216952B4A86E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57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El equipo se construye desde la jerarquía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61759B-3244-4044-93F0-4AB94B6973AE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BE550349-DF02-4358-98DF-6FF3C42C2BEE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2419350" cy="1143000"/>
          </a:xfrm>
          <a:prstGeom prst="chevron">
            <a:avLst/>
          </a:prstGeom>
          <a:solidFill>
            <a:srgbClr val="EEEAFE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7C634-589F-4A8A-B2CD-4E51CBB92893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FUENTE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10F43D-6B21-40A0-A988-70EAC6D8CD16}"/>
              </a:ext>
            </a:extLst>
          </p:cNvPr>
          <p:cNvSpPr>
            <a:spLocks noGrp="1"/>
          </p:cNvSpPr>
          <p:nvPr/>
        </p:nvSpPr>
        <p:spPr>
          <a:xfrm>
            <a:off x="876300" y="2590800"/>
            <a:ext cx="1762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Microsoft Entra ID</a:t>
            </a:r>
          </a:p>
          <a:p>
            <a:pPr algn="l">
              <a:def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o archivo de HR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69C73D8F-0B54-41A4-8155-FD9F7388C8E3}"/>
              </a:ext>
            </a:extLst>
          </p:cNvPr>
          <p:cNvSpPr>
            <a:spLocks noGrp="1"/>
          </p:cNvSpPr>
          <p:nvPr/>
        </p:nvSpPr>
        <p:spPr>
          <a:xfrm>
            <a:off x="3524250" y="2076450"/>
            <a:ext cx="2419350" cy="1143000"/>
          </a:xfrm>
          <a:prstGeom prst="chevron">
            <a:avLst/>
          </a:prstGeom>
          <a:solidFill>
            <a:srgbClr val="E9F7F8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76CD58-7296-400E-ADB1-F4714D5F9796}"/>
              </a:ext>
            </a:extLst>
          </p:cNvPr>
          <p:cNvSpPr>
            <a:spLocks noGrp="1"/>
          </p:cNvSpPr>
          <p:nvPr/>
        </p:nvSpPr>
        <p:spPr>
          <a:xfrm>
            <a:off x="3733800" y="22669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REGLA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715030-2283-42EC-BD44-4104E05FFEB8}"/>
              </a:ext>
            </a:extLst>
          </p:cNvPr>
          <p:cNvSpPr>
            <a:spLocks noGrp="1"/>
          </p:cNvSpPr>
          <p:nvPr/>
        </p:nvSpPr>
        <p:spPr>
          <a:xfrm>
            <a:off x="3733800" y="2590800"/>
            <a:ext cx="1762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Solo reportes</a:t>
            </a:r>
          </a:p>
          <a:p>
            <a:pPr algn="l">
              <a:def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directos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BEFBCDE7-1304-4C53-9935-40AE4910A492}"/>
              </a:ext>
            </a:extLst>
          </p:cNvPr>
          <p:cNvSpPr>
            <a:spLocks noGrp="1"/>
          </p:cNvSpPr>
          <p:nvPr/>
        </p:nvSpPr>
        <p:spPr>
          <a:xfrm>
            <a:off x="6381750" y="2076450"/>
            <a:ext cx="2419350" cy="1143000"/>
          </a:xfrm>
          <a:prstGeom prst="chevron">
            <a:avLst/>
          </a:prstGeom>
          <a:solidFill>
            <a:srgbClr val="EEEAFE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A1401E-22B7-4650-9D80-9B3BEC07405F}"/>
              </a:ext>
            </a:extLst>
          </p:cNvPr>
          <p:cNvSpPr>
            <a:spLocks noGrp="1"/>
          </p:cNvSpPr>
          <p:nvPr/>
        </p:nvSpPr>
        <p:spPr>
          <a:xfrm>
            <a:off x="6591300" y="22669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CONDICIÓN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051DE8-37E3-45F6-8B79-76DF12A99FDD}"/>
              </a:ext>
            </a:extLst>
          </p:cNvPr>
          <p:cNvSpPr>
            <a:spLocks noGrp="1"/>
          </p:cNvSpPr>
          <p:nvPr/>
        </p:nvSpPr>
        <p:spPr>
          <a:xfrm>
            <a:off x="6591300" y="2590800"/>
            <a:ext cx="1762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Al menos un</a:t>
            </a:r>
          </a:p>
          <a:p>
            <a:pPr algn="l">
              <a:def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reporte directo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BAA05EC3-6E2C-4F0C-88C5-8859C77407C0}"/>
              </a:ext>
            </a:extLst>
          </p:cNvPr>
          <p:cNvSpPr>
            <a:spLocks noGrp="1"/>
          </p:cNvSpPr>
          <p:nvPr/>
        </p:nvSpPr>
        <p:spPr>
          <a:xfrm>
            <a:off x="9239250" y="2076450"/>
            <a:ext cx="2419350" cy="1143000"/>
          </a:xfrm>
          <a:prstGeom prst="chevron">
            <a:avLst/>
          </a:prstGeom>
          <a:solidFill>
            <a:srgbClr val="E9F7F8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E71945-5F85-4791-8843-F469FAAD5321}"/>
              </a:ext>
            </a:extLst>
          </p:cNvPr>
          <p:cNvSpPr>
            <a:spLocks noGrp="1"/>
          </p:cNvSpPr>
          <p:nvPr/>
        </p:nvSpPr>
        <p:spPr>
          <a:xfrm>
            <a:off x="9448800" y="22669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REFRESCO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0279CB-5F8D-469F-ADBB-F2E279CEB9AC}"/>
              </a:ext>
            </a:extLst>
          </p:cNvPr>
          <p:cNvSpPr>
            <a:spLocks noGrp="1"/>
          </p:cNvSpPr>
          <p:nvPr/>
        </p:nvSpPr>
        <p:spPr>
          <a:xfrm>
            <a:off x="9448800" y="2590800"/>
            <a:ext cx="1762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Cambios visibles</a:t>
            </a:r>
          </a:p>
          <a:p>
            <a:pPr algn="l">
              <a:def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la semana siguiente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B9BE74-42D7-4732-A675-6FB247FD745D}"/>
              </a:ext>
            </a:extLst>
          </p:cNvPr>
          <p:cNvSpPr>
            <a:spLocks noGrp="1"/>
          </p:cNvSpPr>
          <p:nvPr/>
        </p:nvSpPr>
        <p:spPr>
          <a:xfrm>
            <a:off x="685800" y="3771900"/>
            <a:ext cx="1019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Sin datos jerárquicos actualizados, Team insights pierde alcance o muestra una estructura desfasada.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2A5048B-5B90-45A1-8D76-89260A7A1AAF}"/>
              </a:ext>
            </a:extLst>
          </p:cNvPr>
          <p:cNvSpPr>
            <a:spLocks noGrp="1"/>
          </p:cNvSpPr>
          <p:nvPr/>
        </p:nvSpPr>
        <p:spPr>
          <a:xfrm>
            <a:off x="685800" y="4829175"/>
            <a:ext cx="76200" cy="762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EDE0C-E6F6-4E4E-8B87-606214AC3948}"/>
              </a:ext>
            </a:extLst>
          </p:cNvPr>
          <p:cNvSpPr>
            <a:spLocks noGrp="1"/>
          </p:cNvSpPr>
          <p:nvPr/>
        </p:nvSpPr>
        <p:spPr>
          <a:xfrm>
            <a:off x="876300" y="4762500"/>
            <a:ext cx="1009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Entra ID o HR deben mantenerse al día.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7FEB12D-6684-4EAE-8AA4-B2387BF76FD8}"/>
              </a:ext>
            </a:extLst>
          </p:cNvPr>
          <p:cNvSpPr>
            <a:spLocks noGrp="1"/>
          </p:cNvSpPr>
          <p:nvPr/>
        </p:nvSpPr>
        <p:spPr>
          <a:xfrm>
            <a:off x="685800" y="5229225"/>
            <a:ext cx="76200" cy="762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440E3D-BECB-4957-B31A-1A613AD9DCDA}"/>
              </a:ext>
            </a:extLst>
          </p:cNvPr>
          <p:cNvSpPr>
            <a:spLocks noGrp="1"/>
          </p:cNvSpPr>
          <p:nvPr/>
        </p:nvSpPr>
        <p:spPr>
          <a:xfrm>
            <a:off x="876300" y="5162550"/>
            <a:ext cx="1009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Los miembros no pueden editarse manualmente.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89EA173-1EE2-4F48-BF09-C873353A75A1}"/>
              </a:ext>
            </a:extLst>
          </p:cNvPr>
          <p:cNvSpPr>
            <a:spLocks noGrp="1"/>
          </p:cNvSpPr>
          <p:nvPr/>
        </p:nvSpPr>
        <p:spPr>
          <a:xfrm>
            <a:off x="685800" y="5629275"/>
            <a:ext cx="76200" cy="762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27CD88-260E-477A-AD1D-9F259EA6CC60}"/>
              </a:ext>
            </a:extLst>
          </p:cNvPr>
          <p:cNvSpPr>
            <a:spLocks noGrp="1"/>
          </p:cNvSpPr>
          <p:nvPr/>
        </p:nvSpPr>
        <p:spPr>
          <a:xfrm>
            <a:off x="876300" y="5562600"/>
            <a:ext cx="1009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La aplicación puede fijarse en Teams de escritorio, web y móvil.</a:t>
            </a:r>
          </a:p>
        </p:txBody>
      </p:sp>
    </p:spTree>
    <p:extLst>
      <p:ext uri="{BB962C8B-B14F-4D97-AF65-F5344CB8AC3E}">
        <p14:creationId xmlns:p14="http://schemas.microsoft.com/office/powerpoint/2010/main" val="1322751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9785D80-E047-4E27-BFFE-1570FB12FDB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TEAM INSIGHTS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B95225-9B9B-473A-82F4-AAA0DE16F13A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57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Los hábitos del manager pueden amplificarse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DEBD94-1450-4724-8E8B-FE136F282233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D82123-748D-411F-BFD9-90852E85BF3C}"/>
              </a:ext>
            </a:extLst>
          </p:cNvPr>
          <p:cNvSpPr>
            <a:spLocks noGrp="1"/>
          </p:cNvSpPr>
          <p:nvPr/>
        </p:nvSpPr>
        <p:spPr>
          <a:xfrm>
            <a:off x="647700" y="1581150"/>
            <a:ext cx="3905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630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630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&gt;2×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9B3C36-66F2-4764-BEAC-BC7503E2A25E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4095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probabilidad de que el equipo también haga multitarea cuando el manager la practica en reuniones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0C5719-4343-4813-9EDB-F7C1E63CB530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Dato citado en el material: estudio de Microsoft.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74DD99-257D-4400-95C7-6C3193EBECF6}"/>
              </a:ext>
            </a:extLst>
          </p:cNvPr>
          <p:cNvSpPr>
            <a:spLocks noGrp="1"/>
          </p:cNvSpPr>
          <p:nvPr/>
        </p:nvSpPr>
        <p:spPr>
          <a:xfrm>
            <a:off x="5143500" y="1581150"/>
            <a:ext cx="19050" cy="3733800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6D5423-2680-4AEB-AF09-A57D6329319B}"/>
              </a:ext>
            </a:extLst>
          </p:cNvPr>
          <p:cNvSpPr>
            <a:spLocks noGrp="1"/>
          </p:cNvSpPr>
          <p:nvPr/>
        </p:nvSpPr>
        <p:spPr>
          <a:xfrm>
            <a:off x="5619750" y="1619250"/>
            <a:ext cx="571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Convertir insight en norma compartida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2C0708-AA54-40B1-AD9C-3363104B8B84}"/>
              </a:ext>
            </a:extLst>
          </p:cNvPr>
          <p:cNvSpPr>
            <a:spLocks noGrp="1"/>
          </p:cNvSpPr>
          <p:nvPr/>
        </p:nvSpPr>
        <p:spPr>
          <a:xfrm>
            <a:off x="5619750" y="2457450"/>
            <a:ext cx="114300" cy="876300"/>
          </a:xfrm>
          <a:prstGeom prst="rect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B49CEC-2D3B-42A6-AA45-20DD26584C85}"/>
              </a:ext>
            </a:extLst>
          </p:cNvPr>
          <p:cNvSpPr>
            <a:spLocks noGrp="1"/>
          </p:cNvSpPr>
          <p:nvPr/>
        </p:nvSpPr>
        <p:spPr>
          <a:xfrm>
            <a:off x="5953125" y="245745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WELLBEING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1209CE-C526-4793-8C21-8490CF24A181}"/>
              </a:ext>
            </a:extLst>
          </p:cNvPr>
          <p:cNvSpPr>
            <a:spLocks noGrp="1"/>
          </p:cNvSpPr>
          <p:nvPr/>
        </p:nvSpPr>
        <p:spPr>
          <a:xfrm>
            <a:off x="5953125" y="275272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Shared no-meeting day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759B00-D587-4F0A-87C1-10FCEA423DD5}"/>
              </a:ext>
            </a:extLst>
          </p:cNvPr>
          <p:cNvSpPr>
            <a:spLocks noGrp="1"/>
          </p:cNvSpPr>
          <p:nvPr/>
        </p:nvSpPr>
        <p:spPr>
          <a:xfrm>
            <a:off x="5953125" y="307657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Focus plans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4CE6F6-4C5B-4E37-A8FB-CAA727389991}"/>
              </a:ext>
            </a:extLst>
          </p:cNvPr>
          <p:cNvSpPr>
            <a:spLocks noGrp="1"/>
          </p:cNvSpPr>
          <p:nvPr/>
        </p:nvSpPr>
        <p:spPr>
          <a:xfrm>
            <a:off x="5619750" y="3771900"/>
            <a:ext cx="114300" cy="876300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D5E759-1EE8-4A4F-B3AC-8B3A68A4BF5C}"/>
              </a:ext>
            </a:extLst>
          </p:cNvPr>
          <p:cNvSpPr>
            <a:spLocks noGrp="1"/>
          </p:cNvSpPr>
          <p:nvPr/>
        </p:nvSpPr>
        <p:spPr>
          <a:xfrm>
            <a:off x="5953125" y="3771900"/>
            <a:ext cx="219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PRODUCTIVITY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9621C-A58F-4875-873C-A4CF2825A553}"/>
              </a:ext>
            </a:extLst>
          </p:cNvPr>
          <p:cNvSpPr>
            <a:spLocks noGrp="1"/>
          </p:cNvSpPr>
          <p:nvPr/>
        </p:nvSpPr>
        <p:spPr>
          <a:xfrm>
            <a:off x="5953125" y="406717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Shared meeting plan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16C83F-89DA-47BB-B3FE-3345FC87916C}"/>
              </a:ext>
            </a:extLst>
          </p:cNvPr>
          <p:cNvSpPr>
            <a:spLocks noGrp="1"/>
          </p:cNvSpPr>
          <p:nvPr/>
        </p:nvSpPr>
        <p:spPr>
          <a:xfrm>
            <a:off x="5953125" y="439102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Hábitos de reunión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303BA8-BC34-47E2-83C6-FE1D9461BD8F}"/>
              </a:ext>
            </a:extLst>
          </p:cNvPr>
          <p:cNvSpPr>
            <a:spLocks noGrp="1"/>
          </p:cNvSpPr>
          <p:nvPr/>
        </p:nvSpPr>
        <p:spPr>
          <a:xfrm>
            <a:off x="5619750" y="5257800"/>
            <a:ext cx="523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Team insights se activa o desactiva desde Settings &gt; Team insights &gt; Opt in / Opt out.</a:t>
            </a:r>
          </a:p>
        </p:txBody>
      </p:sp>
    </p:spTree>
    <p:extLst>
      <p:ext uri="{BB962C8B-B14F-4D97-AF65-F5344CB8AC3E}">
        <p14:creationId xmlns:p14="http://schemas.microsoft.com/office/powerpoint/2010/main" val="1873825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5D289D2-FE8A-4814-B628-93EC089ABB2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ORGANIZATION INSIGHTS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B5F01E-715B-449D-A966-E12001BE05B9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57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Organization insights requiere cuatro condiciones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680A0A-E7D6-412D-B944-3F3408D24ECF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64CE27-9D21-4D21-8534-5EC39CB5D08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495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975D48-9F50-42AF-B22B-A3C62677F6BF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LICENCIA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F5762C-B1AD-4845-986E-CCE2A6D57130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22669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Viva Insights premium para quien consulta y para la población medida.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BC238F-4558-4D87-83F3-A22035CB81E6}"/>
              </a:ext>
            </a:extLst>
          </p:cNvPr>
          <p:cNvSpPr>
            <a:spLocks noGrp="1"/>
          </p:cNvSpPr>
          <p:nvPr/>
        </p:nvSpPr>
        <p:spPr>
          <a:xfrm>
            <a:off x="3162300" y="1619250"/>
            <a:ext cx="19050" cy="3714750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2F4017-98FC-46DF-BC9F-D169B539A016}"/>
              </a:ext>
            </a:extLst>
          </p:cNvPr>
          <p:cNvSpPr>
            <a:spLocks noGrp="1"/>
          </p:cNvSpPr>
          <p:nvPr/>
        </p:nvSpPr>
        <p:spPr>
          <a:xfrm>
            <a:off x="3371850" y="1619250"/>
            <a:ext cx="495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F9DAB4-A388-457D-9E35-051E8E02FB29}"/>
              </a:ext>
            </a:extLst>
          </p:cNvPr>
          <p:cNvSpPr>
            <a:spLocks noGrp="1"/>
          </p:cNvSpPr>
          <p:nvPr/>
        </p:nvSpPr>
        <p:spPr>
          <a:xfrm>
            <a:off x="3371850" y="24574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ROL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753406-6250-4909-9057-6174763F19B5}"/>
              </a:ext>
            </a:extLst>
          </p:cNvPr>
          <p:cNvSpPr>
            <a:spLocks noGrp="1"/>
          </p:cNvSpPr>
          <p:nvPr/>
        </p:nvSpPr>
        <p:spPr>
          <a:xfrm>
            <a:off x="3371850" y="2952750"/>
            <a:ext cx="22669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Insights Business Leader o group manager habilitado.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4AF178-A903-4D54-A697-5E5378283CBE}"/>
              </a:ext>
            </a:extLst>
          </p:cNvPr>
          <p:cNvSpPr>
            <a:spLocks noGrp="1"/>
          </p:cNvSpPr>
          <p:nvPr/>
        </p:nvSpPr>
        <p:spPr>
          <a:xfrm>
            <a:off x="5924550" y="1619250"/>
            <a:ext cx="19050" cy="3714750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CB89D8-E4DA-47DE-9D6F-B5CA9D829726}"/>
              </a:ext>
            </a:extLst>
          </p:cNvPr>
          <p:cNvSpPr>
            <a:spLocks noGrp="1"/>
          </p:cNvSpPr>
          <p:nvPr/>
        </p:nvSpPr>
        <p:spPr>
          <a:xfrm>
            <a:off x="6134100" y="1619250"/>
            <a:ext cx="495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4188AC-CC59-441E-907A-69E8E959C139}"/>
              </a:ext>
            </a:extLst>
          </p:cNvPr>
          <p:cNvSpPr>
            <a:spLocks noGrp="1"/>
          </p:cNvSpPr>
          <p:nvPr/>
        </p:nvSpPr>
        <p:spPr>
          <a:xfrm>
            <a:off x="6134100" y="24574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ESCALA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982994-097B-4AAD-A968-B7875FF0BDC3}"/>
              </a:ext>
            </a:extLst>
          </p:cNvPr>
          <p:cNvSpPr>
            <a:spLocks noGrp="1"/>
          </p:cNvSpPr>
          <p:nvPr/>
        </p:nvSpPr>
        <p:spPr>
          <a:xfrm>
            <a:off x="6134100" y="2952750"/>
            <a:ext cx="22669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El grupo debe superar el tamaño mínimo configurado.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E09EB9-654B-4153-AA57-43A0F8335284}"/>
              </a:ext>
            </a:extLst>
          </p:cNvPr>
          <p:cNvSpPr>
            <a:spLocks noGrp="1"/>
          </p:cNvSpPr>
          <p:nvPr/>
        </p:nvSpPr>
        <p:spPr>
          <a:xfrm>
            <a:off x="8686800" y="1619250"/>
            <a:ext cx="19050" cy="3714750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D14445-6113-4BB0-8934-37B4165342D0}"/>
              </a:ext>
            </a:extLst>
          </p:cNvPr>
          <p:cNvSpPr>
            <a:spLocks noGrp="1"/>
          </p:cNvSpPr>
          <p:nvPr/>
        </p:nvSpPr>
        <p:spPr>
          <a:xfrm>
            <a:off x="8896350" y="1619250"/>
            <a:ext cx="495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E90FBF-33B8-4781-AE06-B6AF2F25B5DA}"/>
              </a:ext>
            </a:extLst>
          </p:cNvPr>
          <p:cNvSpPr>
            <a:spLocks noGrp="1"/>
          </p:cNvSpPr>
          <p:nvPr/>
        </p:nvSpPr>
        <p:spPr>
          <a:xfrm>
            <a:off x="8896350" y="24574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ACTIVIDAD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528D4A-56BE-4524-94B7-1BD310B34B7B}"/>
              </a:ext>
            </a:extLst>
          </p:cNvPr>
          <p:cNvSpPr>
            <a:spLocks noGrp="1"/>
          </p:cNvSpPr>
          <p:nvPr/>
        </p:nvSpPr>
        <p:spPr>
          <a:xfrm>
            <a:off x="8896350" y="2952750"/>
            <a:ext cx="22669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Usuarios activos en Outlook o Teams durante la semana.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1CFEE3-F6CC-4C0C-9006-2D44B9BA6D42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10839450" cy="552450"/>
          </a:xfrm>
          <a:prstGeom prst="rect">
            <a:avLst/>
          </a:prstGeom>
          <a:solidFill>
            <a:srgbClr val="E9F7F8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EB59C6-EC5F-4002-96F2-4694A49F29F6}"/>
              </a:ext>
            </a:extLst>
          </p:cNvPr>
          <p:cNvSpPr>
            <a:spLocks noGrp="1"/>
          </p:cNvSpPr>
          <p:nvPr/>
        </p:nvSpPr>
        <p:spPr>
          <a:xfrm>
            <a:off x="800100" y="5638800"/>
            <a:ext cx="10420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Alcance: Business Leader = empleados medidos del tenant · Group Manager = jerarquía directa e indirecta.</a:t>
            </a:r>
          </a:p>
        </p:txBody>
      </p:sp>
    </p:spTree>
    <p:extLst>
      <p:ext uri="{BB962C8B-B14F-4D97-AF65-F5344CB8AC3E}">
        <p14:creationId xmlns:p14="http://schemas.microsoft.com/office/powerpoint/2010/main" val="1667152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C2A3027-CEBE-40F7-945D-E66BF44EC58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ORGANIZATION INSIGHTS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04E4E5-2C10-4DDA-998E-FA121320E717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57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De indicador a acción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9ECADA-2EAB-42C5-A9EB-CE54276D0594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9F1F87-BF2E-4E67-BE77-F1A3BB2292DB}"/>
              </a:ext>
            </a:extLst>
          </p:cNvPr>
          <p:cNvSpPr>
            <a:spLocks noGrp="1"/>
          </p:cNvSpPr>
          <p:nvPr/>
        </p:nvSpPr>
        <p:spPr>
          <a:xfrm>
            <a:off x="647700" y="1571625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745394-576A-4EB1-8B6D-3B6F0B784325}"/>
              </a:ext>
            </a:extLst>
          </p:cNvPr>
          <p:cNvSpPr>
            <a:spLocks noGrp="1"/>
          </p:cNvSpPr>
          <p:nvPr/>
        </p:nvSpPr>
        <p:spPr>
          <a:xfrm>
            <a:off x="1381125" y="1590675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SCOPE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9C7A41-53CB-4D9F-ACC3-0D474D171FD0}"/>
              </a:ext>
            </a:extLst>
          </p:cNvPr>
          <p:cNvSpPr>
            <a:spLocks noGrp="1"/>
          </p:cNvSpPr>
          <p:nvPr/>
        </p:nvSpPr>
        <p:spPr>
          <a:xfrm>
            <a:off x="3333750" y="1571625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Elegir organización del manager o toda la empresa.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3AD7B8-48DB-4038-897C-562FCA3021B5}"/>
              </a:ext>
            </a:extLst>
          </p:cNvPr>
          <p:cNvSpPr>
            <a:spLocks noGrp="1"/>
          </p:cNvSpPr>
          <p:nvPr/>
        </p:nvSpPr>
        <p:spPr>
          <a:xfrm>
            <a:off x="876300" y="1905000"/>
            <a:ext cx="28575" cy="504825"/>
          </a:xfrm>
          <a:prstGeom prst="rect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3BEB27-98BB-4D38-A4DD-36FE58ABF22D}"/>
              </a:ext>
            </a:extLst>
          </p:cNvPr>
          <p:cNvSpPr>
            <a:spLocks noGrp="1"/>
          </p:cNvSpPr>
          <p:nvPr/>
        </p:nvSpPr>
        <p:spPr>
          <a:xfrm>
            <a:off x="647700" y="2409825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795E5A-D832-4BDF-B479-6A484819F576}"/>
              </a:ext>
            </a:extLst>
          </p:cNvPr>
          <p:cNvSpPr>
            <a:spLocks noGrp="1"/>
          </p:cNvSpPr>
          <p:nvPr/>
        </p:nvSpPr>
        <p:spPr>
          <a:xfrm>
            <a:off x="1381125" y="2428875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INDICATORS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BAFD36-DC34-4E68-8D34-CBFAF687611D}"/>
              </a:ext>
            </a:extLst>
          </p:cNvPr>
          <p:cNvSpPr>
            <a:spLocks noGrp="1"/>
          </p:cNvSpPr>
          <p:nvPr/>
        </p:nvSpPr>
        <p:spPr>
          <a:xfrm>
            <a:off x="3333750" y="2409825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Ver promedio reciente y cambio frente al período anterior.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4861D8-8D86-40A0-8B0D-4142D0AF8E78}"/>
              </a:ext>
            </a:extLst>
          </p:cNvPr>
          <p:cNvSpPr>
            <a:spLocks noGrp="1"/>
          </p:cNvSpPr>
          <p:nvPr/>
        </p:nvSpPr>
        <p:spPr>
          <a:xfrm>
            <a:off x="876300" y="2743200"/>
            <a:ext cx="28575" cy="504825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542176-F0AF-4DC0-8546-67EA403A312D}"/>
              </a:ext>
            </a:extLst>
          </p:cNvPr>
          <p:cNvSpPr>
            <a:spLocks noGrp="1"/>
          </p:cNvSpPr>
          <p:nvPr/>
        </p:nvSpPr>
        <p:spPr>
          <a:xfrm>
            <a:off x="647700" y="3248025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57764C-A47F-40A2-A85F-9D21FC3DDBF8}"/>
              </a:ext>
            </a:extLst>
          </p:cNvPr>
          <p:cNvSpPr>
            <a:spLocks noGrp="1"/>
          </p:cNvSpPr>
          <p:nvPr/>
        </p:nvSpPr>
        <p:spPr>
          <a:xfrm>
            <a:off x="1381125" y="3267075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DETAILS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D84C0C-9AC1-47EE-B2FD-7EB44B6D1CB3}"/>
              </a:ext>
            </a:extLst>
          </p:cNvPr>
          <p:cNvSpPr>
            <a:spLocks noGrp="1"/>
          </p:cNvSpPr>
          <p:nvPr/>
        </p:nvSpPr>
        <p:spPr>
          <a:xfrm>
            <a:off x="3333750" y="3248025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Abrir tendencias, pares, grupos y distribuciones.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842334-0E42-46D6-A68D-4DA632419C55}"/>
              </a:ext>
            </a:extLst>
          </p:cNvPr>
          <p:cNvSpPr>
            <a:spLocks noGrp="1"/>
          </p:cNvSpPr>
          <p:nvPr/>
        </p:nvSpPr>
        <p:spPr>
          <a:xfrm>
            <a:off x="876300" y="3581400"/>
            <a:ext cx="28575" cy="504825"/>
          </a:xfrm>
          <a:prstGeom prst="rect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5A6B53-7E2B-4BA9-89F0-57EE40F9B5CC}"/>
              </a:ext>
            </a:extLst>
          </p:cNvPr>
          <p:cNvSpPr>
            <a:spLocks noGrp="1"/>
          </p:cNvSpPr>
          <p:nvPr/>
        </p:nvSpPr>
        <p:spPr>
          <a:xfrm>
            <a:off x="647700" y="4086225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CC3EF4-B64F-4574-93B4-21D9C3EC2CC3}"/>
              </a:ext>
            </a:extLst>
          </p:cNvPr>
          <p:cNvSpPr>
            <a:spLocks noGrp="1"/>
          </p:cNvSpPr>
          <p:nvPr/>
        </p:nvSpPr>
        <p:spPr>
          <a:xfrm>
            <a:off x="1381125" y="4105275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SHARE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A5D091-0AC4-4A5A-A17E-FE9D246A1F2A}"/>
              </a:ext>
            </a:extLst>
          </p:cNvPr>
          <p:cNvSpPr>
            <a:spLocks noGrp="1"/>
          </p:cNvSpPr>
          <p:nvPr/>
        </p:nvSpPr>
        <p:spPr>
          <a:xfrm>
            <a:off x="3333750" y="4086225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Compartir captura o enlace sin transferir permisos.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3FEBC2-B61A-418F-9C4A-85125D8C5457}"/>
              </a:ext>
            </a:extLst>
          </p:cNvPr>
          <p:cNvSpPr>
            <a:spLocks noGrp="1"/>
          </p:cNvSpPr>
          <p:nvPr/>
        </p:nvSpPr>
        <p:spPr>
          <a:xfrm>
            <a:off x="876300" y="4419600"/>
            <a:ext cx="28575" cy="504825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9B8071-85BB-4E97-A4DE-3386F79E0DC5}"/>
              </a:ext>
            </a:extLst>
          </p:cNvPr>
          <p:cNvSpPr>
            <a:spLocks noGrp="1"/>
          </p:cNvSpPr>
          <p:nvPr/>
        </p:nvSpPr>
        <p:spPr>
          <a:xfrm>
            <a:off x="647700" y="4924425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360AFD-7C8C-4E05-8437-DF9DFB53C0DC}"/>
              </a:ext>
            </a:extLst>
          </p:cNvPr>
          <p:cNvSpPr>
            <a:spLocks noGrp="1"/>
          </p:cNvSpPr>
          <p:nvPr/>
        </p:nvSpPr>
        <p:spPr>
          <a:xfrm>
            <a:off x="1381125" y="4943475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PLAN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3A41CB-8445-4383-A1BF-4191E2831573}"/>
              </a:ext>
            </a:extLst>
          </p:cNvPr>
          <p:cNvSpPr>
            <a:spLocks noGrp="1"/>
          </p:cNvSpPr>
          <p:nvPr/>
        </p:nvSpPr>
        <p:spPr>
          <a:xfrm>
            <a:off x="3333750" y="4924425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Configurar una intervención sobre el comportamiento medido.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07BB9D-17EF-4550-92F0-9C410F219A45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Un enlace nunca concede acceso a los datos del remitente: cada destinatario ve su propio alcance autorizado.</a:t>
            </a:r>
          </a:p>
        </p:txBody>
      </p:sp>
    </p:spTree>
    <p:extLst>
      <p:ext uri="{BB962C8B-B14F-4D97-AF65-F5344CB8AC3E}">
        <p14:creationId xmlns:p14="http://schemas.microsoft.com/office/powerpoint/2010/main" val="2079677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1823A15-45C4-4B15-AC07-2DAAFEF95BE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ORGANIZATION INSIGHTS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9449BF-B398-42E8-8F26-C38B8D2D93DF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57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Las pestañas responden a preguntas distintas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E803A8-7AD3-44B8-BFA8-38520B56E2C4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9A17E0-DF5C-4C24-8F22-B6C86ABF8789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2286000" cy="95250"/>
          </a:xfrm>
          <a:prstGeom prst="rect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9EFEAC-E477-4ACB-AC52-4E16FBC42451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HOME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2C72FB-7A88-4DA8-B10E-8C3D41E4AE73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2286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¿Qué está cambiando?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8F7A29-0CC2-4B54-9C30-C9E116C50DFC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2286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Vista combinada de bienestar, productividad y cultura.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5BE3E5-7B1E-4BC1-9AA4-3B44CC20AA21}"/>
              </a:ext>
            </a:extLst>
          </p:cNvPr>
          <p:cNvSpPr>
            <a:spLocks noGrp="1"/>
          </p:cNvSpPr>
          <p:nvPr/>
        </p:nvSpPr>
        <p:spPr>
          <a:xfrm>
            <a:off x="3371850" y="1619250"/>
            <a:ext cx="2286000" cy="95250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52544F-A80B-48ED-B82C-F75FB045C3FD}"/>
              </a:ext>
            </a:extLst>
          </p:cNvPr>
          <p:cNvSpPr>
            <a:spLocks noGrp="1"/>
          </p:cNvSpPr>
          <p:nvPr/>
        </p:nvSpPr>
        <p:spPr>
          <a:xfrm>
            <a:off x="3371850" y="195262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WELLBEING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D792BC-B2D8-4E2A-8805-05D5AB2D8E94}"/>
              </a:ext>
            </a:extLst>
          </p:cNvPr>
          <p:cNvSpPr>
            <a:spLocks noGrp="1"/>
          </p:cNvSpPr>
          <p:nvPr/>
        </p:nvSpPr>
        <p:spPr>
          <a:xfrm>
            <a:off x="3371850" y="2495550"/>
            <a:ext cx="2286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¿Hay espacio para foco?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967711-3620-4D83-BF6C-5F2C5DFA4A23}"/>
              </a:ext>
            </a:extLst>
          </p:cNvPr>
          <p:cNvSpPr>
            <a:spLocks noGrp="1"/>
          </p:cNvSpPr>
          <p:nvPr/>
        </p:nvSpPr>
        <p:spPr>
          <a:xfrm>
            <a:off x="3371850" y="3429000"/>
            <a:ext cx="2286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Foco, conexión diaria, fuera de horario y no-meeting day.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8F3F20-5214-4B65-9561-EB17C6FCE45E}"/>
              </a:ext>
            </a:extLst>
          </p:cNvPr>
          <p:cNvSpPr>
            <a:spLocks noGrp="1"/>
          </p:cNvSpPr>
          <p:nvPr/>
        </p:nvSpPr>
        <p:spPr>
          <a:xfrm>
            <a:off x="3143250" y="1619250"/>
            <a:ext cx="19050" cy="3714750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76E63D-D41A-42E8-A913-817280917473}"/>
              </a:ext>
            </a:extLst>
          </p:cNvPr>
          <p:cNvSpPr>
            <a:spLocks noGrp="1"/>
          </p:cNvSpPr>
          <p:nvPr/>
        </p:nvSpPr>
        <p:spPr>
          <a:xfrm>
            <a:off x="6134100" y="1619250"/>
            <a:ext cx="2286000" cy="95250"/>
          </a:xfrm>
          <a:prstGeom prst="rect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1F4F80-E56A-4628-BF71-988016B36098}"/>
              </a:ext>
            </a:extLst>
          </p:cNvPr>
          <p:cNvSpPr>
            <a:spLocks noGrp="1"/>
          </p:cNvSpPr>
          <p:nvPr/>
        </p:nvSpPr>
        <p:spPr>
          <a:xfrm>
            <a:off x="6134100" y="195262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PRODUCTIVITY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46BF90-C5A7-420F-9940-35F320410316}"/>
              </a:ext>
            </a:extLst>
          </p:cNvPr>
          <p:cNvSpPr>
            <a:spLocks noGrp="1"/>
          </p:cNvSpPr>
          <p:nvPr/>
        </p:nvSpPr>
        <p:spPr>
          <a:xfrm>
            <a:off x="6134100" y="2495550"/>
            <a:ext cx="2286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¿Son efectivas las reuniones?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03CC84-4291-4862-A8AB-478EAEC4CEC1}"/>
              </a:ext>
            </a:extLst>
          </p:cNvPr>
          <p:cNvSpPr>
            <a:spLocks noGrp="1"/>
          </p:cNvSpPr>
          <p:nvPr/>
        </p:nvSpPr>
        <p:spPr>
          <a:xfrm>
            <a:off x="6134100" y="3429000"/>
            <a:ext cx="2286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Horas, puntualidad de ingreso y multitarea.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511C10-CAF6-4AB7-A50A-A6884B5177AA}"/>
              </a:ext>
            </a:extLst>
          </p:cNvPr>
          <p:cNvSpPr>
            <a:spLocks noGrp="1"/>
          </p:cNvSpPr>
          <p:nvPr/>
        </p:nvSpPr>
        <p:spPr>
          <a:xfrm>
            <a:off x="5905500" y="1619250"/>
            <a:ext cx="19050" cy="3714750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435477-F4F9-4613-9C10-806053C8508F}"/>
              </a:ext>
            </a:extLst>
          </p:cNvPr>
          <p:cNvSpPr>
            <a:spLocks noGrp="1"/>
          </p:cNvSpPr>
          <p:nvPr/>
        </p:nvSpPr>
        <p:spPr>
          <a:xfrm>
            <a:off x="8896350" y="1619250"/>
            <a:ext cx="2286000" cy="95250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07A4DF-60C6-4A3A-A1A4-91C907CDCEDE}"/>
              </a:ext>
            </a:extLst>
          </p:cNvPr>
          <p:cNvSpPr>
            <a:spLocks noGrp="1"/>
          </p:cNvSpPr>
          <p:nvPr/>
        </p:nvSpPr>
        <p:spPr>
          <a:xfrm>
            <a:off x="8896350" y="195262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TEAMWORK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1A8424-C3E7-42A6-8A0D-24D1983EAF90}"/>
              </a:ext>
            </a:extLst>
          </p:cNvPr>
          <p:cNvSpPr>
            <a:spLocks noGrp="1"/>
          </p:cNvSpPr>
          <p:nvPr/>
        </p:nvSpPr>
        <p:spPr>
          <a:xfrm>
            <a:off x="8896350" y="2495550"/>
            <a:ext cx="2286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¿Cómo se conecta la organización?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5CBC59-1DF6-43C8-88C4-ACD4FED0AE37}"/>
              </a:ext>
            </a:extLst>
          </p:cNvPr>
          <p:cNvSpPr>
            <a:spLocks noGrp="1"/>
          </p:cNvSpPr>
          <p:nvPr/>
        </p:nvSpPr>
        <p:spPr>
          <a:xfrm>
            <a:off x="8896350" y="3429000"/>
            <a:ext cx="2286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Tamaño y alcance de la red interna.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40F4A8-C2AF-4C8A-8686-A88F172A9D3D}"/>
              </a:ext>
            </a:extLst>
          </p:cNvPr>
          <p:cNvSpPr>
            <a:spLocks noGrp="1"/>
          </p:cNvSpPr>
          <p:nvPr/>
        </p:nvSpPr>
        <p:spPr>
          <a:xfrm>
            <a:off x="8667750" y="1619250"/>
            <a:ext cx="19050" cy="3714750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380F61-5F14-46C3-BC72-9365CE9198B6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Wellbeing añade tendencia de 12 semanas y acciones recomendadas; Home prioriza la lectura rápida.</a:t>
            </a:r>
          </a:p>
        </p:txBody>
      </p:sp>
    </p:spTree>
    <p:extLst>
      <p:ext uri="{BB962C8B-B14F-4D97-AF65-F5344CB8AC3E}">
        <p14:creationId xmlns:p14="http://schemas.microsoft.com/office/powerpoint/2010/main" val="220116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2D790305-B4E0-411D-BE3C-554B0A210AA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ORGANIZATION INSIGHTS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FECB40-46F8-4AFC-8D5F-B92C03AB635F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57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Doce métricas describen tiempo, reuniones y red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18620B-CED2-4523-8BF6-DD1EAB7025DA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rPr>
              <a:t>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469A3E-39AE-461C-B2AE-5D6409A344E9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3286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TIEMPO Y EQUILIBRIO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2F1224-5EE9-499C-ABE7-2977CF57496B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3238500" cy="38100"/>
          </a:xfrm>
          <a:prstGeom prst="rect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C891AE-4424-46CD-9FDD-8128181D1BE2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After-hours collaboration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13DF05-5FFB-4F1C-B1D7-E224EE54C2A9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Actividad fuera del horario configurado.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AE9B78-B49A-4898-8343-A3200DDCE7DC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3238500" cy="9525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C9C7B5-F336-47DC-88E2-CC9783F0B166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Uninterrupted focus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BA251E-3FE4-4BE0-9045-B4FE457AC8E7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Bloques &gt;1 h sin colaboración.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CB3137-9EC5-4D8A-95C7-D741395EBCA8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3238500" cy="9525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48350F-B9FF-47D9-BB4F-53D5A2B556E3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Daily connected hours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B1530A-8B5E-47AC-AA88-EAF8B7D0D78A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Bloques de 30 min con actividad.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767018-7C59-4FB8-BBD0-9D346C66892E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3238500" cy="9525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E99C2A-99A0-4A0C-8C28-C0B13DC4E623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Collaboration hours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1FEAFB-40A6-4F4D-9AD8-9FCA7D980A81}"/>
              </a:ext>
            </a:extLst>
          </p:cNvPr>
          <p:cNvSpPr>
            <a:spLocks noGrp="1"/>
          </p:cNvSpPr>
          <p:nvPr/>
        </p:nvSpPr>
        <p:spPr>
          <a:xfrm>
            <a:off x="609600" y="48958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Tiempo total semanal de colaboración.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D11E1D-DF77-480F-8D89-D59E99603640}"/>
              </a:ext>
            </a:extLst>
          </p:cNvPr>
          <p:cNvSpPr>
            <a:spLocks noGrp="1"/>
          </p:cNvSpPr>
          <p:nvPr/>
        </p:nvSpPr>
        <p:spPr>
          <a:xfrm>
            <a:off x="4286250" y="1581150"/>
            <a:ext cx="3286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REUNIONES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D9700A-79F5-409D-89D6-4EE39B5AE1F8}"/>
              </a:ext>
            </a:extLst>
          </p:cNvPr>
          <p:cNvSpPr>
            <a:spLocks noGrp="1"/>
          </p:cNvSpPr>
          <p:nvPr/>
        </p:nvSpPr>
        <p:spPr>
          <a:xfrm>
            <a:off x="4286250" y="1857375"/>
            <a:ext cx="3238500" cy="38100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1A2744-1BEC-4FFC-83EA-C6BC41D102E7}"/>
              </a:ext>
            </a:extLst>
          </p:cNvPr>
          <p:cNvSpPr>
            <a:spLocks noGrp="1"/>
          </p:cNvSpPr>
          <p:nvPr/>
        </p:nvSpPr>
        <p:spPr>
          <a:xfrm>
            <a:off x="4286250" y="20955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Meeting hours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01A5F4-3A6C-4E8B-9204-75004D88400A}"/>
              </a:ext>
            </a:extLst>
          </p:cNvPr>
          <p:cNvSpPr>
            <a:spLocks noGrp="1"/>
          </p:cNvSpPr>
          <p:nvPr/>
        </p:nvSpPr>
        <p:spPr>
          <a:xfrm>
            <a:off x="4286250" y="23812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Reuniones aceptadas en Outlook.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169549-547F-40A5-9914-9619E942728D}"/>
              </a:ext>
            </a:extLst>
          </p:cNvPr>
          <p:cNvSpPr>
            <a:spLocks noGrp="1"/>
          </p:cNvSpPr>
          <p:nvPr/>
        </p:nvSpPr>
        <p:spPr>
          <a:xfrm>
            <a:off x="4286250" y="2838450"/>
            <a:ext cx="3238500" cy="9525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5D72E8-D101-4647-9DE1-E9ED9EF0AB5C}"/>
              </a:ext>
            </a:extLst>
          </p:cNvPr>
          <p:cNvSpPr>
            <a:spLocks noGrp="1"/>
          </p:cNvSpPr>
          <p:nvPr/>
        </p:nvSpPr>
        <p:spPr>
          <a:xfrm>
            <a:off x="4286250" y="29337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Join on time rate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E3608F-5119-4CA7-A63A-159068F982F7}"/>
              </a:ext>
            </a:extLst>
          </p:cNvPr>
          <p:cNvSpPr>
            <a:spLocks noGrp="1"/>
          </p:cNvSpPr>
          <p:nvPr/>
        </p:nvSpPr>
        <p:spPr>
          <a:xfrm>
            <a:off x="4286250" y="32194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Ingreso hasta 5 min después del inicio.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1AD4C1-4A33-499B-BAC0-1ED132774314}"/>
              </a:ext>
            </a:extLst>
          </p:cNvPr>
          <p:cNvSpPr>
            <a:spLocks noGrp="1"/>
          </p:cNvSpPr>
          <p:nvPr/>
        </p:nvSpPr>
        <p:spPr>
          <a:xfrm>
            <a:off x="4286250" y="3676650"/>
            <a:ext cx="3238500" cy="9525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667C0E-50D9-4B67-98D6-09E97E673135}"/>
              </a:ext>
            </a:extLst>
          </p:cNvPr>
          <p:cNvSpPr>
            <a:spLocks noGrp="1"/>
          </p:cNvSpPr>
          <p:nvPr/>
        </p:nvSpPr>
        <p:spPr>
          <a:xfrm>
            <a:off x="4286250" y="37719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Recurring meeting hours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C1619DD-C60F-452B-9D4B-7BC4953F7AA7}"/>
              </a:ext>
            </a:extLst>
          </p:cNvPr>
          <p:cNvSpPr>
            <a:spLocks noGrp="1"/>
          </p:cNvSpPr>
          <p:nvPr/>
        </p:nvSpPr>
        <p:spPr>
          <a:xfrm>
            <a:off x="4286250" y="40576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Horas en reuniones recurrentes.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321599-5A01-4195-84E2-EF016EF84F6D}"/>
              </a:ext>
            </a:extLst>
          </p:cNvPr>
          <p:cNvSpPr>
            <a:spLocks noGrp="1"/>
          </p:cNvSpPr>
          <p:nvPr/>
        </p:nvSpPr>
        <p:spPr>
          <a:xfrm>
            <a:off x="4286250" y="4514850"/>
            <a:ext cx="3238500" cy="9525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8AB7597-4E4D-48C3-8A49-E0FFF0460651}"/>
              </a:ext>
            </a:extLst>
          </p:cNvPr>
          <p:cNvSpPr>
            <a:spLocks noGrp="1"/>
          </p:cNvSpPr>
          <p:nvPr/>
        </p:nvSpPr>
        <p:spPr>
          <a:xfrm>
            <a:off x="4286250" y="46101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Large &amp; long meetings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95E57D-7A2E-4838-AF9C-D6BF274D0F0B}"/>
              </a:ext>
            </a:extLst>
          </p:cNvPr>
          <p:cNvSpPr>
            <a:spLocks noGrp="1"/>
          </p:cNvSpPr>
          <p:nvPr/>
        </p:nvSpPr>
        <p:spPr>
          <a:xfrm>
            <a:off x="4286250" y="48958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&gt;1 h o más de 8 asistentes.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64B208-CDE5-42AD-8CD6-F9AA33C0156A}"/>
              </a:ext>
            </a:extLst>
          </p:cNvPr>
          <p:cNvSpPr>
            <a:spLocks noGrp="1"/>
          </p:cNvSpPr>
          <p:nvPr/>
        </p:nvSpPr>
        <p:spPr>
          <a:xfrm>
            <a:off x="7962900" y="1581150"/>
            <a:ext cx="3286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COMPORTAMIENTO Y RED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0F35575-89CF-4723-8A59-7DF4C0379B86}"/>
              </a:ext>
            </a:extLst>
          </p:cNvPr>
          <p:cNvSpPr>
            <a:spLocks noGrp="1"/>
          </p:cNvSpPr>
          <p:nvPr/>
        </p:nvSpPr>
        <p:spPr>
          <a:xfrm>
            <a:off x="7962900" y="1857375"/>
            <a:ext cx="3238500" cy="38100"/>
          </a:xfrm>
          <a:prstGeom prst="rect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C7072D4-4FD3-4EC1-AC87-DBA8CFC25C85}"/>
              </a:ext>
            </a:extLst>
          </p:cNvPr>
          <p:cNvSpPr>
            <a:spLocks noGrp="1"/>
          </p:cNvSpPr>
          <p:nvPr/>
        </p:nvSpPr>
        <p:spPr>
          <a:xfrm>
            <a:off x="7962900" y="20955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Multitasking hours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DA2004E-3F07-42D4-AD0C-64FB7E74C348}"/>
              </a:ext>
            </a:extLst>
          </p:cNvPr>
          <p:cNvSpPr>
            <a:spLocks noGrp="1"/>
          </p:cNvSpPr>
          <p:nvPr/>
        </p:nvSpPr>
        <p:spPr>
          <a:xfrm>
            <a:off x="7962900" y="23812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Correo/chats superpuestos con reuniones.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D6C76D4-5293-45C7-89D3-697DC882DA9B}"/>
              </a:ext>
            </a:extLst>
          </p:cNvPr>
          <p:cNvSpPr>
            <a:spLocks noGrp="1"/>
          </p:cNvSpPr>
          <p:nvPr/>
        </p:nvSpPr>
        <p:spPr>
          <a:xfrm>
            <a:off x="7962900" y="2838450"/>
            <a:ext cx="3238500" cy="9525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F46AD85-D474-4390-8E15-6E464B744BAD}"/>
              </a:ext>
            </a:extLst>
          </p:cNvPr>
          <p:cNvSpPr>
            <a:spLocks noGrp="1"/>
          </p:cNvSpPr>
          <p:nvPr/>
        </p:nvSpPr>
        <p:spPr>
          <a:xfrm>
            <a:off x="7962900" y="29337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Manager 1:1 hours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08486FE-BA7A-428C-A618-7829954F89E8}"/>
              </a:ext>
            </a:extLst>
          </p:cNvPr>
          <p:cNvSpPr>
            <a:spLocks noGrp="1"/>
          </p:cNvSpPr>
          <p:nvPr/>
        </p:nvSpPr>
        <p:spPr>
          <a:xfrm>
            <a:off x="7962900" y="32194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1:1 con manager en 4 semanas.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88FF62D-C751-49A4-90C1-832AE7055AF2}"/>
              </a:ext>
            </a:extLst>
          </p:cNvPr>
          <p:cNvSpPr>
            <a:spLocks noGrp="1"/>
          </p:cNvSpPr>
          <p:nvPr/>
        </p:nvSpPr>
        <p:spPr>
          <a:xfrm>
            <a:off x="7962900" y="3676650"/>
            <a:ext cx="3238500" cy="9525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23C71A-B0F8-4C91-91F9-9B7CAF08D53D}"/>
              </a:ext>
            </a:extLst>
          </p:cNvPr>
          <p:cNvSpPr>
            <a:spLocks noGrp="1"/>
          </p:cNvSpPr>
          <p:nvPr/>
        </p:nvSpPr>
        <p:spPr>
          <a:xfrm>
            <a:off x="7962900" y="37719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Internal network size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3DC63D9-62B7-4B4E-B80B-73672FE587FA}"/>
              </a:ext>
            </a:extLst>
          </p:cNvPr>
          <p:cNvSpPr>
            <a:spLocks noGrp="1"/>
          </p:cNvSpPr>
          <p:nvPr/>
        </p:nvSpPr>
        <p:spPr>
          <a:xfrm>
            <a:off x="7962900" y="40576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Colegas con ≥2 interacciones.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5D74C43-9B5E-4705-AAEA-43AA68911871}"/>
              </a:ext>
            </a:extLst>
          </p:cNvPr>
          <p:cNvSpPr>
            <a:spLocks noGrp="1"/>
          </p:cNvSpPr>
          <p:nvPr/>
        </p:nvSpPr>
        <p:spPr>
          <a:xfrm>
            <a:off x="7962900" y="4514850"/>
            <a:ext cx="3238500" cy="9525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7AE07B1-239C-4955-B7D8-A224557C3E04}"/>
              </a:ext>
            </a:extLst>
          </p:cNvPr>
          <p:cNvSpPr>
            <a:spLocks noGrp="1"/>
          </p:cNvSpPr>
          <p:nvPr/>
        </p:nvSpPr>
        <p:spPr>
          <a:xfrm>
            <a:off x="7962900" y="46101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Manager coattendance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77AC262-5B4A-473C-9AB5-4E7DB3E67288}"/>
              </a:ext>
            </a:extLst>
          </p:cNvPr>
          <p:cNvSpPr>
            <a:spLocks noGrp="1"/>
          </p:cNvSpPr>
          <p:nvPr/>
        </p:nvSpPr>
        <p:spPr>
          <a:xfrm>
            <a:off x="7962900" y="4895850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Horas compartidas con el manager.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7D261FA-9C80-4C4F-B117-795483C4221B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Las definiciones completas y reglas de exclusión deben conservarse al interpretar comparaciones.</a:t>
            </a:r>
          </a:p>
        </p:txBody>
      </p:sp>
    </p:spTree>
    <p:extLst>
      <p:ext uri="{BB962C8B-B14F-4D97-AF65-F5344CB8AC3E}">
        <p14:creationId xmlns:p14="http://schemas.microsoft.com/office/powerpoint/2010/main" val="2117383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536B0D2-136F-4F9F-958E-FA11FBB363B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rPr>
              <a:t>ADVANCED INSIGHTS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9F6B1A-645C-41CF-8A02-CAA492EA8274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57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Advanced insights añade contexto organizacional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EF2C29-8C37-4E9E-B34F-A816EF9ACF56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51D716-DC44-4730-B64B-D4E279FA89FD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2190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70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570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100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83FE76-93BE-43E4-8391-F7EBD0933482}"/>
              </a:ext>
            </a:extLst>
          </p:cNvPr>
          <p:cNvSpPr>
            <a:spLocks noGrp="1"/>
          </p:cNvSpPr>
          <p:nvPr/>
        </p:nvSpPr>
        <p:spPr>
          <a:xfrm>
            <a:off x="628650" y="2381250"/>
            <a:ext cx="3048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atributos opcionales para agrupar y filtrar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119B7858-9C9E-4151-A47A-DCBA73AAB1B0}"/>
              </a:ext>
            </a:extLst>
          </p:cNvPr>
          <p:cNvSpPr>
            <a:spLocks noGrp="1"/>
          </p:cNvSpPr>
          <p:nvPr/>
        </p:nvSpPr>
        <p:spPr>
          <a:xfrm>
            <a:off x="3905250" y="1695450"/>
            <a:ext cx="1762125" cy="1104900"/>
          </a:xfrm>
          <a:prstGeom prst="chevron">
            <a:avLst/>
          </a:prstGeom>
          <a:solidFill>
            <a:srgbClr val="EEEAFE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36AC6F-D3D6-4167-96EB-670469A1EB84}"/>
              </a:ext>
            </a:extLst>
          </p:cNvPr>
          <p:cNvSpPr>
            <a:spLocks noGrp="1"/>
          </p:cNvSpPr>
          <p:nvPr/>
        </p:nvSpPr>
        <p:spPr>
          <a:xfrm>
            <a:off x="4076700" y="1885950"/>
            <a:ext cx="1314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FUENTES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7E039D-F3AC-4000-8F3F-A6EFDE35C4C1}"/>
              </a:ext>
            </a:extLst>
          </p:cNvPr>
          <p:cNvSpPr>
            <a:spLocks noGrp="1"/>
          </p:cNvSpPr>
          <p:nvPr/>
        </p:nvSpPr>
        <p:spPr>
          <a:xfrm>
            <a:off x="4076700" y="2190750"/>
            <a:ext cx="1285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Entra ID</a:t>
            </a:r>
          </a:p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o CSV UTF-8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C949A4A4-8778-46C8-AE2A-B075FDFC8D66}"/>
              </a:ext>
            </a:extLst>
          </p:cNvPr>
          <p:cNvSpPr>
            <a:spLocks noGrp="1"/>
          </p:cNvSpPr>
          <p:nvPr/>
        </p:nvSpPr>
        <p:spPr>
          <a:xfrm>
            <a:off x="5857875" y="1695450"/>
            <a:ext cx="1762125" cy="1104900"/>
          </a:xfrm>
          <a:prstGeom prst="chevron">
            <a:avLst/>
          </a:prstGeom>
          <a:solidFill>
            <a:srgbClr val="E9F7F8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B1F69F-EF63-4666-858C-2B780E2BD6DF}"/>
              </a:ext>
            </a:extLst>
          </p:cNvPr>
          <p:cNvSpPr>
            <a:spLocks noGrp="1"/>
          </p:cNvSpPr>
          <p:nvPr/>
        </p:nvSpPr>
        <p:spPr>
          <a:xfrm>
            <a:off x="6029325" y="1885950"/>
            <a:ext cx="1314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CONTEXTO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40A2AE-0484-41F7-AAAE-A03D380E7204}"/>
              </a:ext>
            </a:extLst>
          </p:cNvPr>
          <p:cNvSpPr>
            <a:spLocks noGrp="1"/>
          </p:cNvSpPr>
          <p:nvPr/>
        </p:nvSpPr>
        <p:spPr>
          <a:xfrm>
            <a:off x="6029325" y="2190750"/>
            <a:ext cx="1285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Job family · región</a:t>
            </a:r>
          </a:p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nivel · manager</a:t>
            </a: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67797488-C6FF-459C-A112-3CF73282C9BC}"/>
              </a:ext>
            </a:extLst>
          </p:cNvPr>
          <p:cNvSpPr>
            <a:spLocks noGrp="1"/>
          </p:cNvSpPr>
          <p:nvPr/>
        </p:nvSpPr>
        <p:spPr>
          <a:xfrm>
            <a:off x="7810500" y="1695450"/>
            <a:ext cx="1762125" cy="1104900"/>
          </a:xfrm>
          <a:prstGeom prst="chevron">
            <a:avLst/>
          </a:prstGeom>
          <a:solidFill>
            <a:srgbClr val="EEEAFE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B33E28-5255-4473-A44B-652E1F1D7461}"/>
              </a:ext>
            </a:extLst>
          </p:cNvPr>
          <p:cNvSpPr>
            <a:spLocks noGrp="1"/>
          </p:cNvSpPr>
          <p:nvPr/>
        </p:nvSpPr>
        <p:spPr>
          <a:xfrm>
            <a:off x="7981950" y="1885950"/>
            <a:ext cx="1314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ANÁLISIS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E1000B-A62C-4DEA-9105-6C93A43A6700}"/>
              </a:ext>
            </a:extLst>
          </p:cNvPr>
          <p:cNvSpPr>
            <a:spLocks noGrp="1"/>
          </p:cNvSpPr>
          <p:nvPr/>
        </p:nvSpPr>
        <p:spPr>
          <a:xfrm>
            <a:off x="7981950" y="2190750"/>
            <a:ext cx="1285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Queries · Plans</a:t>
            </a:r>
          </a:p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Power BI</a:t>
            </a: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67D74CAB-B0ED-4DE2-8BA1-13EC23D42F60}"/>
              </a:ext>
            </a:extLst>
          </p:cNvPr>
          <p:cNvSpPr>
            <a:spLocks noGrp="1"/>
          </p:cNvSpPr>
          <p:nvPr/>
        </p:nvSpPr>
        <p:spPr>
          <a:xfrm>
            <a:off x="9763125" y="1695450"/>
            <a:ext cx="1762125" cy="1104900"/>
          </a:xfrm>
          <a:prstGeom prst="chevron">
            <a:avLst/>
          </a:prstGeom>
          <a:solidFill>
            <a:srgbClr val="E9F7F8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DF9BF3-E0F9-4CB9-80B3-89D03FE026B1}"/>
              </a:ext>
            </a:extLst>
          </p:cNvPr>
          <p:cNvSpPr>
            <a:spLocks noGrp="1"/>
          </p:cNvSpPr>
          <p:nvPr/>
        </p:nvSpPr>
        <p:spPr>
          <a:xfrm>
            <a:off x="9934575" y="1885950"/>
            <a:ext cx="1314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RESULTADOS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3106E8-4615-4B34-8E65-CC84D1E7A5BA}"/>
              </a:ext>
            </a:extLst>
          </p:cNvPr>
          <p:cNvSpPr>
            <a:spLocks noGrp="1"/>
          </p:cNvSpPr>
          <p:nvPr/>
        </p:nvSpPr>
        <p:spPr>
          <a:xfrm>
            <a:off x="9934575" y="2190750"/>
            <a:ext cx="1285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Tendencias · redes</a:t>
            </a:r>
          </a:p>
          <a:p>
            <a:pPr algn="l">
              <a:def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procesos · bienestar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14B968-56BB-405D-86EB-097A4DCD9DA1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Preparar datos organizacionales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174505-2CE0-4CA8-B58F-4990C52CCEB4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E9F7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F7F8"/>
                </a:solidFill>
                <a:latin typeface="Aptos"/>
                <a:ea typeface="Aptos"/>
                <a:cs typeface="Aptos"/>
              </a:rPr>
              <a:t>1  Identificar la tendencia a estudiar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09E78B-8A75-4322-9CC3-D2545462B8F7}"/>
              </a:ext>
            </a:extLst>
          </p:cNvPr>
          <p:cNvSpPr>
            <a:spLocks noGrp="1"/>
          </p:cNvSpPr>
          <p:nvPr/>
        </p:nvSpPr>
        <p:spPr>
          <a:xfrm>
            <a:off x="666750" y="4495800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E9F7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F7F8"/>
                </a:solidFill>
                <a:latin typeface="Aptos"/>
                <a:ea typeface="Aptos"/>
                <a:cs typeface="Aptos"/>
              </a:rPr>
              <a:t>2  Determinar atributos necesarios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2115A5-FBD6-4CD9-8D90-A05EF1A3785C}"/>
              </a:ext>
            </a:extLst>
          </p:cNvPr>
          <p:cNvSpPr>
            <a:spLocks noGrp="1"/>
          </p:cNvSpPr>
          <p:nvPr/>
        </p:nvSpPr>
        <p:spPr>
          <a:xfrm>
            <a:off x="666750" y="4895850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E9F7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F7F8"/>
                </a:solidFill>
                <a:latin typeface="Aptos"/>
                <a:ea typeface="Aptos"/>
                <a:cs typeface="Aptos"/>
              </a:rPr>
              <a:t>3  Obtener exportación de HR o negocio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9E43D5-6246-4787-B4DF-EB74A6650CBE}"/>
              </a:ext>
            </a:extLst>
          </p:cNvPr>
          <p:cNvSpPr>
            <a:spLocks noGrp="1"/>
          </p:cNvSpPr>
          <p:nvPr/>
        </p:nvSpPr>
        <p:spPr>
          <a:xfrm>
            <a:off x="666750" y="5295900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E9F7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F7F8"/>
                </a:solidFill>
                <a:latin typeface="Aptos"/>
                <a:ea typeface="Aptos"/>
                <a:cs typeface="Aptos"/>
              </a:rPr>
              <a:t>4  Estructurar CSV sin espacios en el nombre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B269D8-6C74-4BC0-84AB-2B5C739BEB9D}"/>
              </a:ext>
            </a:extLst>
          </p:cNvPr>
          <p:cNvSpPr>
            <a:spLocks noGrp="1"/>
          </p:cNvSpPr>
          <p:nvPr/>
        </p:nvSpPr>
        <p:spPr>
          <a:xfrm>
            <a:off x="666750" y="5695950"/>
            <a:ext cx="561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5  Cargar, validar y procesar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16D351-7437-4F59-B8E0-0716B0C2CADD}"/>
              </a:ext>
            </a:extLst>
          </p:cNvPr>
          <p:cNvSpPr>
            <a:spLocks noGrp="1"/>
          </p:cNvSpPr>
          <p:nvPr/>
        </p:nvSpPr>
        <p:spPr>
          <a:xfrm>
            <a:off x="7096125" y="4000500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El analista necesita el rol Insights Analyst.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8728EB-B6C3-4F8B-A42B-E1B21324C58A}"/>
              </a:ext>
            </a:extLst>
          </p:cNvPr>
          <p:cNvSpPr>
            <a:spLocks noGrp="1"/>
          </p:cNvSpPr>
          <p:nvPr/>
        </p:nvSpPr>
        <p:spPr>
          <a:xfrm>
            <a:off x="7096125" y="4905375"/>
            <a:ext cx="4000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E9F7F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F7F8"/>
                </a:solidFill>
                <a:latin typeface="Aptos"/>
                <a:ea typeface="Aptos"/>
                <a:cs typeface="Aptos"/>
              </a:rPr>
              <a:t>Los datos de colaboración se recopilan automáticamente; los datos organizacionales aportan el contexto.</a:t>
            </a:r>
          </a:p>
        </p:txBody>
      </p:sp>
    </p:spTree>
    <p:extLst>
      <p:ext uri="{BB962C8B-B14F-4D97-AF65-F5344CB8AC3E}">
        <p14:creationId xmlns:p14="http://schemas.microsoft.com/office/powerpoint/2010/main" val="1023972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592ECEF6-D136-4E08-9BBC-6FA6952025E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ADVANCED INSIGHTS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E0DA1-B4D4-446B-9548-192C3504524F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57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Power BI acelera preguntas frecuentes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E8BEFB-5C15-40D8-94D4-5695C31512A2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rPr>
              <a:t>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822A3C-38D1-4DB5-A723-A62F99DAEF6E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PLANTILLAS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D814D5-27C8-4A30-8CCD-7B944A4354AB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3619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Business resilience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A006AB-753C-44BE-847A-C5D5339ED62E}"/>
              </a:ext>
            </a:extLst>
          </p:cNvPr>
          <p:cNvSpPr>
            <a:spLocks noGrp="1"/>
          </p:cNvSpPr>
          <p:nvPr/>
        </p:nvSpPr>
        <p:spPr>
          <a:xfrm>
            <a:off x="609600" y="2314575"/>
            <a:ext cx="4000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Resiliencia y bienestar ante cambios.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FBD947-0D50-4043-A020-F62C3FAF946B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3619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Hybrid workforce experience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B9B321-97AF-4445-B96D-094A47BA652E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4000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Modalidad, conexión, onboarding y managers.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00E978-B5FA-4965-A6DA-32B3D4E55ACA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3619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Manager effectiveness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7A5B9F-3A4F-42AD-B53E-C8D91AA767FF}"/>
              </a:ext>
            </a:extLst>
          </p:cNvPr>
          <p:cNvSpPr>
            <a:spLocks noGrp="1"/>
          </p:cNvSpPr>
          <p:nvPr/>
        </p:nvSpPr>
        <p:spPr>
          <a:xfrm>
            <a:off x="609600" y="3686175"/>
            <a:ext cx="4000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Capacity · Coach · Empower · Connect · Model.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380058-DFAC-4756-BE76-4B68B6591BB0}"/>
              </a:ext>
            </a:extLst>
          </p:cNvPr>
          <p:cNvSpPr>
            <a:spLocks noGrp="1"/>
          </p:cNvSpPr>
          <p:nvPr/>
        </p:nvSpPr>
        <p:spPr>
          <a:xfrm>
            <a:off x="609600" y="4076700"/>
            <a:ext cx="3619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Meeting effectiveness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0CB792-BE5B-432B-A89C-903611EB7A6F}"/>
              </a:ext>
            </a:extLst>
          </p:cNvPr>
          <p:cNvSpPr>
            <a:spLocks noGrp="1"/>
          </p:cNvSpPr>
          <p:nvPr/>
        </p:nvSpPr>
        <p:spPr>
          <a:xfrm>
            <a:off x="609600" y="4371975"/>
            <a:ext cx="4000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Hábitos y métricas por atributos.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DFE04-BE71-4A8A-9C94-0A880093ED42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3619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Ways of working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4F87EB-91BB-4DE9-A3B2-BD2D70E98867}"/>
              </a:ext>
            </a:extLst>
          </p:cNvPr>
          <p:cNvSpPr>
            <a:spLocks noGrp="1"/>
          </p:cNvSpPr>
          <p:nvPr/>
        </p:nvSpPr>
        <p:spPr>
          <a:xfrm>
            <a:off x="609600" y="5057775"/>
            <a:ext cx="4000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Colaboración, reuniones, bienestar y coaching.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D019CA-992D-4D43-985C-D931C38184ED}"/>
              </a:ext>
            </a:extLst>
          </p:cNvPr>
          <p:cNvSpPr>
            <a:spLocks noGrp="1"/>
          </p:cNvSpPr>
          <p:nvPr/>
        </p:nvSpPr>
        <p:spPr>
          <a:xfrm>
            <a:off x="5048250" y="1581150"/>
            <a:ext cx="19050" cy="4000500"/>
          </a:xfrm>
          <a:prstGeom prst="rect">
            <a:avLst/>
          </a:prstGeom>
          <a:solidFill>
            <a:srgbClr val="D9DCE7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3E9882-68E8-45A6-8D25-616F0445F068}"/>
              </a:ext>
            </a:extLst>
          </p:cNvPr>
          <p:cNvSpPr>
            <a:spLocks noGrp="1"/>
          </p:cNvSpPr>
          <p:nvPr/>
        </p:nvSpPr>
        <p:spPr>
          <a:xfrm>
            <a:off x="5524500" y="1581150"/>
            <a:ext cx="552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WELLBEING — BALANCE &amp; FLEXIBILITY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73250B-5D43-4B87-8A23-8FCC7069118B}"/>
              </a:ext>
            </a:extLst>
          </p:cNvPr>
          <p:cNvSpPr>
            <a:spLocks noGrp="1"/>
          </p:cNvSpPr>
          <p:nvPr/>
        </p:nvSpPr>
        <p:spPr>
          <a:xfrm>
            <a:off x="5524500" y="2019300"/>
            <a:ext cx="76200" cy="495300"/>
          </a:xfrm>
          <a:prstGeom prst="rect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E4E808-F785-424E-B215-75FC28C67BC3}"/>
              </a:ext>
            </a:extLst>
          </p:cNvPr>
          <p:cNvSpPr>
            <a:spLocks noGrp="1"/>
          </p:cNvSpPr>
          <p:nvPr/>
        </p:nvSpPr>
        <p:spPr>
          <a:xfrm>
            <a:off x="5753100" y="20193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PROTECT FOCUS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25025F-DF2F-4F08-8772-1BF857E1063E}"/>
              </a:ext>
            </a:extLst>
          </p:cNvPr>
          <p:cNvSpPr>
            <a:spLocks noGrp="1"/>
          </p:cNvSpPr>
          <p:nvPr/>
        </p:nvSpPr>
        <p:spPr>
          <a:xfrm>
            <a:off x="5753100" y="2276475"/>
            <a:ext cx="485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Disponibilidad y reserva de tiempo de concentración.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848762-499A-43A1-9BBC-9832B90B5B90}"/>
              </a:ext>
            </a:extLst>
          </p:cNvPr>
          <p:cNvSpPr>
            <a:spLocks noGrp="1"/>
          </p:cNvSpPr>
          <p:nvPr/>
        </p:nvSpPr>
        <p:spPr>
          <a:xfrm>
            <a:off x="5524500" y="2705100"/>
            <a:ext cx="76200" cy="495300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B7052E-7584-4051-BD07-61457649085E}"/>
              </a:ext>
            </a:extLst>
          </p:cNvPr>
          <p:cNvSpPr>
            <a:spLocks noGrp="1"/>
          </p:cNvSpPr>
          <p:nvPr/>
        </p:nvSpPr>
        <p:spPr>
          <a:xfrm>
            <a:off x="5753100" y="27051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ADOPTION + IMPACT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5D372B-38DA-42D2-AAA1-25A673729F0F}"/>
              </a:ext>
            </a:extLst>
          </p:cNvPr>
          <p:cNvSpPr>
            <a:spLocks noGrp="1"/>
          </p:cNvSpPr>
          <p:nvPr/>
        </p:nvSpPr>
        <p:spPr>
          <a:xfrm>
            <a:off x="5753100" y="2962275"/>
            <a:ext cx="485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Consistencia de focus plans y efecto observado.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98B9A9-5D6F-4238-999B-4C96A3D23C3D}"/>
              </a:ext>
            </a:extLst>
          </p:cNvPr>
          <p:cNvSpPr>
            <a:spLocks noGrp="1"/>
          </p:cNvSpPr>
          <p:nvPr/>
        </p:nvSpPr>
        <p:spPr>
          <a:xfrm>
            <a:off x="5524500" y="3390900"/>
            <a:ext cx="76200" cy="495300"/>
          </a:xfrm>
          <a:prstGeom prst="rect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AFF162-C215-4862-88B2-F8919CF919EB}"/>
              </a:ext>
            </a:extLst>
          </p:cNvPr>
          <p:cNvSpPr>
            <a:spLocks noGrp="1"/>
          </p:cNvSpPr>
          <p:nvPr/>
        </p:nvSpPr>
        <p:spPr>
          <a:xfrm>
            <a:off x="5753100" y="33909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BALANCE WORK &amp; LIFE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13F6E7-1C48-412E-A992-70975DD6F301}"/>
              </a:ext>
            </a:extLst>
          </p:cNvPr>
          <p:cNvSpPr>
            <a:spLocks noGrp="1"/>
          </p:cNvSpPr>
          <p:nvPr/>
        </p:nvSpPr>
        <p:spPr>
          <a:xfrm>
            <a:off x="5753100" y="3648075"/>
            <a:ext cx="485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Fuera de horario y fines de semana.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3B74C9-5B80-45EA-8EE6-B29EF2FCAE96}"/>
              </a:ext>
            </a:extLst>
          </p:cNvPr>
          <p:cNvSpPr>
            <a:spLocks noGrp="1"/>
          </p:cNvSpPr>
          <p:nvPr/>
        </p:nvSpPr>
        <p:spPr>
          <a:xfrm>
            <a:off x="5524500" y="4076700"/>
            <a:ext cx="76200" cy="495300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FF7FD3-58B9-4E2D-A742-F18B2F00E574}"/>
              </a:ext>
            </a:extLst>
          </p:cNvPr>
          <p:cNvSpPr>
            <a:spLocks noGrp="1"/>
          </p:cNvSpPr>
          <p:nvPr/>
        </p:nvSpPr>
        <p:spPr>
          <a:xfrm>
            <a:off x="5753100" y="40767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HANDLE URGENCY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7E2B52D-A8CC-4E4E-BD10-A13E83CDAC48}"/>
              </a:ext>
            </a:extLst>
          </p:cNvPr>
          <p:cNvSpPr>
            <a:spLocks noGrp="1"/>
          </p:cNvSpPr>
          <p:nvPr/>
        </p:nvSpPr>
        <p:spPr>
          <a:xfrm>
            <a:off x="5753100" y="4333875"/>
            <a:ext cx="485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Asuntos con “urgent”, “ASAP” o equivalentes.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AF5A15-2387-4E5A-B0F5-67AAD969EAFC}"/>
              </a:ext>
            </a:extLst>
          </p:cNvPr>
          <p:cNvSpPr>
            <a:spLocks noGrp="1"/>
          </p:cNvSpPr>
          <p:nvPr/>
        </p:nvSpPr>
        <p:spPr>
          <a:xfrm>
            <a:off x="5524500" y="4762500"/>
            <a:ext cx="76200" cy="495300"/>
          </a:xfrm>
          <a:prstGeom prst="rect">
            <a:avLst/>
          </a:prstGeom>
          <a:solidFill>
            <a:srgbClr val="5B2EFF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7C303F7-4570-454E-9877-19A8400237D5}"/>
              </a:ext>
            </a:extLst>
          </p:cNvPr>
          <p:cNvSpPr>
            <a:spLocks noGrp="1"/>
          </p:cNvSpPr>
          <p:nvPr/>
        </p:nvSpPr>
        <p:spPr>
          <a:xfrm>
            <a:off x="5753100" y="47625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EMBRACE FLEXIBILITY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C21ECB-EEA5-48E7-B8D8-36D154272F42}"/>
              </a:ext>
            </a:extLst>
          </p:cNvPr>
          <p:cNvSpPr>
            <a:spLocks noGrp="1"/>
          </p:cNvSpPr>
          <p:nvPr/>
        </p:nvSpPr>
        <p:spPr>
          <a:xfrm>
            <a:off x="5753100" y="5019675"/>
            <a:ext cx="485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072"/>
                </a:solidFill>
                <a:latin typeface="Aptos"/>
                <a:ea typeface="Aptos"/>
                <a:cs typeface="Aptos"/>
              </a:rPr>
              <a:t>Inicio flexible, pausas recurrentes y horas activas.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73DCF9D-700E-4D4A-941C-21E14061663E}"/>
              </a:ext>
            </a:extLst>
          </p:cNvPr>
          <p:cNvSpPr>
            <a:spLocks noGrp="1"/>
          </p:cNvSpPr>
          <p:nvPr/>
        </p:nvSpPr>
        <p:spPr>
          <a:xfrm>
            <a:off x="5524500" y="579120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Nuevo empleado: menos de un año de antigüedad.</a:t>
            </a:r>
          </a:p>
        </p:txBody>
      </p:sp>
    </p:spTree>
    <p:extLst>
      <p:ext uri="{BB962C8B-B14F-4D97-AF65-F5344CB8AC3E}">
        <p14:creationId xmlns:p14="http://schemas.microsoft.com/office/powerpoint/2010/main" val="1179078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F770E07-7A34-48D5-83BF-4AD391DE6EF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ADVANCED INSIGHTS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8A67DC-B45E-40D1-BAD8-2E67B47690C7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57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Custom queries convierten preguntas en datasets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961463-99E3-4E44-9632-C8D12D3F3AFE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rPr>
              <a:t>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FB12E0-22F9-47C7-9DAF-CBC67D1A792E}"/>
              </a:ext>
            </a:extLst>
          </p:cNvPr>
          <p:cNvSpPr>
            <a:spLocks noGrp="1"/>
          </p:cNvSpPr>
          <p:nvPr/>
        </p:nvSpPr>
        <p:spPr>
          <a:xfrm>
            <a:off x="0" y="1428750"/>
            <a:ext cx="6096000" cy="4810125"/>
          </a:xfrm>
          <a:prstGeom prst="rect">
            <a:avLst/>
          </a:prstGeom>
          <a:solidFill>
            <a:srgbClr val="EEEAFE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FEA73E-3887-42ED-9E51-CA547420DD4E}"/>
              </a:ext>
            </a:extLst>
          </p:cNvPr>
          <p:cNvSpPr>
            <a:spLocks noGrp="1"/>
          </p:cNvSpPr>
          <p:nvPr/>
        </p:nvSpPr>
        <p:spPr>
          <a:xfrm>
            <a:off x="6096000" y="1428750"/>
            <a:ext cx="6096000" cy="4810125"/>
          </a:xfrm>
          <a:prstGeom prst="rect">
            <a:avLst/>
          </a:prstGeom>
          <a:solidFill>
            <a:srgbClr val="E9F7F8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52A028-BEE3-4288-A08D-6C55C00B7123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5B2EFF"/>
                </a:solidFill>
                <a:latin typeface="Aptos Display"/>
                <a:ea typeface="Aptos Display"/>
                <a:cs typeface="Aptos Display"/>
              </a:rPr>
              <a:t>CUSTOM PERSON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723139-4C8A-4360-AD4B-9A0A6D8BEE97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Una fila por persona y período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CDA057E-2514-4086-B1F4-3BE11E23EB7A}"/>
              </a:ext>
            </a:extLst>
          </p:cNvPr>
          <p:cNvSpPr>
            <a:spLocks noGrp="1"/>
          </p:cNvSpPr>
          <p:nvPr/>
        </p:nvSpPr>
        <p:spPr>
          <a:xfrm>
            <a:off x="666750" y="2924175"/>
            <a:ext cx="76200" cy="762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C63B95-5658-494B-9493-78E34212F422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13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33A"/>
                </a:solidFill>
                <a:latin typeface="Aptos"/>
                <a:ea typeface="Aptos"/>
                <a:cs typeface="Aptos"/>
              </a:rPr>
              <a:t>Hábitos de trabajo y focus time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55C7A8-D0A4-480F-AECE-6278D1D09EB3}"/>
              </a:ext>
            </a:extLst>
          </p:cNvPr>
          <p:cNvSpPr>
            <a:spLocks noGrp="1"/>
          </p:cNvSpPr>
          <p:nvPr/>
        </p:nvSpPr>
        <p:spPr>
          <a:xfrm>
            <a:off x="666750" y="3419475"/>
            <a:ext cx="76200" cy="762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D9B7F2-97D5-4E8F-B910-DB26BB8ECBA6}"/>
              </a:ext>
            </a:extLst>
          </p:cNvPr>
          <p:cNvSpPr>
            <a:spLocks noGrp="1"/>
          </p:cNvSpPr>
          <p:nvPr/>
        </p:nvSpPr>
        <p:spPr>
          <a:xfrm>
            <a:off x="857250" y="335280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13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33A"/>
                </a:solidFill>
                <a:latin typeface="Aptos"/>
                <a:ea typeface="Aptos"/>
                <a:cs typeface="Aptos"/>
              </a:rPr>
              <a:t>Distribución de carga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B54BF24-ADF7-468A-BFA0-95D297AA85A2}"/>
              </a:ext>
            </a:extLst>
          </p:cNvPr>
          <p:cNvSpPr>
            <a:spLocks noGrp="1"/>
          </p:cNvSpPr>
          <p:nvPr/>
        </p:nvSpPr>
        <p:spPr>
          <a:xfrm>
            <a:off x="666750" y="3914775"/>
            <a:ext cx="76200" cy="762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6B6C07-1436-4437-BC65-932039234948}"/>
              </a:ext>
            </a:extLst>
          </p:cNvPr>
          <p:cNvSpPr>
            <a:spLocks noGrp="1"/>
          </p:cNvSpPr>
          <p:nvPr/>
        </p:nvSpPr>
        <p:spPr>
          <a:xfrm>
            <a:off x="857250" y="384810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13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33A"/>
                </a:solidFill>
                <a:latin typeface="Aptos"/>
                <a:ea typeface="Aptos"/>
                <a:cs typeface="Aptos"/>
              </a:rPr>
              <a:t>Colaboración entre grupos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B90F29D-8A7B-4289-81C0-B7D7573B1F37}"/>
              </a:ext>
            </a:extLst>
          </p:cNvPr>
          <p:cNvSpPr>
            <a:spLocks noGrp="1"/>
          </p:cNvSpPr>
          <p:nvPr/>
        </p:nvSpPr>
        <p:spPr>
          <a:xfrm>
            <a:off x="666750" y="4410075"/>
            <a:ext cx="76200" cy="762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FB5159-0741-4F62-AA63-4186A254FB0B}"/>
              </a:ext>
            </a:extLst>
          </p:cNvPr>
          <p:cNvSpPr>
            <a:spLocks noGrp="1"/>
          </p:cNvSpPr>
          <p:nvPr/>
        </p:nvSpPr>
        <p:spPr>
          <a:xfrm>
            <a:off x="857250" y="434340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13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33A"/>
                </a:solidFill>
                <a:latin typeface="Aptos"/>
                <a:ea typeface="Aptos"/>
                <a:cs typeface="Aptos"/>
              </a:rPr>
              <a:t>Benchmarking y seguimiento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7E3626-9B38-4F38-994B-51364DC9F2A6}"/>
              </a:ext>
            </a:extLst>
          </p:cNvPr>
          <p:cNvSpPr>
            <a:spLocks noGrp="1"/>
          </p:cNvSpPr>
          <p:nvPr/>
        </p:nvSpPr>
        <p:spPr>
          <a:xfrm>
            <a:off x="666750" y="5105400"/>
            <a:ext cx="4762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rPr>
              <a:t>Útil para comparar con atributos organizacionales recientes.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09C7F8-9460-405C-8C86-260CC5A30B9A}"/>
              </a:ext>
            </a:extLst>
          </p:cNvPr>
          <p:cNvSpPr>
            <a:spLocks noGrp="1"/>
          </p:cNvSpPr>
          <p:nvPr/>
        </p:nvSpPr>
        <p:spPr>
          <a:xfrm>
            <a:off x="6667500" y="17907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CUSTOM MEETING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ACCE67-DF0E-478A-9500-8E74878294F5}"/>
              </a:ext>
            </a:extLst>
          </p:cNvPr>
          <p:cNvSpPr>
            <a:spLocks noGrp="1"/>
          </p:cNvSpPr>
          <p:nvPr/>
        </p:nvSpPr>
        <p:spPr>
          <a:xfrm>
            <a:off x="6667500" y="223837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133A"/>
                </a:solidFill>
                <a:latin typeface="Aptos Display"/>
                <a:ea typeface="Aptos Display"/>
                <a:cs typeface="Aptos Display"/>
              </a:rPr>
              <a:t>Reuniones según parámetros y criterios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A6893F2-90E3-4C9F-9224-D405B0166D10}"/>
              </a:ext>
            </a:extLst>
          </p:cNvPr>
          <p:cNvSpPr>
            <a:spLocks noGrp="1"/>
          </p:cNvSpPr>
          <p:nvPr/>
        </p:nvSpPr>
        <p:spPr>
          <a:xfrm>
            <a:off x="6724650" y="2924175"/>
            <a:ext cx="76200" cy="762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447DCC-F3AB-4D24-AF48-9D90817CBC98}"/>
              </a:ext>
            </a:extLst>
          </p:cNvPr>
          <p:cNvSpPr>
            <a:spLocks noGrp="1"/>
          </p:cNvSpPr>
          <p:nvPr/>
        </p:nvSpPr>
        <p:spPr>
          <a:xfrm>
            <a:off x="6915150" y="285750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13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33A"/>
                </a:solidFill>
                <a:latin typeface="Aptos"/>
                <a:ea typeface="Aptos"/>
                <a:cs typeface="Aptos"/>
              </a:rPr>
              <a:t>Tipos específicos de reunión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E25C92D-282F-4DCC-B5ED-C2EB2DC6D0D5}"/>
              </a:ext>
            </a:extLst>
          </p:cNvPr>
          <p:cNvSpPr>
            <a:spLocks noGrp="1"/>
          </p:cNvSpPr>
          <p:nvPr/>
        </p:nvSpPr>
        <p:spPr>
          <a:xfrm>
            <a:off x="6724650" y="3419475"/>
            <a:ext cx="76200" cy="762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F0549F-C37F-439D-A98E-3F492154277D}"/>
              </a:ext>
            </a:extLst>
          </p:cNvPr>
          <p:cNvSpPr>
            <a:spLocks noGrp="1"/>
          </p:cNvSpPr>
          <p:nvPr/>
        </p:nvSpPr>
        <p:spPr>
          <a:xfrm>
            <a:off x="6915150" y="335280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13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33A"/>
                </a:solidFill>
                <a:latin typeface="Aptos"/>
                <a:ea typeface="Aptos"/>
                <a:cs typeface="Aptos"/>
              </a:rPr>
              <a:t>Roles, departamentos y equipos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B85D1CA-F4A8-4536-802B-7181B1C0FACF}"/>
              </a:ext>
            </a:extLst>
          </p:cNvPr>
          <p:cNvSpPr>
            <a:spLocks noGrp="1"/>
          </p:cNvSpPr>
          <p:nvPr/>
        </p:nvSpPr>
        <p:spPr>
          <a:xfrm>
            <a:off x="6724650" y="3914775"/>
            <a:ext cx="76200" cy="762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D07130-668C-40A9-AD94-8F3DA4030569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13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33A"/>
                </a:solidFill>
                <a:latin typeface="Aptos"/>
                <a:ea typeface="Aptos"/>
                <a:cs typeface="Aptos"/>
              </a:rPr>
              <a:t>Duración, frecuencia y asistencia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DA748A5-A215-42FE-8A1F-4DA5AF2FAC9A}"/>
              </a:ext>
            </a:extLst>
          </p:cNvPr>
          <p:cNvSpPr>
            <a:spLocks noGrp="1"/>
          </p:cNvSpPr>
          <p:nvPr/>
        </p:nvSpPr>
        <p:spPr>
          <a:xfrm>
            <a:off x="6724650" y="4410075"/>
            <a:ext cx="76200" cy="76200"/>
          </a:xfrm>
          <a:prstGeom prst="ellipse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F3CCC1-4091-4903-AACA-8721B54AC2DF}"/>
              </a:ext>
            </a:extLst>
          </p:cNvPr>
          <p:cNvSpPr>
            <a:spLocks noGrp="1"/>
          </p:cNvSpPr>
          <p:nvPr/>
        </p:nvSpPr>
        <p:spPr>
          <a:xfrm>
            <a:off x="6915150" y="434340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13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33A"/>
                </a:solidFill>
                <a:latin typeface="Aptos"/>
                <a:ea typeface="Aptos"/>
                <a:cs typeface="Aptos"/>
              </a:rPr>
              <a:t>Conflictos y oportunidades de reducción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B4E4F4-9014-477D-A036-EC272BB1DAE5}"/>
              </a:ext>
            </a:extLst>
          </p:cNvPr>
          <p:cNvSpPr>
            <a:spLocks noGrp="1"/>
          </p:cNvSpPr>
          <p:nvPr/>
        </p:nvSpPr>
        <p:spPr>
          <a:xfrm>
            <a:off x="6724650" y="5105400"/>
            <a:ext cx="4762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rPr>
              <a:t>Útil para investigar cultura y efectividad de reuniones.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14C7EE-E28B-4226-A7BA-1529BF1D77F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620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5E6072"/>
                </a:solidFill>
                <a:latin typeface="Aptos Display"/>
                <a:ea typeface="Aptos Display"/>
                <a:cs typeface="Aptos Display"/>
              </a:rPr>
              <a:t>Ambas permiten filtros, cálculos, integración externa y análisis avanzado.</a:t>
            </a:r>
          </a:p>
        </p:txBody>
      </p:sp>
    </p:spTree>
    <p:extLst>
      <p:ext uri="{BB962C8B-B14F-4D97-AF65-F5344CB8AC3E}">
        <p14:creationId xmlns:p14="http://schemas.microsoft.com/office/powerpoint/2010/main" val="1593104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B2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858C8FA-820F-49C0-96E9-F1C879E6D7D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rPr>
              <a:t>CIERRE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37599B-881D-48F3-8347-B0599706AD36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57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Implementar con valor y confianza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31236A-799A-4D48-9BDF-002C3A1F8241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00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EC8224-EE78-47A3-908F-B8520C3EC94D}"/>
              </a:ext>
            </a:extLst>
          </p:cNvPr>
          <p:cNvSpPr>
            <a:spLocks noGrp="1"/>
          </p:cNvSpPr>
          <p:nvPr/>
        </p:nvSpPr>
        <p:spPr>
          <a:xfrm>
            <a:off x="628650" y="1524000"/>
            <a:ext cx="6858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3E1797-E1BB-4A9C-96F5-CFEF4F9F5C26}"/>
              </a:ext>
            </a:extLst>
          </p:cNvPr>
          <p:cNvSpPr>
            <a:spLocks noGrp="1"/>
          </p:cNvSpPr>
          <p:nvPr/>
        </p:nvSpPr>
        <p:spPr>
          <a:xfrm>
            <a:off x="1381125" y="1524000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rPr>
              <a:t>DEFINIR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5A4897-B7F2-4062-A97D-7BBF3998B714}"/>
              </a:ext>
            </a:extLst>
          </p:cNvPr>
          <p:cNvSpPr>
            <a:spLocks noGrp="1"/>
          </p:cNvSpPr>
          <p:nvPr/>
        </p:nvSpPr>
        <p:spPr>
          <a:xfrm>
            <a:off x="3333750" y="152400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Qué decisión debe mejorar cada insight.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E880A3-D0AC-4303-858F-ACB4FF126E4C}"/>
              </a:ext>
            </a:extLst>
          </p:cNvPr>
          <p:cNvSpPr>
            <a:spLocks noGrp="1"/>
          </p:cNvSpPr>
          <p:nvPr/>
        </p:nvSpPr>
        <p:spPr>
          <a:xfrm>
            <a:off x="866775" y="1866900"/>
            <a:ext cx="28575" cy="457200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DF3C53-DC2C-4A02-90D4-FC8966D0F29D}"/>
              </a:ext>
            </a:extLst>
          </p:cNvPr>
          <p:cNvSpPr>
            <a:spLocks noGrp="1"/>
          </p:cNvSpPr>
          <p:nvPr/>
        </p:nvSpPr>
        <p:spPr>
          <a:xfrm>
            <a:off x="628650" y="2324100"/>
            <a:ext cx="6858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B6F1A5-AAC0-4351-8B1B-CB813F9DF8B5}"/>
              </a:ext>
            </a:extLst>
          </p:cNvPr>
          <p:cNvSpPr>
            <a:spLocks noGrp="1"/>
          </p:cNvSpPr>
          <p:nvPr/>
        </p:nvSpPr>
        <p:spPr>
          <a:xfrm>
            <a:off x="1381125" y="2324100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rPr>
              <a:t>GOBERNAR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77081A-35CD-405F-8006-CAD981BE98A3}"/>
              </a:ext>
            </a:extLst>
          </p:cNvPr>
          <p:cNvSpPr>
            <a:spLocks noGrp="1"/>
          </p:cNvSpPr>
          <p:nvPr/>
        </p:nvSpPr>
        <p:spPr>
          <a:xfrm>
            <a:off x="3333750" y="232410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Roles, licencias, umbrales y exclusiones.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BB6368-1ECF-434F-BF61-F6B63F3E312E}"/>
              </a:ext>
            </a:extLst>
          </p:cNvPr>
          <p:cNvSpPr>
            <a:spLocks noGrp="1"/>
          </p:cNvSpPr>
          <p:nvPr/>
        </p:nvSpPr>
        <p:spPr>
          <a:xfrm>
            <a:off x="866775" y="2667000"/>
            <a:ext cx="28575" cy="457200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0BEF68-E8FA-4E9A-ACD8-669E47D245B3}"/>
              </a:ext>
            </a:extLst>
          </p:cNvPr>
          <p:cNvSpPr>
            <a:spLocks noGrp="1"/>
          </p:cNvSpPr>
          <p:nvPr/>
        </p:nvSpPr>
        <p:spPr>
          <a:xfrm>
            <a:off x="628650" y="3124200"/>
            <a:ext cx="6858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27A8A9-A5FB-49A0-8FA4-CA2019E3DC8C}"/>
              </a:ext>
            </a:extLst>
          </p:cNvPr>
          <p:cNvSpPr>
            <a:spLocks noGrp="1"/>
          </p:cNvSpPr>
          <p:nvPr/>
        </p:nvSpPr>
        <p:spPr>
          <a:xfrm>
            <a:off x="1381125" y="3124200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rPr>
              <a:t>PREPARAR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C292C2-3612-4476-BFE8-D9A6421B06CA}"/>
              </a:ext>
            </a:extLst>
          </p:cNvPr>
          <p:cNvSpPr>
            <a:spLocks noGrp="1"/>
          </p:cNvSpPr>
          <p:nvPr/>
        </p:nvSpPr>
        <p:spPr>
          <a:xfrm>
            <a:off x="3333750" y="312420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Jerarquía y atributos organizacionales confiables.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F8D1DA-5779-4F2F-800E-527C82E91141}"/>
              </a:ext>
            </a:extLst>
          </p:cNvPr>
          <p:cNvSpPr>
            <a:spLocks noGrp="1"/>
          </p:cNvSpPr>
          <p:nvPr/>
        </p:nvSpPr>
        <p:spPr>
          <a:xfrm>
            <a:off x="866775" y="3467100"/>
            <a:ext cx="28575" cy="457200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03924E-2988-4237-8B4A-5A36FD0782D5}"/>
              </a:ext>
            </a:extLst>
          </p:cNvPr>
          <p:cNvSpPr>
            <a:spLocks noGrp="1"/>
          </p:cNvSpPr>
          <p:nvPr/>
        </p:nvSpPr>
        <p:spPr>
          <a:xfrm>
            <a:off x="628650" y="3924300"/>
            <a:ext cx="6858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E19B8D-3BFC-4B7B-9A2F-E9A6016A54A3}"/>
              </a:ext>
            </a:extLst>
          </p:cNvPr>
          <p:cNvSpPr>
            <a:spLocks noGrp="1"/>
          </p:cNvSpPr>
          <p:nvPr/>
        </p:nvSpPr>
        <p:spPr>
          <a:xfrm>
            <a:off x="1381125" y="3924300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rPr>
              <a:t>INTERPRETAR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F943DC-5340-40E4-B472-EDC3CE82F4BE}"/>
              </a:ext>
            </a:extLst>
          </p:cNvPr>
          <p:cNvSpPr>
            <a:spLocks noGrp="1"/>
          </p:cNvSpPr>
          <p:nvPr/>
        </p:nvSpPr>
        <p:spPr>
          <a:xfrm>
            <a:off x="3333750" y="392430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Métricas agregadas, contexto y limitaciones.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991B80-8AD8-4A76-ACC7-0D39D41C3542}"/>
              </a:ext>
            </a:extLst>
          </p:cNvPr>
          <p:cNvSpPr>
            <a:spLocks noGrp="1"/>
          </p:cNvSpPr>
          <p:nvPr/>
        </p:nvSpPr>
        <p:spPr>
          <a:xfrm>
            <a:off x="866775" y="4267200"/>
            <a:ext cx="28575" cy="457200"/>
          </a:xfrm>
          <a:prstGeom prst="rect">
            <a:avLst/>
          </a:prstGeom>
          <a:solidFill>
            <a:srgbClr val="00A6B2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D3636E-9684-45F7-9EC1-D686DF46EB75}"/>
              </a:ext>
            </a:extLst>
          </p:cNvPr>
          <p:cNvSpPr>
            <a:spLocks noGrp="1"/>
          </p:cNvSpPr>
          <p:nvPr/>
        </p:nvSpPr>
        <p:spPr>
          <a:xfrm>
            <a:off x="628650" y="4724400"/>
            <a:ext cx="6858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A6B2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A4FC3C-DCB7-4458-83F9-0C2C0095923F}"/>
              </a:ext>
            </a:extLst>
          </p:cNvPr>
          <p:cNvSpPr>
            <a:spLocks noGrp="1"/>
          </p:cNvSpPr>
          <p:nvPr/>
        </p:nvSpPr>
        <p:spPr>
          <a:xfrm>
            <a:off x="1381125" y="4724400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9F7F8"/>
                </a:solidFill>
                <a:latin typeface="Aptos Display"/>
                <a:ea typeface="Aptos Display"/>
                <a:cs typeface="Aptos Display"/>
              </a:rPr>
              <a:t>ACTUAR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1172AB-9CD9-42C0-B3EB-FEB8CE1A8636}"/>
              </a:ext>
            </a:extLst>
          </p:cNvPr>
          <p:cNvSpPr>
            <a:spLocks noGrp="1"/>
          </p:cNvSpPr>
          <p:nvPr/>
        </p:nvSpPr>
        <p:spPr>
          <a:xfrm>
            <a:off x="3333750" y="472440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Planes compartidos y seguimiento responsable.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0473BE-4D31-4869-A1C0-FABEA0053B9D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382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Viva Insights crea valor cuando los datos se convierten en mejores hábitos — sin convertir el análisis en vigilancia.</a:t>
            </a:r>
          </a:p>
        </p:txBody>
      </p:sp>
    </p:spTree>
    <p:extLst>
      <p:ext uri="{BB962C8B-B14F-4D97-AF65-F5344CB8AC3E}">
        <p14:creationId xmlns:p14="http://schemas.microsoft.com/office/powerpoint/2010/main" val="1382359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2012-07-30T22:48:03Z</dcterms:created>
  <dcterms:modified xsi:type="dcterms:W3CDTF">2026-08-25T20:04:31Z</dcterms:modified>
</cp:coreProperties>
</file>